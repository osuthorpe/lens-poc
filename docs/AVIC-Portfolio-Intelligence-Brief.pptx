
<file path=[Content_Types].xml><?xml version="1.0" encoding="utf-8"?>
<Types xmlns="http://schemas.openxmlformats.org/package/2006/content-types">
  <Default Extension="xml" ContentType="application/vnd.openxmlformats-package.core-properties+xml"/>
  <Default Extension="jpeg" ContentType="image/jpeg"/>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2bc46e97eab54e4e" /><Relationship Type="http://schemas.openxmlformats.org/officeDocument/2006/relationships/extended-properties" Target="/docProps/app.xml" Id="Rf95d7399bd9f4456" /><Relationship Type="http://schemas.openxmlformats.org/officeDocument/2006/relationships/officeDocument" Target="/ppt/presentation.xml" Id="R243c0cee18b640e2" /></Relationships>
</file>

<file path=ppt/presentation.xml><?xml version="1.0" encoding="utf-8"?>
<p:presentation xmlns:p="http://schemas.openxmlformats.org/presentationml/2006/main">
  <p:sldMasterIdLst>
    <p:sldMasterId xmlns:r="http://schemas.openxmlformats.org/officeDocument/2006/relationships" id="2147483648" r:id="R69ef06a043574933"/>
  </p:sldMasterIdLst>
  <p:notesMasterIdLst>
    <p:notesMasterId xmlns:r="http://schemas.openxmlformats.org/officeDocument/2006/relationships" r:id="Rdbde6e52a81f4fba"/>
  </p:notesMasterIdLst>
  <p:sldIdLst>
    <p:sldId xmlns:r="http://schemas.openxmlformats.org/officeDocument/2006/relationships" id="256" r:id="R7ab30b2b36e94312"/>
    <p:sldId xmlns:r="http://schemas.openxmlformats.org/officeDocument/2006/relationships" id="257" r:id="Reca84c14265f41f8"/>
    <p:sldId xmlns:r="http://schemas.openxmlformats.org/officeDocument/2006/relationships" id="258" r:id="R651c0fa970e6425c"/>
    <p:sldId xmlns:r="http://schemas.openxmlformats.org/officeDocument/2006/relationships" id="259" r:id="Rada03124aa6941bc"/>
    <p:sldId xmlns:r="http://schemas.openxmlformats.org/officeDocument/2006/relationships" id="260" r:id="Rd6fbf69827204b98"/>
    <p:sldId xmlns:r="http://schemas.openxmlformats.org/officeDocument/2006/relationships" id="261" r:id="R0a201797d96a42db"/>
    <p:sldId xmlns:r="http://schemas.openxmlformats.org/officeDocument/2006/relationships" id="262" r:id="R866cf765b79c48f6"/>
    <p:sldId xmlns:r="http://schemas.openxmlformats.org/officeDocument/2006/relationships" id="263" r:id="R3606e7f921694939"/>
    <p:sldId xmlns:r="http://schemas.openxmlformats.org/officeDocument/2006/relationships" id="264" r:id="R5a7df18d14b1410e"/>
    <p:sldId xmlns:r="http://schemas.openxmlformats.org/officeDocument/2006/relationships" id="265" r:id="R01032be473d64778"/>
    <p:sldId xmlns:r="http://schemas.openxmlformats.org/officeDocument/2006/relationships" id="266" r:id="R0cece4793104484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b86a41b68484803" /><Relationship Type="http://schemas.openxmlformats.org/officeDocument/2006/relationships/slideMaster" Target="/ppt/slideMasters/slideMaster1.xml" Id="R69ef06a043574933" /><Relationship Type="http://schemas.openxmlformats.org/officeDocument/2006/relationships/notesMaster" Target="/ppt/notesMasters/notesMaster1.xml" Id="Rdbde6e52a81f4fba" /><Relationship Type="http://schemas.openxmlformats.org/officeDocument/2006/relationships/presProps" Target="/ppt/presProps.xml" Id="R77f017744a8d48bd" /><Relationship Type="http://schemas.openxmlformats.org/officeDocument/2006/relationships/tableStyles" Target="/ppt/tableStyles.xml" Id="R5b7d1305c8f94bfe" /><Relationship Type="http://schemas.openxmlformats.org/officeDocument/2006/relationships/slide" Target="/ppt/slides/slide1.xml" Id="R7ab30b2b36e94312" /><Relationship Type="http://schemas.openxmlformats.org/officeDocument/2006/relationships/slide" Target="/ppt/slides/slide2.xml" Id="Reca84c14265f41f8" /><Relationship Type="http://schemas.openxmlformats.org/officeDocument/2006/relationships/slide" Target="/ppt/slides/slide3.xml" Id="R651c0fa970e6425c" /><Relationship Type="http://schemas.openxmlformats.org/officeDocument/2006/relationships/slide" Target="/ppt/slides/slide4.xml" Id="Rada03124aa6941bc" /><Relationship Type="http://schemas.openxmlformats.org/officeDocument/2006/relationships/slide" Target="/ppt/slides/slide5.xml" Id="Rd6fbf69827204b98" /><Relationship Type="http://schemas.openxmlformats.org/officeDocument/2006/relationships/slide" Target="/ppt/slides/slide6.xml" Id="R0a201797d96a42db" /><Relationship Type="http://schemas.openxmlformats.org/officeDocument/2006/relationships/slide" Target="/ppt/slides/slide7.xml" Id="R866cf765b79c48f6" /><Relationship Type="http://schemas.openxmlformats.org/officeDocument/2006/relationships/slide" Target="/ppt/slides/slide8.xml" Id="R3606e7f921694939" /><Relationship Type="http://schemas.openxmlformats.org/officeDocument/2006/relationships/slide" Target="/ppt/slides/slide9.xml" Id="R5a7df18d14b1410e" /><Relationship Type="http://schemas.openxmlformats.org/officeDocument/2006/relationships/slide" Target="/ppt/slides/slide10.xml" Id="R01032be473d64778" /><Relationship Type="http://schemas.openxmlformats.org/officeDocument/2006/relationships/slide" Target="/ppt/slides/slide11.xml" Id="R0cece4793104484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0e7465611a04e2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289da21ddf643f1" /><Relationship Type="http://schemas.openxmlformats.org/officeDocument/2006/relationships/notesMaster" Target="/ppt/notesMasters/notesMaster1.xml" Id="Rbfe51428018a4040" /></Relationships>
</file>

<file path=ppt/notesSlides/_rels/notesSlide2.xml.rels>&#65279;<?xml version="1.0" encoding="utf-8"?><Relationships xmlns="http://schemas.openxmlformats.org/package/2006/relationships"><Relationship Type="http://schemas.openxmlformats.org/officeDocument/2006/relationships/slide" Target="/ppt/slides/slide2.xml" Id="R9d63b3a8ee31411c" /><Relationship Type="http://schemas.openxmlformats.org/officeDocument/2006/relationships/notesMaster" Target="/ppt/notesMasters/notesMaster1.xml" Id="Rd89780660883469e" /></Relationships>
</file>

<file path=ppt/notesSlides/_rels/notesSlide3.xml.rels>&#65279;<?xml version="1.0" encoding="utf-8"?><Relationships xmlns="http://schemas.openxmlformats.org/package/2006/relationships"><Relationship Type="http://schemas.openxmlformats.org/officeDocument/2006/relationships/slide" Target="/ppt/slides/slide3.xml" Id="Rb7071f532468488b" /><Relationship Type="http://schemas.openxmlformats.org/officeDocument/2006/relationships/notesMaster" Target="/ppt/notesMasters/notesMaster1.xml" Id="Rd0eec11c2ba9423d" /></Relationships>
</file>

<file path=ppt/notesSlides/_rels/notesSlide4.xml.rels>&#65279;<?xml version="1.0" encoding="utf-8"?><Relationships xmlns="http://schemas.openxmlformats.org/package/2006/relationships"><Relationship Type="http://schemas.openxmlformats.org/officeDocument/2006/relationships/slide" Target="/ppt/slides/slide4.xml" Id="Rf77d3cd83b3e42e2" /><Relationship Type="http://schemas.openxmlformats.org/officeDocument/2006/relationships/notesMaster" Target="/ppt/notesMasters/notesMaster1.xml" Id="R93c755dc67dc4420" /></Relationships>
</file>

<file path=ppt/notesSlides/_rels/notesSlide5.xml.rels>&#65279;<?xml version="1.0" encoding="utf-8"?><Relationships xmlns="http://schemas.openxmlformats.org/package/2006/relationships"><Relationship Type="http://schemas.openxmlformats.org/officeDocument/2006/relationships/slide" Target="/ppt/slides/slide5.xml" Id="Re937e1fb8003439e" /><Relationship Type="http://schemas.openxmlformats.org/officeDocument/2006/relationships/notesMaster" Target="/ppt/notesMasters/notesMaster1.xml" Id="R5a55f894a7ef4e43" /></Relationships>
</file>

<file path=ppt/notesSlides/_rels/notesSlide6.xml.rels>&#65279;<?xml version="1.0" encoding="utf-8"?><Relationships xmlns="http://schemas.openxmlformats.org/package/2006/relationships"><Relationship Type="http://schemas.openxmlformats.org/officeDocument/2006/relationships/slide" Target="/ppt/slides/slide6.xml" Id="Rc967fd8b86c54657" /><Relationship Type="http://schemas.openxmlformats.org/officeDocument/2006/relationships/notesMaster" Target="/ppt/notesMasters/notesMaster1.xml" Id="R61e723f3564d4b3c" /></Relationships>
</file>

<file path=ppt/notesSlides/_rels/notesSlide7.xml.rels>&#65279;<?xml version="1.0" encoding="utf-8"?><Relationships xmlns="http://schemas.openxmlformats.org/package/2006/relationships"><Relationship Type="http://schemas.openxmlformats.org/officeDocument/2006/relationships/slide" Target="/ppt/slides/slide7.xml" Id="R263df83a96824d5e" /><Relationship Type="http://schemas.openxmlformats.org/officeDocument/2006/relationships/notesMaster" Target="/ppt/notesMasters/notesMaster1.xml" Id="R0fe28b4b377b4f50" /></Relationships>
</file>

<file path=ppt/notesSlides/_rels/notesSlide8.xml.rels>&#65279;<?xml version="1.0" encoding="utf-8"?><Relationships xmlns="http://schemas.openxmlformats.org/package/2006/relationships"><Relationship Type="http://schemas.openxmlformats.org/officeDocument/2006/relationships/slide" Target="/ppt/slides/slide8.xml" Id="R925d6a635237404c" /><Relationship Type="http://schemas.openxmlformats.org/officeDocument/2006/relationships/notesMaster" Target="/ppt/notesMasters/notesMaster1.xml" Id="Ra1cc3b8d8e9a4bf7" /></Relationships>
</file>

<file path=ppt/notesSlides/_rels/notesSlide9.xml.rels>&#65279;<?xml version="1.0" encoding="utf-8"?><Relationships xmlns="http://schemas.openxmlformats.org/package/2006/relationships"><Relationship Type="http://schemas.openxmlformats.org/officeDocument/2006/relationships/slide" Target="/ppt/slides/slide9.xml" Id="R3393a6e1aa274269" /><Relationship Type="http://schemas.openxmlformats.org/officeDocument/2006/relationships/notesMaster" Target="/ppt/notesMasters/notesMaster1.xml" Id="Rebbf32f69b924a10"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dae7ce8aa95d46ec" /><Relationship Type="http://schemas.openxmlformats.org/officeDocument/2006/relationships/notesMaster" Target="/ppt/notesMasters/notesMaster1.xml" Id="R7e45679a64cf4da5"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4c9ffc7a070540d6" /><Relationship Type="http://schemas.openxmlformats.org/officeDocument/2006/relationships/notesMaster" Target="/ppt/notesMasters/notesMaster1.xml" Id="R38bf1753424a490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 with the answer: Lens is a working local prototype that builds a company brief from imported evidence. Production freshness and access control are not part of this build.</a:t>
            </a:r>
          </a:p>
          <a:p xmlns:a="http://schemas.openxmlformats.org/drawingml/2006/main">
            <a:r>
              <a:t/>
            </a:r>
          </a:p>
          <a:p xmlns:a="http://schemas.openxmlformats.org/drawingml/2006/main">
            <a:r>
              <a:t>[Sources]</a:t>
            </a:r>
          </a:p>
          <a:p xmlns:a="http://schemas.openxmlformats.org/drawingml/2006/main">
            <a:r>
              <a:t>- /Users/alexthorpe/Documents/GitHub/AVIC/docs/AIVC_Technical_Challenge_Task_4.2.pdf</a:t>
            </a:r>
          </a:p>
          <a:p xmlns:a="http://schemas.openxmlformats.org/drawingml/2006/main">
            <a:r>
              <a:t>- /Users/alexthorpe/Documents/GitHub/AVIC/docs/prd-v1.md</a:t>
            </a:r>
          </a:p>
          <a:p xmlns:a="http://schemas.openxmlformats.org/drawingml/2006/main">
            <a:r>
              <a:t>- /Users/alexthorpe/Documents/GitHub/AVIC/README.md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brief defines the intended user and company universe. The 90-minute value is a scenario estimate. The 30-second value is the product target.</a:t>
            </a:r>
          </a:p>
          <a:p xmlns:a="http://schemas.openxmlformats.org/drawingml/2006/main">
            <a:r>
              <a:t/>
            </a:r>
          </a:p>
          <a:p xmlns:a="http://schemas.openxmlformats.org/drawingml/2006/main">
            <a:r>
              <a:t>[Sources]</a:t>
            </a:r>
          </a:p>
          <a:p xmlns:a="http://schemas.openxmlformats.org/drawingml/2006/main">
            <a:r>
              <a:t>- /Users/alexthorpe/Documents/GitHub/AVIC/docs/AIVC_Technical_Challenge_Task_4.2.pdf</a:t>
            </a:r>
          </a:p>
          <a:p xmlns:a="http://schemas.openxmlformats.org/drawingml/2006/main">
            <a:r>
              <a:t>- /Users/alexthorpe/Documents/GitHub/AVIC/docs/prd-v1.md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the desktop flow. The AIVC principal selects a company, scans the brief, opens the evidence and original source, and sends feedback without changing context.</a:t>
            </a:r>
          </a:p>
          <a:p xmlns:a="http://schemas.openxmlformats.org/drawingml/2006/main">
            <a:r>
              <a:t/>
            </a:r>
          </a:p>
          <a:p xmlns:a="http://schemas.openxmlformats.org/drawingml/2006/main">
            <a:r>
              <a:t>[Sources]</a:t>
            </a:r>
          </a:p>
          <a:p xmlns:a="http://schemas.openxmlformats.org/drawingml/2006/main">
            <a:r>
              <a:t>- /Users/alexthorpe/Documents/GitHub/AVIC/docs/AIVC_Technical_Challenge_Task_4.2.pdf</a:t>
            </a:r>
          </a:p>
          <a:p xmlns:a="http://schemas.openxmlformats.org/drawingml/2006/main">
            <a:r>
              <a:t>- /Users/alexthorpe/Documents/GitHub/AVIC/app/page.tsx</a:t>
            </a:r>
          </a:p>
          <a:p xmlns:a="http://schemas.openxmlformats.org/drawingml/2006/main">
            <a:r>
              <a:t>- /private/tmp/avic-deck-wide-main.png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file import validates each company ID, keeps the source record, calculates checksums, creates chunks, and sends fictional normalized chunk text to the OpenAI Embeddings API. PostgreSQL stores the returned embeddings. A brief request creates one query embedding. SQL filters by company and ranks up to 30 source records. The server sends only the selected company metadata and retrieved evidence to gpt-5.6-sol through the Responses API. It requests a strict schema with low reasoning effort, no tools, and no response storage. A 27-second model timeout and a 29-second request budget have no automatic retry. The server checks source IDs, company isolation, exact source quotes, typed values, qualitative support, source status, and investment safety. It saves the brief, generation mode, model data, and source ranks. If generation fails a check or exceeds the budget, local rules create a source-supported fallback. The app does not call a source system during a brief request. V1 does not watch a folder or Slack. To add a demo record, add it in a supported format, run the import route or the data import command, and select Refresh Brief. The importer reuses unchanged embeddings and embeds only new or changed chunks. A Slack thread must be added to the Slack JSON file with a known company ID.</a:t>
            </a:r>
          </a:p>
          <a:p xmlns:a="http://schemas.openxmlformats.org/drawingml/2006/main">
            <a:r>
              <a:t/>
            </a:r>
          </a:p>
          <a:p xmlns:a="http://schemas.openxmlformats.org/drawingml/2006/main">
            <a:r>
              <a:t>[Sources]</a:t>
            </a:r>
          </a:p>
          <a:p xmlns:a="http://schemas.openxmlformats.org/drawingml/2006/main">
            <a:r>
              <a:t>- /Users/alexthorpe/Documents/GitHub/AVIC/lib/embeddings.ts</a:t>
            </a:r>
          </a:p>
          <a:p xmlns:a="http://schemas.openxmlformats.org/drawingml/2006/main">
            <a:r>
              <a:t>- /Users/alexthorpe/Documents/GitHub/AVIC/lib/ingestion.ts</a:t>
            </a:r>
          </a:p>
          <a:p xmlns:a="http://schemas.openxmlformats.org/drawingml/2006/main">
            <a:r>
              <a:t>- /Users/alexthorpe/Documents/GitHub/AVIC/lib/retrieval.ts</a:t>
            </a:r>
          </a:p>
          <a:p xmlns:a="http://schemas.openxmlformats.org/drawingml/2006/main">
            <a:r>
              <a:t>- /Users/alexthorpe/Documents/GitHub/AVIC/lib/brief-generation.ts</a:t>
            </a:r>
          </a:p>
          <a:p xmlns:a="http://schemas.openxmlformats.org/drawingml/2006/main">
            <a:r>
              <a:t>- /Users/alexthorpe/Documents/GitHub/AVIC/lib/brief.ts</a:t>
            </a:r>
          </a:p>
          <a:p xmlns:a="http://schemas.openxmlformats.org/drawingml/2006/main">
            <a:r>
              <a:t>- /Users/alexthorpe/Documents/GitHub/AVIC/app/api/briefs/route.ts</a:t>
            </a:r>
          </a:p>
          <a:p xmlns:a="http://schemas.openxmlformats.org/drawingml/2006/main">
            <a:r>
              <a:t>- /Users/alexthorpe/Documents/GitHub/AVIC/db/schema.sql</a:t>
            </a:r>
          </a:p>
          <a:p xmlns:a="http://schemas.openxmlformats.org/drawingml/2006/main">
            <a:r>
              <a:t>- https://developers.openai.com/api/docs/models/gpt-5.6-sol</a:t>
            </a:r>
          </a:p>
          <a:p xmlns:a="http://schemas.openxmlformats.org/drawingml/2006/main">
            <a:r>
              <a:t>- https://developers.openai.com/api/reference/cli/resources/responses/methods/create</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request contains only a company ID. The server uses one fixed retrieval query. OpenAI creates the query embedding. SQL filters records and chunks by the selected company before scoring. The score is 38 percent full-text rank, 32 percent embedding similarity, 20 percent source quality, and 10 percent recency. The query returns up to 30 source records. The server sends selected evidence to gpt-5.6-sol through the Responses API. It checks the strict result before it saves the brief. Local rules create the fallback only when the generated result is late, invalid, or unavailable.</a:t>
            </a:r>
          </a:p>
          <a:p xmlns:a="http://schemas.openxmlformats.org/drawingml/2006/main">
            <a:r>
              <a:t/>
            </a:r>
          </a:p>
          <a:p xmlns:a="http://schemas.openxmlformats.org/drawingml/2006/main">
            <a:r>
              <a:t>[Sources]</a:t>
            </a:r>
          </a:p>
          <a:p xmlns:a="http://schemas.openxmlformats.org/drawingml/2006/main">
            <a:r>
              <a:t>- /Users/alexthorpe/Documents/GitHub/AVIC/lib/embeddings.ts</a:t>
            </a:r>
          </a:p>
          <a:p xmlns:a="http://schemas.openxmlformats.org/drawingml/2006/main">
            <a:r>
              <a:t>- /Users/alexthorpe/Documents/GitHub/AVIC/lib/retrieval.ts</a:t>
            </a:r>
          </a:p>
          <a:p xmlns:a="http://schemas.openxmlformats.org/drawingml/2006/main">
            <a:r>
              <a:t>- /Users/alexthorpe/Documents/GitHub/AVIC/lib/brief-generation.ts</a:t>
            </a:r>
          </a:p>
          <a:p xmlns:a="http://schemas.openxmlformats.org/drawingml/2006/main">
            <a:r>
              <a:t>- /Users/alexthorpe/Documents/GitHub/AVIC/lib/brief.ts</a:t>
            </a:r>
          </a:p>
          <a:p xmlns:a="http://schemas.openxmlformats.org/drawingml/2006/main">
            <a:r>
              <a:t>- /Users/alexthorpe/Documents/GitHub/AVIC/app/api/briefs/route.ts</a:t>
            </a:r>
          </a:p>
          <a:p xmlns:a="http://schemas.openxmlformats.org/drawingml/2006/main">
            <a:r>
              <a:t>- https://developers.openai.com/api/docs/models/gpt-5.6-sol</a:t>
            </a:r>
          </a:p>
          <a:p xmlns:a="http://schemas.openxmlformats.org/drawingml/2006/main">
            <a:r>
              <a:t>- https://developers.openai.com/api/reference/cli/resources/responses/methods/create</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active retrieval model is text-embedding-3-large with 1,536 dimensions. The active brief model is gpt-5.6-sol through the Responses API. The app uses low reasoning effort. In the measured demo checks, low effort produced two valid briefs in 15.4 and 20.9 seconds. Medium effort was slower and sometimes exceeded the test timeout. Keep low effort until a reviewed evaluation shows a useful quality gain.</a:t>
            </a:r>
          </a:p>
          <a:p xmlns:a="http://schemas.openxmlformats.org/drawingml/2006/main">
            <a:r>
              <a:t/>
            </a:r>
          </a:p>
          <a:p xmlns:a="http://schemas.openxmlformats.org/drawingml/2006/main">
            <a:r>
              <a:t>[Sources]</a:t>
            </a:r>
          </a:p>
          <a:p xmlns:a="http://schemas.openxmlformats.org/drawingml/2006/main">
            <a:r>
              <a:t>- /Users/alexthorpe/Documents/GitHub/AVIC/package.json</a:t>
            </a:r>
          </a:p>
          <a:p xmlns:a="http://schemas.openxmlformats.org/drawingml/2006/main">
            <a:r>
              <a:t>- /Users/alexthorpe/Documents/GitHub/AVIC/lib/embeddings.ts</a:t>
            </a:r>
          </a:p>
          <a:p xmlns:a="http://schemas.openxmlformats.org/drawingml/2006/main">
            <a:r>
              <a:t>- /Users/alexthorpe/Documents/GitHub/AVIC/lib/brief-generation.ts</a:t>
            </a:r>
          </a:p>
          <a:p xmlns:a="http://schemas.openxmlformats.org/drawingml/2006/main">
            <a:r>
              <a:t>- /Users/alexthorpe/Documents/GitHub/AVIC/scripts/verify-generation.ts</a:t>
            </a:r>
          </a:p>
          <a:p xmlns:a="http://schemas.openxmlformats.org/drawingml/2006/main">
            <a:r>
              <a:t>- /Users/alexthorpe/Documents/GitHub/AVIC/db/schema.sql</a:t>
            </a:r>
          </a:p>
          <a:p xmlns:a="http://schemas.openxmlformats.org/drawingml/2006/main">
            <a:r>
              <a:t>- https://developers.openai.com/api/docs/models/text-embedding-3-large</a:t>
            </a:r>
          </a:p>
          <a:p xmlns:a="http://schemas.openxmlformats.org/drawingml/2006/main">
            <a:r>
              <a:t>- https://developers.openai.com/api/docs/models/gpt-5.6-sol</a:t>
            </a:r>
          </a:p>
          <a:p xmlns:a="http://schemas.openxmlformats.org/drawingml/2006/main">
            <a:r>
              <a:t>- https://developers.openai.com/api/docs/guides/latest-model</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current checkout has 69 passing app tests. The 22 live checks include 19 V1 database checks, one embedding check, and two source-supported generation checks. VectorForge took 15.4 seconds. Kestrel Health took 20.9 seconds. Both generated briefs kept citations and the required conflict or unverified state. The local check covers all 10 fictional companies. It does not use the generation model. Use two checks for each evaluation type. Retrieval checks that a must-find source is in the first 30 results and that no result belongs to another company. Grounding checks that each claim cites retrieved evidence and that each numeric value appears in a cited source. Product evaluation measures response time and usefulness for the AIVC principal. Operations evaluation checks that invalid generated output uses the fallback and that a changed source changes the next brief. Run the same set after each retrieval, prompt, model, schema, or source-rule change.</a:t>
            </a:r>
          </a:p>
          <a:p xmlns:a="http://schemas.openxmlformats.org/drawingml/2006/main">
            <a:r>
              <a:t/>
            </a:r>
          </a:p>
          <a:p xmlns:a="http://schemas.openxmlformats.org/drawingml/2006/main">
            <a:r>
              <a:t/>
            </a:r>
          </a:p>
          <a:p xmlns:a="http://schemas.openxmlformats.org/drawingml/2006/main">
            <a:r>
              <a:t>[Sources]</a:t>
            </a:r>
          </a:p>
          <a:p xmlns:a="http://schemas.openxmlformats.org/drawingml/2006/main">
            <a:r>
              <a:t>- /Users/alexthorpe/Documents/GitHub/AVIC/docs/prd-v1.md</a:t>
            </a:r>
          </a:p>
          <a:p xmlns:a="http://schemas.openxmlformats.org/drawingml/2006/main">
            <a:r>
              <a:t>- /Users/alexthorpe/Documents/GitHub/AVIC/lib/retrieval.ts</a:t>
            </a:r>
          </a:p>
          <a:p xmlns:a="http://schemas.openxmlformats.org/drawingml/2006/main">
            <a:r>
              <a:t>- /Users/alexthorpe/Documents/GitHub/AVIC/lib/brief-generation.ts</a:t>
            </a:r>
          </a:p>
          <a:p xmlns:a="http://schemas.openxmlformats.org/drawingml/2006/main">
            <a:r>
              <a:t>- /Users/alexthorpe/Documents/GitHub/AVIC/lib/brief.ts</a:t>
            </a:r>
          </a:p>
          <a:p xmlns:a="http://schemas.openxmlformats.org/drawingml/2006/main">
            <a:r>
              <a:t>- /Users/alexthorpe/Documents/GitHub/AVIC/lib/ingestion.ts</a:t>
            </a:r>
          </a:p>
          <a:p xmlns:a="http://schemas.openxmlformats.org/drawingml/2006/main">
            <a:r>
              <a:t>- /Users/alexthorpe/Documents/GitHub/AVIC/scripts/verify-v1.ts</a:t>
            </a:r>
          </a:p>
          <a:p xmlns:a="http://schemas.openxmlformats.org/drawingml/2006/main">
            <a:r>
              <a:t>- /Users/alexthorpe/Documents/GitHub/AVIC/scripts/verify-generation.ts</a:t>
            </a:r>
          </a:p>
          <a:p xmlns:a="http://schemas.openxmlformats.org/drawingml/2006/main">
            <a:r>
              <a:t>- /Users/alexthorpe/Documents/GitHub/AVIC/tests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V1 acceptance criteria, not current production service levels. The 4 out of 5 usefulness score is a pilot target and has not been measured.</a:t>
            </a:r>
          </a:p>
          <a:p xmlns:a="http://schemas.openxmlformats.org/drawingml/2006/main">
            <a:r>
              <a:t/>
            </a:r>
          </a:p>
          <a:p xmlns:a="http://schemas.openxmlformats.org/drawingml/2006/main">
            <a:r>
              <a:t>[Sources]</a:t>
            </a:r>
          </a:p>
          <a:p xmlns:a="http://schemas.openxmlformats.org/drawingml/2006/main">
            <a:r>
              <a:t>- /Users/alexthorpe/Documents/GitHub/AVIC/docs/AIVC_Technical_Challenge_Task_4.2.pdf</a:t>
            </a:r>
          </a:p>
          <a:p xmlns:a="http://schemas.openxmlformats.org/drawingml/2006/main">
            <a:r>
              <a:t>- /Users/alexthorpe/Documents/GitHub/AVIC/docs/prd-v1.md</a:t>
            </a:r>
          </a:p>
          <a:p xmlns:a="http://schemas.openxmlformats.org/drawingml/2006/main">
            <a:r>
              <a:t>- /Users/alexthorpe/Documents/GitHub/AVIC/scripts/verify-v1.ts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defines the current Lens boundary. The app implements the interface, API routes, file import, PostgreSQL storage, OpenAI embeddings, company-scoped retrieval, source-supported generation with gpt-5.6-sol, strict checks, source drill-down, local fallback, saved generation audit data, and feedback capture. It uses 10 fictional companies, static source files, a local database, and a fixed reference date. The OpenAI request contains selected fictional text only. It excludes raw JSON, source locators, access metadata, and records for unrelated companies. Live connectors, public filings, sign-in, source access enforcement, schedules, webhooks, and a reviewer screen are not active.</a:t>
            </a:r>
          </a:p>
          <a:p xmlns:a="http://schemas.openxmlformats.org/drawingml/2006/main">
            <a:r>
              <a:t/>
            </a:r>
          </a:p>
          <a:p xmlns:a="http://schemas.openxmlformats.org/drawingml/2006/main">
            <a:r>
              <a:t>[Sources]</a:t>
            </a:r>
          </a:p>
          <a:p xmlns:a="http://schemas.openxmlformats.org/drawingml/2006/main">
            <a:r>
              <a:t>- /Users/alexthorpe/Documents/GitHub/AVIC/app/page.tsx</a:t>
            </a:r>
          </a:p>
          <a:p xmlns:a="http://schemas.openxmlformats.org/drawingml/2006/main">
            <a:r>
              <a:t>- /Users/alexthorpe/Documents/GitHub/AVIC/lib/embeddings.ts</a:t>
            </a:r>
          </a:p>
          <a:p xmlns:a="http://schemas.openxmlformats.org/drawingml/2006/main">
            <a:r>
              <a:t>- /Users/alexthorpe/Documents/GitHub/AVIC/lib/ingestion.ts</a:t>
            </a:r>
          </a:p>
          <a:p xmlns:a="http://schemas.openxmlformats.org/drawingml/2006/main">
            <a:r>
              <a:t>- /Users/alexthorpe/Documents/GitHub/AVIC/lib/retrieval.ts</a:t>
            </a:r>
          </a:p>
          <a:p xmlns:a="http://schemas.openxmlformats.org/drawingml/2006/main">
            <a:r>
              <a:t>- /Users/alexthorpe/Documents/GitHub/AVIC/lib/brief-generation.ts</a:t>
            </a:r>
          </a:p>
          <a:p xmlns:a="http://schemas.openxmlformats.org/drawingml/2006/main">
            <a:r>
              <a:t>- /Users/alexthorpe/Documents/GitHub/AVIC/lib/brief.ts</a:t>
            </a:r>
          </a:p>
          <a:p xmlns:a="http://schemas.openxmlformats.org/drawingml/2006/main">
            <a:r>
              <a:t>- /Users/alexthorpe/Documents/GitHub/AVIC/db/schema.sql</a:t>
            </a:r>
          </a:p>
          <a:p xmlns:a="http://schemas.openxmlformats.org/drawingml/2006/main">
            <a:r>
              <a:t>- https://developers.openai.com/api/docs/models/text-embedding-3-large</a:t>
            </a:r>
          </a:p>
          <a:p xmlns:a="http://schemas.openxmlformats.org/drawingml/2006/main">
            <a:r>
              <a:t>- https://developers.openai.com/api/docs/models/gpt-5.6-sol</a:t>
            </a:r>
          </a:p>
          <a:p xmlns:a="http://schemas.openxmlformats.org/drawingml/2006/main">
            <a:r>
              <a:t>- https://developers.openai.com/api/reference/cli/resources/responses/methods/create</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proposed plan for two people. The 250-company test appears in weeks 7 and 8 because it has not been run. Weeks 5 and 6 include retrieval evaluation and generation-and-fallback evaluation. The plan depends on source access, company IDs, access rules, and review time from the AIVC principal.</a:t>
            </a:r>
          </a:p>
          <a:p xmlns:a="http://schemas.openxmlformats.org/drawingml/2006/main">
            <a:r>
              <a:t/>
            </a:r>
          </a:p>
          <a:p xmlns:a="http://schemas.openxmlformats.org/drawingml/2006/main">
            <a:r>
              <a:t/>
            </a:r>
          </a:p>
          <a:p xmlns:a="http://schemas.openxmlformats.org/drawingml/2006/main">
            <a:r>
              <a:t>[Sources]</a:t>
            </a:r>
          </a:p>
          <a:p xmlns:a="http://schemas.openxmlformats.org/drawingml/2006/main">
            <a:r>
              <a:t>- /Users/alexthorpe/Documents/GitHub/AVIC/docs/AIVC_Technical_Challenge_Task_4.2.pdf</a:t>
            </a:r>
          </a:p>
          <a:p xmlns:a="http://schemas.openxmlformats.org/drawingml/2006/main">
            <a:r>
              <a:t>- /Users/alexthorpe/Documents/GitHub/AVIC/docs/prd-v1.md</a:t>
            </a:r>
          </a:p>
          <a:p xmlns:a="http://schemas.openxmlformats.org/drawingml/2006/main">
            <a:r>
              <a:t>- /Users/alexthorpe/Documents/GitHub/AVIC/docs/architecture.md</a:t>
            </a:r>
          </a:p>
          <a:p xmlns:a="http://schemas.openxmlformats.org/drawingml/2006/main">
            <a:r>
              <a:t>- /Users/alexthorpe/Documents/GitHub/AVIC/scripts/verify-generation.ts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risk is evidence retrieval, not model choice. The next slice should use one approved source and a small reference answer set. With more time, evaluate both retrieval and source-supported generation, then add the reviewer workflow and monitoring. The decision is whether to approve that source-to-brief pilot after the named owners confirm access and evaluation conditions.</a:t>
            </a:r>
          </a:p>
          <a:p xmlns:a="http://schemas.openxmlformats.org/drawingml/2006/main">
            <a:r>
              <a:t/>
            </a:r>
          </a:p>
          <a:p xmlns:a="http://schemas.openxmlformats.org/drawingml/2006/main">
            <a:r>
              <a:t>[Sources]</a:t>
            </a:r>
          </a:p>
          <a:p xmlns:a="http://schemas.openxmlformats.org/drawingml/2006/main">
            <a:r>
              <a:t>- /Users/alexthorpe/Documents/GitHub/AVIC/docs/AIVC_Technical_Challenge_Task_4.2.pdf</a:t>
            </a:r>
          </a:p>
          <a:p xmlns:a="http://schemas.openxmlformats.org/drawingml/2006/main">
            <a:r>
              <a:t>- /Users/alexthorpe/Documents/GitHub/AVIC/docs/prd-v1.md</a:t>
            </a:r>
          </a:p>
          <a:p xmlns:a="http://schemas.openxmlformats.org/drawingml/2006/main">
            <a:r>
              <a:t>- /Users/alexthorpe/Documents/GitHub/AVIC/docs/architecture.md</a:t>
            </a:r>
          </a:p>
          <a:p xmlns:a="http://schemas.openxmlformats.org/drawingml/2006/main">
            <a:r>
              <a:t>- /Users/alexthorpe/Documents/GitHub/AVIC/lib/retrieval.ts</a:t>
            </a:r>
          </a:p>
          <a:p xmlns:a="http://schemas.openxmlformats.org/drawingml/2006/main">
            <a:r>
              <a:t>- /Users/alexthorpe/Documents/GitHub/AVIC/lib/brief-generation.ts</a:t>
            </a:r>
          </a:p>
          <a:p xmlns:a="http://schemas.openxmlformats.org/drawingml/2006/main">
            <a:r>
              <a:t>- /Users/alexthorpe/Documents/GitHub/AVIC/scripts/verify-v1.ts</a:t>
            </a:r>
          </a:p>
          <a:p xmlns:a="http://schemas.openxmlformats.org/drawingml/2006/main">
            <a:r>
              <a:t>- /Users/alexthorpe/Documents/GitHub/AVIC/scripts/verify-generation.ts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0e8884ebbea49f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c970b04aac34203" /><Relationship Type="http://schemas.openxmlformats.org/officeDocument/2006/relationships/slideLayout" Target="/ppt/slideLayouts/slideLayout1.xml" Id="Raa75f9bec7494a6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a75f9bec7494a6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ef78ba42f3c44c9f" /><Relationship Type="http://schemas.openxmlformats.org/officeDocument/2006/relationships/notesSlide" Target="/ppt/notesSlides/notesSlide1.xml" Id="R5eb62de3724f42c9"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767c5701f409440e" /><Relationship Type="http://schemas.openxmlformats.org/officeDocument/2006/relationships/notesSlide" Target="/ppt/notesSlides/notesSlide2.xml" Id="Rcf0dfb8456d04fd6"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146d18429aec48f6" /><Relationship Type="http://schemas.openxmlformats.org/officeDocument/2006/relationships/image" Target="/ppt/media/image.jpeg" Id="Ra5e83afa0ac64f0c" /><Relationship Type="http://schemas.openxmlformats.org/officeDocument/2006/relationships/notesSlide" Target="/ppt/notesSlides/notesSlide3.xml" Id="R4e219635a9f04bd0"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883ec815236f49ad" /><Relationship Type="http://schemas.openxmlformats.org/officeDocument/2006/relationships/image" Target="/ppt/media/image.png" Id="R76329322abf0447d" /><Relationship Type="http://schemas.openxmlformats.org/officeDocument/2006/relationships/notesSlide" Target="/ppt/notesSlides/notesSlide4.xml" Id="R539e8228c8ee496b"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200d4a7bf57b41b5" /><Relationship Type="http://schemas.openxmlformats.org/officeDocument/2006/relationships/notesSlide" Target="/ppt/notesSlides/notesSlide5.xml" Id="R7cf10536c4d54b45"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558c3cb9301e4d24" /><Relationship Type="http://schemas.openxmlformats.org/officeDocument/2006/relationships/notesSlide" Target="/ppt/notesSlides/notesSlide6.xml" Id="Re8fb3a2afeb2419a"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16b3c2b7da6c49f4" /><Relationship Type="http://schemas.openxmlformats.org/officeDocument/2006/relationships/notesSlide" Target="/ppt/notesSlides/notesSlide7.xml" Id="R3fd37934f9684c8d"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52c71642d5d24422" /><Relationship Type="http://schemas.openxmlformats.org/officeDocument/2006/relationships/notesSlide" Target="/ppt/notesSlides/notesSlide8.xml" Id="Rd3f30d9d5fb34323"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c7a4807231054fae" /><Relationship Type="http://schemas.openxmlformats.org/officeDocument/2006/relationships/notesSlide" Target="/ppt/notesSlides/notesSlide9.xml" Id="Re6c3f193fa194ba7"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2270752f67754017" /><Relationship Type="http://schemas.openxmlformats.org/officeDocument/2006/relationships/notesSlide" Target="/ppt/notesSlides/notesSlide10.xml" Id="R1dc5ec693fc34bae"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70cb31f2f1ff4ed2" /><Relationship Type="http://schemas.openxmlformats.org/officeDocument/2006/relationships/notesSlide" Target="/ppt/notesSlides/notesSlide11.xml" Id="R8d7fc4684f8d46fc" /></Relationships>
</file>

<file path=ppt/slides/slide1.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5DD1145-7B96-46D8-A68A-0CBA18A7E141}"/>
              </a:ext>
            </a:extLst>
          </p:cNvPr>
          <p:cNvSpPr>
            <a:spLocks xmlns:a="http://schemas.openxmlformats.org/drawingml/2006/main" noGrp="1"/>
          </p:cNvSpPr>
          <p:nvPr/>
        </p:nvSpPr>
        <p:spPr>
          <a:xfrm xmlns:a="http://schemas.openxmlformats.org/drawingml/2006/main">
            <a:off x="457200" y="438150"/>
            <a:ext cx="2857500" cy="285750"/>
          </a:xfrm>
          <a:prstGeom xmlns:a="http://schemas.openxmlformats.org/drawingml/2006/main" prst="roundRect">
            <a:avLst>
              <a:gd name="adj" fmla="val 50000"/>
            </a:avLst>
          </a:prstGeom>
          <a:solidFill xmlns:a="http://schemas.openxmlformats.org/drawingml/2006/main">
            <a:srgbClr val="E8F0FB"/>
          </a:solidFill>
          <a:ln xmlns:a="http://schemas.openxmlformats.org/drawingml/2006/main" w="9525">
            <a:solidFill>
              <a:srgbClr val="9CB5D5"/>
            </a:solidFill>
            <a:prstDash val="solid"/>
          </a:ln>
        </p:spPr>
      </p:sp>
      <p:sp>
        <p:nvSpPr>
          <p:cNvPr id="2" name="">
            <a:extLst xmlns:a="http://schemas.openxmlformats.org/drawingml/2006/main">
              <a:ext uri="{FF2B5EF4-FFF2-40B4-BE49-F238E27FC236}">
                <a16:creationId xmlns:a16="http://schemas.microsoft.com/office/drawing/2014/main" id="{2FFE115D-EF2A-4F10-AB7C-5AE00E3147F6}"/>
              </a:ext>
            </a:extLst>
          </p:cNvPr>
          <p:cNvSpPr>
            <a:spLocks xmlns:a="http://schemas.openxmlformats.org/drawingml/2006/main" noGrp="1"/>
          </p:cNvSpPr>
          <p:nvPr/>
        </p:nvSpPr>
        <p:spPr>
          <a:xfrm xmlns:a="http://schemas.openxmlformats.org/drawingml/2006/main">
            <a:off x="571500" y="485775"/>
            <a:ext cx="26289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857"/>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WORKING LOCAL PROTOTYPE</a:t>
            </a:r>
          </a:p>
        </p:txBody>
      </p:sp>
      <p:sp>
        <p:nvSpPr>
          <p:cNvPr id="3" name="">
            <a:extLst xmlns:a="http://schemas.openxmlformats.org/drawingml/2006/main">
              <a:ext uri="{FF2B5EF4-FFF2-40B4-BE49-F238E27FC236}">
                <a16:creationId xmlns:a16="http://schemas.microsoft.com/office/drawing/2014/main" id="{4B7B49EE-4D40-41E7-A8F1-C2E8C4E1DB9A}"/>
              </a:ext>
            </a:extLst>
          </p:cNvPr>
          <p:cNvSpPr>
            <a:spLocks xmlns:a="http://schemas.openxmlformats.org/drawingml/2006/main" noGrp="1"/>
          </p:cNvSpPr>
          <p:nvPr/>
        </p:nvSpPr>
        <p:spPr>
          <a:xfrm xmlns:a="http://schemas.openxmlformats.org/drawingml/2006/main">
            <a:off x="457200" y="1524000"/>
            <a:ext cx="82867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5100" b="1">
                <a:solidFill>
                  <a:srgbClr val="101828"/>
                </a:solidFill>
                <a:latin typeface="Helvetica Neue"/>
                <a:ea typeface="Helvetica Neue"/>
                <a:cs typeface="Helvetica Neue"/>
              </a:defRPr>
            </a:pPr>
            <a:r>
              <a:rPr sz="3450" b="1">
                <a:solidFill>
                  <a:srgbClr val="101828"/>
                </a:solidFill>
                <a:latin typeface="Helvetica Neue"/>
                <a:ea typeface="Helvetica Neue"/>
                <a:cs typeface="Helvetica Neue"/>
              </a:rPr>
              <a:t>Lens</a:t>
            </a:r>
          </a:p>
          <a:p xmlns:a="http://schemas.openxmlformats.org/drawingml/2006/main">
            <a:pPr algn="l">
              <a:buNone/>
              <a:defRPr sz="5100" b="1">
                <a:solidFill>
                  <a:srgbClr val="101828"/>
                </a:solidFill>
                <a:latin typeface="Helvetica Neue"/>
                <a:ea typeface="Helvetica Neue"/>
                <a:cs typeface="Helvetica Neue"/>
              </a:defRPr>
            </a:pPr>
            <a:r>
              <a:rPr sz="3450" b="1">
                <a:solidFill>
                  <a:srgbClr val="101828"/>
                </a:solidFill>
                <a:latin typeface="Helvetica Neue"/>
                <a:ea typeface="Helvetica Neue"/>
                <a:cs typeface="Helvetica Neue"/>
              </a:rPr>
              <a:t>Company intelligence for AIVC</a:t>
            </a:r>
          </a:p>
        </p:txBody>
      </p:sp>
      <p:sp>
        <p:nvSpPr>
          <p:cNvPr id="4" name="">
            <a:extLst xmlns:a="http://schemas.openxmlformats.org/drawingml/2006/main">
              <a:ext uri="{FF2B5EF4-FFF2-40B4-BE49-F238E27FC236}">
                <a16:creationId xmlns:a16="http://schemas.microsoft.com/office/drawing/2014/main" id="{A9B41661-5E1A-4F92-ADD3-F4CFD9277153}"/>
              </a:ext>
            </a:extLst>
          </p:cNvPr>
          <p:cNvSpPr>
            <a:spLocks xmlns:a="http://schemas.openxmlformats.org/drawingml/2006/main" noGrp="1"/>
          </p:cNvSpPr>
          <p:nvPr/>
        </p:nvSpPr>
        <p:spPr>
          <a:xfrm xmlns:a="http://schemas.openxmlformats.org/drawingml/2006/main">
            <a:off x="495300" y="3695700"/>
            <a:ext cx="72390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483"/>
          </a:bodyPr>
          <a:lstStyle xmlns:a="http://schemas.openxmlformats.org/drawingml/2006/main"/>
          <a:p xmlns:a="http://schemas.openxmlformats.org/drawingml/2006/main">
            <a:pPr algn="l">
              <a:buNone/>
              <a:defRPr sz="2100" b="1">
                <a:solidFill>
                  <a:srgbClr val="315F9F"/>
                </a:solidFill>
                <a:latin typeface="Helvetica Neue"/>
                <a:ea typeface="Helvetica Neue"/>
                <a:cs typeface="Helvetica Neue"/>
              </a:defRPr>
            </a:pPr>
            <a:r>
              <a:rPr sz="2025" b="1">
                <a:solidFill>
                  <a:srgbClr val="315F9F"/>
                </a:solidFill>
                <a:latin typeface="Helvetica Neue"/>
                <a:ea typeface="Helvetica Neue"/>
                <a:cs typeface="Helvetica Neue"/>
              </a:rPr>
              <a:t>Company briefs from fictional evidence in 30 seconds or less</a:t>
            </a:r>
          </a:p>
        </p:txBody>
      </p:sp>
      <p:sp>
        <p:nvSpPr>
          <p:cNvPr id="5" name="">
            <a:extLst xmlns:a="http://schemas.openxmlformats.org/drawingml/2006/main">
              <a:ext uri="{FF2B5EF4-FFF2-40B4-BE49-F238E27FC236}">
                <a16:creationId xmlns:a16="http://schemas.microsoft.com/office/drawing/2014/main" id="{BE02645B-87CB-4B29-92D6-00F251442053}"/>
              </a:ext>
            </a:extLst>
          </p:cNvPr>
          <p:cNvSpPr>
            <a:spLocks xmlns:a="http://schemas.openxmlformats.org/drawingml/2006/main" noGrp="1"/>
          </p:cNvSpPr>
          <p:nvPr/>
        </p:nvSpPr>
        <p:spPr>
          <a:xfrm xmlns:a="http://schemas.openxmlformats.org/drawingml/2006/main">
            <a:off x="457200" y="485775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6" name="">
            <a:extLst xmlns:a="http://schemas.openxmlformats.org/drawingml/2006/main">
              <a:ext uri="{FF2B5EF4-FFF2-40B4-BE49-F238E27FC236}">
                <a16:creationId xmlns:a16="http://schemas.microsoft.com/office/drawing/2014/main" id="{8EEB971D-6B6E-42B3-96FB-E8FE4C8AD317}"/>
              </a:ext>
            </a:extLst>
          </p:cNvPr>
          <p:cNvSpPr>
            <a:spLocks xmlns:a="http://schemas.openxmlformats.org/drawingml/2006/main" noGrp="1"/>
          </p:cNvSpPr>
          <p:nvPr/>
        </p:nvSpPr>
        <p:spPr>
          <a:xfrm xmlns:a="http://schemas.openxmlformats.org/drawingml/2006/main">
            <a:off x="457200" y="5162550"/>
            <a:ext cx="7429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0">
                <a:solidFill>
                  <a:srgbClr val="344054"/>
                </a:solidFill>
                <a:latin typeface="Helvetica Neue"/>
                <a:ea typeface="Helvetica Neue"/>
                <a:cs typeface="Helvetica Neue"/>
              </a:defRPr>
            </a:pPr>
            <a:r>
              <a:rPr sz="1425" b="0">
                <a:solidFill>
                  <a:srgbClr val="344054"/>
                </a:solidFill>
                <a:latin typeface="Helvetica Neue"/>
                <a:ea typeface="Helvetica Neue"/>
                <a:cs typeface="Helvetica Neue"/>
              </a:rPr>
              <a:t>Technical challenge · Product, architecture, and pilot plan</a:t>
            </a:r>
          </a:p>
        </p:txBody>
      </p:sp>
      <p:sp>
        <p:nvSpPr>
          <p:cNvPr id="7" name="">
            <a:extLst xmlns:a="http://schemas.openxmlformats.org/drawingml/2006/main">
              <a:ext uri="{FF2B5EF4-FFF2-40B4-BE49-F238E27FC236}">
                <a16:creationId xmlns:a16="http://schemas.microsoft.com/office/drawing/2014/main" id="{F6A76C5E-3CD4-4748-AEF7-31A1D2F83BAC}"/>
              </a:ext>
            </a:extLst>
          </p:cNvPr>
          <p:cNvSpPr>
            <a:spLocks xmlns:a="http://schemas.openxmlformats.org/drawingml/2006/main" noGrp="1"/>
          </p:cNvSpPr>
          <p:nvPr/>
        </p:nvSpPr>
        <p:spPr>
          <a:xfrm xmlns:a="http://schemas.openxmlformats.org/drawingml/2006/main">
            <a:off x="9525000" y="5162550"/>
            <a:ext cx="17907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r">
              <a:buNone/>
              <a:defRPr sz="1125" b="1">
                <a:solidFill>
                  <a:srgbClr val="667085"/>
                </a:solidFill>
                <a:latin typeface="Helvetica Neue"/>
                <a:ea typeface="Helvetica Neue"/>
                <a:cs typeface="Helvetica Neue"/>
              </a:defRPr>
            </a:pPr>
            <a:r>
              <a:rPr sz="1125" b="1">
                <a:solidFill>
                  <a:srgbClr val="667085"/>
                </a:solidFill>
                <a:latin typeface="Helvetica Neue"/>
                <a:ea typeface="Helvetica Neue"/>
                <a:cs typeface="Helvetica Neue"/>
              </a:rPr>
              <a:t>31 AUG 2026</a:t>
            </a:r>
          </a:p>
        </p:txBody>
      </p:sp>
      <p:sp>
        <p:nvSpPr>
          <p:cNvPr id="8" name="">
            <a:extLst xmlns:a="http://schemas.openxmlformats.org/drawingml/2006/main">
              <a:ext uri="{FF2B5EF4-FFF2-40B4-BE49-F238E27FC236}">
                <a16:creationId xmlns:a16="http://schemas.microsoft.com/office/drawing/2014/main" id="{E291299B-C5FE-4207-A40C-B9127CBC5E53}"/>
              </a:ext>
            </a:extLst>
          </p:cNvPr>
          <p:cNvSpPr>
            <a:spLocks xmlns:a="http://schemas.openxmlformats.org/drawingml/2006/main" noGrp="1"/>
          </p:cNvSpPr>
          <p:nvPr/>
        </p:nvSpPr>
        <p:spPr>
          <a:xfrm xmlns:a="http://schemas.openxmlformats.org/drawingml/2006/main">
            <a:off x="457200" y="6172200"/>
            <a:ext cx="762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125" b="1">
                <a:solidFill>
                  <a:srgbClr val="667085"/>
                </a:solidFill>
                <a:latin typeface="Helvetica Neue"/>
                <a:ea typeface="Helvetica Neue"/>
                <a:cs typeface="Helvetica Neue"/>
              </a:defRPr>
            </a:pPr>
            <a:r>
              <a:rPr sz="1125" b="1">
                <a:solidFill>
                  <a:srgbClr val="667085"/>
                </a:solidFill>
                <a:latin typeface="Helvetica Neue"/>
                <a:ea typeface="Helvetica Neue"/>
                <a:cs typeface="Helvetica Neue"/>
              </a:rPr>
              <a:t>Lens</a:t>
            </a:r>
          </a:p>
        </p:txBody>
      </p:sp>
    </p:spTree>
    <p:extLst>
      <p:ext uri="{BB962C8B-B14F-4D97-AF65-F5344CB8AC3E}">
        <p14:creationId xmlns:p14="http://schemas.microsoft.com/office/powerpoint/2010/main" val="614579951"/>
      </p:ext>
    </p:extLst>
  </p:cSld>
</p:sld>
</file>

<file path=ppt/slides/slide2.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B6C65EB2-113E-4627-87F2-A71ECC3D3678}"/>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3000" b="1">
                <a:solidFill>
                  <a:srgbClr val="101828"/>
                </a:solidFill>
                <a:latin typeface="Helvetica Neue"/>
                <a:ea typeface="Helvetica Neue"/>
                <a:cs typeface="Helvetica Neue"/>
              </a:rPr>
              <a:t>What job does Lens replace?</a:t>
            </a:r>
          </a:p>
        </p:txBody>
      </p:sp>
      <p:sp>
        <p:nvSpPr>
          <p:cNvPr id="2" name="">
            <a:extLst xmlns:a="http://schemas.openxmlformats.org/drawingml/2006/main">
              <a:ext uri="{FF2B5EF4-FFF2-40B4-BE49-F238E27FC236}">
                <a16:creationId xmlns:a16="http://schemas.microsoft.com/office/drawing/2014/main" id="{38E579A2-9FB9-4372-9154-19087DC39425}"/>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1F77AA71-D3C2-4C98-AFAC-E5412A1AB528}"/>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02</a:t>
            </a:r>
          </a:p>
        </p:txBody>
      </p:sp>
      <p:sp>
        <p:nvSpPr>
          <p:cNvPr id="4" name="">
            <a:extLst xmlns:a="http://schemas.openxmlformats.org/drawingml/2006/main">
              <a:ext uri="{FF2B5EF4-FFF2-40B4-BE49-F238E27FC236}">
                <a16:creationId xmlns:a16="http://schemas.microsoft.com/office/drawing/2014/main" id="{8DCF48F3-450F-4130-95CF-94099BB78493}"/>
              </a:ext>
            </a:extLst>
          </p:cNvPr>
          <p:cNvSpPr>
            <a:spLocks xmlns:a="http://schemas.openxmlformats.org/drawingml/2006/main" noGrp="1"/>
          </p:cNvSpPr>
          <p:nvPr/>
        </p:nvSpPr>
        <p:spPr>
          <a:xfrm xmlns:a="http://schemas.openxmlformats.org/drawingml/2006/main">
            <a:off x="457200" y="1600200"/>
            <a:ext cx="10287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8933"/>
          </a:bodyPr>
          <a:lstStyle xmlns:a="http://schemas.openxmlformats.org/drawingml/2006/main"/>
          <a:p xmlns:a="http://schemas.openxmlformats.org/drawingml/2006/main">
            <a:pPr algn="l">
              <a:buNone/>
              <a:defRPr sz="2250" b="1">
                <a:solidFill>
                  <a:srgbClr val="101828"/>
                </a:solidFill>
                <a:latin typeface="Helvetica Neue"/>
                <a:ea typeface="Helvetica Neue"/>
                <a:cs typeface="Helvetica Neue"/>
              </a:defRPr>
            </a:pPr>
            <a:r>
              <a:rPr sz="1725" b="1">
                <a:solidFill>
                  <a:srgbClr val="101828"/>
                </a:solidFill>
                <a:latin typeface="Helvetica Neue"/>
                <a:ea typeface="Helvetica Neue"/>
                <a:cs typeface="Helvetica Neue"/>
              </a:rPr>
              <a:t>An AIVC principal prepares for discussions across about 50 portfolio companies and 200 pipeline companies.</a:t>
            </a:r>
          </a:p>
        </p:txBody>
      </p:sp>
      <p:sp>
        <p:nvSpPr>
          <p:cNvPr id="5" name="">
            <a:extLst xmlns:a="http://schemas.openxmlformats.org/drawingml/2006/main">
              <a:ext uri="{FF2B5EF4-FFF2-40B4-BE49-F238E27FC236}">
                <a16:creationId xmlns:a16="http://schemas.microsoft.com/office/drawing/2014/main" id="{248F95D8-6C94-47AD-A1EB-CF294B2AA4EB}"/>
              </a:ext>
            </a:extLst>
          </p:cNvPr>
          <p:cNvSpPr>
            <a:spLocks xmlns:a="http://schemas.openxmlformats.org/drawingml/2006/main" noGrp="1"/>
          </p:cNvSpPr>
          <p:nvPr/>
        </p:nvSpPr>
        <p:spPr>
          <a:xfrm xmlns:a="http://schemas.openxmlformats.org/drawingml/2006/main">
            <a:off x="457200" y="2238375"/>
            <a:ext cx="10287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8889"/>
          </a:bodyPr>
          <a:lstStyle xmlns:a="http://schemas.openxmlformats.org/drawingml/2006/main"/>
          <a:p xmlns:a="http://schemas.openxmlformats.org/drawingml/2006/main">
            <a:pPr algn="l">
              <a:buNone/>
              <a:defRPr sz="1425" b="0">
                <a:solidFill>
                  <a:srgbClr val="667085"/>
                </a:solidFill>
                <a:latin typeface="Helvetica Neue"/>
                <a:ea typeface="Helvetica Neue"/>
                <a:cs typeface="Helvetica Neue"/>
              </a:defRPr>
            </a:pPr>
            <a:r>
              <a:rPr sz="1350" b="0">
                <a:solidFill>
                  <a:srgbClr val="667085"/>
                </a:solidFill>
                <a:latin typeface="Helvetica Neue"/>
                <a:ea typeface="Helvetica Neue"/>
                <a:cs typeface="Helvetica Neue"/>
              </a:rPr>
              <a:t>The facts are spread across CRM records, meeting notes, Slack, filings, and news. The AIVC principal must find the latest value, check the source, and see what is missing.</a:t>
            </a:r>
          </a:p>
        </p:txBody>
      </p:sp>
      <p:sp>
        <p:nvSpPr>
          <p:cNvPr id="6" name="">
            <a:extLst xmlns:a="http://schemas.openxmlformats.org/drawingml/2006/main">
              <a:ext uri="{FF2B5EF4-FFF2-40B4-BE49-F238E27FC236}">
                <a16:creationId xmlns:a16="http://schemas.microsoft.com/office/drawing/2014/main" id="{D90417FF-1C78-4630-A7F8-6EC28C547754}"/>
              </a:ext>
            </a:extLst>
          </p:cNvPr>
          <p:cNvSpPr>
            <a:spLocks xmlns:a="http://schemas.openxmlformats.org/drawingml/2006/main" noGrp="1"/>
          </p:cNvSpPr>
          <p:nvPr/>
        </p:nvSpPr>
        <p:spPr>
          <a:xfrm xmlns:a="http://schemas.openxmlformats.org/drawingml/2006/main">
            <a:off x="457200" y="3219450"/>
            <a:ext cx="3381375" cy="2247900"/>
          </a:xfrm>
          <a:prstGeom xmlns:a="http://schemas.openxmlformats.org/drawingml/2006/main" prst="roundRect">
            <a:avLst>
              <a:gd name="adj" fmla="val 7627"/>
            </a:avLst>
          </a:prstGeom>
          <a:solidFill xmlns:a="http://schemas.openxmlformats.org/drawingml/2006/main">
            <a:srgbClr val="FFFFFF"/>
          </a:solidFill>
          <a:ln xmlns:a="http://schemas.openxmlformats.org/drawingml/2006/main" w="9525">
            <a:solidFill>
              <a:srgbClr val="D0D5DD"/>
            </a:solidFill>
            <a:prstDash val="solid"/>
          </a:ln>
        </p:spPr>
      </p:sp>
      <p:sp>
        <p:nvSpPr>
          <p:cNvPr id="7" name="">
            <a:extLst xmlns:a="http://schemas.openxmlformats.org/drawingml/2006/main">
              <a:ext uri="{FF2B5EF4-FFF2-40B4-BE49-F238E27FC236}">
                <a16:creationId xmlns:a16="http://schemas.microsoft.com/office/drawing/2014/main" id="{F0950B1F-A28C-4568-A076-E5A6E0933D1B}"/>
              </a:ext>
            </a:extLst>
          </p:cNvPr>
          <p:cNvSpPr>
            <a:spLocks xmlns:a="http://schemas.openxmlformats.org/drawingml/2006/main" noGrp="1"/>
          </p:cNvSpPr>
          <p:nvPr/>
        </p:nvSpPr>
        <p:spPr>
          <a:xfrm xmlns:a="http://schemas.openxmlformats.org/drawingml/2006/main">
            <a:off x="457200" y="3219450"/>
            <a:ext cx="76200" cy="2247900"/>
          </a:xfrm>
          <a:prstGeom xmlns:a="http://schemas.openxmlformats.org/drawingml/2006/main" prst="rect">
            <a:avLst/>
          </a:prstGeom>
          <a:solidFill xmlns:a="http://schemas.openxmlformats.org/drawingml/2006/main">
            <a:srgbClr val="315F9F"/>
          </a:solidFill>
          <a:ln xmlns:a="http://schemas.openxmlformats.org/drawingml/2006/main" w="9525">
            <a:solidFill>
              <a:srgbClr val="315F9F"/>
            </a:solidFill>
            <a:prstDash val="solid"/>
          </a:ln>
        </p:spPr>
      </p:sp>
      <p:sp>
        <p:nvSpPr>
          <p:cNvPr id="8" name="">
            <a:extLst xmlns:a="http://schemas.openxmlformats.org/drawingml/2006/main">
              <a:ext uri="{FF2B5EF4-FFF2-40B4-BE49-F238E27FC236}">
                <a16:creationId xmlns:a16="http://schemas.microsoft.com/office/drawing/2014/main" id="{6E8B5CB9-5258-49AF-98CB-CA7024CCD3D5}"/>
              </a:ext>
            </a:extLst>
          </p:cNvPr>
          <p:cNvSpPr>
            <a:spLocks xmlns:a="http://schemas.openxmlformats.org/drawingml/2006/main" noGrp="1"/>
          </p:cNvSpPr>
          <p:nvPr/>
        </p:nvSpPr>
        <p:spPr>
          <a:xfrm xmlns:a="http://schemas.openxmlformats.org/drawingml/2006/main">
            <a:off x="742950" y="3505200"/>
            <a:ext cx="2857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274"/>
          </a:bodyPr>
          <a:lstStyle xmlns:a="http://schemas.openxmlformats.org/drawingml/2006/main"/>
          <a:p xmlns:a="http://schemas.openxmlformats.org/drawingml/2006/main">
            <a:pPr algn="l">
              <a:buNone/>
              <a:defRPr sz="5100" b="1">
                <a:solidFill>
                  <a:srgbClr val="101828"/>
                </a:solidFill>
                <a:latin typeface="Helvetica Neue"/>
                <a:ea typeface="Helvetica Neue"/>
                <a:cs typeface="Helvetica Neue"/>
              </a:defRPr>
            </a:pPr>
            <a:r>
              <a:rPr sz="5100" b="1">
                <a:solidFill>
                  <a:srgbClr val="101828"/>
                </a:solidFill>
                <a:latin typeface="Helvetica Neue"/>
                <a:ea typeface="Helvetica Neue"/>
                <a:cs typeface="Helvetica Neue"/>
              </a:rPr>
              <a:t>≈250</a:t>
            </a:r>
          </a:p>
        </p:txBody>
      </p:sp>
      <p:sp>
        <p:nvSpPr>
          <p:cNvPr id="9" name="">
            <a:extLst xmlns:a="http://schemas.openxmlformats.org/drawingml/2006/main">
              <a:ext uri="{FF2B5EF4-FFF2-40B4-BE49-F238E27FC236}">
                <a16:creationId xmlns:a16="http://schemas.microsoft.com/office/drawing/2014/main" id="{35DB3E8C-2A1E-4CB1-A446-D1C965CC3246}"/>
              </a:ext>
            </a:extLst>
          </p:cNvPr>
          <p:cNvSpPr>
            <a:spLocks xmlns:a="http://schemas.openxmlformats.org/drawingml/2006/main" noGrp="1"/>
          </p:cNvSpPr>
          <p:nvPr/>
        </p:nvSpPr>
        <p:spPr>
          <a:xfrm xmlns:a="http://schemas.openxmlformats.org/drawingml/2006/main">
            <a:off x="742950" y="4419600"/>
            <a:ext cx="285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1">
                <a:solidFill>
                  <a:srgbClr val="344054"/>
                </a:solidFill>
                <a:latin typeface="Helvetica Neue"/>
                <a:ea typeface="Helvetica Neue"/>
                <a:cs typeface="Helvetica Neue"/>
              </a:defRPr>
            </a:pPr>
            <a:r>
              <a:rPr sz="1650" b="1">
                <a:solidFill>
                  <a:srgbClr val="344054"/>
                </a:solidFill>
                <a:latin typeface="Helvetica Neue"/>
                <a:ea typeface="Helvetica Neue"/>
                <a:cs typeface="Helvetica Neue"/>
              </a:rPr>
              <a:t>companies in scope</a:t>
            </a:r>
          </a:p>
        </p:txBody>
      </p:sp>
      <p:sp>
        <p:nvSpPr>
          <p:cNvPr id="10" name="">
            <a:extLst xmlns:a="http://schemas.openxmlformats.org/drawingml/2006/main">
              <a:ext uri="{FF2B5EF4-FFF2-40B4-BE49-F238E27FC236}">
                <a16:creationId xmlns:a16="http://schemas.microsoft.com/office/drawing/2014/main" id="{D5053B9A-8BFE-4CFB-BD23-363424E0793F}"/>
              </a:ext>
            </a:extLst>
          </p:cNvPr>
          <p:cNvSpPr>
            <a:spLocks xmlns:a="http://schemas.openxmlformats.org/drawingml/2006/main" noGrp="1"/>
          </p:cNvSpPr>
          <p:nvPr/>
        </p:nvSpPr>
        <p:spPr>
          <a:xfrm xmlns:a="http://schemas.openxmlformats.org/drawingml/2006/main">
            <a:off x="742950" y="4953000"/>
            <a:ext cx="285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About 50 portfolio + 200 pipeline</a:t>
            </a:r>
          </a:p>
        </p:txBody>
      </p:sp>
      <p:sp>
        <p:nvSpPr>
          <p:cNvPr id="11" name="">
            <a:extLst xmlns:a="http://schemas.openxmlformats.org/drawingml/2006/main">
              <a:ext uri="{FF2B5EF4-FFF2-40B4-BE49-F238E27FC236}">
                <a16:creationId xmlns:a16="http://schemas.microsoft.com/office/drawing/2014/main" id="{56AC5EA8-248C-47B4-958B-AE6E911531FB}"/>
              </a:ext>
            </a:extLst>
          </p:cNvPr>
          <p:cNvSpPr>
            <a:spLocks xmlns:a="http://schemas.openxmlformats.org/drawingml/2006/main" noGrp="1"/>
          </p:cNvSpPr>
          <p:nvPr/>
        </p:nvSpPr>
        <p:spPr>
          <a:xfrm xmlns:a="http://schemas.openxmlformats.org/drawingml/2006/main">
            <a:off x="3933825" y="3219450"/>
            <a:ext cx="3381375" cy="2247900"/>
          </a:xfrm>
          <a:prstGeom xmlns:a="http://schemas.openxmlformats.org/drawingml/2006/main" prst="roundRect">
            <a:avLst>
              <a:gd name="adj" fmla="val 7627"/>
            </a:avLst>
          </a:prstGeom>
          <a:solidFill xmlns:a="http://schemas.openxmlformats.org/drawingml/2006/main">
            <a:srgbClr val="FFFFFF"/>
          </a:solidFill>
          <a:ln xmlns:a="http://schemas.openxmlformats.org/drawingml/2006/main" w="9525">
            <a:solidFill>
              <a:srgbClr val="D0D5DD"/>
            </a:solidFill>
            <a:prstDash val="solid"/>
          </a:ln>
        </p:spPr>
      </p:sp>
      <p:sp>
        <p:nvSpPr>
          <p:cNvPr id="12" name="">
            <a:extLst xmlns:a="http://schemas.openxmlformats.org/drawingml/2006/main">
              <a:ext uri="{FF2B5EF4-FFF2-40B4-BE49-F238E27FC236}">
                <a16:creationId xmlns:a16="http://schemas.microsoft.com/office/drawing/2014/main" id="{0DD683D5-383D-4FAC-92FD-68867DEDD7D7}"/>
              </a:ext>
            </a:extLst>
          </p:cNvPr>
          <p:cNvSpPr>
            <a:spLocks xmlns:a="http://schemas.openxmlformats.org/drawingml/2006/main" noGrp="1"/>
          </p:cNvSpPr>
          <p:nvPr/>
        </p:nvSpPr>
        <p:spPr>
          <a:xfrm xmlns:a="http://schemas.openxmlformats.org/drawingml/2006/main">
            <a:off x="3933825" y="3219450"/>
            <a:ext cx="76200" cy="2247900"/>
          </a:xfrm>
          <a:prstGeom xmlns:a="http://schemas.openxmlformats.org/drawingml/2006/main" prst="rect">
            <a:avLst/>
          </a:prstGeom>
          <a:solidFill xmlns:a="http://schemas.openxmlformats.org/drawingml/2006/main">
            <a:srgbClr val="5D7FB4"/>
          </a:solidFill>
          <a:ln xmlns:a="http://schemas.openxmlformats.org/drawingml/2006/main" w="9525">
            <a:solidFill>
              <a:srgbClr val="5D7FB4"/>
            </a:solidFill>
            <a:prstDash val="solid"/>
          </a:ln>
        </p:spPr>
      </p:sp>
      <p:sp>
        <p:nvSpPr>
          <p:cNvPr id="13" name="">
            <a:extLst xmlns:a="http://schemas.openxmlformats.org/drawingml/2006/main">
              <a:ext uri="{FF2B5EF4-FFF2-40B4-BE49-F238E27FC236}">
                <a16:creationId xmlns:a16="http://schemas.microsoft.com/office/drawing/2014/main" id="{2F025FB5-141F-4754-8532-8F42CEAA8B70}"/>
              </a:ext>
            </a:extLst>
          </p:cNvPr>
          <p:cNvSpPr>
            <a:spLocks xmlns:a="http://schemas.openxmlformats.org/drawingml/2006/main" noGrp="1"/>
          </p:cNvSpPr>
          <p:nvPr/>
        </p:nvSpPr>
        <p:spPr>
          <a:xfrm xmlns:a="http://schemas.openxmlformats.org/drawingml/2006/main">
            <a:off x="4219575" y="3505200"/>
            <a:ext cx="2857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274"/>
          </a:bodyPr>
          <a:lstStyle xmlns:a="http://schemas.openxmlformats.org/drawingml/2006/main"/>
          <a:p xmlns:a="http://schemas.openxmlformats.org/drawingml/2006/main">
            <a:pPr algn="l">
              <a:buNone/>
              <a:defRPr sz="5100" b="1">
                <a:solidFill>
                  <a:srgbClr val="101828"/>
                </a:solidFill>
                <a:latin typeface="Helvetica Neue"/>
                <a:ea typeface="Helvetica Neue"/>
                <a:cs typeface="Helvetica Neue"/>
              </a:defRPr>
            </a:pPr>
            <a:r>
              <a:rPr sz="5100" b="1">
                <a:solidFill>
                  <a:srgbClr val="101828"/>
                </a:solidFill>
                <a:latin typeface="Helvetica Neue"/>
                <a:ea typeface="Helvetica Neue"/>
                <a:cs typeface="Helvetica Neue"/>
              </a:rPr>
              <a:t>90 min</a:t>
            </a:r>
          </a:p>
        </p:txBody>
      </p:sp>
      <p:sp>
        <p:nvSpPr>
          <p:cNvPr id="14" name="">
            <a:extLst xmlns:a="http://schemas.openxmlformats.org/drawingml/2006/main">
              <a:ext uri="{FF2B5EF4-FFF2-40B4-BE49-F238E27FC236}">
                <a16:creationId xmlns:a16="http://schemas.microsoft.com/office/drawing/2014/main" id="{7DD042B3-963F-43BD-8B6B-A49D74611D41}"/>
              </a:ext>
            </a:extLst>
          </p:cNvPr>
          <p:cNvSpPr>
            <a:spLocks xmlns:a="http://schemas.openxmlformats.org/drawingml/2006/main" noGrp="1"/>
          </p:cNvSpPr>
          <p:nvPr/>
        </p:nvSpPr>
        <p:spPr>
          <a:xfrm xmlns:a="http://schemas.openxmlformats.org/drawingml/2006/main">
            <a:off x="4219575" y="4419600"/>
            <a:ext cx="285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1">
                <a:solidFill>
                  <a:srgbClr val="344054"/>
                </a:solidFill>
                <a:latin typeface="Helvetica Neue"/>
                <a:ea typeface="Helvetica Neue"/>
                <a:cs typeface="Helvetica Neue"/>
              </a:defRPr>
            </a:pPr>
            <a:r>
              <a:rPr sz="1650" b="1">
                <a:solidFill>
                  <a:srgbClr val="344054"/>
                </a:solidFill>
                <a:latin typeface="Helvetica Neue"/>
                <a:ea typeface="Helvetica Neue"/>
                <a:cs typeface="Helvetica Neue"/>
              </a:rPr>
              <a:t>manual preparation</a:t>
            </a:r>
          </a:p>
        </p:txBody>
      </p:sp>
      <p:sp>
        <p:nvSpPr>
          <p:cNvPr id="15" name="">
            <a:extLst xmlns:a="http://schemas.openxmlformats.org/drawingml/2006/main">
              <a:ext uri="{FF2B5EF4-FFF2-40B4-BE49-F238E27FC236}">
                <a16:creationId xmlns:a16="http://schemas.microsoft.com/office/drawing/2014/main" id="{1353F715-1736-4DA9-A1CF-98E50CB58DCE}"/>
              </a:ext>
            </a:extLst>
          </p:cNvPr>
          <p:cNvSpPr>
            <a:spLocks xmlns:a="http://schemas.openxmlformats.org/drawingml/2006/main" noGrp="1"/>
          </p:cNvSpPr>
          <p:nvPr/>
        </p:nvSpPr>
        <p:spPr>
          <a:xfrm xmlns:a="http://schemas.openxmlformats.org/drawingml/2006/main">
            <a:off x="4219575" y="4953000"/>
            <a:ext cx="285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22"/>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Scenario estimate; not a measured baseline</a:t>
            </a:r>
          </a:p>
        </p:txBody>
      </p:sp>
      <p:sp>
        <p:nvSpPr>
          <p:cNvPr id="16" name="">
            <a:extLst xmlns:a="http://schemas.openxmlformats.org/drawingml/2006/main">
              <a:ext uri="{FF2B5EF4-FFF2-40B4-BE49-F238E27FC236}">
                <a16:creationId xmlns:a16="http://schemas.microsoft.com/office/drawing/2014/main" id="{577AC155-9844-4BC8-896D-32BD07441E24}"/>
              </a:ext>
            </a:extLst>
          </p:cNvPr>
          <p:cNvSpPr>
            <a:spLocks xmlns:a="http://schemas.openxmlformats.org/drawingml/2006/main" noGrp="1"/>
          </p:cNvSpPr>
          <p:nvPr/>
        </p:nvSpPr>
        <p:spPr>
          <a:xfrm xmlns:a="http://schemas.openxmlformats.org/drawingml/2006/main">
            <a:off x="7410450" y="3219450"/>
            <a:ext cx="3381375" cy="2247900"/>
          </a:xfrm>
          <a:prstGeom xmlns:a="http://schemas.openxmlformats.org/drawingml/2006/main" prst="roundRect">
            <a:avLst>
              <a:gd name="adj" fmla="val 7627"/>
            </a:avLst>
          </a:prstGeom>
          <a:solidFill xmlns:a="http://schemas.openxmlformats.org/drawingml/2006/main">
            <a:srgbClr val="FFFFFF"/>
          </a:solidFill>
          <a:ln xmlns:a="http://schemas.openxmlformats.org/drawingml/2006/main" w="9525">
            <a:solidFill>
              <a:srgbClr val="D0D5DD"/>
            </a:solidFill>
            <a:prstDash val="solid"/>
          </a:ln>
        </p:spPr>
      </p:sp>
      <p:sp>
        <p:nvSpPr>
          <p:cNvPr id="17" name="">
            <a:extLst xmlns:a="http://schemas.openxmlformats.org/drawingml/2006/main">
              <a:ext uri="{FF2B5EF4-FFF2-40B4-BE49-F238E27FC236}">
                <a16:creationId xmlns:a16="http://schemas.microsoft.com/office/drawing/2014/main" id="{372D61F2-45C3-47D8-AC88-3F1E32DCFA11}"/>
              </a:ext>
            </a:extLst>
          </p:cNvPr>
          <p:cNvSpPr>
            <a:spLocks xmlns:a="http://schemas.openxmlformats.org/drawingml/2006/main" noGrp="1"/>
          </p:cNvSpPr>
          <p:nvPr/>
        </p:nvSpPr>
        <p:spPr>
          <a:xfrm xmlns:a="http://schemas.openxmlformats.org/drawingml/2006/main">
            <a:off x="7410450" y="3219450"/>
            <a:ext cx="76200" cy="2247900"/>
          </a:xfrm>
          <a:prstGeom xmlns:a="http://schemas.openxmlformats.org/drawingml/2006/main" prst="rect">
            <a:avLst/>
          </a:prstGeom>
          <a:solidFill xmlns:a="http://schemas.openxmlformats.org/drawingml/2006/main">
            <a:srgbClr val="9CB5D5"/>
          </a:solidFill>
          <a:ln xmlns:a="http://schemas.openxmlformats.org/drawingml/2006/main" w="9525">
            <a:solidFill>
              <a:srgbClr val="9CB5D5"/>
            </a:solidFill>
            <a:prstDash val="solid"/>
          </a:ln>
        </p:spPr>
      </p:sp>
      <p:sp>
        <p:nvSpPr>
          <p:cNvPr id="18" name="">
            <a:extLst xmlns:a="http://schemas.openxmlformats.org/drawingml/2006/main">
              <a:ext uri="{FF2B5EF4-FFF2-40B4-BE49-F238E27FC236}">
                <a16:creationId xmlns:a16="http://schemas.microsoft.com/office/drawing/2014/main" id="{C926A76D-4C90-42DF-A6F2-17737BFECFDE}"/>
              </a:ext>
            </a:extLst>
          </p:cNvPr>
          <p:cNvSpPr>
            <a:spLocks xmlns:a="http://schemas.openxmlformats.org/drawingml/2006/main" noGrp="1"/>
          </p:cNvSpPr>
          <p:nvPr/>
        </p:nvSpPr>
        <p:spPr>
          <a:xfrm xmlns:a="http://schemas.openxmlformats.org/drawingml/2006/main">
            <a:off x="7696200" y="3505200"/>
            <a:ext cx="2857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274"/>
          </a:bodyPr>
          <a:lstStyle xmlns:a="http://schemas.openxmlformats.org/drawingml/2006/main"/>
          <a:p xmlns:a="http://schemas.openxmlformats.org/drawingml/2006/main">
            <a:pPr algn="l">
              <a:buNone/>
              <a:defRPr sz="5100" b="1">
                <a:solidFill>
                  <a:srgbClr val="101828"/>
                </a:solidFill>
                <a:latin typeface="Helvetica Neue"/>
                <a:ea typeface="Helvetica Neue"/>
                <a:cs typeface="Helvetica Neue"/>
              </a:defRPr>
            </a:pPr>
            <a:r>
              <a:rPr sz="5100" b="1">
                <a:solidFill>
                  <a:srgbClr val="101828"/>
                </a:solidFill>
                <a:latin typeface="Helvetica Neue"/>
                <a:ea typeface="Helvetica Neue"/>
                <a:cs typeface="Helvetica Neue"/>
              </a:rPr>
              <a:t>≤30 sec</a:t>
            </a:r>
          </a:p>
        </p:txBody>
      </p:sp>
      <p:sp>
        <p:nvSpPr>
          <p:cNvPr id="19" name="">
            <a:extLst xmlns:a="http://schemas.openxmlformats.org/drawingml/2006/main">
              <a:ext uri="{FF2B5EF4-FFF2-40B4-BE49-F238E27FC236}">
                <a16:creationId xmlns:a16="http://schemas.microsoft.com/office/drawing/2014/main" id="{093E1318-319E-46BC-A315-D16FC24215E3}"/>
              </a:ext>
            </a:extLst>
          </p:cNvPr>
          <p:cNvSpPr>
            <a:spLocks xmlns:a="http://schemas.openxmlformats.org/drawingml/2006/main" noGrp="1"/>
          </p:cNvSpPr>
          <p:nvPr/>
        </p:nvSpPr>
        <p:spPr>
          <a:xfrm xmlns:a="http://schemas.openxmlformats.org/drawingml/2006/main">
            <a:off x="7696200" y="4419600"/>
            <a:ext cx="285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1">
                <a:solidFill>
                  <a:srgbClr val="344054"/>
                </a:solidFill>
                <a:latin typeface="Helvetica Neue"/>
                <a:ea typeface="Helvetica Neue"/>
                <a:cs typeface="Helvetica Neue"/>
              </a:defRPr>
            </a:pPr>
            <a:r>
              <a:rPr sz="1650" b="1">
                <a:solidFill>
                  <a:srgbClr val="344054"/>
                </a:solidFill>
                <a:latin typeface="Helvetica Neue"/>
                <a:ea typeface="Helvetica Neue"/>
                <a:cs typeface="Helvetica Neue"/>
              </a:rPr>
              <a:t>brief target</a:t>
            </a:r>
          </a:p>
        </p:txBody>
      </p:sp>
      <p:sp>
        <p:nvSpPr>
          <p:cNvPr id="20" name="">
            <a:extLst xmlns:a="http://schemas.openxmlformats.org/drawingml/2006/main">
              <a:ext uri="{FF2B5EF4-FFF2-40B4-BE49-F238E27FC236}">
                <a16:creationId xmlns:a16="http://schemas.microsoft.com/office/drawing/2014/main" id="{4F8691C0-D6AA-43D5-ADB0-F23290AE504D}"/>
              </a:ext>
            </a:extLst>
          </p:cNvPr>
          <p:cNvSpPr>
            <a:spLocks xmlns:a="http://schemas.openxmlformats.org/drawingml/2006/main" noGrp="1"/>
          </p:cNvSpPr>
          <p:nvPr/>
        </p:nvSpPr>
        <p:spPr>
          <a:xfrm xmlns:a="http://schemas.openxmlformats.org/drawingml/2006/main">
            <a:off x="7696200" y="4953000"/>
            <a:ext cx="285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167"/>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Lens organizes evidence. The AIVC principal keeps the investment judgment.</a:t>
            </a:r>
          </a:p>
        </p:txBody>
      </p:sp>
    </p:spTree>
    <p:extLst>
      <p:ext uri="{BB962C8B-B14F-4D97-AF65-F5344CB8AC3E}">
        <p14:creationId xmlns:p14="http://schemas.microsoft.com/office/powerpoint/2010/main" val="1491271363"/>
      </p:ext>
    </p:extLst>
  </p:cSld>
</p:sld>
</file>

<file path=ppt/slides/slide3.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AA341753-F432-4FAC-905F-6BC9A3308FE6}"/>
              </a:ext>
            </a:extLst>
          </p:cNvPr>
          <p:cNvSpPr>
            <a:spLocks xmlns:a="http://schemas.openxmlformats.org/drawingml/2006/main" noGrp="1"/>
          </p:cNvSpPr>
          <p:nvPr/>
        </p:nvSpPr>
        <p:spPr>
          <a:xfrm xmlns:a="http://schemas.openxmlformats.org/drawingml/2006/main">
            <a:off x="685800" y="361950"/>
            <a:ext cx="108204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3000" b="1">
                <a:solidFill>
                  <a:srgbClr val="101828"/>
                </a:solidFill>
                <a:latin typeface="Helvetica Neue"/>
                <a:ea typeface="Helvetica Neue"/>
                <a:cs typeface="Helvetica Neue"/>
              </a:rPr>
              <a:t>What does Lens let an AIVC principal do?</a:t>
            </a:r>
          </a:p>
        </p:txBody>
      </p:sp>
      <p:sp>
        <p:nvSpPr>
          <p:cNvPr id="2" name="">
            <a:extLst xmlns:a="http://schemas.openxmlformats.org/drawingml/2006/main">
              <a:ext uri="{FF2B5EF4-FFF2-40B4-BE49-F238E27FC236}">
                <a16:creationId xmlns:a16="http://schemas.microsoft.com/office/drawing/2014/main" id="{15AE18DA-23DC-4F91-B843-5482207C12E5}"/>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A0FA8E7A-FCA5-488D-941A-99A2108683DD}"/>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03</a:t>
            </a:r>
          </a:p>
        </p:txBody>
      </p:sp>
      <p:sp>
        <p:nvSpPr>
          <p:cNvPr id="4" name="">
            <a:extLst xmlns:a="http://schemas.openxmlformats.org/drawingml/2006/main">
              <a:ext uri="{FF2B5EF4-FFF2-40B4-BE49-F238E27FC236}">
                <a16:creationId xmlns:a16="http://schemas.microsoft.com/office/drawing/2014/main" id="{EAAABDBA-8C6F-43CE-B795-FCAE72075F1A}"/>
              </a:ext>
            </a:extLst>
          </p:cNvPr>
          <p:cNvSpPr>
            <a:spLocks xmlns:a="http://schemas.openxmlformats.org/drawingml/2006/main" noGrp="1"/>
          </p:cNvSpPr>
          <p:nvPr/>
        </p:nvSpPr>
        <p:spPr>
          <a:xfrm xmlns:a="http://schemas.openxmlformats.org/drawingml/2006/main">
            <a:off x="457200" y="1333500"/>
            <a:ext cx="7524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20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The brief, evidence, original source, and feedback stay in one flow.</a:t>
            </a:r>
          </a:p>
        </p:txBody>
      </p:sp>
      <p:sp>
        <p:nvSpPr>
          <p:cNvPr id="5" name="">
            <a:extLst xmlns:a="http://schemas.openxmlformats.org/drawingml/2006/main">
              <a:ext uri="{FF2B5EF4-FFF2-40B4-BE49-F238E27FC236}">
                <a16:creationId xmlns:a16="http://schemas.microsoft.com/office/drawing/2014/main" id="{2171D578-EC77-455D-8411-25930D85BE63}"/>
              </a:ext>
            </a:extLst>
          </p:cNvPr>
          <p:cNvSpPr>
            <a:spLocks xmlns:a="http://schemas.openxmlformats.org/drawingml/2006/main" noGrp="1"/>
          </p:cNvSpPr>
          <p:nvPr/>
        </p:nvSpPr>
        <p:spPr>
          <a:xfrm xmlns:a="http://schemas.openxmlformats.org/drawingml/2006/main">
            <a:off x="8343900" y="1952625"/>
            <a:ext cx="304800" cy="3048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6" name="">
            <a:extLst xmlns:a="http://schemas.openxmlformats.org/drawingml/2006/main">
              <a:ext uri="{FF2B5EF4-FFF2-40B4-BE49-F238E27FC236}">
                <a16:creationId xmlns:a16="http://schemas.microsoft.com/office/drawing/2014/main" id="{78A12385-E2AC-4E4A-8AE9-C0083C26DB36}"/>
              </a:ext>
            </a:extLst>
          </p:cNvPr>
          <p:cNvSpPr>
            <a:spLocks xmlns:a="http://schemas.openxmlformats.org/drawingml/2006/main" noGrp="1"/>
          </p:cNvSpPr>
          <p:nvPr/>
        </p:nvSpPr>
        <p:spPr>
          <a:xfrm xmlns:a="http://schemas.openxmlformats.org/drawingml/2006/main">
            <a:off x="8439150" y="20002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
          </a:bodyPr>
          <a:lstStyle xmlns:a="http://schemas.openxmlformats.org/drawingml/2006/main"/>
          <a:p xmlns:a="http://schemas.openxmlformats.org/drawingml/2006/main">
            <a:pPr algn="ctr">
              <a:buNone/>
              <a:defRPr sz="1200" b="1">
                <a:solidFill>
                  <a:srgbClr val="FFFFFF"/>
                </a:solidFill>
                <a:latin typeface="Helvetica Neue"/>
                <a:ea typeface="Helvetica Neue"/>
                <a:cs typeface="Helvetica Neue"/>
              </a:defRPr>
            </a:pPr>
            <a:r>
              <a:rPr sz="1200" b="1">
                <a:solidFill>
                  <a:srgbClr val="FFFFFF"/>
                </a:solidFill>
                <a:latin typeface="Helvetica Neue"/>
                <a:ea typeface="Helvetica Neue"/>
                <a:cs typeface="Helvetica Neue"/>
              </a:rPr>
              <a:t>1</a:t>
            </a:r>
          </a:p>
        </p:txBody>
      </p:sp>
      <p:sp>
        <p:nvSpPr>
          <p:cNvPr id="7" name="">
            <a:extLst xmlns:a="http://schemas.openxmlformats.org/drawingml/2006/main">
              <a:ext uri="{FF2B5EF4-FFF2-40B4-BE49-F238E27FC236}">
                <a16:creationId xmlns:a16="http://schemas.microsoft.com/office/drawing/2014/main" id="{3CB9EA74-BB95-4276-B9A6-114E2E4AD345}"/>
              </a:ext>
            </a:extLst>
          </p:cNvPr>
          <p:cNvSpPr>
            <a:spLocks xmlns:a="http://schemas.openxmlformats.org/drawingml/2006/main" noGrp="1"/>
          </p:cNvSpPr>
          <p:nvPr/>
        </p:nvSpPr>
        <p:spPr>
          <a:xfrm xmlns:a="http://schemas.openxmlformats.org/drawingml/2006/main">
            <a:off x="8801100" y="19431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57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Select company</a:t>
            </a:r>
          </a:p>
        </p:txBody>
      </p:sp>
      <p:sp>
        <p:nvSpPr>
          <p:cNvPr id="8" name="">
            <a:extLst xmlns:a="http://schemas.openxmlformats.org/drawingml/2006/main">
              <a:ext uri="{FF2B5EF4-FFF2-40B4-BE49-F238E27FC236}">
                <a16:creationId xmlns:a16="http://schemas.microsoft.com/office/drawing/2014/main" id="{0FA5DDC6-3FD4-4355-B84F-85B98D1D52D3}"/>
              </a:ext>
            </a:extLst>
          </p:cNvPr>
          <p:cNvSpPr>
            <a:spLocks xmlns:a="http://schemas.openxmlformats.org/drawingml/2006/main" noGrp="1"/>
          </p:cNvSpPr>
          <p:nvPr/>
        </p:nvSpPr>
        <p:spPr>
          <a:xfrm xmlns:a="http://schemas.openxmlformats.org/drawingml/2006/main">
            <a:off x="8801100" y="22479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Choose a portfolio or pipeline company.</a:t>
            </a:r>
          </a:p>
        </p:txBody>
      </p:sp>
      <p:sp>
        <p:nvSpPr>
          <p:cNvPr id="9" name="">
            <a:extLst xmlns:a="http://schemas.openxmlformats.org/drawingml/2006/main">
              <a:ext uri="{FF2B5EF4-FFF2-40B4-BE49-F238E27FC236}">
                <a16:creationId xmlns:a16="http://schemas.microsoft.com/office/drawing/2014/main" id="{838E1A84-9DC8-4EC3-BD84-249D08DD620D}"/>
              </a:ext>
            </a:extLst>
          </p:cNvPr>
          <p:cNvSpPr>
            <a:spLocks xmlns:a="http://schemas.openxmlformats.org/drawingml/2006/main" noGrp="1"/>
          </p:cNvSpPr>
          <p:nvPr/>
        </p:nvSpPr>
        <p:spPr>
          <a:xfrm xmlns:a="http://schemas.openxmlformats.org/drawingml/2006/main">
            <a:off x="8343900" y="2943225"/>
            <a:ext cx="304800" cy="3048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10" name="">
            <a:extLst xmlns:a="http://schemas.openxmlformats.org/drawingml/2006/main">
              <a:ext uri="{FF2B5EF4-FFF2-40B4-BE49-F238E27FC236}">
                <a16:creationId xmlns:a16="http://schemas.microsoft.com/office/drawing/2014/main" id="{327440BB-A5A8-41C6-9175-6A1410B7F248}"/>
              </a:ext>
            </a:extLst>
          </p:cNvPr>
          <p:cNvSpPr>
            <a:spLocks xmlns:a="http://schemas.openxmlformats.org/drawingml/2006/main" noGrp="1"/>
          </p:cNvSpPr>
          <p:nvPr/>
        </p:nvSpPr>
        <p:spPr>
          <a:xfrm xmlns:a="http://schemas.openxmlformats.org/drawingml/2006/main">
            <a:off x="8439150" y="29908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
          </a:bodyPr>
          <a:lstStyle xmlns:a="http://schemas.openxmlformats.org/drawingml/2006/main"/>
          <a:p xmlns:a="http://schemas.openxmlformats.org/drawingml/2006/main">
            <a:pPr algn="ctr">
              <a:buNone/>
              <a:defRPr sz="1200" b="1">
                <a:solidFill>
                  <a:srgbClr val="FFFFFF"/>
                </a:solidFill>
                <a:latin typeface="Helvetica Neue"/>
                <a:ea typeface="Helvetica Neue"/>
                <a:cs typeface="Helvetica Neue"/>
              </a:defRPr>
            </a:pPr>
            <a:r>
              <a:rPr sz="1200" b="1">
                <a:solidFill>
                  <a:srgbClr val="FFFFFF"/>
                </a:solidFill>
                <a:latin typeface="Helvetica Neue"/>
                <a:ea typeface="Helvetica Neue"/>
                <a:cs typeface="Helvetica Neue"/>
              </a:rPr>
              <a:t>2</a:t>
            </a:r>
          </a:p>
        </p:txBody>
      </p:sp>
      <p:sp>
        <p:nvSpPr>
          <p:cNvPr id="11" name="">
            <a:extLst xmlns:a="http://schemas.openxmlformats.org/drawingml/2006/main">
              <a:ext uri="{FF2B5EF4-FFF2-40B4-BE49-F238E27FC236}">
                <a16:creationId xmlns:a16="http://schemas.microsoft.com/office/drawing/2014/main" id="{216C0B0E-D29C-45B9-BEB5-0D7F57B23369}"/>
              </a:ext>
            </a:extLst>
          </p:cNvPr>
          <p:cNvSpPr>
            <a:spLocks xmlns:a="http://schemas.openxmlformats.org/drawingml/2006/main" noGrp="1"/>
          </p:cNvSpPr>
          <p:nvPr/>
        </p:nvSpPr>
        <p:spPr>
          <a:xfrm xmlns:a="http://schemas.openxmlformats.org/drawingml/2006/main">
            <a:off x="8801100" y="29337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57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Scan the brief</a:t>
            </a:r>
          </a:p>
        </p:txBody>
      </p:sp>
      <p:sp>
        <p:nvSpPr>
          <p:cNvPr id="12" name="">
            <a:extLst xmlns:a="http://schemas.openxmlformats.org/drawingml/2006/main">
              <a:ext uri="{FF2B5EF4-FFF2-40B4-BE49-F238E27FC236}">
                <a16:creationId xmlns:a16="http://schemas.microsoft.com/office/drawing/2014/main" id="{643780DA-7896-4A5A-88B2-8B9F8E3A55B5}"/>
              </a:ext>
            </a:extLst>
          </p:cNvPr>
          <p:cNvSpPr>
            <a:spLocks xmlns:a="http://schemas.openxmlformats.org/drawingml/2006/main" noGrp="1"/>
          </p:cNvSpPr>
          <p:nvPr/>
        </p:nvSpPr>
        <p:spPr>
          <a:xfrm xmlns:a="http://schemas.openxmlformats.org/drawingml/2006/main">
            <a:off x="8801100" y="32385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Read Key facts, Risks, and Questions.</a:t>
            </a:r>
          </a:p>
        </p:txBody>
      </p:sp>
      <p:sp>
        <p:nvSpPr>
          <p:cNvPr id="13" name="">
            <a:extLst xmlns:a="http://schemas.openxmlformats.org/drawingml/2006/main">
              <a:ext uri="{FF2B5EF4-FFF2-40B4-BE49-F238E27FC236}">
                <a16:creationId xmlns:a16="http://schemas.microsoft.com/office/drawing/2014/main" id="{2C00D830-C080-4CD6-BFA1-2EE115C727AF}"/>
              </a:ext>
            </a:extLst>
          </p:cNvPr>
          <p:cNvSpPr>
            <a:spLocks xmlns:a="http://schemas.openxmlformats.org/drawingml/2006/main" noGrp="1"/>
          </p:cNvSpPr>
          <p:nvPr/>
        </p:nvSpPr>
        <p:spPr>
          <a:xfrm xmlns:a="http://schemas.openxmlformats.org/drawingml/2006/main">
            <a:off x="8343900" y="3933825"/>
            <a:ext cx="304800" cy="3048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14" name="">
            <a:extLst xmlns:a="http://schemas.openxmlformats.org/drawingml/2006/main">
              <a:ext uri="{FF2B5EF4-FFF2-40B4-BE49-F238E27FC236}">
                <a16:creationId xmlns:a16="http://schemas.microsoft.com/office/drawing/2014/main" id="{C3C4062D-56DE-44CE-8D5D-310725AFF33F}"/>
              </a:ext>
            </a:extLst>
          </p:cNvPr>
          <p:cNvSpPr>
            <a:spLocks xmlns:a="http://schemas.openxmlformats.org/drawingml/2006/main" noGrp="1"/>
          </p:cNvSpPr>
          <p:nvPr/>
        </p:nvSpPr>
        <p:spPr>
          <a:xfrm xmlns:a="http://schemas.openxmlformats.org/drawingml/2006/main">
            <a:off x="8439150" y="39814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
          </a:bodyPr>
          <a:lstStyle xmlns:a="http://schemas.openxmlformats.org/drawingml/2006/main"/>
          <a:p xmlns:a="http://schemas.openxmlformats.org/drawingml/2006/main">
            <a:pPr algn="ctr">
              <a:buNone/>
              <a:defRPr sz="1200" b="1">
                <a:solidFill>
                  <a:srgbClr val="FFFFFF"/>
                </a:solidFill>
                <a:latin typeface="Helvetica Neue"/>
                <a:ea typeface="Helvetica Neue"/>
                <a:cs typeface="Helvetica Neue"/>
              </a:defRPr>
            </a:pPr>
            <a:r>
              <a:rPr sz="1200" b="1">
                <a:solidFill>
                  <a:srgbClr val="FFFFFF"/>
                </a:solidFill>
                <a:latin typeface="Helvetica Neue"/>
                <a:ea typeface="Helvetica Neue"/>
                <a:cs typeface="Helvetica Neue"/>
              </a:rPr>
              <a:t>3</a:t>
            </a:r>
          </a:p>
        </p:txBody>
      </p:sp>
      <p:sp>
        <p:nvSpPr>
          <p:cNvPr id="15" name="">
            <a:extLst xmlns:a="http://schemas.openxmlformats.org/drawingml/2006/main">
              <a:ext uri="{FF2B5EF4-FFF2-40B4-BE49-F238E27FC236}">
                <a16:creationId xmlns:a16="http://schemas.microsoft.com/office/drawing/2014/main" id="{6AF726DA-1060-40F1-96BE-56094C583E78}"/>
              </a:ext>
            </a:extLst>
          </p:cNvPr>
          <p:cNvSpPr>
            <a:spLocks xmlns:a="http://schemas.openxmlformats.org/drawingml/2006/main" noGrp="1"/>
          </p:cNvSpPr>
          <p:nvPr/>
        </p:nvSpPr>
        <p:spPr>
          <a:xfrm xmlns:a="http://schemas.openxmlformats.org/drawingml/2006/main">
            <a:off x="8801100" y="39243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57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Open the source</a:t>
            </a:r>
          </a:p>
        </p:txBody>
      </p:sp>
      <p:sp>
        <p:nvSpPr>
          <p:cNvPr id="16" name="">
            <a:extLst xmlns:a="http://schemas.openxmlformats.org/drawingml/2006/main">
              <a:ext uri="{FF2B5EF4-FFF2-40B4-BE49-F238E27FC236}">
                <a16:creationId xmlns:a16="http://schemas.microsoft.com/office/drawing/2014/main" id="{BEDA7F37-E813-48A3-97AB-7EDCB2354C48}"/>
              </a:ext>
            </a:extLst>
          </p:cNvPr>
          <p:cNvSpPr>
            <a:spLocks xmlns:a="http://schemas.openxmlformats.org/drawingml/2006/main" noGrp="1"/>
          </p:cNvSpPr>
          <p:nvPr/>
        </p:nvSpPr>
        <p:spPr>
          <a:xfrm xmlns:a="http://schemas.openxmlformats.org/drawingml/2006/main">
            <a:off x="8801100" y="42291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See values, dates, evidence, and the original record.</a:t>
            </a:r>
          </a:p>
        </p:txBody>
      </p:sp>
      <p:sp>
        <p:nvSpPr>
          <p:cNvPr id="17" name="">
            <a:extLst xmlns:a="http://schemas.openxmlformats.org/drawingml/2006/main">
              <a:ext uri="{FF2B5EF4-FFF2-40B4-BE49-F238E27FC236}">
                <a16:creationId xmlns:a16="http://schemas.microsoft.com/office/drawing/2014/main" id="{622ECADF-5901-445D-82B7-8174C71493DA}"/>
              </a:ext>
            </a:extLst>
          </p:cNvPr>
          <p:cNvSpPr>
            <a:spLocks xmlns:a="http://schemas.openxmlformats.org/drawingml/2006/main" noGrp="1"/>
          </p:cNvSpPr>
          <p:nvPr/>
        </p:nvSpPr>
        <p:spPr>
          <a:xfrm xmlns:a="http://schemas.openxmlformats.org/drawingml/2006/main">
            <a:off x="8343900" y="4924425"/>
            <a:ext cx="304800" cy="3048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18" name="">
            <a:extLst xmlns:a="http://schemas.openxmlformats.org/drawingml/2006/main">
              <a:ext uri="{FF2B5EF4-FFF2-40B4-BE49-F238E27FC236}">
                <a16:creationId xmlns:a16="http://schemas.microsoft.com/office/drawing/2014/main" id="{EDC54E17-A905-4324-9C22-3D025DBF0A4C}"/>
              </a:ext>
            </a:extLst>
          </p:cNvPr>
          <p:cNvSpPr>
            <a:spLocks xmlns:a="http://schemas.openxmlformats.org/drawingml/2006/main" noGrp="1"/>
          </p:cNvSpPr>
          <p:nvPr/>
        </p:nvSpPr>
        <p:spPr>
          <a:xfrm xmlns:a="http://schemas.openxmlformats.org/drawingml/2006/main">
            <a:off x="8439150" y="49720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
          </a:bodyPr>
          <a:lstStyle xmlns:a="http://schemas.openxmlformats.org/drawingml/2006/main"/>
          <a:p xmlns:a="http://schemas.openxmlformats.org/drawingml/2006/main">
            <a:pPr algn="ctr">
              <a:buNone/>
              <a:defRPr sz="1200" b="1">
                <a:solidFill>
                  <a:srgbClr val="FFFFFF"/>
                </a:solidFill>
                <a:latin typeface="Helvetica Neue"/>
                <a:ea typeface="Helvetica Neue"/>
                <a:cs typeface="Helvetica Neue"/>
              </a:defRPr>
            </a:pPr>
            <a:r>
              <a:rPr sz="1200" b="1">
                <a:solidFill>
                  <a:srgbClr val="FFFFFF"/>
                </a:solidFill>
                <a:latin typeface="Helvetica Neue"/>
                <a:ea typeface="Helvetica Neue"/>
                <a:cs typeface="Helvetica Neue"/>
              </a:rPr>
              <a:t>4</a:t>
            </a:r>
          </a:p>
        </p:txBody>
      </p:sp>
      <p:sp>
        <p:nvSpPr>
          <p:cNvPr id="19" name="">
            <a:extLst xmlns:a="http://schemas.openxmlformats.org/drawingml/2006/main">
              <a:ext uri="{FF2B5EF4-FFF2-40B4-BE49-F238E27FC236}">
                <a16:creationId xmlns:a16="http://schemas.microsoft.com/office/drawing/2014/main" id="{F2AEF4C6-311E-45C9-8B5A-A1303E1BDF24}"/>
              </a:ext>
            </a:extLst>
          </p:cNvPr>
          <p:cNvSpPr>
            <a:spLocks xmlns:a="http://schemas.openxmlformats.org/drawingml/2006/main" noGrp="1"/>
          </p:cNvSpPr>
          <p:nvPr/>
        </p:nvSpPr>
        <p:spPr>
          <a:xfrm xmlns:a="http://schemas.openxmlformats.org/drawingml/2006/main">
            <a:off x="8801100" y="49149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57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Send feedback</a:t>
            </a:r>
          </a:p>
        </p:txBody>
      </p:sp>
      <p:sp>
        <p:nvSpPr>
          <p:cNvPr id="20" name="">
            <a:extLst xmlns:a="http://schemas.openxmlformats.org/drawingml/2006/main">
              <a:ext uri="{FF2B5EF4-FFF2-40B4-BE49-F238E27FC236}">
                <a16:creationId xmlns:a16="http://schemas.microsoft.com/office/drawing/2014/main" id="{BB988DCF-B844-4248-82AC-B84604456540}"/>
              </a:ext>
            </a:extLst>
          </p:cNvPr>
          <p:cNvSpPr>
            <a:spLocks xmlns:a="http://schemas.openxmlformats.org/drawingml/2006/main" noGrp="1"/>
          </p:cNvSpPr>
          <p:nvPr/>
        </p:nvSpPr>
        <p:spPr>
          <a:xfrm xmlns:a="http://schemas.openxmlformats.org/drawingml/2006/main">
            <a:off x="8801100" y="52197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Mark content Good, Bad, or Wrong.</a:t>
            </a:r>
          </a:p>
        </p:txBody>
      </p:sp>
      <p:sp>
        <p:nvSpPr>
          <p:cNvPr id="21" name="">
            <a:extLst xmlns:a="http://schemas.openxmlformats.org/drawingml/2006/main">
              <a:ext uri="{FF2B5EF4-FFF2-40B4-BE49-F238E27FC236}">
                <a16:creationId xmlns:a16="http://schemas.microsoft.com/office/drawing/2014/main" id="{CEFBF0D0-9C7B-40B0-B1DE-EEED270A69AF}"/>
              </a:ext>
            </a:extLst>
          </p:cNvPr>
          <p:cNvSpPr>
            <a:spLocks xmlns:a="http://schemas.openxmlformats.org/drawingml/2006/main" noGrp="1"/>
          </p:cNvSpPr>
          <p:nvPr/>
        </p:nvSpPr>
        <p:spPr>
          <a:xfrm xmlns:a="http://schemas.openxmlformats.org/drawingml/2006/main">
            <a:off x="457200" y="1809750"/>
            <a:ext cx="7620000" cy="4286250"/>
          </a:xfrm>
          <a:prstGeom xmlns:a="http://schemas.openxmlformats.org/drawingml/2006/main" prst="roundRect">
            <a:avLst>
              <a:gd name="adj" fmla="val 4167"/>
            </a:avLst>
          </a:prstGeom>
          <a:solidFill xmlns:a="http://schemas.openxmlformats.org/drawingml/2006/main">
            <a:srgbClr val="000000">
              <a:alpha val="0"/>
            </a:srgbClr>
          </a:solidFill>
          <a:ln xmlns:a="http://schemas.openxmlformats.org/drawingml/2006/main" w="9525">
            <a:solidFill>
              <a:srgbClr val="D0D5DD"/>
            </a:solidFill>
            <a:prstDash val="solid"/>
          </a:ln>
        </p:spPr>
      </p:sp>
      <p:pic>
        <p:nvPicPr>
          <p:cNvPr id="46" name=""/>
          <p:cNvPicPr>
            <a:picLocks xmlns:a="http://schemas.openxmlformats.org/drawingml/2006/main" noChangeAspect="1"/>
          </p:cNvPicPr>
          <p:nvPr/>
        </p:nvPicPr>
        <p:blipFill>
          <a:blip xmlns:r="http://schemas.openxmlformats.org/officeDocument/2006/relationships" xmlns:a="http://schemas.openxmlformats.org/drawingml/2006/main" r:embed="Ra5e83afa0ac64f0c"/>
          <a:stretch xmlns:a="http://schemas.openxmlformats.org/drawingml/2006/main"/>
        </p:blipFill>
        <p:spPr>
          <a:xfrm xmlns:a="http://schemas.openxmlformats.org/drawingml/2006/main">
            <a:off x="595993" y="1924050"/>
            <a:ext cx="7342414" cy="4057650"/>
          </a:xfrm>
          <a:prstGeom xmlns:a="http://schemas.openxmlformats.org/drawingml/2006/main" prst="roundRect">
            <a:avLst>
              <a:gd name="adj" fmla="val 2817"/>
            </a:avLst>
          </a:prstGeom>
        </p:spPr>
      </p:pic>
    </p:spTree>
    <p:extLst>
      <p:ext uri="{BB962C8B-B14F-4D97-AF65-F5344CB8AC3E}">
        <p14:creationId xmlns:p14="http://schemas.microsoft.com/office/powerpoint/2010/main" val="1674415678"/>
      </p:ext>
    </p:extLst>
  </p:cSld>
</p:sld>
</file>

<file path=ppt/slides/slide4.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5262F984-D246-4734-ACC5-293D445790EE}"/>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3000" b="1">
                <a:solidFill>
                  <a:srgbClr val="101828"/>
                </a:solidFill>
                <a:latin typeface="Helvetica Neue"/>
                <a:ea typeface="Helvetica Neue"/>
                <a:cs typeface="Helvetica Neue"/>
              </a:rPr>
              <a:t>How does Lens work end to end?</a:t>
            </a:r>
          </a:p>
        </p:txBody>
      </p:sp>
      <p:sp>
        <p:nvSpPr>
          <p:cNvPr id="2" name="">
            <a:extLst xmlns:a="http://schemas.openxmlformats.org/drawingml/2006/main">
              <a:ext uri="{FF2B5EF4-FFF2-40B4-BE49-F238E27FC236}">
                <a16:creationId xmlns:a16="http://schemas.microsoft.com/office/drawing/2014/main" id="{0F172B95-C544-452F-900E-C90D7963FD3F}"/>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1961F526-7CB2-473C-9BE1-2AE0B22D99BE}"/>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04</a:t>
            </a:r>
          </a:p>
        </p:txBody>
      </p:sp>
      <p:sp>
        <p:nvSpPr>
          <p:cNvPr id="4" name="">
            <a:extLst xmlns:a="http://schemas.openxmlformats.org/drawingml/2006/main">
              <a:ext uri="{FF2B5EF4-FFF2-40B4-BE49-F238E27FC236}">
                <a16:creationId xmlns:a16="http://schemas.microsoft.com/office/drawing/2014/main" id="{B4F82B3C-046E-4EBA-9746-C6BF4E4A3609}"/>
              </a:ext>
            </a:extLst>
          </p:cNvPr>
          <p:cNvSpPr>
            <a:spLocks xmlns:a="http://schemas.openxmlformats.org/drawingml/2006/main" noGrp="1"/>
          </p:cNvSpPr>
          <p:nvPr/>
        </p:nvSpPr>
        <p:spPr>
          <a:xfrm xmlns:a="http://schemas.openxmlformats.org/drawingml/2006/main">
            <a:off x="457200" y="1200150"/>
            <a:ext cx="9525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0">
                <a:solidFill>
                  <a:srgbClr val="667085"/>
                </a:solidFill>
                <a:latin typeface="Helvetica Neue"/>
                <a:ea typeface="Helvetica Neue"/>
                <a:cs typeface="Helvetica Neue"/>
              </a:defRPr>
            </a:pPr>
            <a:r>
              <a:rPr sz="1275" b="0">
                <a:solidFill>
                  <a:srgbClr val="667085"/>
                </a:solidFill>
                <a:latin typeface="Helvetica Neue"/>
                <a:ea typeface="Helvetica Neue"/>
                <a:cs typeface="Helvetica Neue"/>
              </a:rPr>
              <a:t>Import reads new or changed demo records. Refresh Brief retrieves them and writes a new brief. There is no live source watcher.</a:t>
            </a:r>
          </a:p>
        </p:txBody>
      </p:sp>
      <p:sp>
        <p:nvSpPr>
          <p:cNvPr id="5" name="">
            <a:extLst xmlns:a="http://schemas.openxmlformats.org/drawingml/2006/main">
              <a:ext uri="{FF2B5EF4-FFF2-40B4-BE49-F238E27FC236}">
                <a16:creationId xmlns:a16="http://schemas.microsoft.com/office/drawing/2014/main" id="{7FCBC366-29EC-4070-AC66-0FCDB728EE03}"/>
              </a:ext>
            </a:extLst>
          </p:cNvPr>
          <p:cNvSpPr>
            <a:spLocks xmlns:a="http://schemas.openxmlformats.org/drawingml/2006/main" noGrp="1"/>
          </p:cNvSpPr>
          <p:nvPr/>
        </p:nvSpPr>
        <p:spPr>
          <a:xfrm xmlns:a="http://schemas.openxmlformats.org/drawingml/2006/main">
            <a:off x="457200" y="1952625"/>
            <a:ext cx="1666875" cy="2190750"/>
          </a:xfrm>
          <a:prstGeom xmlns:a="http://schemas.openxmlformats.org/drawingml/2006/main" prst="roundRect">
            <a:avLst>
              <a:gd name="adj" fmla="val 9412"/>
            </a:avLst>
          </a:prstGeom>
          <a:solidFill xmlns:a="http://schemas.openxmlformats.org/drawingml/2006/main">
            <a:srgbClr val="000000">
              <a:alpha val="0"/>
            </a:srgbClr>
          </a:solidFill>
          <a:ln xmlns:a="http://schemas.openxmlformats.org/drawingml/2006/main" w="9525">
            <a:solidFill>
              <a:srgbClr val="D0D5DD"/>
            </a:solidFill>
            <a:prstDash val="solid"/>
          </a:ln>
        </p:spPr>
      </p:sp>
      <p:sp>
        <p:nvSpPr>
          <p:cNvPr id="6" name="">
            <a:extLst xmlns:a="http://schemas.openxmlformats.org/drawingml/2006/main">
              <a:ext uri="{FF2B5EF4-FFF2-40B4-BE49-F238E27FC236}">
                <a16:creationId xmlns:a16="http://schemas.microsoft.com/office/drawing/2014/main" id="{FF696949-8B92-4E3C-91C5-474DF9927513}"/>
              </a:ext>
            </a:extLst>
          </p:cNvPr>
          <p:cNvSpPr>
            <a:spLocks xmlns:a="http://schemas.openxmlformats.org/drawingml/2006/main" noGrp="1"/>
          </p:cNvSpPr>
          <p:nvPr/>
        </p:nvSpPr>
        <p:spPr>
          <a:xfrm xmlns:a="http://schemas.openxmlformats.org/drawingml/2006/main">
            <a:off x="609600" y="2133600"/>
            <a:ext cx="13620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Sources</a:t>
            </a:r>
          </a:p>
        </p:txBody>
      </p:sp>
      <p:sp>
        <p:nvSpPr>
          <p:cNvPr id="7" name="">
            <a:extLst xmlns:a="http://schemas.openxmlformats.org/drawingml/2006/main">
              <a:ext uri="{FF2B5EF4-FFF2-40B4-BE49-F238E27FC236}">
                <a16:creationId xmlns:a16="http://schemas.microsoft.com/office/drawing/2014/main" id="{90F4C1A9-C4CA-4106-BB48-C633031F3719}"/>
              </a:ext>
            </a:extLst>
          </p:cNvPr>
          <p:cNvSpPr>
            <a:spLocks xmlns:a="http://schemas.openxmlformats.org/drawingml/2006/main" noGrp="1"/>
          </p:cNvSpPr>
          <p:nvPr/>
        </p:nvSpPr>
        <p:spPr>
          <a:xfrm xmlns:a="http://schemas.openxmlformats.org/drawingml/2006/main">
            <a:off x="609600" y="2514600"/>
            <a:ext cx="1362075"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Static CRM</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Meeting notes</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Slack</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News records</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No filings adapter</a:t>
            </a:r>
          </a:p>
        </p:txBody>
      </p:sp>
      <p:sp>
        <p:nvSpPr>
          <p:cNvPr id="8" name="">
            <a:extLst xmlns:a="http://schemas.openxmlformats.org/drawingml/2006/main">
              <a:ext uri="{FF2B5EF4-FFF2-40B4-BE49-F238E27FC236}">
                <a16:creationId xmlns:a16="http://schemas.microsoft.com/office/drawing/2014/main" id="{AAE64AD3-688E-46AF-8FEB-BB702085EAFC}"/>
              </a:ext>
            </a:extLst>
          </p:cNvPr>
          <p:cNvSpPr>
            <a:spLocks xmlns:a="http://schemas.openxmlformats.org/drawingml/2006/main" noGrp="1"/>
          </p:cNvSpPr>
          <p:nvPr/>
        </p:nvSpPr>
        <p:spPr>
          <a:xfrm xmlns:a="http://schemas.openxmlformats.org/drawingml/2006/main">
            <a:off x="2314575" y="1952625"/>
            <a:ext cx="1666875" cy="2190750"/>
          </a:xfrm>
          <a:prstGeom xmlns:a="http://schemas.openxmlformats.org/drawingml/2006/main" prst="roundRect">
            <a:avLst>
              <a:gd name="adj" fmla="val 9412"/>
            </a:avLst>
          </a:prstGeom>
          <a:solidFill xmlns:a="http://schemas.openxmlformats.org/drawingml/2006/main">
            <a:srgbClr val="000000">
              <a:alpha val="0"/>
            </a:srgbClr>
          </a:solidFill>
          <a:ln xmlns:a="http://schemas.openxmlformats.org/drawingml/2006/main" w="9525">
            <a:solidFill>
              <a:srgbClr val="9CB5D5"/>
            </a:solidFill>
            <a:prstDash val="solid"/>
          </a:ln>
        </p:spPr>
      </p:sp>
      <p:sp>
        <p:nvSpPr>
          <p:cNvPr id="9" name="">
            <a:extLst xmlns:a="http://schemas.openxmlformats.org/drawingml/2006/main">
              <a:ext uri="{FF2B5EF4-FFF2-40B4-BE49-F238E27FC236}">
                <a16:creationId xmlns:a16="http://schemas.microsoft.com/office/drawing/2014/main" id="{91BF445C-96EF-491A-BCF7-2AC277A0A731}"/>
              </a:ext>
            </a:extLst>
          </p:cNvPr>
          <p:cNvSpPr>
            <a:spLocks xmlns:a="http://schemas.openxmlformats.org/drawingml/2006/main" noGrp="1"/>
          </p:cNvSpPr>
          <p:nvPr/>
        </p:nvSpPr>
        <p:spPr>
          <a:xfrm xmlns:a="http://schemas.openxmlformats.org/drawingml/2006/main">
            <a:off x="2466975" y="2133600"/>
            <a:ext cx="13620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Import</a:t>
            </a:r>
          </a:p>
        </p:txBody>
      </p:sp>
      <p:sp>
        <p:nvSpPr>
          <p:cNvPr id="10" name="">
            <a:extLst xmlns:a="http://schemas.openxmlformats.org/drawingml/2006/main">
              <a:ext uri="{FF2B5EF4-FFF2-40B4-BE49-F238E27FC236}">
                <a16:creationId xmlns:a16="http://schemas.microsoft.com/office/drawing/2014/main" id="{AD31BAB3-F830-46F0-A2E9-DA18B80B58A2}"/>
              </a:ext>
            </a:extLst>
          </p:cNvPr>
          <p:cNvSpPr>
            <a:spLocks xmlns:a="http://schemas.openxmlformats.org/drawingml/2006/main" noGrp="1"/>
          </p:cNvSpPr>
          <p:nvPr/>
        </p:nvSpPr>
        <p:spPr>
          <a:xfrm xmlns:a="http://schemas.openxmlformats.org/drawingml/2006/main">
            <a:off x="2466975" y="2514600"/>
            <a:ext cx="1362075"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Read each file</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Validate record</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Check company ID</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Keep source record</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Checksum and chunk</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Request embeddings</a:t>
            </a:r>
          </a:p>
        </p:txBody>
      </p:sp>
      <p:sp>
        <p:nvSpPr>
          <p:cNvPr id="11" name="">
            <a:extLst xmlns:a="http://schemas.openxmlformats.org/drawingml/2006/main">
              <a:ext uri="{FF2B5EF4-FFF2-40B4-BE49-F238E27FC236}">
                <a16:creationId xmlns:a16="http://schemas.microsoft.com/office/drawing/2014/main" id="{8D32C6CD-12D3-4383-95F2-A8382D438179}"/>
              </a:ext>
            </a:extLst>
          </p:cNvPr>
          <p:cNvSpPr>
            <a:spLocks xmlns:a="http://schemas.openxmlformats.org/drawingml/2006/main" noGrp="1"/>
          </p:cNvSpPr>
          <p:nvPr/>
        </p:nvSpPr>
        <p:spPr>
          <a:xfrm xmlns:a="http://schemas.openxmlformats.org/drawingml/2006/main">
            <a:off x="4171950" y="1952625"/>
            <a:ext cx="1666875" cy="2190750"/>
          </a:xfrm>
          <a:prstGeom xmlns:a="http://schemas.openxmlformats.org/drawingml/2006/main" prst="roundRect">
            <a:avLst>
              <a:gd name="adj" fmla="val 9412"/>
            </a:avLst>
          </a:prstGeom>
          <a:solidFill xmlns:a="http://schemas.openxmlformats.org/drawingml/2006/main">
            <a:srgbClr val="000000">
              <a:alpha val="0"/>
            </a:srgbClr>
          </a:solidFill>
          <a:ln xmlns:a="http://schemas.openxmlformats.org/drawingml/2006/main" w="19050">
            <a:solidFill>
              <a:srgbClr val="5D7FB4"/>
            </a:solidFill>
            <a:prstDash val="solid"/>
          </a:ln>
        </p:spPr>
      </p:sp>
      <p:sp>
        <p:nvSpPr>
          <p:cNvPr id="12" name="">
            <a:extLst xmlns:a="http://schemas.openxmlformats.org/drawingml/2006/main">
              <a:ext uri="{FF2B5EF4-FFF2-40B4-BE49-F238E27FC236}">
                <a16:creationId xmlns:a16="http://schemas.microsoft.com/office/drawing/2014/main" id="{26C71975-15C3-4667-BC34-D9B4464F6811}"/>
              </a:ext>
            </a:extLst>
          </p:cNvPr>
          <p:cNvSpPr>
            <a:spLocks xmlns:a="http://schemas.openxmlformats.org/drawingml/2006/main" noGrp="1"/>
          </p:cNvSpPr>
          <p:nvPr/>
        </p:nvSpPr>
        <p:spPr>
          <a:xfrm xmlns:a="http://schemas.openxmlformats.org/drawingml/2006/main">
            <a:off x="4324350" y="2133600"/>
            <a:ext cx="13620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Evidence store</a:t>
            </a:r>
          </a:p>
        </p:txBody>
      </p:sp>
      <p:sp>
        <p:nvSpPr>
          <p:cNvPr id="13" name="">
            <a:extLst xmlns:a="http://schemas.openxmlformats.org/drawingml/2006/main">
              <a:ext uri="{FF2B5EF4-FFF2-40B4-BE49-F238E27FC236}">
                <a16:creationId xmlns:a16="http://schemas.microsoft.com/office/drawing/2014/main" id="{AA5FC93D-2600-460B-AAC8-580EFD4F68BC}"/>
              </a:ext>
            </a:extLst>
          </p:cNvPr>
          <p:cNvSpPr>
            <a:spLocks xmlns:a="http://schemas.openxmlformats.org/drawingml/2006/main" noGrp="1"/>
          </p:cNvSpPr>
          <p:nvPr/>
        </p:nvSpPr>
        <p:spPr>
          <a:xfrm xmlns:a="http://schemas.openxmlformats.org/drawingml/2006/main">
            <a:off x="4324350" y="2514600"/>
            <a:ext cx="1362075"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180"/>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PostgreSQL and pgvector</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Companies and source records</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Facts and dates</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Chunks and embeddings</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Brief runs and evidence</a:t>
            </a:r>
          </a:p>
        </p:txBody>
      </p:sp>
      <p:sp>
        <p:nvSpPr>
          <p:cNvPr id="14" name="">
            <a:extLst xmlns:a="http://schemas.openxmlformats.org/drawingml/2006/main">
              <a:ext uri="{FF2B5EF4-FFF2-40B4-BE49-F238E27FC236}">
                <a16:creationId xmlns:a16="http://schemas.microsoft.com/office/drawing/2014/main" id="{D8B8EC61-0E23-44B6-8EAF-0255EFCE9F54}"/>
              </a:ext>
            </a:extLst>
          </p:cNvPr>
          <p:cNvSpPr>
            <a:spLocks xmlns:a="http://schemas.openxmlformats.org/drawingml/2006/main" noGrp="1"/>
          </p:cNvSpPr>
          <p:nvPr/>
        </p:nvSpPr>
        <p:spPr>
          <a:xfrm xmlns:a="http://schemas.openxmlformats.org/drawingml/2006/main">
            <a:off x="6029325" y="1952625"/>
            <a:ext cx="1666875" cy="2190750"/>
          </a:xfrm>
          <a:prstGeom xmlns:a="http://schemas.openxmlformats.org/drawingml/2006/main" prst="roundRect">
            <a:avLst>
              <a:gd name="adj" fmla="val 9412"/>
            </a:avLst>
          </a:prstGeom>
          <a:solidFill xmlns:a="http://schemas.openxmlformats.org/drawingml/2006/main">
            <a:srgbClr val="000000">
              <a:alpha val="0"/>
            </a:srgbClr>
          </a:solidFill>
          <a:ln xmlns:a="http://schemas.openxmlformats.org/drawingml/2006/main" w="9525">
            <a:solidFill>
              <a:srgbClr val="9CB5D5"/>
            </a:solidFill>
            <a:prstDash val="solid"/>
          </a:ln>
        </p:spPr>
      </p:sp>
      <p:sp>
        <p:nvSpPr>
          <p:cNvPr id="15" name="">
            <a:extLst xmlns:a="http://schemas.openxmlformats.org/drawingml/2006/main">
              <a:ext uri="{FF2B5EF4-FFF2-40B4-BE49-F238E27FC236}">
                <a16:creationId xmlns:a16="http://schemas.microsoft.com/office/drawing/2014/main" id="{97E7E6E0-B411-44BD-92AA-7F5DF6550E73}"/>
              </a:ext>
            </a:extLst>
          </p:cNvPr>
          <p:cNvSpPr>
            <a:spLocks xmlns:a="http://schemas.openxmlformats.org/drawingml/2006/main" noGrp="1"/>
          </p:cNvSpPr>
          <p:nvPr/>
        </p:nvSpPr>
        <p:spPr>
          <a:xfrm xmlns:a="http://schemas.openxmlformats.org/drawingml/2006/main">
            <a:off x="6181725" y="2133600"/>
            <a:ext cx="13620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Retrieve</a:t>
            </a:r>
          </a:p>
        </p:txBody>
      </p:sp>
      <p:sp>
        <p:nvSpPr>
          <p:cNvPr id="16" name="">
            <a:extLst xmlns:a="http://schemas.openxmlformats.org/drawingml/2006/main">
              <a:ext uri="{FF2B5EF4-FFF2-40B4-BE49-F238E27FC236}">
                <a16:creationId xmlns:a16="http://schemas.microsoft.com/office/drawing/2014/main" id="{707B4D61-4907-4A5F-BE30-2C31008C985F}"/>
              </a:ext>
            </a:extLst>
          </p:cNvPr>
          <p:cNvSpPr>
            <a:spLocks xmlns:a="http://schemas.openxmlformats.org/drawingml/2006/main" noGrp="1"/>
          </p:cNvSpPr>
          <p:nvPr/>
        </p:nvSpPr>
        <p:spPr>
          <a:xfrm xmlns:a="http://schemas.openxmlformats.org/drawingml/2006/main">
            <a:off x="6181725" y="2514600"/>
            <a:ext cx="1362075"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8868"/>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Create query embedding</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Company ID filter in SQL</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Full-text and embedding search</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Rank up to 30 records</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Use quality and recency</a:t>
            </a:r>
          </a:p>
        </p:txBody>
      </p:sp>
      <p:sp>
        <p:nvSpPr>
          <p:cNvPr id="17" name="">
            <a:extLst xmlns:a="http://schemas.openxmlformats.org/drawingml/2006/main">
              <a:ext uri="{FF2B5EF4-FFF2-40B4-BE49-F238E27FC236}">
                <a16:creationId xmlns:a16="http://schemas.microsoft.com/office/drawing/2014/main" id="{10E9349B-FC80-44F0-8C6F-18040F8C0556}"/>
              </a:ext>
            </a:extLst>
          </p:cNvPr>
          <p:cNvSpPr>
            <a:spLocks xmlns:a="http://schemas.openxmlformats.org/drawingml/2006/main" noGrp="1"/>
          </p:cNvSpPr>
          <p:nvPr/>
        </p:nvSpPr>
        <p:spPr>
          <a:xfrm xmlns:a="http://schemas.openxmlformats.org/drawingml/2006/main">
            <a:off x="9744075" y="1952625"/>
            <a:ext cx="1666875" cy="2190750"/>
          </a:xfrm>
          <a:prstGeom xmlns:a="http://schemas.openxmlformats.org/drawingml/2006/main" prst="roundRect">
            <a:avLst>
              <a:gd name="adj" fmla="val 9412"/>
            </a:avLst>
          </a:prstGeom>
          <a:solidFill xmlns:a="http://schemas.openxmlformats.org/drawingml/2006/main">
            <a:srgbClr val="000000">
              <a:alpha val="0"/>
            </a:srgbClr>
          </a:solidFill>
          <a:ln xmlns:a="http://schemas.openxmlformats.org/drawingml/2006/main" w="9525">
            <a:solidFill>
              <a:srgbClr val="D0D5DD"/>
            </a:solidFill>
            <a:prstDash val="solid"/>
          </a:ln>
        </p:spPr>
      </p:sp>
      <p:sp>
        <p:nvSpPr>
          <p:cNvPr id="18" name="">
            <a:extLst xmlns:a="http://schemas.openxmlformats.org/drawingml/2006/main">
              <a:ext uri="{FF2B5EF4-FFF2-40B4-BE49-F238E27FC236}">
                <a16:creationId xmlns:a16="http://schemas.microsoft.com/office/drawing/2014/main" id="{8C14EADC-1D14-41C1-86E1-E97BD739DCBD}"/>
              </a:ext>
            </a:extLst>
          </p:cNvPr>
          <p:cNvSpPr>
            <a:spLocks xmlns:a="http://schemas.openxmlformats.org/drawingml/2006/main" noGrp="1"/>
          </p:cNvSpPr>
          <p:nvPr/>
        </p:nvSpPr>
        <p:spPr>
          <a:xfrm xmlns:a="http://schemas.openxmlformats.org/drawingml/2006/main">
            <a:off x="9896475" y="2133600"/>
            <a:ext cx="13620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Investor UI</a:t>
            </a:r>
          </a:p>
        </p:txBody>
      </p:sp>
      <p:sp>
        <p:nvSpPr>
          <p:cNvPr id="19" name="">
            <a:extLst xmlns:a="http://schemas.openxmlformats.org/drawingml/2006/main">
              <a:ext uri="{FF2B5EF4-FFF2-40B4-BE49-F238E27FC236}">
                <a16:creationId xmlns:a16="http://schemas.microsoft.com/office/drawing/2014/main" id="{088C108C-FA6E-42B8-8F1A-D28D9488EFEC}"/>
              </a:ext>
            </a:extLst>
          </p:cNvPr>
          <p:cNvSpPr>
            <a:spLocks xmlns:a="http://schemas.openxmlformats.org/drawingml/2006/main" noGrp="1"/>
          </p:cNvSpPr>
          <p:nvPr/>
        </p:nvSpPr>
        <p:spPr>
          <a:xfrm xmlns:a="http://schemas.openxmlformats.org/drawingml/2006/main">
            <a:off x="9896475" y="2514600"/>
            <a:ext cx="1362075"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Portfolio or pipeline</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Brief in 30 seconds or less</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Open evidence and full source</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Send feedback</a:t>
            </a:r>
          </a:p>
        </p:txBody>
      </p:sp>
      <p:cxnSp>
        <p:nvCxnSpPr>
          <p:cNvPr id="799" name=""/>
          <p:cNvCxnSpPr>
            <a:stCxn xmlns:a="http://schemas.openxmlformats.org/drawingml/2006/main" id="5" idx="3"/>
            <a:endCxn xmlns:a="http://schemas.openxmlformats.org/drawingml/2006/main" id="8" idx="1"/>
          </p:cNvCxnSpPr>
          <p:nvPr/>
        </p:nvCxnSpPr>
        <p:spPr>
          <a:xfrm xmlns:a="http://schemas.openxmlformats.org/drawingml/2006/main">
            <a:off x="2124075" y="3048000"/>
            <a:ext cx="190500" cy="0"/>
          </a:xfrm>
          <a:prstGeom xmlns:a="http://schemas.openxmlformats.org/drawingml/2006/main" prst="straightConnector1">
            <a:avLst/>
          </a:prstGeom>
          <a:ln xmlns:a="http://schemas.openxmlformats.org/drawingml/2006/main" w="19050">
            <a:solidFill>
              <a:srgbClr val="5D7FB4"/>
            </a:solidFill>
            <a:prstDash val="solid"/>
            <a:tailEnd type="triangle" w="sm" len="sm"/>
          </a:ln>
        </p:spPr>
      </p:cxnSp>
      <p:cxnSp>
        <p:nvCxnSpPr>
          <p:cNvPr id="800" name=""/>
          <p:cNvCxnSpPr>
            <a:stCxn xmlns:a="http://schemas.openxmlformats.org/drawingml/2006/main" id="8" idx="3"/>
            <a:endCxn xmlns:a="http://schemas.openxmlformats.org/drawingml/2006/main" id="11" idx="1"/>
          </p:cNvCxnSpPr>
          <p:nvPr/>
        </p:nvCxnSpPr>
        <p:spPr>
          <a:xfrm xmlns:a="http://schemas.openxmlformats.org/drawingml/2006/main">
            <a:off x="3981450" y="3048000"/>
            <a:ext cx="190500" cy="0"/>
          </a:xfrm>
          <a:prstGeom xmlns:a="http://schemas.openxmlformats.org/drawingml/2006/main" prst="straightConnector1">
            <a:avLst/>
          </a:prstGeom>
          <a:ln xmlns:a="http://schemas.openxmlformats.org/drawingml/2006/main" w="19050">
            <a:solidFill>
              <a:srgbClr val="5D7FB4"/>
            </a:solidFill>
            <a:prstDash val="solid"/>
            <a:tailEnd type="triangle" w="sm" len="sm"/>
          </a:ln>
        </p:spPr>
      </p:cxnSp>
      <p:cxnSp>
        <p:nvCxnSpPr>
          <p:cNvPr id="801" name=""/>
          <p:cNvCxnSpPr>
            <a:stCxn xmlns:a="http://schemas.openxmlformats.org/drawingml/2006/main" id="11" idx="3"/>
            <a:endCxn xmlns:a="http://schemas.openxmlformats.org/drawingml/2006/main" id="14" idx="1"/>
          </p:cNvCxnSpPr>
          <p:nvPr/>
        </p:nvCxnSpPr>
        <p:spPr>
          <a:xfrm xmlns:a="http://schemas.openxmlformats.org/drawingml/2006/main">
            <a:off x="5838825" y="3048000"/>
            <a:ext cx="190500" cy="0"/>
          </a:xfrm>
          <a:prstGeom xmlns:a="http://schemas.openxmlformats.org/drawingml/2006/main" prst="straightConnector1">
            <a:avLst/>
          </a:prstGeom>
          <a:ln xmlns:a="http://schemas.openxmlformats.org/drawingml/2006/main" w="19050">
            <a:solidFill>
              <a:srgbClr val="5D7FB4"/>
            </a:solidFill>
            <a:prstDash val="solid"/>
            <a:tailEnd type="triangle" w="sm" len="sm"/>
          </a:ln>
        </p:spPr>
      </p:cxnSp>
      <p:cxnSp>
        <p:nvCxnSpPr>
          <p:cNvPr id="802" name=""/>
          <p:cNvCxnSpPr>
            <a:stCxn xmlns:a="http://schemas.openxmlformats.org/drawingml/2006/main" id="14" idx="3"/>
            <a:endCxn xmlns:a="http://schemas.openxmlformats.org/drawingml/2006/main" id="17" idx="1"/>
          </p:cNvCxnSpPr>
          <p:nvPr/>
        </p:nvCxnSpPr>
        <p:spPr>
          <a:xfrm xmlns:a="http://schemas.openxmlformats.org/drawingml/2006/main">
            <a:off x="7696200" y="3048000"/>
            <a:ext cx="2047875" cy="0"/>
          </a:xfrm>
          <a:prstGeom xmlns:a="http://schemas.openxmlformats.org/drawingml/2006/main" prst="straightConnector1">
            <a:avLst/>
          </a:prstGeom>
          <a:ln xmlns:a="http://schemas.openxmlformats.org/drawingml/2006/main" w="19050">
            <a:solidFill>
              <a:srgbClr val="5D7FB4"/>
            </a:solidFill>
            <a:prstDash val="solid"/>
            <a:tailEnd type="triangle" w="sm" len="sm"/>
          </a:ln>
        </p:spPr>
      </p:cxnSp>
      <p:sp>
        <p:nvSpPr>
          <p:cNvPr id="24" name="">
            <a:extLst xmlns:a="http://schemas.openxmlformats.org/drawingml/2006/main">
              <a:ext uri="{FF2B5EF4-FFF2-40B4-BE49-F238E27FC236}">
                <a16:creationId xmlns:a16="http://schemas.microsoft.com/office/drawing/2014/main" id="{B61FFB58-BB8E-471E-98CB-49CBA54C515D}"/>
              </a:ext>
            </a:extLst>
          </p:cNvPr>
          <p:cNvSpPr>
            <a:spLocks xmlns:a="http://schemas.openxmlformats.org/drawingml/2006/main" noGrp="1"/>
          </p:cNvSpPr>
          <p:nvPr/>
        </p:nvSpPr>
        <p:spPr>
          <a:xfrm xmlns:a="http://schemas.openxmlformats.org/drawingml/2006/main">
            <a:off x="457200" y="4438650"/>
            <a:ext cx="10858500" cy="1619250"/>
          </a:xfrm>
          <a:prstGeom xmlns:a="http://schemas.openxmlformats.org/drawingml/2006/main" prst="roundRect">
            <a:avLst>
              <a:gd name="adj" fmla="val 11940"/>
            </a:avLst>
          </a:prstGeom>
          <a:solidFill xmlns:a="http://schemas.openxmlformats.org/drawingml/2006/main">
            <a:srgbClr val="000000">
              <a:alpha val="0"/>
            </a:srgbClr>
          </a:solidFill>
          <a:ln xmlns:a="http://schemas.openxmlformats.org/drawingml/2006/main" w="9525">
            <a:solidFill>
              <a:srgbClr val="D0D5DD"/>
            </a:solidFill>
            <a:prstDash val="solid"/>
          </a:ln>
        </p:spPr>
      </p:sp>
      <p:sp>
        <p:nvSpPr>
          <p:cNvPr id="25" name="">
            <a:extLst xmlns:a="http://schemas.openxmlformats.org/drawingml/2006/main">
              <a:ext uri="{FF2B5EF4-FFF2-40B4-BE49-F238E27FC236}">
                <a16:creationId xmlns:a16="http://schemas.microsoft.com/office/drawing/2014/main" id="{07F00A8E-F14E-4A01-8264-2EC18B7520DF}"/>
              </a:ext>
            </a:extLst>
          </p:cNvPr>
          <p:cNvSpPr>
            <a:spLocks xmlns:a="http://schemas.openxmlformats.org/drawingml/2006/main" noGrp="1"/>
          </p:cNvSpPr>
          <p:nvPr/>
        </p:nvSpPr>
        <p:spPr>
          <a:xfrm xmlns:a="http://schemas.openxmlformats.org/drawingml/2006/main">
            <a:off x="685800" y="4629150"/>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714"/>
          </a:bodyPr>
          <a:lstStyle xmlns:a="http://schemas.openxmlformats.org/drawingml/2006/main"/>
          <a:p xmlns:a="http://schemas.openxmlformats.org/drawingml/2006/main">
            <a:pPr algn="l">
              <a:buNone/>
              <a:defRPr sz="1500" b="1">
                <a:solidFill>
                  <a:srgbClr val="101828"/>
                </a:solidFill>
                <a:latin typeface="Helvetica Neue"/>
                <a:ea typeface="Helvetica Neue"/>
                <a:cs typeface="Helvetica Neue"/>
              </a:defRPr>
            </a:pPr>
            <a:r>
              <a:rPr sz="1050" b="1">
                <a:solidFill>
                  <a:srgbClr val="315F9F"/>
                </a:solidFill>
                <a:latin typeface="Helvetica Neue"/>
                <a:ea typeface="Helvetica Neue"/>
                <a:cs typeface="Helvetica Neue"/>
              </a:rPr>
              <a:t>CONTROLS THAT STAY</a:t>
            </a:r>
          </a:p>
        </p:txBody>
      </p:sp>
      <p:sp>
        <p:nvSpPr>
          <p:cNvPr id="26" name="">
            <a:extLst xmlns:a="http://schemas.openxmlformats.org/drawingml/2006/main">
              <a:ext uri="{FF2B5EF4-FFF2-40B4-BE49-F238E27FC236}">
                <a16:creationId xmlns:a16="http://schemas.microsoft.com/office/drawing/2014/main" id="{EA4171B3-C020-4C48-902A-199C6AB20D1D}"/>
              </a:ext>
            </a:extLst>
          </p:cNvPr>
          <p:cNvSpPr>
            <a:spLocks xmlns:a="http://schemas.openxmlformats.org/drawingml/2006/main" noGrp="1"/>
          </p:cNvSpPr>
          <p:nvPr/>
        </p:nvSpPr>
        <p:spPr>
          <a:xfrm xmlns:a="http://schemas.openxmlformats.org/drawingml/2006/main">
            <a:off x="2647950" y="4610100"/>
            <a:ext cx="828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350" b="0">
                <a:solidFill>
                  <a:srgbClr val="344054"/>
                </a:solidFill>
                <a:latin typeface="Helvetica Neue"/>
                <a:ea typeface="Helvetica Neue"/>
                <a:cs typeface="Helvetica Neue"/>
              </a:defRPr>
            </a:pPr>
            <a:r>
              <a:rPr sz="1125" b="0">
                <a:solidFill>
                  <a:srgbClr val="344054"/>
                </a:solidFill>
                <a:latin typeface="Helvetica Neue"/>
                <a:ea typeface="Helvetica Neue"/>
                <a:cs typeface="Helvetica Neue"/>
              </a:rPr>
              <a:t>Checksums · company filter · selected source IDs · value support · source-status guard · timeout · fallback · feedback</a:t>
            </a:r>
          </a:p>
        </p:txBody>
      </p:sp>
      <p:sp>
        <p:nvSpPr>
          <p:cNvPr id="27" name="">
            <a:extLst xmlns:a="http://schemas.openxmlformats.org/drawingml/2006/main">
              <a:ext uri="{FF2B5EF4-FFF2-40B4-BE49-F238E27FC236}">
                <a16:creationId xmlns:a16="http://schemas.microsoft.com/office/drawing/2014/main" id="{95D9C767-43D9-4311-B764-33EAAB1F58EC}"/>
              </a:ext>
            </a:extLst>
          </p:cNvPr>
          <p:cNvSpPr>
            <a:spLocks xmlns:a="http://schemas.openxmlformats.org/drawingml/2006/main" noGrp="1"/>
          </p:cNvSpPr>
          <p:nvPr/>
        </p:nvSpPr>
        <p:spPr>
          <a:xfrm xmlns:a="http://schemas.openxmlformats.org/drawingml/2006/main">
            <a:off x="685800" y="5267325"/>
            <a:ext cx="102489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1">
                <a:solidFill>
                  <a:srgbClr val="315F9F"/>
                </a:solidFill>
                <a:latin typeface="Helvetica Neue"/>
                <a:ea typeface="Helvetica Neue"/>
                <a:cs typeface="Helvetica Neue"/>
              </a:defRPr>
            </a:pPr>
            <a:r>
              <a:rPr sz="975" b="1">
                <a:solidFill>
                  <a:srgbClr val="315F9F"/>
                </a:solidFill>
                <a:latin typeface="Helvetica Neue"/>
                <a:ea typeface="Helvetica Neue"/>
                <a:cs typeface="Helvetica Neue"/>
              </a:rPr>
              <a:t>PRODUCTION HARDENING    Managed connectors · access rules · reviewed prompts · model policy · monitoring</a:t>
            </a:r>
          </a:p>
        </p:txBody>
      </p:sp>
      <p:sp>
        <p:nvSpPr>
          <p:cNvPr id="74" name="">
            <a:extLst xmlns:a="http://schemas.openxmlformats.org/drawingml/2006/main">
              <a:ext uri="{FF2B5EF4-FFF2-40B4-BE49-F238E27FC236}">
                <a16:creationId xmlns:a16="http://schemas.microsoft.com/office/drawing/2014/main" id="{876761DC-591F-4BA5-87BF-202A2CAA662F}"/>
              </a:ext>
            </a:extLst>
          </p:cNvPr>
          <p:cNvSpPr>
            <a:spLocks xmlns:a="http://schemas.openxmlformats.org/drawingml/2006/main" noGrp="1"/>
          </p:cNvSpPr>
          <p:nvPr/>
        </p:nvSpPr>
        <p:spPr>
          <a:xfrm xmlns:a="http://schemas.openxmlformats.org/drawingml/2006/main">
            <a:off x="457200" y="1504950"/>
            <a:ext cx="5381625" cy="266700"/>
          </a:xfrm>
          <a:prstGeom xmlns:a="http://schemas.openxmlformats.org/drawingml/2006/main" prst="rect">
            <a:avLst/>
          </a:prstGeom>
        </p:spPr>
        <p:txBody>
          <a:bodyPr xmlns:a="http://schemas.openxmlformats.org/drawingml/2006/main" lIns="38100" tIns="19050" rIns="38100" bIns="19050" anchor="ctr">
            <a:normAutofit fontScale="100000"/>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1  CURRENT IMPORT · BEFORE REQUEST</a:t>
            </a:r>
          </a:p>
        </p:txBody>
      </p:sp>
      <p:sp>
        <p:nvSpPr>
          <p:cNvPr id="75" name="">
            <a:extLst xmlns:a="http://schemas.openxmlformats.org/drawingml/2006/main">
              <a:ext uri="{FF2B5EF4-FFF2-40B4-BE49-F238E27FC236}">
                <a16:creationId xmlns:a16="http://schemas.microsoft.com/office/drawing/2014/main" id="{DE5B8472-F0A9-4DC3-B8D5-E6104426EC1F}"/>
              </a:ext>
            </a:extLst>
          </p:cNvPr>
          <p:cNvSpPr>
            <a:spLocks xmlns:a="http://schemas.openxmlformats.org/drawingml/2006/main" noGrp="1"/>
          </p:cNvSpPr>
          <p:nvPr/>
        </p:nvSpPr>
        <p:spPr>
          <a:xfrm xmlns:a="http://schemas.openxmlformats.org/drawingml/2006/main">
            <a:off x="6029325" y="1504950"/>
            <a:ext cx="5381625" cy="266700"/>
          </a:xfrm>
          <a:prstGeom xmlns:a="http://schemas.openxmlformats.org/drawingml/2006/main" prst="rect">
            <a:avLst/>
          </a:prstGeom>
        </p:spPr>
        <p:txBody>
          <a:bodyPr xmlns:a="http://schemas.openxmlformats.org/drawingml/2006/main" lIns="38100" tIns="19050" rIns="38100" bIns="19050" anchor="ctr">
            <a:normAutofit fontScale="100000"/>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2  CURRENT BRIEF · ON REQUEST</a:t>
            </a:r>
          </a:p>
        </p:txBody>
      </p:sp>
      <p:sp>
        <p:nvSpPr>
          <p:cNvPr id="76" name="">
            <a:extLst xmlns:a="http://schemas.openxmlformats.org/drawingml/2006/main">
              <a:ext uri="{FF2B5EF4-FFF2-40B4-BE49-F238E27FC236}">
                <a16:creationId xmlns:a16="http://schemas.microsoft.com/office/drawing/2014/main" id="{44449F1B-2B10-45DE-9D09-31B025BCA0F1}"/>
              </a:ext>
            </a:extLst>
          </p:cNvPr>
          <p:cNvSpPr>
            <a:spLocks xmlns:a="http://schemas.openxmlformats.org/drawingml/2006/main" noGrp="1"/>
          </p:cNvSpPr>
          <p:nvPr/>
        </p:nvSpPr>
        <p:spPr>
          <a:xfrm xmlns:a="http://schemas.openxmlformats.org/drawingml/2006/main">
            <a:off x="457200" y="1790700"/>
            <a:ext cx="5381625" cy="0"/>
          </a:xfrm>
          <a:prstGeom xmlns:a="http://schemas.openxmlformats.org/drawingml/2006/main" prst="line">
            <a:avLst/>
          </a:prstGeom>
          <a:ln xmlns:a="http://schemas.openxmlformats.org/drawingml/2006/main" w="19050">
            <a:solidFill>
              <a:srgbClr val="5D7FB4"/>
            </a:solidFill>
            <a:prstDash val="solid"/>
          </a:ln>
        </p:spPr>
      </p:sp>
      <p:sp>
        <p:nvSpPr>
          <p:cNvPr id="77" name="">
            <a:extLst xmlns:a="http://schemas.openxmlformats.org/drawingml/2006/main">
              <a:ext uri="{FF2B5EF4-FFF2-40B4-BE49-F238E27FC236}">
                <a16:creationId xmlns:a16="http://schemas.microsoft.com/office/drawing/2014/main" id="{EA399CA2-473B-4773-B305-27FBBE0FE99A}"/>
              </a:ext>
            </a:extLst>
          </p:cNvPr>
          <p:cNvSpPr>
            <a:spLocks xmlns:a="http://schemas.openxmlformats.org/drawingml/2006/main" noGrp="1"/>
          </p:cNvSpPr>
          <p:nvPr/>
        </p:nvSpPr>
        <p:spPr>
          <a:xfrm xmlns:a="http://schemas.openxmlformats.org/drawingml/2006/main">
            <a:off x="6029325" y="1790700"/>
            <a:ext cx="5381625" cy="0"/>
          </a:xfrm>
          <a:prstGeom xmlns:a="http://schemas.openxmlformats.org/drawingml/2006/main" prst="line">
            <a:avLst/>
          </a:prstGeom>
          <a:ln xmlns:a="http://schemas.openxmlformats.org/drawingml/2006/main" w="19050">
            <a:solidFill>
              <a:srgbClr val="5D7FB4"/>
            </a:solidFill>
            <a:prstDash val="solid"/>
          </a:ln>
        </p:spPr>
      </p:sp>
      <p:sp>
        <p:nvSpPr>
          <p:cNvPr id="78" name="">
            <a:extLst xmlns:a="http://schemas.openxmlformats.org/drawingml/2006/main">
              <a:ext uri="{FF2B5EF4-FFF2-40B4-BE49-F238E27FC236}">
                <a16:creationId xmlns:a16="http://schemas.microsoft.com/office/drawing/2014/main" id="{19D8B9AA-FBB8-4320-B731-75F48F456FAB}"/>
              </a:ext>
            </a:extLst>
          </p:cNvPr>
          <p:cNvSpPr>
            <a:spLocks xmlns:a="http://schemas.openxmlformats.org/drawingml/2006/main" noGrp="1"/>
          </p:cNvSpPr>
          <p:nvPr/>
        </p:nvSpPr>
        <p:spPr>
          <a:xfrm xmlns:a="http://schemas.openxmlformats.org/drawingml/2006/main">
            <a:off x="7886700" y="1952625"/>
            <a:ext cx="1666875" cy="2190750"/>
          </a:xfrm>
          <a:prstGeom xmlns:a="http://schemas.openxmlformats.org/drawingml/2006/main" prst="roundRect">
            <a:avLst>
              <a:gd name="adj" fmla="val 8000"/>
            </a:avLst>
          </a:prstGeom>
          <a:solidFill xmlns:a="http://schemas.openxmlformats.org/drawingml/2006/main">
            <a:srgbClr val="000000">
              <a:alpha val="0"/>
            </a:srgbClr>
          </a:solidFill>
          <a:ln xmlns:a="http://schemas.openxmlformats.org/drawingml/2006/main" w="9525">
            <a:solidFill>
              <a:srgbClr val="9CB5D5"/>
            </a:solidFill>
            <a:prstDash val="solid"/>
          </a:ln>
        </p:spPr>
      </p:sp>
      <p:sp>
        <p:nvSpPr>
          <p:cNvPr id="79" name="">
            <a:extLst xmlns:a="http://schemas.openxmlformats.org/drawingml/2006/main">
              <a:ext uri="{FF2B5EF4-FFF2-40B4-BE49-F238E27FC236}">
                <a16:creationId xmlns:a16="http://schemas.microsoft.com/office/drawing/2014/main" id="{51BDDF48-D89D-41EC-93BE-8EAFD88E737A}"/>
              </a:ext>
            </a:extLst>
          </p:cNvPr>
          <p:cNvSpPr>
            <a:spLocks xmlns:a="http://schemas.openxmlformats.org/drawingml/2006/main" noGrp="1"/>
          </p:cNvSpPr>
          <p:nvPr/>
        </p:nvSpPr>
        <p:spPr>
          <a:xfrm xmlns:a="http://schemas.openxmlformats.org/drawingml/2006/main">
            <a:off x="8039100" y="2133600"/>
            <a:ext cx="1362075" cy="266700"/>
          </a:xfrm>
          <a:prstGeom xmlns:a="http://schemas.openxmlformats.org/drawingml/2006/main" prst="rect">
            <a:avLst/>
          </a:prstGeom>
        </p:spPr>
        <p:txBody>
          <a:bodyPr xmlns:a="http://schemas.openxmlformats.org/drawingml/2006/main" lIns="38100" tIns="19050" rIns="38100" bIns="19050" anchor="ctr">
            <a:normAutofit fontScale="100000"/>
          </a:bodyPr>
          <a:lstStyle xmlns:a="http://schemas.openxmlformats.org/drawingml/2006/main"/>
          <a:p xmlns:a="http://schemas.openxmlformats.org/drawingml/2006/main">
            <a:pPr algn="l">
              <a:buNone/>
              <a:defRPr sz="1350" b="1">
                <a:solidFill>
                  <a:srgbClr val="344054"/>
                </a:solidFill>
                <a:latin typeface="Helvetica Neue"/>
                <a:ea typeface="Helvetica Neue"/>
                <a:cs typeface="Helvetica Neue"/>
              </a:defRPr>
            </a:pPr>
            <a:r>
              <a:rPr sz="1350" b="1">
                <a:solidFill>
                  <a:srgbClr val="344054"/>
                </a:solidFill>
                <a:latin typeface="Helvetica Neue"/>
                <a:ea typeface="Helvetica Neue"/>
                <a:cs typeface="Helvetica Neue"/>
              </a:rPr>
              <a:t>Build brief</a:t>
            </a:r>
          </a:p>
        </p:txBody>
      </p:sp>
      <p:sp>
        <p:nvSpPr>
          <p:cNvPr id="80" name="">
            <a:extLst xmlns:a="http://schemas.openxmlformats.org/drawingml/2006/main">
              <a:ext uri="{FF2B5EF4-FFF2-40B4-BE49-F238E27FC236}">
                <a16:creationId xmlns:a16="http://schemas.microsoft.com/office/drawing/2014/main" id="{F845698F-CB86-4AEE-AD81-65F6E539E320}"/>
              </a:ext>
            </a:extLst>
          </p:cNvPr>
          <p:cNvSpPr>
            <a:spLocks xmlns:a="http://schemas.openxmlformats.org/drawingml/2006/main" noGrp="1"/>
          </p:cNvSpPr>
          <p:nvPr/>
        </p:nvSpPr>
        <p:spPr>
          <a:xfrm xmlns:a="http://schemas.openxmlformats.org/drawingml/2006/main">
            <a:off x="8039100" y="2514600"/>
            <a:ext cx="1362075" cy="1447800"/>
          </a:xfrm>
          <a:prstGeom xmlns:a="http://schemas.openxmlformats.org/drawingml/2006/main" prst="rect">
            <a:avLst/>
          </a:prstGeom>
        </p:spPr>
        <p:txBody>
          <a:bodyPr xmlns:a="http://schemas.openxmlformats.org/drawingml/2006/main" lIns="38100" tIns="19050" rIns="38100" bIns="19050" anchor="t">
            <a:normAutofit fontScale="100000"/>
          </a:bodyPr>
          <a:lstStyle xmlns:a="http://schemas.openxmlformats.org/drawingml/2006/main"/>
          <a:p xmlns:a="http://schemas.openxmlformats.org/drawingml/2006/main">
            <a:pPr algn="l">
              <a:buNone/>
              <a:defRPr sz="1050" b="0">
                <a:solidFill>
                  <a:srgbClr val="344054"/>
                </a:solidFill>
                <a:latin typeface="Helvetica Neue"/>
                <a:ea typeface="Helvetica Neue"/>
                <a:cs typeface="Helvetica Neue"/>
              </a:defRPr>
            </a:pPr>
            <a:r>
              <a:rPr sz="1050" b="0">
                <a:solidFill>
                  <a:srgbClr val="344054"/>
                </a:solidFill>
                <a:latin typeface="Helvetica Neue"/>
                <a:ea typeface="Helvetica Neue"/>
                <a:cs typeface="Helvetica Neue"/>
              </a:rPr>
              <a:t>gpt-5.6-sol</a:t>
            </a:r>
          </a:p>
          <a:p xmlns:a="http://schemas.openxmlformats.org/drawingml/2006/main">
            <a:pPr algn="l">
              <a:buNone/>
              <a:defRPr sz="1050" b="0">
                <a:solidFill>
                  <a:srgbClr val="344054"/>
                </a:solidFill>
                <a:latin typeface="Helvetica Neue"/>
                <a:ea typeface="Helvetica Neue"/>
                <a:cs typeface="Helvetica Neue"/>
              </a:defRPr>
            </a:pPr>
            <a:r>
              <a:rPr sz="1050" b="0">
                <a:solidFill>
                  <a:srgbClr val="344054"/>
                </a:solidFill>
                <a:latin typeface="Helvetica Neue"/>
                <a:ea typeface="Helvetica Neue"/>
                <a:cs typeface="Helvetica Neue"/>
              </a:rPr>
              <a:t>Responses API</a:t>
            </a:r>
          </a:p>
          <a:p xmlns:a="http://schemas.openxmlformats.org/drawingml/2006/main">
            <a:pPr algn="l">
              <a:buNone/>
              <a:defRPr sz="1050" b="0">
                <a:solidFill>
                  <a:srgbClr val="344054"/>
                </a:solidFill>
                <a:latin typeface="Helvetica Neue"/>
                <a:ea typeface="Helvetica Neue"/>
                <a:cs typeface="Helvetica Neue"/>
              </a:defRPr>
            </a:pPr>
            <a:r>
              <a:rPr sz="1050" b="0">
                <a:solidFill>
                  <a:srgbClr val="344054"/>
                </a:solidFill>
                <a:latin typeface="Helvetica Neue"/>
                <a:ea typeface="Helvetica Neue"/>
                <a:cs typeface="Helvetica Neue"/>
              </a:rPr>
              <a:t>Selected sources</a:t>
            </a:r>
          </a:p>
          <a:p xmlns:a="http://schemas.openxmlformats.org/drawingml/2006/main">
            <a:pPr algn="l">
              <a:buNone/>
              <a:defRPr sz="1050" b="0">
                <a:solidFill>
                  <a:srgbClr val="344054"/>
                </a:solidFill>
                <a:latin typeface="Helvetica Neue"/>
                <a:ea typeface="Helvetica Neue"/>
                <a:cs typeface="Helvetica Neue"/>
              </a:defRPr>
            </a:pPr>
            <a:r>
              <a:rPr sz="1050" b="0">
                <a:solidFill>
                  <a:srgbClr val="344054"/>
                </a:solidFill>
                <a:latin typeface="Helvetica Neue"/>
                <a:ea typeface="Helvetica Neue"/>
                <a:cs typeface="Helvetica Neue"/>
              </a:rPr>
              <a:t>Strict checks</a:t>
            </a:r>
          </a:p>
          <a:p xmlns:a="http://schemas.openxmlformats.org/drawingml/2006/main">
            <a:pPr algn="l">
              <a:buNone/>
              <a:defRPr sz="1050" b="0">
                <a:solidFill>
                  <a:srgbClr val="344054"/>
                </a:solidFill>
                <a:latin typeface="Helvetica Neue"/>
                <a:ea typeface="Helvetica Neue"/>
                <a:cs typeface="Helvetica Neue"/>
              </a:defRPr>
            </a:pPr>
            <a:r>
              <a:rPr sz="1050" b="0">
                <a:solidFill>
                  <a:srgbClr val="344054"/>
                </a:solidFill>
                <a:latin typeface="Helvetica Neue"/>
                <a:ea typeface="Helvetica Neue"/>
                <a:cs typeface="Helvetica Neue"/>
              </a:rPr>
              <a:t>Save or fallback</a:t>
            </a:r>
          </a:p>
        </p:txBody>
      </p:sp>
      <p:cxnSp>
        <p:nvCxnSpPr>
          <p:cNvPr id="814" name=""/>
          <p:cNvCxnSpPr>
            <a:stCxn xmlns:a="http://schemas.openxmlformats.org/drawingml/2006/main" id="14" idx="3"/>
            <a:endCxn xmlns:a="http://schemas.openxmlformats.org/drawingml/2006/main" id="78" idx="1"/>
          </p:cNvCxnSpPr>
          <p:nvPr/>
        </p:nvCxnSpPr>
        <p:spPr>
          <a:xfrm xmlns:a="http://schemas.openxmlformats.org/drawingml/2006/main">
            <a:off x="7696200" y="3048000"/>
            <a:ext cx="190500" cy="0"/>
          </a:xfrm>
          <a:prstGeom xmlns:a="http://schemas.openxmlformats.org/drawingml/2006/main" prst="straightConnector1">
            <a:avLst/>
          </a:prstGeom>
          <a:ln xmlns:a="http://schemas.openxmlformats.org/drawingml/2006/main" w="19050">
            <a:solidFill>
              <a:srgbClr val="5D7FB4"/>
            </a:solidFill>
            <a:prstDash val="solid"/>
            <a:tailEnd type="arrow" w="sm" len="sm"/>
          </a:ln>
        </p:spPr>
      </p:cxnSp>
      <p:cxnSp>
        <p:nvCxnSpPr>
          <p:cNvPr id="815" name=""/>
          <p:cNvCxnSpPr>
            <a:stCxn xmlns:a="http://schemas.openxmlformats.org/drawingml/2006/main" id="78" idx="3"/>
            <a:endCxn xmlns:a="http://schemas.openxmlformats.org/drawingml/2006/main" id="17" idx="1"/>
          </p:cNvCxnSpPr>
          <p:nvPr/>
        </p:nvCxnSpPr>
        <p:spPr>
          <a:xfrm xmlns:a="http://schemas.openxmlformats.org/drawingml/2006/main">
            <a:off x="9553575" y="3048000"/>
            <a:ext cx="190500" cy="0"/>
          </a:xfrm>
          <a:prstGeom xmlns:a="http://schemas.openxmlformats.org/drawingml/2006/main" prst="straightConnector1">
            <a:avLst/>
          </a:prstGeom>
          <a:ln xmlns:a="http://schemas.openxmlformats.org/drawingml/2006/main" w="19050">
            <a:solidFill>
              <a:srgbClr val="5D7FB4"/>
            </a:solidFill>
            <a:prstDash val="solid"/>
            <a:tailEnd type="arrow" w="sm" len="sm"/>
          </a:ln>
        </p:spPr>
      </p:cxnSp>
      <p:sp>
        <p:nvSpPr>
          <p:cNvPr id="83" name="">
            <a:extLst xmlns:a="http://schemas.openxmlformats.org/drawingml/2006/main">
              <a:ext uri="{FF2B5EF4-FFF2-40B4-BE49-F238E27FC236}">
                <a16:creationId xmlns:a16="http://schemas.microsoft.com/office/drawing/2014/main" id="{992E4A4C-71BB-4B03-9841-87FC93E819CD}"/>
              </a:ext>
            </a:extLst>
          </p:cNvPr>
          <p:cNvSpPr>
            <a:spLocks xmlns:a="http://schemas.openxmlformats.org/drawingml/2006/main" noGrp="1"/>
          </p:cNvSpPr>
          <p:nvPr/>
        </p:nvSpPr>
        <p:spPr>
          <a:xfrm xmlns:a="http://schemas.openxmlformats.org/drawingml/2006/main">
            <a:off x="590550" y="5105400"/>
            <a:ext cx="10534650" cy="609600"/>
          </a:xfrm>
          <a:prstGeom xmlns:a="http://schemas.openxmlformats.org/drawingml/2006/main" prst="roundRect">
            <a:avLst>
              <a:gd name="adj" fmla="val 15625"/>
            </a:avLst>
          </a:prstGeom>
          <a:solidFill xmlns:a="http://schemas.openxmlformats.org/drawingml/2006/main">
            <a:srgbClr val="000000">
              <a:alpha val="0"/>
            </a:srgbClr>
          </a:solidFill>
          <a:ln xmlns:a="http://schemas.openxmlformats.org/drawingml/2006/main" w="9525">
            <a:solidFill>
              <a:srgbClr val="5D7FB4"/>
            </a:solidFill>
            <a:prstDash val="dash"/>
          </a:ln>
        </p:spPr>
      </p:sp>
      <p:pic>
        <p:nvPicPr>
          <p:cNvPr id="817" name=""/>
          <p:cNvPicPr>
            <a:picLocks xmlns:a="http://schemas.openxmlformats.org/drawingml/2006/main" noChangeAspect="1"/>
          </p:cNvPicPr>
          <p:nvPr/>
        </p:nvPicPr>
        <p:blipFill>
          <a:blip xmlns:r="http://schemas.openxmlformats.org/officeDocument/2006/relationships" xmlns:a="http://schemas.openxmlformats.org/drawingml/2006/main" r:embed="R76329322abf0447d"/>
          <a:stretch xmlns:a="http://schemas.openxmlformats.org/drawingml/2006/main"/>
        </p:blipFill>
        <p:spPr>
          <a:xfrm xmlns:a="http://schemas.openxmlformats.org/drawingml/2006/main">
            <a:off x="439341" y="1476375"/>
            <a:ext cx="11084719" cy="4667250"/>
          </a:xfrm>
          <a:prstGeom xmlns:a="http://schemas.openxmlformats.org/drawingml/2006/main" prst="rect">
            <a:avLst/>
          </a:prstGeom>
        </p:spPr>
      </p:pic>
    </p:spTree>
    <p:extLst>
      <p:ext uri="{BB962C8B-B14F-4D97-AF65-F5344CB8AC3E}">
        <p14:creationId xmlns:p14="http://schemas.microsoft.com/office/powerpoint/2010/main" val="1629625627"/>
      </p:ext>
    </p:extLst>
  </p:cSld>
</p:sld>
</file>

<file path=ppt/slides/slide5.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08B507DB-8CD7-43CA-AF84-401CDAD0E8E0}"/>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2700" b="1">
                <a:solidFill>
                  <a:srgbClr val="101828"/>
                </a:solidFill>
                <a:latin typeface="Helvetica Neue"/>
                <a:ea typeface="Helvetica Neue"/>
                <a:cs typeface="Helvetica Neue"/>
              </a:rPr>
              <a:t>How does Lens make a brief?</a:t>
            </a:r>
          </a:p>
        </p:txBody>
      </p:sp>
      <p:sp>
        <p:nvSpPr>
          <p:cNvPr id="2" name="">
            <a:extLst xmlns:a="http://schemas.openxmlformats.org/drawingml/2006/main">
              <a:ext uri="{FF2B5EF4-FFF2-40B4-BE49-F238E27FC236}">
                <a16:creationId xmlns:a16="http://schemas.microsoft.com/office/drawing/2014/main" id="{B1CA7E82-BED4-4D5B-A311-0E86E2F4B287}"/>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97846247-13EC-46D6-81CE-457BD834D1F8}"/>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05</a:t>
            </a:r>
          </a:p>
        </p:txBody>
      </p:sp>
      <p:sp>
        <p:nvSpPr>
          <p:cNvPr id="4" name="">
            <a:extLst xmlns:a="http://schemas.openxmlformats.org/drawingml/2006/main">
              <a:ext uri="{FF2B5EF4-FFF2-40B4-BE49-F238E27FC236}">
                <a16:creationId xmlns:a16="http://schemas.microsoft.com/office/drawing/2014/main" id="{DDECACC8-F2C1-411F-97A9-DA439288F3AA}"/>
              </a:ext>
            </a:extLst>
          </p:cNvPr>
          <p:cNvSpPr>
            <a:spLocks xmlns:a="http://schemas.openxmlformats.org/drawingml/2006/main" noGrp="1"/>
          </p:cNvSpPr>
          <p:nvPr/>
        </p:nvSpPr>
        <p:spPr>
          <a:xfrm xmlns:a="http://schemas.openxmlformats.org/drawingml/2006/main">
            <a:off x="457200" y="1428750"/>
            <a:ext cx="9334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333"/>
          </a:bodyPr>
          <a:lstStyle xmlns:a="http://schemas.openxmlformats.org/drawingml/2006/main"/>
          <a:p xmlns:a="http://schemas.openxmlformats.org/drawingml/2006/main">
            <a:pPr algn="l">
              <a:buNone/>
              <a:defRPr sz="1500" b="1">
                <a:solidFill>
                  <a:srgbClr val="344054"/>
                </a:solidFill>
                <a:latin typeface="Helvetica Neue"/>
                <a:ea typeface="Helvetica Neue"/>
                <a:cs typeface="Helvetica Neue"/>
              </a:defRPr>
            </a:pPr>
            <a:r>
              <a:rPr sz="1500" b="1">
                <a:solidFill>
                  <a:srgbClr val="344054"/>
                </a:solidFill>
                <a:latin typeface="Helvetica Neue"/>
                <a:ea typeface="Helvetica Neue"/>
                <a:cs typeface="Helvetica Neue"/>
              </a:rPr>
              <a:t>Lens follows five simple steps. It uses only records for the company you select.</a:t>
            </a:r>
          </a:p>
        </p:txBody>
      </p:sp>
      <p:sp>
        <p:nvSpPr>
          <p:cNvPr id="5" name="">
            <a:extLst xmlns:a="http://schemas.openxmlformats.org/drawingml/2006/main">
              <a:ext uri="{FF2B5EF4-FFF2-40B4-BE49-F238E27FC236}">
                <a16:creationId xmlns:a16="http://schemas.microsoft.com/office/drawing/2014/main" id="{D534A572-86CD-4E7B-91AF-F52BC05AAD8C}"/>
              </a:ext>
            </a:extLst>
          </p:cNvPr>
          <p:cNvSpPr>
            <a:spLocks xmlns:a="http://schemas.openxmlformats.org/drawingml/2006/main" noGrp="1"/>
          </p:cNvSpPr>
          <p:nvPr/>
        </p:nvSpPr>
        <p:spPr>
          <a:xfrm xmlns:a="http://schemas.openxmlformats.org/drawingml/2006/main">
            <a:off x="457200" y="1924050"/>
            <a:ext cx="2095500" cy="285750"/>
          </a:xfrm>
          <a:prstGeom xmlns:a="http://schemas.openxmlformats.org/drawingml/2006/main" prst="roundRect">
            <a:avLst>
              <a:gd name="adj" fmla="val 50000"/>
            </a:avLst>
          </a:prstGeom>
          <a:solidFill xmlns:a="http://schemas.openxmlformats.org/drawingml/2006/main">
            <a:srgbClr val="FEF3F2"/>
          </a:solidFill>
          <a:ln xmlns:a="http://schemas.openxmlformats.org/drawingml/2006/main" w="9525">
            <a:solidFill>
              <a:srgbClr val="F3B3AE"/>
            </a:solidFill>
            <a:prstDash val="solid"/>
          </a:ln>
        </p:spPr>
      </p:sp>
      <p:sp>
        <p:nvSpPr>
          <p:cNvPr id="6" name="">
            <a:extLst xmlns:a="http://schemas.openxmlformats.org/drawingml/2006/main">
              <a:ext uri="{FF2B5EF4-FFF2-40B4-BE49-F238E27FC236}">
                <a16:creationId xmlns:a16="http://schemas.microsoft.com/office/drawing/2014/main" id="{DAA6E833-E2EA-4DC2-9D44-6C233F923C93}"/>
              </a:ext>
            </a:extLst>
          </p:cNvPr>
          <p:cNvSpPr>
            <a:spLocks xmlns:a="http://schemas.openxmlformats.org/drawingml/2006/main" noGrp="1"/>
          </p:cNvSpPr>
          <p:nvPr/>
        </p:nvSpPr>
        <p:spPr>
          <a:xfrm xmlns:a="http://schemas.openxmlformats.org/drawingml/2006/main">
            <a:off x="571500" y="1971675"/>
            <a:ext cx="18669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857"/>
          </a:bodyPr>
          <a:lstStyle xmlns:a="http://schemas.openxmlformats.org/drawingml/2006/main"/>
          <a:p xmlns:a="http://schemas.openxmlformats.org/drawingml/2006/main">
            <a:pPr algn="l">
              <a:buNone/>
              <a:defRPr sz="1050" b="1">
                <a:solidFill>
                  <a:srgbClr val="B42318"/>
                </a:solidFill>
                <a:latin typeface="Helvetica Neue"/>
                <a:ea typeface="Helvetica Neue"/>
                <a:cs typeface="Helvetica Neue"/>
              </a:defRPr>
            </a:pPr>
            <a:r>
              <a:rPr sz="1050" b="1">
                <a:solidFill>
                  <a:srgbClr val="B42318"/>
                </a:solidFill>
                <a:latin typeface="Helvetica Neue"/>
                <a:ea typeface="Helvetica Neue"/>
                <a:cs typeface="Helvetica Neue"/>
              </a:rPr>
              <a:t>1  PICK A COMPANY</a:t>
            </a:r>
          </a:p>
        </p:txBody>
      </p:sp>
      <p:sp>
        <p:nvSpPr>
          <p:cNvPr id="7" name="">
            <a:extLst xmlns:a="http://schemas.openxmlformats.org/drawingml/2006/main">
              <a:ext uri="{FF2B5EF4-FFF2-40B4-BE49-F238E27FC236}">
                <a16:creationId xmlns:a16="http://schemas.microsoft.com/office/drawing/2014/main" id="{5873C146-5687-495D-B6D4-270B5F4B2F34}"/>
              </a:ext>
            </a:extLst>
          </p:cNvPr>
          <p:cNvSpPr>
            <a:spLocks xmlns:a="http://schemas.openxmlformats.org/drawingml/2006/main" noGrp="1"/>
          </p:cNvSpPr>
          <p:nvPr/>
        </p:nvSpPr>
        <p:spPr>
          <a:xfrm xmlns:a="http://schemas.openxmlformats.org/drawingml/2006/main">
            <a:off x="2495550" y="1971675"/>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2  Pick up to 30 useful records</a:t>
            </a:r>
          </a:p>
        </p:txBody>
      </p:sp>
      <p:sp>
        <p:nvSpPr>
          <p:cNvPr id="8" name="">
            <a:extLst xmlns:a="http://schemas.openxmlformats.org/drawingml/2006/main">
              <a:ext uri="{FF2B5EF4-FFF2-40B4-BE49-F238E27FC236}">
                <a16:creationId xmlns:a16="http://schemas.microsoft.com/office/drawing/2014/main" id="{98BD67A4-A694-49BA-BDC9-40B6EEEFEB17}"/>
              </a:ext>
            </a:extLst>
          </p:cNvPr>
          <p:cNvSpPr>
            <a:spLocks xmlns:a="http://schemas.openxmlformats.org/drawingml/2006/main" noGrp="1"/>
          </p:cNvSpPr>
          <p:nvPr/>
        </p:nvSpPr>
        <p:spPr>
          <a:xfrm xmlns:a="http://schemas.openxmlformats.org/drawingml/2006/main">
            <a:off x="457200" y="2571750"/>
            <a:ext cx="4126230" cy="609600"/>
          </a:xfrm>
          <a:prstGeom xmlns:a="http://schemas.openxmlformats.org/drawingml/2006/main" prst="roundRect">
            <a:avLst>
              <a:gd name="adj" fmla="val 18750"/>
            </a:avLst>
          </a:prstGeom>
          <a:solidFill xmlns:a="http://schemas.openxmlformats.org/drawingml/2006/main">
            <a:srgbClr val="315F9F"/>
          </a:solidFill>
          <a:ln xmlns:a="http://schemas.openxmlformats.org/drawingml/2006/main" w="9525">
            <a:solidFill>
              <a:srgbClr val="315F9F"/>
            </a:solidFill>
            <a:prstDash val="solid"/>
          </a:ln>
        </p:spPr>
      </p:sp>
      <p:sp>
        <p:nvSpPr>
          <p:cNvPr id="9" name="">
            <a:extLst xmlns:a="http://schemas.openxmlformats.org/drawingml/2006/main">
              <a:ext uri="{FF2B5EF4-FFF2-40B4-BE49-F238E27FC236}">
                <a16:creationId xmlns:a16="http://schemas.microsoft.com/office/drawing/2014/main" id="{2C3E8CC8-CCA6-49D6-97DA-BBF21F281A47}"/>
              </a:ext>
            </a:extLst>
          </p:cNvPr>
          <p:cNvSpPr>
            <a:spLocks xmlns:a="http://schemas.openxmlformats.org/drawingml/2006/main" noGrp="1"/>
          </p:cNvSpPr>
          <p:nvPr/>
        </p:nvSpPr>
        <p:spPr>
          <a:xfrm xmlns:a="http://schemas.openxmlformats.org/drawingml/2006/main">
            <a:off x="590550" y="2752725"/>
            <a:ext cx="385953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1">
                <a:solidFill>
                  <a:srgbClr val="FFFFFF"/>
                </a:solidFill>
                <a:latin typeface="Helvetica Neue"/>
                <a:ea typeface="Helvetica Neue"/>
                <a:cs typeface="Helvetica Neue"/>
              </a:defRPr>
            </a:pPr>
            <a:r>
              <a:rPr sz="1275" b="1">
                <a:solidFill>
                  <a:srgbClr val="FFFFFF"/>
                </a:solidFill>
                <a:latin typeface="Helvetica Neue"/>
                <a:ea typeface="Helvetica Neue"/>
                <a:cs typeface="Helvetica Neue"/>
              </a:rPr>
              <a:t>38% exact words</a:t>
            </a:r>
          </a:p>
        </p:txBody>
      </p:sp>
      <p:sp>
        <p:nvSpPr>
          <p:cNvPr id="10" name="">
            <a:extLst xmlns:a="http://schemas.openxmlformats.org/drawingml/2006/main">
              <a:ext uri="{FF2B5EF4-FFF2-40B4-BE49-F238E27FC236}">
                <a16:creationId xmlns:a16="http://schemas.microsoft.com/office/drawing/2014/main" id="{22F32024-CCDE-4A69-A872-D68433E8802F}"/>
              </a:ext>
            </a:extLst>
          </p:cNvPr>
          <p:cNvSpPr>
            <a:spLocks xmlns:a="http://schemas.openxmlformats.org/drawingml/2006/main" noGrp="1"/>
          </p:cNvSpPr>
          <p:nvPr/>
        </p:nvSpPr>
        <p:spPr>
          <a:xfrm xmlns:a="http://schemas.openxmlformats.org/drawingml/2006/main">
            <a:off x="4583430" y="2571750"/>
            <a:ext cx="3474720" cy="609600"/>
          </a:xfrm>
          <a:prstGeom xmlns:a="http://schemas.openxmlformats.org/drawingml/2006/main" prst="rect">
            <a:avLst/>
          </a:prstGeom>
          <a:solidFill xmlns:a="http://schemas.openxmlformats.org/drawingml/2006/main">
            <a:srgbClr val="5D7FB4"/>
          </a:solidFill>
          <a:ln xmlns:a="http://schemas.openxmlformats.org/drawingml/2006/main" w="9525">
            <a:solidFill>
              <a:srgbClr val="5D7FB4"/>
            </a:solidFill>
            <a:prstDash val="solid"/>
          </a:ln>
        </p:spPr>
      </p:sp>
      <p:sp>
        <p:nvSpPr>
          <p:cNvPr id="11" name="">
            <a:extLst xmlns:a="http://schemas.openxmlformats.org/drawingml/2006/main">
              <a:ext uri="{FF2B5EF4-FFF2-40B4-BE49-F238E27FC236}">
                <a16:creationId xmlns:a16="http://schemas.microsoft.com/office/drawing/2014/main" id="{9F5438B9-9529-4C62-90D6-A01B05E1FDB3}"/>
              </a:ext>
            </a:extLst>
          </p:cNvPr>
          <p:cNvSpPr>
            <a:spLocks xmlns:a="http://schemas.openxmlformats.org/drawingml/2006/main" noGrp="1"/>
          </p:cNvSpPr>
          <p:nvPr/>
        </p:nvSpPr>
        <p:spPr>
          <a:xfrm xmlns:a="http://schemas.openxmlformats.org/drawingml/2006/main">
            <a:off x="4716780" y="2752725"/>
            <a:ext cx="320802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1">
                <a:solidFill>
                  <a:srgbClr val="FFFFFF"/>
                </a:solidFill>
                <a:latin typeface="Helvetica Neue"/>
                <a:ea typeface="Helvetica Neue"/>
                <a:cs typeface="Helvetica Neue"/>
              </a:defRPr>
            </a:pPr>
            <a:r>
              <a:rPr sz="1275" b="1">
                <a:solidFill>
                  <a:srgbClr val="FFFFFF"/>
                </a:solidFill>
                <a:latin typeface="Helvetica Neue"/>
                <a:ea typeface="Helvetica Neue"/>
                <a:cs typeface="Helvetica Neue"/>
              </a:rPr>
              <a:t>32% similar ideas</a:t>
            </a:r>
          </a:p>
        </p:txBody>
      </p:sp>
      <p:sp>
        <p:nvSpPr>
          <p:cNvPr id="12" name="">
            <a:extLst xmlns:a="http://schemas.openxmlformats.org/drawingml/2006/main">
              <a:ext uri="{FF2B5EF4-FFF2-40B4-BE49-F238E27FC236}">
                <a16:creationId xmlns:a16="http://schemas.microsoft.com/office/drawing/2014/main" id="{3FAAD332-FB8A-45D8-AF79-C4D38169E663}"/>
              </a:ext>
            </a:extLst>
          </p:cNvPr>
          <p:cNvSpPr>
            <a:spLocks xmlns:a="http://schemas.openxmlformats.org/drawingml/2006/main" noGrp="1"/>
          </p:cNvSpPr>
          <p:nvPr/>
        </p:nvSpPr>
        <p:spPr>
          <a:xfrm xmlns:a="http://schemas.openxmlformats.org/drawingml/2006/main">
            <a:off x="8058150" y="2571750"/>
            <a:ext cx="2171700" cy="609600"/>
          </a:xfrm>
          <a:prstGeom xmlns:a="http://schemas.openxmlformats.org/drawingml/2006/main" prst="rect">
            <a:avLst/>
          </a:prstGeom>
          <a:solidFill xmlns:a="http://schemas.openxmlformats.org/drawingml/2006/main">
            <a:srgbClr val="9CB5D5"/>
          </a:solidFill>
          <a:ln xmlns:a="http://schemas.openxmlformats.org/drawingml/2006/main" w="9525">
            <a:solidFill>
              <a:srgbClr val="9CB5D5"/>
            </a:solidFill>
            <a:prstDash val="solid"/>
          </a:ln>
        </p:spPr>
      </p:sp>
      <p:sp>
        <p:nvSpPr>
          <p:cNvPr id="13" name="">
            <a:extLst xmlns:a="http://schemas.openxmlformats.org/drawingml/2006/main">
              <a:ext uri="{FF2B5EF4-FFF2-40B4-BE49-F238E27FC236}">
                <a16:creationId xmlns:a16="http://schemas.microsoft.com/office/drawing/2014/main" id="{B6263050-9BD4-42ED-8548-7DCC515DCB38}"/>
              </a:ext>
            </a:extLst>
          </p:cNvPr>
          <p:cNvSpPr>
            <a:spLocks xmlns:a="http://schemas.openxmlformats.org/drawingml/2006/main" noGrp="1"/>
          </p:cNvSpPr>
          <p:nvPr/>
        </p:nvSpPr>
        <p:spPr>
          <a:xfrm xmlns:a="http://schemas.openxmlformats.org/drawingml/2006/main">
            <a:off x="8191500" y="2752725"/>
            <a:ext cx="1905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1">
                <a:solidFill>
                  <a:srgbClr val="FFFFFF"/>
                </a:solidFill>
                <a:latin typeface="Helvetica Neue"/>
                <a:ea typeface="Helvetica Neue"/>
                <a:cs typeface="Helvetica Neue"/>
              </a:defRPr>
            </a:pPr>
            <a:r>
              <a:rPr sz="1275" b="1">
                <a:solidFill>
                  <a:srgbClr val="FFFFFF"/>
                </a:solidFill>
                <a:latin typeface="Helvetica Neue"/>
                <a:ea typeface="Helvetica Neue"/>
                <a:cs typeface="Helvetica Neue"/>
              </a:rPr>
              <a:t>20% trusted source</a:t>
            </a:r>
          </a:p>
        </p:txBody>
      </p:sp>
      <p:sp>
        <p:nvSpPr>
          <p:cNvPr id="14" name="">
            <a:extLst xmlns:a="http://schemas.openxmlformats.org/drawingml/2006/main">
              <a:ext uri="{FF2B5EF4-FFF2-40B4-BE49-F238E27FC236}">
                <a16:creationId xmlns:a16="http://schemas.microsoft.com/office/drawing/2014/main" id="{AFB91DBA-8369-4772-B211-7CBCCCC616CF}"/>
              </a:ext>
            </a:extLst>
          </p:cNvPr>
          <p:cNvSpPr>
            <a:spLocks xmlns:a="http://schemas.openxmlformats.org/drawingml/2006/main" noGrp="1"/>
          </p:cNvSpPr>
          <p:nvPr/>
        </p:nvSpPr>
        <p:spPr>
          <a:xfrm xmlns:a="http://schemas.openxmlformats.org/drawingml/2006/main">
            <a:off x="10229850" y="2571750"/>
            <a:ext cx="1085850" cy="609600"/>
          </a:xfrm>
          <a:prstGeom xmlns:a="http://schemas.openxmlformats.org/drawingml/2006/main" prst="roundRect">
            <a:avLst>
              <a:gd name="adj" fmla="val 18750"/>
            </a:avLst>
          </a:prstGeom>
          <a:solidFill xmlns:a="http://schemas.openxmlformats.org/drawingml/2006/main">
            <a:srgbClr val="D6DCE5"/>
          </a:solidFill>
          <a:ln xmlns:a="http://schemas.openxmlformats.org/drawingml/2006/main" w="9525">
            <a:solidFill>
              <a:srgbClr val="D6DCE5"/>
            </a:solidFill>
            <a:prstDash val="solid"/>
          </a:ln>
        </p:spPr>
      </p:sp>
      <p:sp>
        <p:nvSpPr>
          <p:cNvPr id="15" name="">
            <a:extLst xmlns:a="http://schemas.openxmlformats.org/drawingml/2006/main">
              <a:ext uri="{FF2B5EF4-FFF2-40B4-BE49-F238E27FC236}">
                <a16:creationId xmlns:a16="http://schemas.microsoft.com/office/drawing/2014/main" id="{7B2ABA78-9495-4518-B9AE-D0BB774A2CCE}"/>
              </a:ext>
            </a:extLst>
          </p:cNvPr>
          <p:cNvSpPr>
            <a:spLocks xmlns:a="http://schemas.openxmlformats.org/drawingml/2006/main" noGrp="1"/>
          </p:cNvSpPr>
          <p:nvPr/>
        </p:nvSpPr>
        <p:spPr>
          <a:xfrm xmlns:a="http://schemas.openxmlformats.org/drawingml/2006/main">
            <a:off x="10363200" y="2752725"/>
            <a:ext cx="8191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1111"/>
          </a:bodyPr>
          <a:lstStyle xmlns:a="http://schemas.openxmlformats.org/drawingml/2006/main"/>
          <a:p xmlns:a="http://schemas.openxmlformats.org/drawingml/2006/main">
            <a:pPr algn="l">
              <a:buNone/>
              <a:defRPr sz="1125" b="1">
                <a:solidFill>
                  <a:srgbClr val="344054"/>
                </a:solidFill>
                <a:latin typeface="Helvetica Neue"/>
                <a:ea typeface="Helvetica Neue"/>
                <a:cs typeface="Helvetica Neue"/>
              </a:defRPr>
            </a:pPr>
            <a:r>
              <a:rPr sz="1125" b="1">
                <a:solidFill>
                  <a:srgbClr val="344054"/>
                </a:solidFill>
                <a:latin typeface="Helvetica Neue"/>
                <a:ea typeface="Helvetica Neue"/>
                <a:cs typeface="Helvetica Neue"/>
              </a:rPr>
              <a:t>10% new</a:t>
            </a:r>
          </a:p>
        </p:txBody>
      </p:sp>
      <p:sp>
        <p:nvSpPr>
          <p:cNvPr id="16" name="">
            <a:extLst xmlns:a="http://schemas.openxmlformats.org/drawingml/2006/main">
              <a:ext uri="{FF2B5EF4-FFF2-40B4-BE49-F238E27FC236}">
                <a16:creationId xmlns:a16="http://schemas.microsoft.com/office/drawing/2014/main" id="{6E12BEB2-81A1-4327-BE0F-2D74CA69A28A}"/>
              </a:ext>
            </a:extLst>
          </p:cNvPr>
          <p:cNvSpPr>
            <a:spLocks xmlns:a="http://schemas.openxmlformats.org/drawingml/2006/main" noGrp="1"/>
          </p:cNvSpPr>
          <p:nvPr/>
        </p:nvSpPr>
        <p:spPr>
          <a:xfrm xmlns:a="http://schemas.openxmlformats.org/drawingml/2006/main">
            <a:off x="457200" y="3752850"/>
            <a:ext cx="3238500" cy="1428750"/>
          </a:xfrm>
          <a:prstGeom xmlns:a="http://schemas.openxmlformats.org/drawingml/2006/main" prst="roundRect">
            <a:avLst>
              <a:gd name="adj" fmla="val 10667"/>
            </a:avLst>
          </a:prstGeom>
          <a:solidFill xmlns:a="http://schemas.openxmlformats.org/drawingml/2006/main">
            <a:srgbClr val="FFFFFF"/>
          </a:solidFill>
          <a:ln xmlns:a="http://schemas.openxmlformats.org/drawingml/2006/main" w="9525">
            <a:solidFill>
              <a:srgbClr val="D0D5DD"/>
            </a:solidFill>
            <a:prstDash val="solid"/>
          </a:ln>
        </p:spPr>
      </p:sp>
      <p:sp>
        <p:nvSpPr>
          <p:cNvPr id="17" name="">
            <a:extLst xmlns:a="http://schemas.openxmlformats.org/drawingml/2006/main">
              <a:ext uri="{FF2B5EF4-FFF2-40B4-BE49-F238E27FC236}">
                <a16:creationId xmlns:a16="http://schemas.microsoft.com/office/drawing/2014/main" id="{6F28094B-8C55-4063-8D3E-235A3971E70B}"/>
              </a:ext>
            </a:extLst>
          </p:cNvPr>
          <p:cNvSpPr>
            <a:spLocks xmlns:a="http://schemas.openxmlformats.org/drawingml/2006/main" noGrp="1"/>
          </p:cNvSpPr>
          <p:nvPr/>
        </p:nvSpPr>
        <p:spPr>
          <a:xfrm xmlns:a="http://schemas.openxmlformats.org/drawingml/2006/main">
            <a:off x="628650" y="3914775"/>
            <a:ext cx="28956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702"/>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3 · Find evidence</a:t>
            </a:r>
          </a:p>
        </p:txBody>
      </p:sp>
      <p:sp>
        <p:nvSpPr>
          <p:cNvPr id="18" name="">
            <a:extLst xmlns:a="http://schemas.openxmlformats.org/drawingml/2006/main">
              <a:ext uri="{FF2B5EF4-FFF2-40B4-BE49-F238E27FC236}">
                <a16:creationId xmlns:a16="http://schemas.microsoft.com/office/drawing/2014/main" id="{B301117F-06AB-4930-9793-34F42BB7C983}"/>
              </a:ext>
            </a:extLst>
          </p:cNvPr>
          <p:cNvSpPr>
            <a:spLocks xmlns:a="http://schemas.openxmlformats.org/drawingml/2006/main" noGrp="1"/>
          </p:cNvSpPr>
          <p:nvPr/>
        </p:nvSpPr>
        <p:spPr>
          <a:xfrm xmlns:a="http://schemas.openxmlformats.org/drawingml/2006/main">
            <a:off x="628650" y="4276725"/>
            <a:ext cx="28956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Search the saved records.</a:t>
            </a:r>
          </a:p>
        </p:txBody>
      </p:sp>
      <p:sp>
        <p:nvSpPr>
          <p:cNvPr id="19" name="">
            <a:extLst xmlns:a="http://schemas.openxmlformats.org/drawingml/2006/main">
              <a:ext uri="{FF2B5EF4-FFF2-40B4-BE49-F238E27FC236}">
                <a16:creationId xmlns:a16="http://schemas.microsoft.com/office/drawing/2014/main" id="{4707DBAE-E5B4-49D8-99C6-9C5094A32B9A}"/>
              </a:ext>
            </a:extLst>
          </p:cNvPr>
          <p:cNvSpPr>
            <a:spLocks xmlns:a="http://schemas.openxmlformats.org/drawingml/2006/main" noGrp="1"/>
          </p:cNvSpPr>
          <p:nvPr/>
        </p:nvSpPr>
        <p:spPr>
          <a:xfrm xmlns:a="http://schemas.openxmlformats.org/drawingml/2006/main">
            <a:off x="4476750" y="3752850"/>
            <a:ext cx="3238500" cy="1428750"/>
          </a:xfrm>
          <a:prstGeom xmlns:a="http://schemas.openxmlformats.org/drawingml/2006/main" prst="roundRect">
            <a:avLst>
              <a:gd name="adj" fmla="val 10667"/>
            </a:avLst>
          </a:prstGeom>
          <a:solidFill xmlns:a="http://schemas.openxmlformats.org/drawingml/2006/main">
            <a:srgbClr val="E8F0FB"/>
          </a:solidFill>
          <a:ln xmlns:a="http://schemas.openxmlformats.org/drawingml/2006/main" w="9525">
            <a:solidFill>
              <a:srgbClr val="9CB5D5"/>
            </a:solidFill>
            <a:prstDash val="solid"/>
          </a:ln>
        </p:spPr>
      </p:sp>
      <p:sp>
        <p:nvSpPr>
          <p:cNvPr id="20" name="">
            <a:extLst xmlns:a="http://schemas.openxmlformats.org/drawingml/2006/main">
              <a:ext uri="{FF2B5EF4-FFF2-40B4-BE49-F238E27FC236}">
                <a16:creationId xmlns:a16="http://schemas.microsoft.com/office/drawing/2014/main" id="{38341F07-5F50-4A06-BE49-9E1DEA5D7C1D}"/>
              </a:ext>
            </a:extLst>
          </p:cNvPr>
          <p:cNvSpPr>
            <a:spLocks xmlns:a="http://schemas.openxmlformats.org/drawingml/2006/main" noGrp="1"/>
          </p:cNvSpPr>
          <p:nvPr/>
        </p:nvSpPr>
        <p:spPr>
          <a:xfrm xmlns:a="http://schemas.openxmlformats.org/drawingml/2006/main">
            <a:off x="4648200" y="3914775"/>
            <a:ext cx="28956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702"/>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4 · Write the brief</a:t>
            </a:r>
          </a:p>
        </p:txBody>
      </p:sp>
      <p:sp>
        <p:nvSpPr>
          <p:cNvPr id="21" name="">
            <a:extLst xmlns:a="http://schemas.openxmlformats.org/drawingml/2006/main">
              <a:ext uri="{FF2B5EF4-FFF2-40B4-BE49-F238E27FC236}">
                <a16:creationId xmlns:a16="http://schemas.microsoft.com/office/drawing/2014/main" id="{9A6B76A0-10C0-4C72-B936-2FEC9E21B3C2}"/>
              </a:ext>
            </a:extLst>
          </p:cNvPr>
          <p:cNvSpPr>
            <a:spLocks xmlns:a="http://schemas.openxmlformats.org/drawingml/2006/main" noGrp="1"/>
          </p:cNvSpPr>
          <p:nvPr/>
        </p:nvSpPr>
        <p:spPr>
          <a:xfrm xmlns:a="http://schemas.openxmlformats.org/drawingml/2006/main">
            <a:off x="4648200" y="4276725"/>
            <a:ext cx="28956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GPT-5.6 Sol uses only the evidence that Lens picked.</a:t>
            </a:r>
          </a:p>
        </p:txBody>
      </p:sp>
      <p:sp>
        <p:nvSpPr>
          <p:cNvPr id="22" name="">
            <a:extLst xmlns:a="http://schemas.openxmlformats.org/drawingml/2006/main">
              <a:ext uri="{FF2B5EF4-FFF2-40B4-BE49-F238E27FC236}">
                <a16:creationId xmlns:a16="http://schemas.microsoft.com/office/drawing/2014/main" id="{13F9AE88-C67A-42F1-9052-14B09CE3F03B}"/>
              </a:ext>
            </a:extLst>
          </p:cNvPr>
          <p:cNvSpPr>
            <a:spLocks xmlns:a="http://schemas.openxmlformats.org/drawingml/2006/main" noGrp="1"/>
          </p:cNvSpPr>
          <p:nvPr/>
        </p:nvSpPr>
        <p:spPr>
          <a:xfrm xmlns:a="http://schemas.openxmlformats.org/drawingml/2006/main">
            <a:off x="8496300" y="3752850"/>
            <a:ext cx="2819400" cy="1428750"/>
          </a:xfrm>
          <a:prstGeom xmlns:a="http://schemas.openxmlformats.org/drawingml/2006/main" prst="roundRect">
            <a:avLst>
              <a:gd name="adj" fmla="val 10667"/>
            </a:avLst>
          </a:prstGeom>
          <a:solidFill xmlns:a="http://schemas.openxmlformats.org/drawingml/2006/main">
            <a:srgbClr val="FFFFFF"/>
          </a:solidFill>
          <a:ln xmlns:a="http://schemas.openxmlformats.org/drawingml/2006/main" w="9525">
            <a:solidFill>
              <a:srgbClr val="D0D5DD"/>
            </a:solidFill>
            <a:prstDash val="solid"/>
          </a:ln>
        </p:spPr>
      </p:sp>
      <p:sp>
        <p:nvSpPr>
          <p:cNvPr id="23" name="">
            <a:extLst xmlns:a="http://schemas.openxmlformats.org/drawingml/2006/main">
              <a:ext uri="{FF2B5EF4-FFF2-40B4-BE49-F238E27FC236}">
                <a16:creationId xmlns:a16="http://schemas.microsoft.com/office/drawing/2014/main" id="{C8D596B8-64D7-45EE-AD73-5E2E2B7F9756}"/>
              </a:ext>
            </a:extLst>
          </p:cNvPr>
          <p:cNvSpPr>
            <a:spLocks xmlns:a="http://schemas.openxmlformats.org/drawingml/2006/main" noGrp="1"/>
          </p:cNvSpPr>
          <p:nvPr/>
        </p:nvSpPr>
        <p:spPr>
          <a:xfrm xmlns:a="http://schemas.openxmlformats.org/drawingml/2006/main">
            <a:off x="8667750" y="3914775"/>
            <a:ext cx="2476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702"/>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5 · Check the brief</a:t>
            </a:r>
          </a:p>
        </p:txBody>
      </p:sp>
      <p:sp>
        <p:nvSpPr>
          <p:cNvPr id="24" name="">
            <a:extLst xmlns:a="http://schemas.openxmlformats.org/drawingml/2006/main">
              <a:ext uri="{FF2B5EF4-FFF2-40B4-BE49-F238E27FC236}">
                <a16:creationId xmlns:a16="http://schemas.microsoft.com/office/drawing/2014/main" id="{B1B08F32-E59B-419A-9536-8E9418BA35D1}"/>
              </a:ext>
            </a:extLst>
          </p:cNvPr>
          <p:cNvSpPr>
            <a:spLocks xmlns:a="http://schemas.openxmlformats.org/drawingml/2006/main" noGrp="1"/>
          </p:cNvSpPr>
          <p:nvPr/>
        </p:nvSpPr>
        <p:spPr>
          <a:xfrm xmlns:a="http://schemas.openxmlformats.org/drawingml/2006/main">
            <a:off x="8667750" y="4276725"/>
            <a:ext cx="2476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Check the sources.</a:t>
            </a:r>
          </a:p>
          <a:p xmlns:a="http://schemas.openxmlformats.org/drawingml/2006/main">
            <a:pPr algn="l">
              <a:buNone/>
              <a:defRPr sz="112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Check the numbers.</a:t>
            </a:r>
          </a:p>
          <a:p xmlns:a="http://schemas.openxmlformats.org/drawingml/2006/main">
            <a:pPr algn="l">
              <a:buNone/>
              <a:defRPr sz="112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Save the brief.</a:t>
            </a:r>
          </a:p>
        </p:txBody>
      </p:sp>
      <p:cxnSp>
        <p:nvCxnSpPr>
          <p:cNvPr id="599" name=""/>
          <p:cNvCxnSpPr>
            <a:stCxn xmlns:a="http://schemas.openxmlformats.org/drawingml/2006/main" id="16" idx="3"/>
            <a:endCxn xmlns:a="http://schemas.openxmlformats.org/drawingml/2006/main" id="19" idx="1"/>
          </p:cNvCxnSpPr>
          <p:nvPr/>
        </p:nvCxnSpPr>
        <p:spPr>
          <a:xfrm xmlns:a="http://schemas.openxmlformats.org/drawingml/2006/main">
            <a:off x="3695700" y="4467225"/>
            <a:ext cx="781050" cy="0"/>
          </a:xfrm>
          <a:prstGeom xmlns:a="http://schemas.openxmlformats.org/drawingml/2006/main" prst="straightConnector1">
            <a:avLst/>
          </a:prstGeom>
          <a:ln xmlns:a="http://schemas.openxmlformats.org/drawingml/2006/main" w="19050">
            <a:solidFill>
              <a:srgbClr val="5D7FB4"/>
            </a:solidFill>
            <a:prstDash val="solid"/>
            <a:tailEnd type="triangle" w="sm" len="sm"/>
          </a:ln>
        </p:spPr>
      </p:cxnSp>
      <p:cxnSp>
        <p:nvCxnSpPr>
          <p:cNvPr id="600" name=""/>
          <p:cNvCxnSpPr>
            <a:stCxn xmlns:a="http://schemas.openxmlformats.org/drawingml/2006/main" id="19" idx="3"/>
            <a:endCxn xmlns:a="http://schemas.openxmlformats.org/drawingml/2006/main" id="22" idx="1"/>
          </p:cNvCxnSpPr>
          <p:nvPr/>
        </p:nvCxnSpPr>
        <p:spPr>
          <a:xfrm xmlns:a="http://schemas.openxmlformats.org/drawingml/2006/main">
            <a:off x="7715250" y="4467225"/>
            <a:ext cx="781050" cy="0"/>
          </a:xfrm>
          <a:prstGeom xmlns:a="http://schemas.openxmlformats.org/drawingml/2006/main" prst="straightConnector1">
            <a:avLst/>
          </a:prstGeom>
          <a:ln xmlns:a="http://schemas.openxmlformats.org/drawingml/2006/main" w="19050">
            <a:solidFill>
              <a:srgbClr val="5D7FB4"/>
            </a:solidFill>
            <a:prstDash val="solid"/>
            <a:tailEnd type="triangle" w="sm" len="sm"/>
          </a:ln>
        </p:spPr>
      </p:cxnSp>
      <p:sp>
        <p:nvSpPr>
          <p:cNvPr id="27" name="">
            <a:extLst xmlns:a="http://schemas.openxmlformats.org/drawingml/2006/main">
              <a:ext uri="{FF2B5EF4-FFF2-40B4-BE49-F238E27FC236}">
                <a16:creationId xmlns:a16="http://schemas.microsoft.com/office/drawing/2014/main" id="{32C6DBDE-9250-4AA7-B2D3-2956A6438C49}"/>
              </a:ext>
            </a:extLst>
          </p:cNvPr>
          <p:cNvSpPr>
            <a:spLocks xmlns:a="http://schemas.openxmlformats.org/drawingml/2006/main" noGrp="1"/>
          </p:cNvSpPr>
          <p:nvPr/>
        </p:nvSpPr>
        <p:spPr>
          <a:xfrm xmlns:a="http://schemas.openxmlformats.org/drawingml/2006/main">
            <a:off x="457200" y="5524500"/>
            <a:ext cx="7620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344054"/>
                </a:solidFill>
                <a:latin typeface="Helvetica Neue"/>
                <a:ea typeface="Helvetica Neue"/>
                <a:cs typeface="Helvetica Neue"/>
              </a:defRPr>
            </a:pPr>
            <a:r>
              <a:rPr sz="1275" b="1">
                <a:solidFill>
                  <a:srgbClr val="344054"/>
                </a:solidFill>
                <a:latin typeface="Helvetica Neue"/>
                <a:ea typeface="Helvetica Neue"/>
                <a:cs typeface="Helvetica Neue"/>
              </a:rPr>
              <a:t>LENS V1: Uses words, meaning, source trust, and new information to pick evidence.</a:t>
            </a:r>
          </a:p>
        </p:txBody>
      </p:sp>
      <p:sp>
        <p:nvSpPr>
          <p:cNvPr id="28" name="">
            <a:extLst xmlns:a="http://schemas.openxmlformats.org/drawingml/2006/main">
              <a:ext uri="{FF2B5EF4-FFF2-40B4-BE49-F238E27FC236}">
                <a16:creationId xmlns:a16="http://schemas.microsoft.com/office/drawing/2014/main" id="{935DB09F-6ADD-408F-B1D4-C5857C900A7A}"/>
              </a:ext>
            </a:extLst>
          </p:cNvPr>
          <p:cNvSpPr>
            <a:spLocks xmlns:a="http://schemas.openxmlformats.org/drawingml/2006/main" noGrp="1"/>
          </p:cNvSpPr>
          <p:nvPr/>
        </p:nvSpPr>
        <p:spPr>
          <a:xfrm xmlns:a="http://schemas.openxmlformats.org/drawingml/2006/main">
            <a:off x="457200" y="5810250"/>
            <a:ext cx="7620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417"/>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BACKUP: If the AI draft fails a check, simple local rules create the brief.</a:t>
            </a:r>
          </a:p>
        </p:txBody>
      </p:sp>
    </p:spTree>
    <p:extLst>
      <p:ext uri="{BB962C8B-B14F-4D97-AF65-F5344CB8AC3E}">
        <p14:creationId xmlns:p14="http://schemas.microsoft.com/office/powerpoint/2010/main" val="1114133193"/>
      </p:ext>
    </p:extLst>
  </p:cSld>
</p:sld>
</file>

<file path=ppt/slides/slide6.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11B61CF6-96B9-4010-86E0-F685F3D94FCB}"/>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2550" b="1">
                <a:solidFill>
                  <a:srgbClr val="101828"/>
                </a:solidFill>
                <a:latin typeface="Helvetica Neue"/>
                <a:ea typeface="Helvetica Neue"/>
                <a:cs typeface="Helvetica Neue"/>
              </a:rPr>
              <a:t>Which stack runs Lens today?</a:t>
            </a:r>
          </a:p>
        </p:txBody>
      </p:sp>
      <p:sp>
        <p:nvSpPr>
          <p:cNvPr id="2" name="">
            <a:extLst xmlns:a="http://schemas.openxmlformats.org/drawingml/2006/main">
              <a:ext uri="{FF2B5EF4-FFF2-40B4-BE49-F238E27FC236}">
                <a16:creationId xmlns:a16="http://schemas.microsoft.com/office/drawing/2014/main" id="{7D9C5C2F-6C9D-4161-8CD3-13E090AC468D}"/>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9600F930-A327-4D42-B3AC-B4690BAC588C}"/>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06</a:t>
            </a:r>
          </a:p>
        </p:txBody>
      </p:sp>
      <p:sp>
        <p:nvSpPr>
          <p:cNvPr id="4" name="">
            <a:extLst xmlns:a="http://schemas.openxmlformats.org/drawingml/2006/main">
              <a:ext uri="{FF2B5EF4-FFF2-40B4-BE49-F238E27FC236}">
                <a16:creationId xmlns:a16="http://schemas.microsoft.com/office/drawing/2014/main" id="{8FE6BFC8-F410-4A84-9798-3C4E13160A16}"/>
              </a:ext>
            </a:extLst>
          </p:cNvPr>
          <p:cNvSpPr>
            <a:spLocks xmlns:a="http://schemas.openxmlformats.org/drawingml/2006/main" noGrp="1"/>
          </p:cNvSpPr>
          <p:nvPr/>
        </p:nvSpPr>
        <p:spPr>
          <a:xfrm xmlns:a="http://schemas.openxmlformats.org/drawingml/2006/main">
            <a:off x="457200" y="1466850"/>
            <a:ext cx="2476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TECHNOLOGY</a:t>
            </a:r>
          </a:p>
        </p:txBody>
      </p:sp>
      <p:sp>
        <p:nvSpPr>
          <p:cNvPr id="5" name="">
            <a:extLst xmlns:a="http://schemas.openxmlformats.org/drawingml/2006/main">
              <a:ext uri="{FF2B5EF4-FFF2-40B4-BE49-F238E27FC236}">
                <a16:creationId xmlns:a16="http://schemas.microsoft.com/office/drawing/2014/main" id="{7F4CD62E-8C04-4F26-9606-CF238E6B5EFC}"/>
              </a:ext>
            </a:extLst>
          </p:cNvPr>
          <p:cNvSpPr>
            <a:spLocks xmlns:a="http://schemas.openxmlformats.org/drawingml/2006/main" noGrp="1"/>
          </p:cNvSpPr>
          <p:nvPr/>
        </p:nvSpPr>
        <p:spPr>
          <a:xfrm xmlns:a="http://schemas.openxmlformats.org/drawingml/2006/main">
            <a:off x="3333750" y="1466850"/>
            <a:ext cx="79819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ROLE IN LENS</a:t>
            </a:r>
          </a:p>
        </p:txBody>
      </p:sp>
      <p:sp>
        <p:nvSpPr>
          <p:cNvPr id="7" name="">
            <a:extLst xmlns:a="http://schemas.openxmlformats.org/drawingml/2006/main">
              <a:ext uri="{FF2B5EF4-FFF2-40B4-BE49-F238E27FC236}">
                <a16:creationId xmlns:a16="http://schemas.microsoft.com/office/drawing/2014/main" id="{7B495C59-B79D-4705-8DC0-ABF561EA71FE}"/>
              </a:ext>
            </a:extLst>
          </p:cNvPr>
          <p:cNvSpPr>
            <a:spLocks xmlns:a="http://schemas.openxmlformats.org/drawingml/2006/main" noGrp="1"/>
          </p:cNvSpPr>
          <p:nvPr/>
        </p:nvSpPr>
        <p:spPr>
          <a:xfrm xmlns:a="http://schemas.openxmlformats.org/drawingml/2006/main">
            <a:off x="457200" y="1809750"/>
            <a:ext cx="10858500" cy="876300"/>
          </a:xfrm>
          <a:prstGeom xmlns:a="http://schemas.openxmlformats.org/drawingml/2006/main" prst="roundRect">
            <a:avLst>
              <a:gd name="adj" fmla="val 13043"/>
            </a:avLst>
          </a:prstGeom>
          <a:solidFill xmlns:a="http://schemas.openxmlformats.org/drawingml/2006/main">
            <a:srgbClr val="FFFFFF"/>
          </a:solidFill>
          <a:ln xmlns:a="http://schemas.openxmlformats.org/drawingml/2006/main" w="9525">
            <a:solidFill>
              <a:srgbClr val="D0D5DD"/>
            </a:solidFill>
            <a:prstDash val="solid"/>
          </a:ln>
        </p:spPr>
      </p:sp>
      <p:sp>
        <p:nvSpPr>
          <p:cNvPr id="8" name="">
            <a:extLst xmlns:a="http://schemas.openxmlformats.org/drawingml/2006/main">
              <a:ext uri="{FF2B5EF4-FFF2-40B4-BE49-F238E27FC236}">
                <a16:creationId xmlns:a16="http://schemas.microsoft.com/office/drawing/2014/main" id="{EC69FB3E-B8A8-4D49-ACC4-AD76F61A27CC}"/>
              </a:ext>
            </a:extLst>
          </p:cNvPr>
          <p:cNvSpPr>
            <a:spLocks xmlns:a="http://schemas.openxmlformats.org/drawingml/2006/main" noGrp="1"/>
          </p:cNvSpPr>
          <p:nvPr/>
        </p:nvSpPr>
        <p:spPr>
          <a:xfrm xmlns:a="http://schemas.openxmlformats.org/drawingml/2006/main">
            <a:off x="628650" y="1971675"/>
            <a:ext cx="2476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1">
                <a:solidFill>
                  <a:srgbClr val="101828"/>
                </a:solidFill>
                <a:latin typeface="Helvetica Neue"/>
                <a:ea typeface="Helvetica Neue"/>
                <a:cs typeface="Helvetica Neue"/>
              </a:defRPr>
            </a:pPr>
            <a:r>
              <a:rPr sz="1275" b="1">
                <a:solidFill>
                  <a:srgbClr val="101828"/>
                </a:solidFill>
                <a:latin typeface="Helvetica Neue"/>
                <a:ea typeface="Helvetica Neue"/>
                <a:cs typeface="Helvetica Neue"/>
              </a:rPr>
              <a:t>Next.js, React, TypeScript, and Shadcn</a:t>
            </a:r>
          </a:p>
        </p:txBody>
      </p:sp>
      <p:sp>
        <p:nvSpPr>
          <p:cNvPr id="9" name="">
            <a:extLst xmlns:a="http://schemas.openxmlformats.org/drawingml/2006/main">
              <a:ext uri="{FF2B5EF4-FFF2-40B4-BE49-F238E27FC236}">
                <a16:creationId xmlns:a16="http://schemas.microsoft.com/office/drawing/2014/main" id="{E307D8A2-A73D-48D0-83AA-5127647BCBD8}"/>
              </a:ext>
            </a:extLst>
          </p:cNvPr>
          <p:cNvSpPr>
            <a:spLocks xmlns:a="http://schemas.openxmlformats.org/drawingml/2006/main" noGrp="1"/>
          </p:cNvSpPr>
          <p:nvPr/>
        </p:nvSpPr>
        <p:spPr>
          <a:xfrm xmlns:a="http://schemas.openxmlformats.org/drawingml/2006/main">
            <a:off x="3333750" y="1971675"/>
            <a:ext cx="77343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Serves the interface, API routes, evidence views, and feedback.</a:t>
            </a:r>
          </a:p>
        </p:txBody>
      </p:sp>
      <p:sp>
        <p:nvSpPr>
          <p:cNvPr id="11" name="">
            <a:extLst xmlns:a="http://schemas.openxmlformats.org/drawingml/2006/main">
              <a:ext uri="{FF2B5EF4-FFF2-40B4-BE49-F238E27FC236}">
                <a16:creationId xmlns:a16="http://schemas.microsoft.com/office/drawing/2014/main" id="{38DE38FC-42AC-41E0-A6D8-61A4AA3E9D2B}"/>
              </a:ext>
            </a:extLst>
          </p:cNvPr>
          <p:cNvSpPr>
            <a:spLocks xmlns:a="http://schemas.openxmlformats.org/drawingml/2006/main" noGrp="1"/>
          </p:cNvSpPr>
          <p:nvPr/>
        </p:nvSpPr>
        <p:spPr>
          <a:xfrm xmlns:a="http://schemas.openxmlformats.org/drawingml/2006/main">
            <a:off x="457200" y="2838450"/>
            <a:ext cx="10858500" cy="876300"/>
          </a:xfrm>
          <a:prstGeom xmlns:a="http://schemas.openxmlformats.org/drawingml/2006/main" prst="roundRect">
            <a:avLst>
              <a:gd name="adj" fmla="val 13043"/>
            </a:avLst>
          </a:prstGeom>
          <a:solidFill xmlns:a="http://schemas.openxmlformats.org/drawingml/2006/main">
            <a:srgbClr val="F2F4F7"/>
          </a:solidFill>
          <a:ln xmlns:a="http://schemas.openxmlformats.org/drawingml/2006/main" w="9525">
            <a:solidFill>
              <a:srgbClr val="D0D5DD"/>
            </a:solidFill>
            <a:prstDash val="solid"/>
          </a:ln>
        </p:spPr>
      </p:sp>
      <p:sp>
        <p:nvSpPr>
          <p:cNvPr id="12" name="">
            <a:extLst xmlns:a="http://schemas.openxmlformats.org/drawingml/2006/main">
              <a:ext uri="{FF2B5EF4-FFF2-40B4-BE49-F238E27FC236}">
                <a16:creationId xmlns:a16="http://schemas.microsoft.com/office/drawing/2014/main" id="{142B5CD3-C553-481E-9C26-C13B5B4631BC}"/>
              </a:ext>
            </a:extLst>
          </p:cNvPr>
          <p:cNvSpPr>
            <a:spLocks xmlns:a="http://schemas.openxmlformats.org/drawingml/2006/main" noGrp="1"/>
          </p:cNvSpPr>
          <p:nvPr/>
        </p:nvSpPr>
        <p:spPr>
          <a:xfrm xmlns:a="http://schemas.openxmlformats.org/drawingml/2006/main">
            <a:off x="628650" y="3000375"/>
            <a:ext cx="2476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1">
                <a:solidFill>
                  <a:srgbClr val="101828"/>
                </a:solidFill>
                <a:latin typeface="Helvetica Neue"/>
                <a:ea typeface="Helvetica Neue"/>
                <a:cs typeface="Helvetica Neue"/>
              </a:defRPr>
            </a:pPr>
            <a:r>
              <a:rPr sz="1275" b="1">
                <a:solidFill>
                  <a:srgbClr val="101828"/>
                </a:solidFill>
                <a:latin typeface="Helvetica Neue"/>
                <a:ea typeface="Helvetica Neue"/>
                <a:cs typeface="Helvetica Neue"/>
              </a:rPr>
              <a:t>PostgreSQL 17 and pgvector</a:t>
            </a:r>
          </a:p>
        </p:txBody>
      </p:sp>
      <p:sp>
        <p:nvSpPr>
          <p:cNvPr id="13" name="">
            <a:extLst xmlns:a="http://schemas.openxmlformats.org/drawingml/2006/main">
              <a:ext uri="{FF2B5EF4-FFF2-40B4-BE49-F238E27FC236}">
                <a16:creationId xmlns:a16="http://schemas.microsoft.com/office/drawing/2014/main" id="{396A0E06-95B2-41D7-B971-71C0C0FF5E81}"/>
              </a:ext>
            </a:extLst>
          </p:cNvPr>
          <p:cNvSpPr>
            <a:spLocks xmlns:a="http://schemas.openxmlformats.org/drawingml/2006/main" noGrp="1"/>
          </p:cNvSpPr>
          <p:nvPr/>
        </p:nvSpPr>
        <p:spPr>
          <a:xfrm xmlns:a="http://schemas.openxmlformats.org/drawingml/2006/main">
            <a:off x="3333750" y="3000375"/>
            <a:ext cx="77343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Stores evidence, embeddings, brief audit data, and feedback.</a:t>
            </a:r>
          </a:p>
        </p:txBody>
      </p:sp>
      <p:sp>
        <p:nvSpPr>
          <p:cNvPr id="15" name="">
            <a:extLst xmlns:a="http://schemas.openxmlformats.org/drawingml/2006/main">
              <a:ext uri="{FF2B5EF4-FFF2-40B4-BE49-F238E27FC236}">
                <a16:creationId xmlns:a16="http://schemas.microsoft.com/office/drawing/2014/main" id="{AEEC5BFB-FF21-41F2-9BF1-F8473C9BF235}"/>
              </a:ext>
            </a:extLst>
          </p:cNvPr>
          <p:cNvSpPr>
            <a:spLocks xmlns:a="http://schemas.openxmlformats.org/drawingml/2006/main" noGrp="1"/>
          </p:cNvSpPr>
          <p:nvPr/>
        </p:nvSpPr>
        <p:spPr>
          <a:xfrm xmlns:a="http://schemas.openxmlformats.org/drawingml/2006/main">
            <a:off x="457200" y="3867150"/>
            <a:ext cx="10858500" cy="876300"/>
          </a:xfrm>
          <a:prstGeom xmlns:a="http://schemas.openxmlformats.org/drawingml/2006/main" prst="roundRect">
            <a:avLst>
              <a:gd name="adj" fmla="val 13043"/>
            </a:avLst>
          </a:prstGeom>
          <a:solidFill xmlns:a="http://schemas.openxmlformats.org/drawingml/2006/main">
            <a:srgbClr val="FFFFFF"/>
          </a:solidFill>
          <a:ln xmlns:a="http://schemas.openxmlformats.org/drawingml/2006/main" w="9525">
            <a:solidFill>
              <a:srgbClr val="D0D5DD"/>
            </a:solidFill>
            <a:prstDash val="solid"/>
          </a:ln>
        </p:spPr>
      </p:sp>
      <p:sp>
        <p:nvSpPr>
          <p:cNvPr id="16" name="">
            <a:extLst xmlns:a="http://schemas.openxmlformats.org/drawingml/2006/main">
              <a:ext uri="{FF2B5EF4-FFF2-40B4-BE49-F238E27FC236}">
                <a16:creationId xmlns:a16="http://schemas.microsoft.com/office/drawing/2014/main" id="{ACE4786C-2CF3-4F87-A674-4A90F5B229EC}"/>
              </a:ext>
            </a:extLst>
          </p:cNvPr>
          <p:cNvSpPr>
            <a:spLocks xmlns:a="http://schemas.openxmlformats.org/drawingml/2006/main" noGrp="1"/>
          </p:cNvSpPr>
          <p:nvPr/>
        </p:nvSpPr>
        <p:spPr>
          <a:xfrm xmlns:a="http://schemas.openxmlformats.org/drawingml/2006/main">
            <a:off x="628650" y="4029075"/>
            <a:ext cx="2476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1">
                <a:solidFill>
                  <a:srgbClr val="101828"/>
                </a:solidFill>
                <a:latin typeface="Helvetica Neue"/>
                <a:ea typeface="Helvetica Neue"/>
                <a:cs typeface="Helvetica Neue"/>
              </a:defRPr>
            </a:pPr>
            <a:r>
              <a:rPr sz="1275" b="1">
                <a:solidFill>
                  <a:srgbClr val="101828"/>
                </a:solidFill>
                <a:latin typeface="Helvetica Neue"/>
                <a:ea typeface="Helvetica Neue"/>
                <a:cs typeface="Helvetica Neue"/>
              </a:rPr>
              <a:t>File adapters and local Docker</a:t>
            </a:r>
          </a:p>
        </p:txBody>
      </p:sp>
      <p:sp>
        <p:nvSpPr>
          <p:cNvPr id="17" name="">
            <a:extLst xmlns:a="http://schemas.openxmlformats.org/drawingml/2006/main">
              <a:ext uri="{FF2B5EF4-FFF2-40B4-BE49-F238E27FC236}">
                <a16:creationId xmlns:a16="http://schemas.microsoft.com/office/drawing/2014/main" id="{8743BD4F-5E47-4AC2-BD68-A72C07569491}"/>
              </a:ext>
            </a:extLst>
          </p:cNvPr>
          <p:cNvSpPr>
            <a:spLocks xmlns:a="http://schemas.openxmlformats.org/drawingml/2006/main" noGrp="1"/>
          </p:cNvSpPr>
          <p:nvPr/>
        </p:nvSpPr>
        <p:spPr>
          <a:xfrm xmlns:a="http://schemas.openxmlformats.org/drawingml/2006/main">
            <a:off x="3333750" y="4029075"/>
            <a:ext cx="77343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Imports the fictional source files and runs the local database.</a:t>
            </a:r>
          </a:p>
        </p:txBody>
      </p:sp>
      <p:sp>
        <p:nvSpPr>
          <p:cNvPr id="19" name="">
            <a:extLst xmlns:a="http://schemas.openxmlformats.org/drawingml/2006/main">
              <a:ext uri="{FF2B5EF4-FFF2-40B4-BE49-F238E27FC236}">
                <a16:creationId xmlns:a16="http://schemas.microsoft.com/office/drawing/2014/main" id="{C245F6B4-29EE-4FAF-8CED-C8CB5D03FD20}"/>
              </a:ext>
            </a:extLst>
          </p:cNvPr>
          <p:cNvSpPr>
            <a:spLocks xmlns:a="http://schemas.openxmlformats.org/drawingml/2006/main" noGrp="1"/>
          </p:cNvSpPr>
          <p:nvPr/>
        </p:nvSpPr>
        <p:spPr>
          <a:xfrm xmlns:a="http://schemas.openxmlformats.org/drawingml/2006/main">
            <a:off x="457200" y="4895850"/>
            <a:ext cx="10858500" cy="876300"/>
          </a:xfrm>
          <a:prstGeom xmlns:a="http://schemas.openxmlformats.org/drawingml/2006/main" prst="roundRect">
            <a:avLst>
              <a:gd name="adj" fmla="val 13043"/>
            </a:avLst>
          </a:prstGeom>
          <a:solidFill xmlns:a="http://schemas.openxmlformats.org/drawingml/2006/main">
            <a:srgbClr val="F2F4F7"/>
          </a:solidFill>
          <a:ln xmlns:a="http://schemas.openxmlformats.org/drawingml/2006/main" w="9525">
            <a:solidFill>
              <a:srgbClr val="D0D5DD"/>
            </a:solidFill>
            <a:prstDash val="solid"/>
          </a:ln>
        </p:spPr>
      </p:sp>
      <p:sp>
        <p:nvSpPr>
          <p:cNvPr id="20" name="">
            <a:extLst xmlns:a="http://schemas.openxmlformats.org/drawingml/2006/main">
              <a:ext uri="{FF2B5EF4-FFF2-40B4-BE49-F238E27FC236}">
                <a16:creationId xmlns:a16="http://schemas.microsoft.com/office/drawing/2014/main" id="{0D3A7A48-84E5-4A16-8618-B5949755C8FD}"/>
              </a:ext>
            </a:extLst>
          </p:cNvPr>
          <p:cNvSpPr>
            <a:spLocks xmlns:a="http://schemas.openxmlformats.org/drawingml/2006/main" noGrp="1"/>
          </p:cNvSpPr>
          <p:nvPr/>
        </p:nvSpPr>
        <p:spPr>
          <a:xfrm xmlns:a="http://schemas.openxmlformats.org/drawingml/2006/main">
            <a:off x="628650" y="5057775"/>
            <a:ext cx="2476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1">
                <a:solidFill>
                  <a:srgbClr val="101828"/>
                </a:solidFill>
                <a:latin typeface="Helvetica Neue"/>
                <a:ea typeface="Helvetica Neue"/>
                <a:cs typeface="Helvetica Neue"/>
              </a:defRPr>
            </a:pPr>
            <a:r>
              <a:rPr sz="1275" b="1">
                <a:solidFill>
                  <a:srgbClr val="101828"/>
                </a:solidFill>
                <a:latin typeface="Helvetica Neue"/>
                <a:ea typeface="Helvetica Neue"/>
                <a:cs typeface="Helvetica Neue"/>
              </a:rPr>
              <a:t>OpenAI (LLM)</a:t>
            </a:r>
          </a:p>
        </p:txBody>
      </p:sp>
      <p:sp>
        <p:nvSpPr>
          <p:cNvPr id="21" name="">
            <a:extLst xmlns:a="http://schemas.openxmlformats.org/drawingml/2006/main">
              <a:ext uri="{FF2B5EF4-FFF2-40B4-BE49-F238E27FC236}">
                <a16:creationId xmlns:a16="http://schemas.microsoft.com/office/drawing/2014/main" id="{73604F0C-EF44-422B-9768-10F27E619077}"/>
              </a:ext>
            </a:extLst>
          </p:cNvPr>
          <p:cNvSpPr>
            <a:spLocks xmlns:a="http://schemas.openxmlformats.org/drawingml/2006/main" noGrp="1"/>
          </p:cNvSpPr>
          <p:nvPr/>
        </p:nvSpPr>
        <p:spPr>
          <a:xfrm xmlns:a="http://schemas.openxmlformats.org/drawingml/2006/main">
            <a:off x="3333750" y="5057775"/>
            <a:ext cx="77343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Uses text-embedding-3-large to find evidence and gpt-5.6-sol to write the brief.</a:t>
            </a:r>
          </a:p>
        </p:txBody>
      </p:sp>
    </p:spTree>
    <p:extLst>
      <p:ext uri="{BB962C8B-B14F-4D97-AF65-F5344CB8AC3E}">
        <p14:creationId xmlns:p14="http://schemas.microsoft.com/office/powerpoint/2010/main" val="436145467"/>
      </p:ext>
    </p:extLst>
  </p:cSld>
</p:sld>
</file>

<file path=ppt/slides/slide7.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DCB3F631-F107-449F-8532-F0F6CF09ED9C}"/>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3000" b="1">
                <a:solidFill>
                  <a:srgbClr val="101828"/>
                </a:solidFill>
                <a:latin typeface="Helvetica Neue"/>
                <a:ea typeface="Helvetica Neue"/>
                <a:cs typeface="Helvetica Neue"/>
              </a:rPr>
              <a:t>How do I know Lens works?</a:t>
            </a:r>
          </a:p>
        </p:txBody>
      </p:sp>
      <p:sp>
        <p:nvSpPr>
          <p:cNvPr id="2" name="">
            <a:extLst xmlns:a="http://schemas.openxmlformats.org/drawingml/2006/main">
              <a:ext uri="{FF2B5EF4-FFF2-40B4-BE49-F238E27FC236}">
                <a16:creationId xmlns:a16="http://schemas.microsoft.com/office/drawing/2014/main" id="{FA2C5372-4CF1-4AE4-A3CD-4E138F754CA8}"/>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4839D6B0-80AA-4FCC-9C2D-6D215827FBA5}"/>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07</a:t>
            </a:r>
          </a:p>
        </p:txBody>
      </p:sp>
      <p:sp>
        <p:nvSpPr>
          <p:cNvPr id="4" name="">
            <a:extLst xmlns:a="http://schemas.openxmlformats.org/drawingml/2006/main">
              <a:ext uri="{FF2B5EF4-FFF2-40B4-BE49-F238E27FC236}">
                <a16:creationId xmlns:a16="http://schemas.microsoft.com/office/drawing/2014/main" id="{82E64302-6EE1-4371-AB23-0D77F5FE7F75}"/>
              </a:ext>
            </a:extLst>
          </p:cNvPr>
          <p:cNvSpPr>
            <a:spLocks xmlns:a="http://schemas.openxmlformats.org/drawingml/2006/main" noGrp="1"/>
          </p:cNvSpPr>
          <p:nvPr/>
        </p:nvSpPr>
        <p:spPr>
          <a:xfrm xmlns:a="http://schemas.openxmlformats.org/drawingml/2006/main">
            <a:off x="457200" y="1466850"/>
            <a:ext cx="10858500" cy="952500"/>
          </a:xfrm>
          <a:prstGeom xmlns:a="http://schemas.openxmlformats.org/drawingml/2006/main" prst="roundRect">
            <a:avLst>
              <a:gd name="adj" fmla="val 16000"/>
            </a:avLst>
          </a:prstGeom>
          <a:solidFill xmlns:a="http://schemas.openxmlformats.org/drawingml/2006/main">
            <a:srgbClr val="E8F0FB"/>
          </a:solidFill>
          <a:ln xmlns:a="http://schemas.openxmlformats.org/drawingml/2006/main" w="9525">
            <a:solidFill>
              <a:srgbClr val="9CB5D5"/>
            </a:solidFill>
            <a:prstDash val="solid"/>
          </a:ln>
        </p:spPr>
      </p:sp>
      <p:sp>
        <p:nvSpPr>
          <p:cNvPr id="5" name="">
            <a:extLst xmlns:a="http://schemas.openxmlformats.org/drawingml/2006/main">
              <a:ext uri="{FF2B5EF4-FFF2-40B4-BE49-F238E27FC236}">
                <a16:creationId xmlns:a16="http://schemas.microsoft.com/office/drawing/2014/main" id="{4A1BEC42-0504-4404-8738-11D6F8F404B8}"/>
              </a:ext>
            </a:extLst>
          </p:cNvPr>
          <p:cNvSpPr>
            <a:spLocks xmlns:a="http://schemas.openxmlformats.org/drawingml/2006/main" noGrp="1"/>
          </p:cNvSpPr>
          <p:nvPr/>
        </p:nvSpPr>
        <p:spPr>
          <a:xfrm xmlns:a="http://schemas.openxmlformats.org/drawingml/2006/main">
            <a:off x="685800" y="1657350"/>
            <a:ext cx="3333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588"/>
          </a:bodyPr>
          <a:lstStyle xmlns:a="http://schemas.openxmlformats.org/drawingml/2006/main"/>
          <a:p xmlns:a="http://schemas.openxmlformats.org/drawingml/2006/main">
            <a:pPr algn="l">
              <a:buNone/>
              <a:defRPr sz="1275" b="1">
                <a:solidFill>
                  <a:srgbClr val="315F9F"/>
                </a:solidFill>
                <a:latin typeface="Helvetica Neue"/>
                <a:ea typeface="Helvetica Neue"/>
                <a:cs typeface="Helvetica Neue"/>
              </a:defRPr>
            </a:pPr>
            <a:r>
              <a:rPr sz="1275" b="1">
                <a:solidFill>
                  <a:srgbClr val="315F9F"/>
                </a:solidFill>
                <a:latin typeface="Helvetica Neue"/>
                <a:ea typeface="Helvetica Neue"/>
                <a:cs typeface="Helvetica Neue"/>
              </a:rPr>
              <a:t>CURRENT RESULT</a:t>
            </a:r>
          </a:p>
        </p:txBody>
      </p:sp>
      <p:sp>
        <p:nvSpPr>
          <p:cNvPr id="6" name="">
            <a:extLst xmlns:a="http://schemas.openxmlformats.org/drawingml/2006/main">
              <a:ext uri="{FF2B5EF4-FFF2-40B4-BE49-F238E27FC236}">
                <a16:creationId xmlns:a16="http://schemas.microsoft.com/office/drawing/2014/main" id="{58AABA6B-7522-4752-984B-13A58F66327C}"/>
              </a:ext>
            </a:extLst>
          </p:cNvPr>
          <p:cNvSpPr>
            <a:spLocks xmlns:a="http://schemas.openxmlformats.org/drawingml/2006/main" noGrp="1"/>
          </p:cNvSpPr>
          <p:nvPr/>
        </p:nvSpPr>
        <p:spPr>
          <a:xfrm xmlns:a="http://schemas.openxmlformats.org/drawingml/2006/main">
            <a:off x="685800" y="1952625"/>
            <a:ext cx="10096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Lens passed 91 checks. Two AI briefs finished in 30 seconds or less.</a:t>
            </a:r>
          </a:p>
        </p:txBody>
      </p:sp>
      <p:sp>
        <p:nvSpPr>
          <p:cNvPr id="7" name="">
            <a:extLst xmlns:a="http://schemas.openxmlformats.org/drawingml/2006/main">
              <a:ext uri="{FF2B5EF4-FFF2-40B4-BE49-F238E27FC236}">
                <a16:creationId xmlns:a16="http://schemas.microsoft.com/office/drawing/2014/main" id="{B2253D5B-CB83-4217-B157-E169C1C86900}"/>
              </a:ext>
            </a:extLst>
          </p:cNvPr>
          <p:cNvSpPr>
            <a:spLocks xmlns:a="http://schemas.openxmlformats.org/drawingml/2006/main" noGrp="1"/>
          </p:cNvSpPr>
          <p:nvPr/>
        </p:nvSpPr>
        <p:spPr>
          <a:xfrm xmlns:a="http://schemas.openxmlformats.org/drawingml/2006/main">
            <a:off x="457200" y="2781300"/>
            <a:ext cx="2571750" cy="203835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0D5DD"/>
            </a:solidFill>
            <a:prstDash val="solid"/>
          </a:ln>
        </p:spPr>
      </p:sp>
      <p:sp>
        <p:nvSpPr>
          <p:cNvPr id="8" name="">
            <a:extLst xmlns:a="http://schemas.openxmlformats.org/drawingml/2006/main">
              <a:ext uri="{FF2B5EF4-FFF2-40B4-BE49-F238E27FC236}">
                <a16:creationId xmlns:a16="http://schemas.microsoft.com/office/drawing/2014/main" id="{9B98B8DF-CD87-4BEC-BD37-808E72CD6957}"/>
              </a:ext>
            </a:extLst>
          </p:cNvPr>
          <p:cNvSpPr>
            <a:spLocks xmlns:a="http://schemas.openxmlformats.org/drawingml/2006/main" noGrp="1"/>
          </p:cNvSpPr>
          <p:nvPr/>
        </p:nvSpPr>
        <p:spPr>
          <a:xfrm xmlns:a="http://schemas.openxmlformats.org/drawingml/2006/main">
            <a:off x="666750" y="300990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FIND THE RIGHT RECORDS</a:t>
            </a:r>
          </a:p>
        </p:txBody>
      </p:sp>
      <p:sp>
        <p:nvSpPr>
          <p:cNvPr id="9" name="">
            <a:extLst xmlns:a="http://schemas.openxmlformats.org/drawingml/2006/main">
              <a:ext uri="{FF2B5EF4-FFF2-40B4-BE49-F238E27FC236}">
                <a16:creationId xmlns:a16="http://schemas.microsoft.com/office/drawing/2014/main" id="{CCEE06AE-D800-407A-A0B0-2475AB3FC0AF}"/>
              </a:ext>
            </a:extLst>
          </p:cNvPr>
          <p:cNvSpPr>
            <a:spLocks xmlns:a="http://schemas.openxmlformats.org/drawingml/2006/main" noGrp="1"/>
          </p:cNvSpPr>
          <p:nvPr/>
        </p:nvSpPr>
        <p:spPr>
          <a:xfrm xmlns:a="http://schemas.openxmlformats.org/drawingml/2006/main">
            <a:off x="666750" y="3371850"/>
            <a:ext cx="21431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908"/>
          </a:bodyPr>
          <a:lstStyle xmlns:a="http://schemas.openxmlformats.org/drawingml/2006/main"/>
          <a:p xmlns:a="http://schemas.openxmlformats.org/drawingml/2006/main">
            <a:pPr algn="l">
              <a:buNone/>
              <a:defRPr sz="3525" b="1">
                <a:solidFill>
                  <a:srgbClr val="101828"/>
                </a:solidFill>
                <a:latin typeface="Helvetica Neue"/>
                <a:ea typeface="Helvetica Neue"/>
                <a:cs typeface="Helvetica Neue"/>
              </a:defRPr>
            </a:pPr>
            <a:r>
              <a:rPr sz="3525" b="1">
                <a:solidFill>
                  <a:srgbClr val="101828"/>
                </a:solidFill>
                <a:latin typeface="Helvetica Neue"/>
                <a:ea typeface="Helvetica Neue"/>
                <a:cs typeface="Helvetica Neue"/>
              </a:rPr>
              <a:t>Find</a:t>
            </a:r>
          </a:p>
        </p:txBody>
      </p:sp>
      <p:sp>
        <p:nvSpPr>
          <p:cNvPr id="10" name="">
            <a:extLst xmlns:a="http://schemas.openxmlformats.org/drawingml/2006/main">
              <a:ext uri="{FF2B5EF4-FFF2-40B4-BE49-F238E27FC236}">
                <a16:creationId xmlns:a16="http://schemas.microsoft.com/office/drawing/2014/main" id="{032B57AF-1BAF-46D8-8B4E-B24061CB2A26}"/>
              </a:ext>
            </a:extLst>
          </p:cNvPr>
          <p:cNvSpPr>
            <a:spLocks xmlns:a="http://schemas.openxmlformats.org/drawingml/2006/main" noGrp="1"/>
          </p:cNvSpPr>
          <p:nvPr/>
        </p:nvSpPr>
        <p:spPr>
          <a:xfrm xmlns:a="http://schemas.openxmlformats.org/drawingml/2006/main">
            <a:off x="666750" y="414337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Finds the required record</a:t>
            </a:r>
          </a:p>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Does not mix companies</a:t>
            </a:r>
          </a:p>
        </p:txBody>
      </p:sp>
      <p:sp>
        <p:nvSpPr>
          <p:cNvPr id="11" name="">
            <a:extLst xmlns:a="http://schemas.openxmlformats.org/drawingml/2006/main">
              <a:ext uri="{FF2B5EF4-FFF2-40B4-BE49-F238E27FC236}">
                <a16:creationId xmlns:a16="http://schemas.microsoft.com/office/drawing/2014/main" id="{C54EE160-B2FE-4724-B4DB-29B4F6C94ED8}"/>
              </a:ext>
            </a:extLst>
          </p:cNvPr>
          <p:cNvSpPr>
            <a:spLocks xmlns:a="http://schemas.openxmlformats.org/drawingml/2006/main" noGrp="1"/>
          </p:cNvSpPr>
          <p:nvPr/>
        </p:nvSpPr>
        <p:spPr>
          <a:xfrm xmlns:a="http://schemas.openxmlformats.org/drawingml/2006/main">
            <a:off x="3219450" y="2781300"/>
            <a:ext cx="2571750" cy="203835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0D5DD"/>
            </a:solidFill>
            <a:prstDash val="solid"/>
          </a:ln>
        </p:spPr>
      </p:sp>
      <p:sp>
        <p:nvSpPr>
          <p:cNvPr id="12" name="">
            <a:extLst xmlns:a="http://schemas.openxmlformats.org/drawingml/2006/main">
              <a:ext uri="{FF2B5EF4-FFF2-40B4-BE49-F238E27FC236}">
                <a16:creationId xmlns:a16="http://schemas.microsoft.com/office/drawing/2014/main" id="{E103A2B5-5C9B-4684-88A5-D7E54E104F02}"/>
              </a:ext>
            </a:extLst>
          </p:cNvPr>
          <p:cNvSpPr>
            <a:spLocks xmlns:a="http://schemas.openxmlformats.org/drawingml/2006/main" noGrp="1"/>
          </p:cNvSpPr>
          <p:nvPr/>
        </p:nvSpPr>
        <p:spPr>
          <a:xfrm xmlns:a="http://schemas.openxmlformats.org/drawingml/2006/main">
            <a:off x="3429000" y="300990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CHECK THE FACTS</a:t>
            </a:r>
          </a:p>
        </p:txBody>
      </p:sp>
      <p:sp>
        <p:nvSpPr>
          <p:cNvPr id="13" name="">
            <a:extLst xmlns:a="http://schemas.openxmlformats.org/drawingml/2006/main">
              <a:ext uri="{FF2B5EF4-FFF2-40B4-BE49-F238E27FC236}">
                <a16:creationId xmlns:a16="http://schemas.microsoft.com/office/drawing/2014/main" id="{9FCDF1D5-5421-492D-BFC5-2AC7138E96FF}"/>
              </a:ext>
            </a:extLst>
          </p:cNvPr>
          <p:cNvSpPr>
            <a:spLocks xmlns:a="http://schemas.openxmlformats.org/drawingml/2006/main" noGrp="1"/>
          </p:cNvSpPr>
          <p:nvPr/>
        </p:nvSpPr>
        <p:spPr>
          <a:xfrm xmlns:a="http://schemas.openxmlformats.org/drawingml/2006/main">
            <a:off x="3429000" y="3371850"/>
            <a:ext cx="21431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525" b="1">
                <a:solidFill>
                  <a:srgbClr val="101828"/>
                </a:solidFill>
                <a:latin typeface="Helvetica Neue"/>
                <a:ea typeface="Helvetica Neue"/>
                <a:cs typeface="Helvetica Neue"/>
              </a:defRPr>
            </a:pPr>
            <a:r>
              <a:rPr sz="2850" b="1">
                <a:solidFill>
                  <a:srgbClr val="101828"/>
                </a:solidFill>
                <a:latin typeface="Helvetica Neue"/>
                <a:ea typeface="Helvetica Neue"/>
                <a:cs typeface="Helvetica Neue"/>
              </a:rPr>
              <a:t>Check</a:t>
            </a:r>
          </a:p>
        </p:txBody>
      </p:sp>
      <p:sp>
        <p:nvSpPr>
          <p:cNvPr id="14" name="">
            <a:extLst xmlns:a="http://schemas.openxmlformats.org/drawingml/2006/main">
              <a:ext uri="{FF2B5EF4-FFF2-40B4-BE49-F238E27FC236}">
                <a16:creationId xmlns:a16="http://schemas.microsoft.com/office/drawing/2014/main" id="{96F3C4E3-ACED-4D21-A3E1-834E7E3DD175}"/>
              </a:ext>
            </a:extLst>
          </p:cNvPr>
          <p:cNvSpPr>
            <a:spLocks xmlns:a="http://schemas.openxmlformats.org/drawingml/2006/main" noGrp="1"/>
          </p:cNvSpPr>
          <p:nvPr/>
        </p:nvSpPr>
        <p:spPr>
          <a:xfrm xmlns:a="http://schemas.openxmlformats.org/drawingml/2006/main">
            <a:off x="3429000" y="414337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8253"/>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Each statement links to a source</a:t>
            </a:r>
          </a:p>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Each number matches a source</a:t>
            </a:r>
          </a:p>
        </p:txBody>
      </p:sp>
      <p:sp>
        <p:nvSpPr>
          <p:cNvPr id="15" name="">
            <a:extLst xmlns:a="http://schemas.openxmlformats.org/drawingml/2006/main">
              <a:ext uri="{FF2B5EF4-FFF2-40B4-BE49-F238E27FC236}">
                <a16:creationId xmlns:a16="http://schemas.microsoft.com/office/drawing/2014/main" id="{A7E65777-4F36-4020-AF7C-22F413271467}"/>
              </a:ext>
            </a:extLst>
          </p:cNvPr>
          <p:cNvSpPr>
            <a:spLocks xmlns:a="http://schemas.openxmlformats.org/drawingml/2006/main" noGrp="1"/>
          </p:cNvSpPr>
          <p:nvPr/>
        </p:nvSpPr>
        <p:spPr>
          <a:xfrm xmlns:a="http://schemas.openxmlformats.org/drawingml/2006/main">
            <a:off x="5981700" y="2781300"/>
            <a:ext cx="2571750" cy="203835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0D5DD"/>
            </a:solidFill>
            <a:prstDash val="solid"/>
          </a:ln>
        </p:spPr>
      </p:sp>
      <p:sp>
        <p:nvSpPr>
          <p:cNvPr id="16" name="">
            <a:extLst xmlns:a="http://schemas.openxmlformats.org/drawingml/2006/main">
              <a:ext uri="{FF2B5EF4-FFF2-40B4-BE49-F238E27FC236}">
                <a16:creationId xmlns:a16="http://schemas.microsoft.com/office/drawing/2014/main" id="{468EA405-4A26-4F28-9A03-279E84257E69}"/>
              </a:ext>
            </a:extLst>
          </p:cNvPr>
          <p:cNvSpPr>
            <a:spLocks xmlns:a="http://schemas.openxmlformats.org/drawingml/2006/main" noGrp="1"/>
          </p:cNvSpPr>
          <p:nvPr/>
        </p:nvSpPr>
        <p:spPr>
          <a:xfrm xmlns:a="http://schemas.openxmlformats.org/drawingml/2006/main">
            <a:off x="6191250" y="300990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HELP THE USER</a:t>
            </a:r>
          </a:p>
        </p:txBody>
      </p:sp>
      <p:sp>
        <p:nvSpPr>
          <p:cNvPr id="17" name="">
            <a:extLst xmlns:a="http://schemas.openxmlformats.org/drawingml/2006/main">
              <a:ext uri="{FF2B5EF4-FFF2-40B4-BE49-F238E27FC236}">
                <a16:creationId xmlns:a16="http://schemas.microsoft.com/office/drawing/2014/main" id="{D8BE85FE-503D-42CD-9E11-C9853F789DE1}"/>
              </a:ext>
            </a:extLst>
          </p:cNvPr>
          <p:cNvSpPr>
            <a:spLocks xmlns:a="http://schemas.openxmlformats.org/drawingml/2006/main" noGrp="1"/>
          </p:cNvSpPr>
          <p:nvPr/>
        </p:nvSpPr>
        <p:spPr>
          <a:xfrm xmlns:a="http://schemas.openxmlformats.org/drawingml/2006/main">
            <a:off x="6191250" y="3371850"/>
            <a:ext cx="21431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908"/>
          </a:bodyPr>
          <a:lstStyle xmlns:a="http://schemas.openxmlformats.org/drawingml/2006/main"/>
          <a:p xmlns:a="http://schemas.openxmlformats.org/drawingml/2006/main">
            <a:pPr algn="l">
              <a:buNone/>
              <a:defRPr sz="3525" b="1">
                <a:solidFill>
                  <a:srgbClr val="101828"/>
                </a:solidFill>
                <a:latin typeface="Helvetica Neue"/>
                <a:ea typeface="Helvetica Neue"/>
                <a:cs typeface="Helvetica Neue"/>
              </a:defRPr>
            </a:pPr>
            <a:r>
              <a:rPr sz="3525" b="1">
                <a:solidFill>
                  <a:srgbClr val="101828"/>
                </a:solidFill>
                <a:latin typeface="Helvetica Neue"/>
                <a:ea typeface="Helvetica Neue"/>
                <a:cs typeface="Helvetica Neue"/>
              </a:rPr>
              <a:t>Use</a:t>
            </a:r>
          </a:p>
        </p:txBody>
      </p:sp>
      <p:sp>
        <p:nvSpPr>
          <p:cNvPr id="18" name="">
            <a:extLst xmlns:a="http://schemas.openxmlformats.org/drawingml/2006/main">
              <a:ext uri="{FF2B5EF4-FFF2-40B4-BE49-F238E27FC236}">
                <a16:creationId xmlns:a16="http://schemas.microsoft.com/office/drawing/2014/main" id="{8B3D565A-3552-4FDC-9339-4D2454B4C0FA}"/>
              </a:ext>
            </a:extLst>
          </p:cNvPr>
          <p:cNvSpPr>
            <a:spLocks xmlns:a="http://schemas.openxmlformats.org/drawingml/2006/main" noGrp="1"/>
          </p:cNvSpPr>
          <p:nvPr/>
        </p:nvSpPr>
        <p:spPr>
          <a:xfrm xmlns:a="http://schemas.openxmlformats.org/drawingml/2006/main">
            <a:off x="6191250" y="414337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Makes a brief in 30 seconds</a:t>
            </a:r>
          </a:p>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User target is 4 out of 5</a:t>
            </a:r>
          </a:p>
        </p:txBody>
      </p:sp>
      <p:sp>
        <p:nvSpPr>
          <p:cNvPr id="19" name="">
            <a:extLst xmlns:a="http://schemas.openxmlformats.org/drawingml/2006/main">
              <a:ext uri="{FF2B5EF4-FFF2-40B4-BE49-F238E27FC236}">
                <a16:creationId xmlns:a16="http://schemas.microsoft.com/office/drawing/2014/main" id="{21909835-C000-476D-BE4E-86B6A009FC7F}"/>
              </a:ext>
            </a:extLst>
          </p:cNvPr>
          <p:cNvSpPr>
            <a:spLocks xmlns:a="http://schemas.openxmlformats.org/drawingml/2006/main" noGrp="1"/>
          </p:cNvSpPr>
          <p:nvPr/>
        </p:nvSpPr>
        <p:spPr>
          <a:xfrm xmlns:a="http://schemas.openxmlformats.org/drawingml/2006/main">
            <a:off x="8743950" y="2781300"/>
            <a:ext cx="2571750" cy="203835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0D5DD"/>
            </a:solidFill>
            <a:prstDash val="solid"/>
          </a:ln>
        </p:spPr>
      </p:sp>
      <p:sp>
        <p:nvSpPr>
          <p:cNvPr id="20" name="">
            <a:extLst xmlns:a="http://schemas.openxmlformats.org/drawingml/2006/main">
              <a:ext uri="{FF2B5EF4-FFF2-40B4-BE49-F238E27FC236}">
                <a16:creationId xmlns:a16="http://schemas.microsoft.com/office/drawing/2014/main" id="{14D12D1C-71C7-4D5E-841E-35CE6D175B78}"/>
              </a:ext>
            </a:extLst>
          </p:cNvPr>
          <p:cNvSpPr>
            <a:spLocks xmlns:a="http://schemas.openxmlformats.org/drawingml/2006/main" noGrp="1"/>
          </p:cNvSpPr>
          <p:nvPr/>
        </p:nvSpPr>
        <p:spPr>
          <a:xfrm xmlns:a="http://schemas.openxmlformats.org/drawingml/2006/main">
            <a:off x="8953500" y="300990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HANDLE CHANGES</a:t>
            </a:r>
          </a:p>
        </p:txBody>
      </p:sp>
      <p:sp>
        <p:nvSpPr>
          <p:cNvPr id="21" name="">
            <a:extLst xmlns:a="http://schemas.openxmlformats.org/drawingml/2006/main">
              <a:ext uri="{FF2B5EF4-FFF2-40B4-BE49-F238E27FC236}">
                <a16:creationId xmlns:a16="http://schemas.microsoft.com/office/drawing/2014/main" id="{F686A3A3-BAF9-4CEC-BA6B-8E7459E7CB1A}"/>
              </a:ext>
            </a:extLst>
          </p:cNvPr>
          <p:cNvSpPr>
            <a:spLocks xmlns:a="http://schemas.openxmlformats.org/drawingml/2006/main" noGrp="1"/>
          </p:cNvSpPr>
          <p:nvPr/>
        </p:nvSpPr>
        <p:spPr>
          <a:xfrm xmlns:a="http://schemas.openxmlformats.org/drawingml/2006/main">
            <a:off x="8953500" y="3371850"/>
            <a:ext cx="21431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908"/>
          </a:bodyPr>
          <a:lstStyle xmlns:a="http://schemas.openxmlformats.org/drawingml/2006/main"/>
          <a:p xmlns:a="http://schemas.openxmlformats.org/drawingml/2006/main">
            <a:pPr algn="l">
              <a:buNone/>
              <a:defRPr sz="3525" b="1">
                <a:solidFill>
                  <a:srgbClr val="101828"/>
                </a:solidFill>
                <a:latin typeface="Helvetica Neue"/>
                <a:ea typeface="Helvetica Neue"/>
                <a:cs typeface="Helvetica Neue"/>
              </a:defRPr>
            </a:pPr>
            <a:r>
              <a:rPr sz="3525" b="1">
                <a:solidFill>
                  <a:srgbClr val="101828"/>
                </a:solidFill>
                <a:latin typeface="Helvetica Neue"/>
                <a:ea typeface="Helvetica Neue"/>
                <a:cs typeface="Helvetica Neue"/>
              </a:rPr>
              <a:t>Update</a:t>
            </a:r>
          </a:p>
        </p:txBody>
      </p:sp>
      <p:sp>
        <p:nvSpPr>
          <p:cNvPr id="22" name="">
            <a:extLst xmlns:a="http://schemas.openxmlformats.org/drawingml/2006/main">
              <a:ext uri="{FF2B5EF4-FFF2-40B4-BE49-F238E27FC236}">
                <a16:creationId xmlns:a16="http://schemas.microsoft.com/office/drawing/2014/main" id="{98A790D2-D307-426F-AFF6-4F296FCAF988}"/>
              </a:ext>
            </a:extLst>
          </p:cNvPr>
          <p:cNvSpPr>
            <a:spLocks xmlns:a="http://schemas.openxmlformats.org/drawingml/2006/main" noGrp="1"/>
          </p:cNvSpPr>
          <p:nvPr/>
        </p:nvSpPr>
        <p:spPr>
          <a:xfrm xmlns:a="http://schemas.openxmlformats.org/drawingml/2006/main">
            <a:off x="8953500" y="414337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3466"/>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Uses a backup if the AI fails</a:t>
            </a:r>
          </a:p>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New records change the next brief</a:t>
            </a:r>
          </a:p>
        </p:txBody>
      </p:sp>
      <p:sp>
        <p:nvSpPr>
          <p:cNvPr id="23" name="">
            <a:extLst xmlns:a="http://schemas.openxmlformats.org/drawingml/2006/main">
              <a:ext uri="{FF2B5EF4-FFF2-40B4-BE49-F238E27FC236}">
                <a16:creationId xmlns:a16="http://schemas.microsoft.com/office/drawing/2014/main" id="{25EC7D7C-6E01-4D17-AA83-D2DB3D6F5810}"/>
              </a:ext>
            </a:extLst>
          </p:cNvPr>
          <p:cNvSpPr>
            <a:spLocks xmlns:a="http://schemas.openxmlformats.org/drawingml/2006/main" noGrp="1"/>
          </p:cNvSpPr>
          <p:nvPr/>
        </p:nvSpPr>
        <p:spPr>
          <a:xfrm xmlns:a="http://schemas.openxmlformats.org/drawingml/2006/main">
            <a:off x="457200" y="5219700"/>
            <a:ext cx="10858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444"/>
          </a:bodyPr>
          <a:lstStyle xmlns:a="http://schemas.openxmlformats.org/drawingml/2006/main"/>
          <a:p xmlns:a="http://schemas.openxmlformats.org/drawingml/2006/main">
            <a:pPr algn="l">
              <a:buNone/>
              <a:defRPr sz="1350" b="1">
                <a:solidFill>
                  <a:srgbClr val="344054"/>
                </a:solidFill>
                <a:latin typeface="Helvetica Neue"/>
                <a:ea typeface="Helvetica Neue"/>
                <a:cs typeface="Helvetica Neue"/>
              </a:defRPr>
            </a:pPr>
            <a:r>
              <a:rPr sz="1350" b="1">
                <a:solidFill>
                  <a:srgbClr val="344054"/>
                </a:solidFill>
                <a:latin typeface="Helvetica Neue"/>
                <a:ea typeface="Helvetica Neue"/>
                <a:cs typeface="Helvetica Neue"/>
              </a:rPr>
              <a:t>Checks cover facts, sources, and changes. A user reviews usefulness.</a:t>
            </a:r>
          </a:p>
        </p:txBody>
      </p:sp>
      <p:sp>
        <p:nvSpPr>
          <p:cNvPr id="24" name="">
            <a:extLst xmlns:a="http://schemas.openxmlformats.org/drawingml/2006/main">
              <a:ext uri="{FF2B5EF4-FFF2-40B4-BE49-F238E27FC236}">
                <a16:creationId xmlns:a16="http://schemas.microsoft.com/office/drawing/2014/main" id="{4C39101A-94C4-48DC-82B6-88D1BEEA99D4}"/>
              </a:ext>
            </a:extLst>
          </p:cNvPr>
          <p:cNvSpPr>
            <a:spLocks xmlns:a="http://schemas.openxmlformats.org/drawingml/2006/main" noGrp="1"/>
          </p:cNvSpPr>
          <p:nvPr/>
        </p:nvSpPr>
        <p:spPr>
          <a:xfrm xmlns:a="http://schemas.openxmlformats.org/drawingml/2006/main">
            <a:off x="457200" y="5638800"/>
            <a:ext cx="10858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1">
                <a:solidFill>
                  <a:srgbClr val="315F9F"/>
                </a:solidFill>
                <a:latin typeface="Helvetica Neue"/>
                <a:ea typeface="Helvetica Neue"/>
                <a:cs typeface="Helvetica Neue"/>
              </a:defRPr>
            </a:pPr>
            <a:r>
              <a:rPr sz="1275" b="1">
                <a:solidFill>
                  <a:srgbClr val="315F9F"/>
                </a:solidFill>
                <a:latin typeface="Helvetica Neue"/>
                <a:ea typeface="Helvetica Neue"/>
                <a:cs typeface="Helvetica Neue"/>
              </a:rPr>
              <a:t>Run the checks again after any system or source change.</a:t>
            </a:r>
          </a:p>
        </p:txBody>
      </p:sp>
    </p:spTree>
    <p:extLst>
      <p:ext uri="{BB962C8B-B14F-4D97-AF65-F5344CB8AC3E}">
        <p14:creationId xmlns:p14="http://schemas.microsoft.com/office/powerpoint/2010/main" val="1483308295"/>
      </p:ext>
    </p:extLst>
  </p:cSld>
</p:sld>
</file>

<file path=ppt/slides/slide8.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DCB3F631-F107-449F-8532-F0F6CF09ED9C}"/>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3000" b="1">
                <a:solidFill>
                  <a:srgbClr val="101828"/>
                </a:solidFill>
                <a:latin typeface="Helvetica Neue"/>
                <a:ea typeface="Helvetica Neue"/>
                <a:cs typeface="Helvetica Neue"/>
              </a:rPr>
              <a:t>What must V1 do, and what is good enough to ship?</a:t>
            </a:r>
          </a:p>
        </p:txBody>
      </p:sp>
      <p:sp>
        <p:nvSpPr>
          <p:cNvPr id="2" name="">
            <a:extLst xmlns:a="http://schemas.openxmlformats.org/drawingml/2006/main">
              <a:ext uri="{FF2B5EF4-FFF2-40B4-BE49-F238E27FC236}">
                <a16:creationId xmlns:a16="http://schemas.microsoft.com/office/drawing/2014/main" id="{FA2C5372-4CF1-4AE4-A3CD-4E138F754CA8}"/>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4839D6B0-80AA-4FCC-9C2D-6D215827FBA5}"/>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08</a:t>
            </a:r>
          </a:p>
        </p:txBody>
      </p:sp>
      <p:sp>
        <p:nvSpPr>
          <p:cNvPr id="4" name="">
            <a:extLst xmlns:a="http://schemas.openxmlformats.org/drawingml/2006/main">
              <a:ext uri="{FF2B5EF4-FFF2-40B4-BE49-F238E27FC236}">
                <a16:creationId xmlns:a16="http://schemas.microsoft.com/office/drawing/2014/main" id="{82E64302-6EE1-4371-AB23-0D77F5FE7F75}"/>
              </a:ext>
            </a:extLst>
          </p:cNvPr>
          <p:cNvSpPr>
            <a:spLocks xmlns:a="http://schemas.openxmlformats.org/drawingml/2006/main" noGrp="1"/>
          </p:cNvSpPr>
          <p:nvPr/>
        </p:nvSpPr>
        <p:spPr>
          <a:xfrm xmlns:a="http://schemas.openxmlformats.org/drawingml/2006/main">
            <a:off x="457200" y="1466850"/>
            <a:ext cx="10858500" cy="952500"/>
          </a:xfrm>
          <a:prstGeom xmlns:a="http://schemas.openxmlformats.org/drawingml/2006/main" prst="roundRect">
            <a:avLst>
              <a:gd name="adj" fmla="val 16000"/>
            </a:avLst>
          </a:prstGeom>
          <a:solidFill xmlns:a="http://schemas.openxmlformats.org/drawingml/2006/main">
            <a:srgbClr val="E8F0FB"/>
          </a:solidFill>
          <a:ln xmlns:a="http://schemas.openxmlformats.org/drawingml/2006/main" w="9525">
            <a:solidFill>
              <a:srgbClr val="9CB5D5"/>
            </a:solidFill>
            <a:prstDash val="solid"/>
          </a:ln>
        </p:spPr>
      </p:sp>
      <p:sp>
        <p:nvSpPr>
          <p:cNvPr id="5" name="">
            <a:extLst xmlns:a="http://schemas.openxmlformats.org/drawingml/2006/main">
              <a:ext uri="{FF2B5EF4-FFF2-40B4-BE49-F238E27FC236}">
                <a16:creationId xmlns:a16="http://schemas.microsoft.com/office/drawing/2014/main" id="{4A1BEC42-0504-4404-8738-11D6F8F404B8}"/>
              </a:ext>
            </a:extLst>
          </p:cNvPr>
          <p:cNvSpPr>
            <a:spLocks xmlns:a="http://schemas.openxmlformats.org/drawingml/2006/main" noGrp="1"/>
          </p:cNvSpPr>
          <p:nvPr/>
        </p:nvSpPr>
        <p:spPr>
          <a:xfrm xmlns:a="http://schemas.openxmlformats.org/drawingml/2006/main">
            <a:off x="685800" y="1657350"/>
            <a:ext cx="3333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588"/>
          </a:bodyPr>
          <a:lstStyle xmlns:a="http://schemas.openxmlformats.org/drawingml/2006/main"/>
          <a:p xmlns:a="http://schemas.openxmlformats.org/drawingml/2006/main">
            <a:pPr algn="l">
              <a:buNone/>
              <a:defRPr sz="1275" b="1">
                <a:solidFill>
                  <a:srgbClr val="315F9F"/>
                </a:solidFill>
                <a:latin typeface="Helvetica Neue"/>
                <a:ea typeface="Helvetica Neue"/>
                <a:cs typeface="Helvetica Neue"/>
              </a:defRPr>
            </a:pPr>
            <a:r>
              <a:rPr sz="1275" b="1">
                <a:solidFill>
                  <a:srgbClr val="315F9F"/>
                </a:solidFill>
                <a:latin typeface="Helvetica Neue"/>
                <a:ea typeface="Helvetica Neue"/>
                <a:cs typeface="Helvetica Neue"/>
              </a:rPr>
              <a:t>An AIVC principal prepares for a company discussion</a:t>
            </a:r>
          </a:p>
        </p:txBody>
      </p:sp>
      <p:sp>
        <p:nvSpPr>
          <p:cNvPr id="6" name="">
            <a:extLst xmlns:a="http://schemas.openxmlformats.org/drawingml/2006/main">
              <a:ext uri="{FF2B5EF4-FFF2-40B4-BE49-F238E27FC236}">
                <a16:creationId xmlns:a16="http://schemas.microsoft.com/office/drawing/2014/main" id="{58AABA6B-7522-4752-984B-13A58F66327C}"/>
              </a:ext>
            </a:extLst>
          </p:cNvPr>
          <p:cNvSpPr>
            <a:spLocks xmlns:a="http://schemas.openxmlformats.org/drawingml/2006/main" noGrp="1"/>
          </p:cNvSpPr>
          <p:nvPr/>
        </p:nvSpPr>
        <p:spPr>
          <a:xfrm xmlns:a="http://schemas.openxmlformats.org/drawingml/2006/main">
            <a:off x="685800" y="1952625"/>
            <a:ext cx="10096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His information is spread across several systems. He needs current evidence before he uses his judgment.</a:t>
            </a:r>
          </a:p>
        </p:txBody>
      </p:sp>
      <p:sp>
        <p:nvSpPr>
          <p:cNvPr id="7" name="">
            <a:extLst xmlns:a="http://schemas.openxmlformats.org/drawingml/2006/main">
              <a:ext uri="{FF2B5EF4-FFF2-40B4-BE49-F238E27FC236}">
                <a16:creationId xmlns:a16="http://schemas.microsoft.com/office/drawing/2014/main" id="{B2253D5B-CB83-4217-B157-E169C1C86900}"/>
              </a:ext>
            </a:extLst>
          </p:cNvPr>
          <p:cNvSpPr>
            <a:spLocks xmlns:a="http://schemas.openxmlformats.org/drawingml/2006/main" noGrp="1"/>
          </p:cNvSpPr>
          <p:nvPr/>
        </p:nvSpPr>
        <p:spPr>
          <a:xfrm xmlns:a="http://schemas.openxmlformats.org/drawingml/2006/main">
            <a:off x="457200" y="2781300"/>
            <a:ext cx="2571750" cy="203835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0D5DD"/>
            </a:solidFill>
            <a:prstDash val="solid"/>
          </a:ln>
        </p:spPr>
      </p:sp>
      <p:sp>
        <p:nvSpPr>
          <p:cNvPr id="8" name="">
            <a:extLst xmlns:a="http://schemas.openxmlformats.org/drawingml/2006/main">
              <a:ext uri="{FF2B5EF4-FFF2-40B4-BE49-F238E27FC236}">
                <a16:creationId xmlns:a16="http://schemas.microsoft.com/office/drawing/2014/main" id="{9B98B8DF-CD87-4BEC-BD37-808E72CD6957}"/>
              </a:ext>
            </a:extLst>
          </p:cNvPr>
          <p:cNvSpPr>
            <a:spLocks xmlns:a="http://schemas.openxmlformats.org/drawingml/2006/main" noGrp="1"/>
          </p:cNvSpPr>
          <p:nvPr/>
        </p:nvSpPr>
        <p:spPr>
          <a:xfrm xmlns:a="http://schemas.openxmlformats.org/drawingml/2006/main">
            <a:off x="666750" y="300990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SPEED</a:t>
            </a:r>
          </a:p>
        </p:txBody>
      </p:sp>
      <p:sp>
        <p:nvSpPr>
          <p:cNvPr id="9" name="">
            <a:extLst xmlns:a="http://schemas.openxmlformats.org/drawingml/2006/main">
              <a:ext uri="{FF2B5EF4-FFF2-40B4-BE49-F238E27FC236}">
                <a16:creationId xmlns:a16="http://schemas.microsoft.com/office/drawing/2014/main" id="{CCEE06AE-D800-407A-A0B0-2475AB3FC0AF}"/>
              </a:ext>
            </a:extLst>
          </p:cNvPr>
          <p:cNvSpPr>
            <a:spLocks xmlns:a="http://schemas.openxmlformats.org/drawingml/2006/main" noGrp="1"/>
          </p:cNvSpPr>
          <p:nvPr/>
        </p:nvSpPr>
        <p:spPr>
          <a:xfrm xmlns:a="http://schemas.openxmlformats.org/drawingml/2006/main">
            <a:off x="666750" y="3371850"/>
            <a:ext cx="21431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908"/>
          </a:bodyPr>
          <a:lstStyle xmlns:a="http://schemas.openxmlformats.org/drawingml/2006/main"/>
          <a:p xmlns:a="http://schemas.openxmlformats.org/drawingml/2006/main">
            <a:pPr algn="l">
              <a:buNone/>
              <a:defRPr sz="3525" b="1">
                <a:solidFill>
                  <a:srgbClr val="101828"/>
                </a:solidFill>
                <a:latin typeface="Helvetica Neue"/>
                <a:ea typeface="Helvetica Neue"/>
                <a:cs typeface="Helvetica Neue"/>
              </a:defRPr>
            </a:pPr>
            <a:r>
              <a:rPr sz="3525" b="1">
                <a:solidFill>
                  <a:srgbClr val="101828"/>
                </a:solidFill>
                <a:latin typeface="Helvetica Neue"/>
                <a:ea typeface="Helvetica Neue"/>
                <a:cs typeface="Helvetica Neue"/>
              </a:rPr>
              <a:t>≤30 sec</a:t>
            </a:r>
          </a:p>
        </p:txBody>
      </p:sp>
      <p:sp>
        <p:nvSpPr>
          <p:cNvPr id="10" name="">
            <a:extLst xmlns:a="http://schemas.openxmlformats.org/drawingml/2006/main">
              <a:ext uri="{FF2B5EF4-FFF2-40B4-BE49-F238E27FC236}">
                <a16:creationId xmlns:a16="http://schemas.microsoft.com/office/drawing/2014/main" id="{032B57AF-1BAF-46D8-8B4E-B24061CB2A26}"/>
              </a:ext>
            </a:extLst>
          </p:cNvPr>
          <p:cNvSpPr>
            <a:spLocks xmlns:a="http://schemas.openxmlformats.org/drawingml/2006/main" noGrp="1"/>
          </p:cNvSpPr>
          <p:nvPr/>
        </p:nvSpPr>
        <p:spPr>
          <a:xfrm xmlns:a="http://schemas.openxmlformats.org/drawingml/2006/main">
            <a:off x="666750" y="414337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Brief target for each company</a:t>
            </a:r>
          </a:p>
        </p:txBody>
      </p:sp>
      <p:sp>
        <p:nvSpPr>
          <p:cNvPr id="11" name="">
            <a:extLst xmlns:a="http://schemas.openxmlformats.org/drawingml/2006/main">
              <a:ext uri="{FF2B5EF4-FFF2-40B4-BE49-F238E27FC236}">
                <a16:creationId xmlns:a16="http://schemas.microsoft.com/office/drawing/2014/main" id="{C54EE160-B2FE-4724-B4DB-29B4F6C94ED8}"/>
              </a:ext>
            </a:extLst>
          </p:cNvPr>
          <p:cNvSpPr>
            <a:spLocks xmlns:a="http://schemas.openxmlformats.org/drawingml/2006/main" noGrp="1"/>
          </p:cNvSpPr>
          <p:nvPr/>
        </p:nvSpPr>
        <p:spPr>
          <a:xfrm xmlns:a="http://schemas.openxmlformats.org/drawingml/2006/main">
            <a:off x="3219450" y="2781300"/>
            <a:ext cx="2571750" cy="203835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0D5DD"/>
            </a:solidFill>
            <a:prstDash val="solid"/>
          </a:ln>
        </p:spPr>
      </p:sp>
      <p:sp>
        <p:nvSpPr>
          <p:cNvPr id="12" name="">
            <a:extLst xmlns:a="http://schemas.openxmlformats.org/drawingml/2006/main">
              <a:ext uri="{FF2B5EF4-FFF2-40B4-BE49-F238E27FC236}">
                <a16:creationId xmlns:a16="http://schemas.microsoft.com/office/drawing/2014/main" id="{E103A2B5-5C9B-4684-88A5-D7E54E104F02}"/>
              </a:ext>
            </a:extLst>
          </p:cNvPr>
          <p:cNvSpPr>
            <a:spLocks xmlns:a="http://schemas.openxmlformats.org/drawingml/2006/main" noGrp="1"/>
          </p:cNvSpPr>
          <p:nvPr/>
        </p:nvSpPr>
        <p:spPr>
          <a:xfrm xmlns:a="http://schemas.openxmlformats.org/drawingml/2006/main">
            <a:off x="3429000" y="300990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SOURCE CHECK</a:t>
            </a:r>
          </a:p>
        </p:txBody>
      </p:sp>
      <p:sp>
        <p:nvSpPr>
          <p:cNvPr id="13" name="">
            <a:extLst xmlns:a="http://schemas.openxmlformats.org/drawingml/2006/main">
              <a:ext uri="{FF2B5EF4-FFF2-40B4-BE49-F238E27FC236}">
                <a16:creationId xmlns:a16="http://schemas.microsoft.com/office/drawing/2014/main" id="{9FCDF1D5-5421-492D-BFC5-2AC7138E96FF}"/>
              </a:ext>
            </a:extLst>
          </p:cNvPr>
          <p:cNvSpPr>
            <a:spLocks xmlns:a="http://schemas.openxmlformats.org/drawingml/2006/main" noGrp="1"/>
          </p:cNvSpPr>
          <p:nvPr/>
        </p:nvSpPr>
        <p:spPr>
          <a:xfrm xmlns:a="http://schemas.openxmlformats.org/drawingml/2006/main">
            <a:off x="3429000" y="3371850"/>
            <a:ext cx="21431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525" b="1">
                <a:solidFill>
                  <a:srgbClr val="101828"/>
                </a:solidFill>
                <a:latin typeface="Helvetica Neue"/>
                <a:ea typeface="Helvetica Neue"/>
                <a:cs typeface="Helvetica Neue"/>
              </a:defRPr>
            </a:pPr>
            <a:r>
              <a:rPr sz="2850" b="1">
                <a:solidFill>
                  <a:srgbClr val="101828"/>
                </a:solidFill>
                <a:latin typeface="Helvetica Neue"/>
                <a:ea typeface="Helvetica Neue"/>
                <a:cs typeface="Helvetica Neue"/>
              </a:rPr>
              <a:t>Required</a:t>
            </a:r>
          </a:p>
        </p:txBody>
      </p:sp>
      <p:sp>
        <p:nvSpPr>
          <p:cNvPr id="14" name="">
            <a:extLst xmlns:a="http://schemas.openxmlformats.org/drawingml/2006/main">
              <a:ext uri="{FF2B5EF4-FFF2-40B4-BE49-F238E27FC236}">
                <a16:creationId xmlns:a16="http://schemas.microsoft.com/office/drawing/2014/main" id="{96F3C4E3-ACED-4D21-A3E1-834E7E3DD175}"/>
              </a:ext>
            </a:extLst>
          </p:cNvPr>
          <p:cNvSpPr>
            <a:spLocks xmlns:a="http://schemas.openxmlformats.org/drawingml/2006/main" noGrp="1"/>
          </p:cNvSpPr>
          <p:nvPr/>
        </p:nvSpPr>
        <p:spPr>
          <a:xfrm xmlns:a="http://schemas.openxmlformats.org/drawingml/2006/main">
            <a:off x="3429000" y="414337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Source, date, excerpt, and original record</a:t>
            </a:r>
          </a:p>
        </p:txBody>
      </p:sp>
      <p:sp>
        <p:nvSpPr>
          <p:cNvPr id="15" name="">
            <a:extLst xmlns:a="http://schemas.openxmlformats.org/drawingml/2006/main">
              <a:ext uri="{FF2B5EF4-FFF2-40B4-BE49-F238E27FC236}">
                <a16:creationId xmlns:a16="http://schemas.microsoft.com/office/drawing/2014/main" id="{A7E65777-4F36-4020-AF7C-22F413271467}"/>
              </a:ext>
            </a:extLst>
          </p:cNvPr>
          <p:cNvSpPr>
            <a:spLocks xmlns:a="http://schemas.openxmlformats.org/drawingml/2006/main" noGrp="1"/>
          </p:cNvSpPr>
          <p:nvPr/>
        </p:nvSpPr>
        <p:spPr>
          <a:xfrm xmlns:a="http://schemas.openxmlformats.org/drawingml/2006/main">
            <a:off x="5981700" y="2781300"/>
            <a:ext cx="2571750" cy="203835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0D5DD"/>
            </a:solidFill>
            <a:prstDash val="solid"/>
          </a:ln>
        </p:spPr>
      </p:sp>
      <p:sp>
        <p:nvSpPr>
          <p:cNvPr id="16" name="">
            <a:extLst xmlns:a="http://schemas.openxmlformats.org/drawingml/2006/main">
              <a:ext uri="{FF2B5EF4-FFF2-40B4-BE49-F238E27FC236}">
                <a16:creationId xmlns:a16="http://schemas.microsoft.com/office/drawing/2014/main" id="{468EA405-4A26-4F28-9A03-279E84257E69}"/>
              </a:ext>
            </a:extLst>
          </p:cNvPr>
          <p:cNvSpPr>
            <a:spLocks xmlns:a="http://schemas.openxmlformats.org/drawingml/2006/main" noGrp="1"/>
          </p:cNvSpPr>
          <p:nvPr/>
        </p:nvSpPr>
        <p:spPr>
          <a:xfrm xmlns:a="http://schemas.openxmlformats.org/drawingml/2006/main">
            <a:off x="6191250" y="300990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ISOLATION</a:t>
            </a:r>
          </a:p>
        </p:txBody>
      </p:sp>
      <p:sp>
        <p:nvSpPr>
          <p:cNvPr id="17" name="">
            <a:extLst xmlns:a="http://schemas.openxmlformats.org/drawingml/2006/main">
              <a:ext uri="{FF2B5EF4-FFF2-40B4-BE49-F238E27FC236}">
                <a16:creationId xmlns:a16="http://schemas.microsoft.com/office/drawing/2014/main" id="{D8BE85FE-503D-42CD-9E11-C9853F789DE1}"/>
              </a:ext>
            </a:extLst>
          </p:cNvPr>
          <p:cNvSpPr>
            <a:spLocks xmlns:a="http://schemas.openxmlformats.org/drawingml/2006/main" noGrp="1"/>
          </p:cNvSpPr>
          <p:nvPr/>
        </p:nvSpPr>
        <p:spPr>
          <a:xfrm xmlns:a="http://schemas.openxmlformats.org/drawingml/2006/main">
            <a:off x="6191250" y="3371850"/>
            <a:ext cx="21431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908"/>
          </a:bodyPr>
          <a:lstStyle xmlns:a="http://schemas.openxmlformats.org/drawingml/2006/main"/>
          <a:p xmlns:a="http://schemas.openxmlformats.org/drawingml/2006/main">
            <a:pPr algn="l">
              <a:buNone/>
              <a:defRPr sz="3525" b="1">
                <a:solidFill>
                  <a:srgbClr val="101828"/>
                </a:solidFill>
                <a:latin typeface="Helvetica Neue"/>
                <a:ea typeface="Helvetica Neue"/>
                <a:cs typeface="Helvetica Neue"/>
              </a:defRPr>
            </a:pPr>
            <a:r>
              <a:rPr sz="3525" b="1">
                <a:solidFill>
                  <a:srgbClr val="101828"/>
                </a:solidFill>
                <a:latin typeface="Helvetica Neue"/>
                <a:ea typeface="Helvetica Neue"/>
                <a:cs typeface="Helvetica Neue"/>
              </a:rPr>
              <a:t>0</a:t>
            </a:r>
          </a:p>
        </p:txBody>
      </p:sp>
      <p:sp>
        <p:nvSpPr>
          <p:cNvPr id="18" name="">
            <a:extLst xmlns:a="http://schemas.openxmlformats.org/drawingml/2006/main">
              <a:ext uri="{FF2B5EF4-FFF2-40B4-BE49-F238E27FC236}">
                <a16:creationId xmlns:a16="http://schemas.microsoft.com/office/drawing/2014/main" id="{8B3D565A-3552-4FDC-9339-4D2454B4C0FA}"/>
              </a:ext>
            </a:extLst>
          </p:cNvPr>
          <p:cNvSpPr>
            <a:spLocks xmlns:a="http://schemas.openxmlformats.org/drawingml/2006/main" noGrp="1"/>
          </p:cNvSpPr>
          <p:nvPr/>
        </p:nvSpPr>
        <p:spPr>
          <a:xfrm xmlns:a="http://schemas.openxmlformats.org/drawingml/2006/main">
            <a:off x="6191250" y="414337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Records from another company</a:t>
            </a:r>
          </a:p>
        </p:txBody>
      </p:sp>
      <p:sp>
        <p:nvSpPr>
          <p:cNvPr id="19" name="">
            <a:extLst xmlns:a="http://schemas.openxmlformats.org/drawingml/2006/main">
              <a:ext uri="{FF2B5EF4-FFF2-40B4-BE49-F238E27FC236}">
                <a16:creationId xmlns:a16="http://schemas.microsoft.com/office/drawing/2014/main" id="{21909835-C000-476D-BE4E-86B6A009FC7F}"/>
              </a:ext>
            </a:extLst>
          </p:cNvPr>
          <p:cNvSpPr>
            <a:spLocks xmlns:a="http://schemas.openxmlformats.org/drawingml/2006/main" noGrp="1"/>
          </p:cNvSpPr>
          <p:nvPr/>
        </p:nvSpPr>
        <p:spPr>
          <a:xfrm xmlns:a="http://schemas.openxmlformats.org/drawingml/2006/main">
            <a:off x="8743950" y="2781300"/>
            <a:ext cx="2571750" cy="203835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0D5DD"/>
            </a:solidFill>
            <a:prstDash val="solid"/>
          </a:ln>
        </p:spPr>
      </p:sp>
      <p:sp>
        <p:nvSpPr>
          <p:cNvPr id="20" name="">
            <a:extLst xmlns:a="http://schemas.openxmlformats.org/drawingml/2006/main">
              <a:ext uri="{FF2B5EF4-FFF2-40B4-BE49-F238E27FC236}">
                <a16:creationId xmlns:a16="http://schemas.microsoft.com/office/drawing/2014/main" id="{14D12D1C-71C7-4D5E-841E-35CE6D175B78}"/>
              </a:ext>
            </a:extLst>
          </p:cNvPr>
          <p:cNvSpPr>
            <a:spLocks xmlns:a="http://schemas.openxmlformats.org/drawingml/2006/main" noGrp="1"/>
          </p:cNvSpPr>
          <p:nvPr/>
        </p:nvSpPr>
        <p:spPr>
          <a:xfrm xmlns:a="http://schemas.openxmlformats.org/drawingml/2006/main">
            <a:off x="8953500" y="300990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USEFULNESS</a:t>
            </a:r>
          </a:p>
        </p:txBody>
      </p:sp>
      <p:sp>
        <p:nvSpPr>
          <p:cNvPr id="21" name="">
            <a:extLst xmlns:a="http://schemas.openxmlformats.org/drawingml/2006/main">
              <a:ext uri="{FF2B5EF4-FFF2-40B4-BE49-F238E27FC236}">
                <a16:creationId xmlns:a16="http://schemas.microsoft.com/office/drawing/2014/main" id="{F686A3A3-BAF9-4CEC-BA6B-8E7459E7CB1A}"/>
              </a:ext>
            </a:extLst>
          </p:cNvPr>
          <p:cNvSpPr>
            <a:spLocks xmlns:a="http://schemas.openxmlformats.org/drawingml/2006/main" noGrp="1"/>
          </p:cNvSpPr>
          <p:nvPr/>
        </p:nvSpPr>
        <p:spPr>
          <a:xfrm xmlns:a="http://schemas.openxmlformats.org/drawingml/2006/main">
            <a:off x="8953500" y="3371850"/>
            <a:ext cx="21431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908"/>
          </a:bodyPr>
          <a:lstStyle xmlns:a="http://schemas.openxmlformats.org/drawingml/2006/main"/>
          <a:p xmlns:a="http://schemas.openxmlformats.org/drawingml/2006/main">
            <a:pPr algn="l">
              <a:buNone/>
              <a:defRPr sz="3525" b="1">
                <a:solidFill>
                  <a:srgbClr val="101828"/>
                </a:solidFill>
                <a:latin typeface="Helvetica Neue"/>
                <a:ea typeface="Helvetica Neue"/>
                <a:cs typeface="Helvetica Neue"/>
              </a:defRPr>
            </a:pPr>
            <a:r>
              <a:rPr sz="3525" b="1">
                <a:solidFill>
                  <a:srgbClr val="101828"/>
                </a:solidFill>
                <a:latin typeface="Helvetica Neue"/>
                <a:ea typeface="Helvetica Neue"/>
                <a:cs typeface="Helvetica Neue"/>
              </a:rPr>
              <a:t>≥4/5</a:t>
            </a:r>
          </a:p>
        </p:txBody>
      </p:sp>
      <p:sp>
        <p:nvSpPr>
          <p:cNvPr id="22" name="">
            <a:extLst xmlns:a="http://schemas.openxmlformats.org/drawingml/2006/main">
              <a:ext uri="{FF2B5EF4-FFF2-40B4-BE49-F238E27FC236}">
                <a16:creationId xmlns:a16="http://schemas.microsoft.com/office/drawing/2014/main" id="{98A790D2-D307-426F-AFF6-4F296FCAF988}"/>
              </a:ext>
            </a:extLst>
          </p:cNvPr>
          <p:cNvSpPr>
            <a:spLocks xmlns:a="http://schemas.openxmlformats.org/drawingml/2006/main" noGrp="1"/>
          </p:cNvSpPr>
          <p:nvPr/>
        </p:nvSpPr>
        <p:spPr>
          <a:xfrm xmlns:a="http://schemas.openxmlformats.org/drawingml/2006/main">
            <a:off x="8953500" y="414337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Pilot target; not measured</a:t>
            </a:r>
          </a:p>
        </p:txBody>
      </p:sp>
      <p:sp>
        <p:nvSpPr>
          <p:cNvPr id="23" name="">
            <a:extLst xmlns:a="http://schemas.openxmlformats.org/drawingml/2006/main">
              <a:ext uri="{FF2B5EF4-FFF2-40B4-BE49-F238E27FC236}">
                <a16:creationId xmlns:a16="http://schemas.microsoft.com/office/drawing/2014/main" id="{25EC7D7C-6E01-4D17-AA83-D2DB3D6F5810}"/>
              </a:ext>
            </a:extLst>
          </p:cNvPr>
          <p:cNvSpPr>
            <a:spLocks xmlns:a="http://schemas.openxmlformats.org/drawingml/2006/main" noGrp="1"/>
          </p:cNvSpPr>
          <p:nvPr/>
        </p:nvSpPr>
        <p:spPr>
          <a:xfrm xmlns:a="http://schemas.openxmlformats.org/drawingml/2006/main">
            <a:off x="457200" y="5219700"/>
            <a:ext cx="10858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444"/>
          </a:bodyPr>
          <a:lstStyle xmlns:a="http://schemas.openxmlformats.org/drawingml/2006/main"/>
          <a:p xmlns:a="http://schemas.openxmlformats.org/drawingml/2006/main">
            <a:pPr algn="l">
              <a:buNone/>
              <a:defRPr sz="1350" b="1">
                <a:solidFill>
                  <a:srgbClr val="344054"/>
                </a:solidFill>
                <a:latin typeface="Helvetica Neue"/>
                <a:ea typeface="Helvetica Neue"/>
                <a:cs typeface="Helvetica Neue"/>
              </a:defRPr>
            </a:pPr>
            <a:r>
              <a:rPr sz="1350" b="1">
                <a:solidFill>
                  <a:srgbClr val="344054"/>
                </a:solidFill>
                <a:latin typeface="Helvetica Neue"/>
                <a:ea typeface="Helvetica Neue"/>
                <a:cs typeface="Helvetica Neue"/>
              </a:rPr>
              <a:t>Core stories: get a brief · understand the company · check a statement · report a problem</a:t>
            </a:r>
          </a:p>
        </p:txBody>
      </p:sp>
      <p:sp>
        <p:nvSpPr>
          <p:cNvPr id="24" name="">
            <a:extLst xmlns:a="http://schemas.openxmlformats.org/drawingml/2006/main">
              <a:ext uri="{FF2B5EF4-FFF2-40B4-BE49-F238E27FC236}">
                <a16:creationId xmlns:a16="http://schemas.microsoft.com/office/drawing/2014/main" id="{4C39101A-94C4-48DC-82B6-88D1BEEA99D4}"/>
              </a:ext>
            </a:extLst>
          </p:cNvPr>
          <p:cNvSpPr>
            <a:spLocks xmlns:a="http://schemas.openxmlformats.org/drawingml/2006/main" noGrp="1"/>
          </p:cNvSpPr>
          <p:nvPr/>
        </p:nvSpPr>
        <p:spPr>
          <a:xfrm xmlns:a="http://schemas.openxmlformats.org/drawingml/2006/main">
            <a:off x="457200" y="5638800"/>
            <a:ext cx="10858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1">
                <a:solidFill>
                  <a:srgbClr val="315F9F"/>
                </a:solidFill>
                <a:latin typeface="Helvetica Neue"/>
                <a:ea typeface="Helvetica Neue"/>
                <a:cs typeface="Helvetica Neue"/>
              </a:defRPr>
            </a:pPr>
            <a:r>
              <a:rPr sz="1275" b="1">
                <a:solidFill>
                  <a:srgbClr val="315F9F"/>
                </a:solidFill>
                <a:latin typeface="Helvetica Neue"/>
                <a:ea typeface="Helvetica Neue"/>
                <a:cs typeface="Helvetica Neue"/>
              </a:rPr>
              <a:t>Good enough means a small internal pilot with approved sources, a reference set, validated source access, and a feedback owner.</a:t>
            </a:r>
          </a:p>
        </p:txBody>
      </p:sp>
    </p:spTree>
    <p:extLst>
      <p:ext uri="{BB962C8B-B14F-4D97-AF65-F5344CB8AC3E}">
        <p14:creationId xmlns:p14="http://schemas.microsoft.com/office/powerpoint/2010/main" val="1483308295"/>
      </p:ext>
    </p:extLst>
  </p:cSld>
</p:sld>
</file>

<file path=ppt/slides/slide9.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53" name="">
            <a:extLst xmlns:a="http://schemas.openxmlformats.org/drawingml/2006/main">
              <a:ext uri="{FF2B5EF4-FFF2-40B4-BE49-F238E27FC236}">
                <a16:creationId xmlns:a16="http://schemas.microsoft.com/office/drawing/2014/main" id="{D90E6CAA-500E-48FE-9B53-5F49A30A4FA3}"/>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2700" b="1">
                <a:solidFill>
                  <a:srgbClr val="101828"/>
                </a:solidFill>
                <a:latin typeface="Helvetica Neue"/>
                <a:ea typeface="Helvetica Neue"/>
                <a:cs typeface="Helvetica Neue"/>
              </a:rPr>
              <a:t>What runs in Lens today, and what is planned?</a:t>
            </a:r>
          </a:p>
        </p:txBody>
      </p:sp>
      <p:sp>
        <p:nvSpPr>
          <p:cNvPr id="2" name="">
            <a:extLst xmlns:a="http://schemas.openxmlformats.org/drawingml/2006/main">
              <a:ext uri="{FF2B5EF4-FFF2-40B4-BE49-F238E27FC236}">
                <a16:creationId xmlns:a16="http://schemas.microsoft.com/office/drawing/2014/main" id="{EF65C2A4-B64B-4D22-95C8-408BF13E2BC9}"/>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80FF9FAF-5706-4922-868C-E24C4C573577}"/>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09</a:t>
            </a:r>
          </a:p>
        </p:txBody>
      </p:sp>
      <p:sp>
        <p:nvSpPr>
          <p:cNvPr id="4" name="">
            <a:extLst xmlns:a="http://schemas.openxmlformats.org/drawingml/2006/main">
              <a:ext uri="{FF2B5EF4-FFF2-40B4-BE49-F238E27FC236}">
                <a16:creationId xmlns:a16="http://schemas.microsoft.com/office/drawing/2014/main" id="{685A96E9-6F50-4414-A07D-C76C7C79E4EB}"/>
              </a:ext>
            </a:extLst>
          </p:cNvPr>
          <p:cNvSpPr>
            <a:spLocks xmlns:a="http://schemas.openxmlformats.org/drawingml/2006/main" noGrp="1"/>
          </p:cNvSpPr>
          <p:nvPr/>
        </p:nvSpPr>
        <p:spPr>
          <a:xfrm xmlns:a="http://schemas.openxmlformats.org/drawingml/2006/main">
            <a:off x="457200" y="1485900"/>
            <a:ext cx="5219700" cy="4343400"/>
          </a:xfrm>
          <a:prstGeom xmlns:a="http://schemas.openxmlformats.org/drawingml/2006/main" prst="roundRect">
            <a:avLst>
              <a:gd name="adj" fmla="val 3947"/>
            </a:avLst>
          </a:prstGeom>
          <a:solidFill xmlns:a="http://schemas.openxmlformats.org/drawingml/2006/main">
            <a:srgbClr val="FFFFFF"/>
          </a:solidFill>
          <a:ln xmlns:a="http://schemas.openxmlformats.org/drawingml/2006/main" w="9525">
            <a:solidFill>
              <a:srgbClr val="D0D5DD"/>
            </a:solidFill>
            <a:prstDash val="solid"/>
          </a:ln>
        </p:spPr>
      </p:sp>
      <p:sp>
        <p:nvSpPr>
          <p:cNvPr id="5" name="">
            <a:extLst xmlns:a="http://schemas.openxmlformats.org/drawingml/2006/main">
              <a:ext uri="{FF2B5EF4-FFF2-40B4-BE49-F238E27FC236}">
                <a16:creationId xmlns:a16="http://schemas.microsoft.com/office/drawing/2014/main" id="{CC29C1BE-B33B-46AA-942D-A837CDBDCB70}"/>
              </a:ext>
            </a:extLst>
          </p:cNvPr>
          <p:cNvSpPr>
            <a:spLocks xmlns:a="http://schemas.openxmlformats.org/drawingml/2006/main" noGrp="1"/>
          </p:cNvSpPr>
          <p:nvPr/>
        </p:nvSpPr>
        <p:spPr>
          <a:xfrm xmlns:a="http://schemas.openxmlformats.org/drawingml/2006/main">
            <a:off x="685800" y="1714500"/>
            <a:ext cx="1428750" cy="285750"/>
          </a:xfrm>
          <a:prstGeom xmlns:a="http://schemas.openxmlformats.org/drawingml/2006/main" prst="roundRect">
            <a:avLst>
              <a:gd name="adj" fmla="val 50000"/>
            </a:avLst>
          </a:prstGeom>
          <a:solidFill xmlns:a="http://schemas.openxmlformats.org/drawingml/2006/main">
            <a:srgbClr val="EAF7F1"/>
          </a:solidFill>
          <a:ln xmlns:a="http://schemas.openxmlformats.org/drawingml/2006/main" w="9525">
            <a:solidFill>
              <a:srgbClr val="A9DFC9"/>
            </a:solidFill>
            <a:prstDash val="solid"/>
          </a:ln>
        </p:spPr>
      </p:sp>
      <p:sp>
        <p:nvSpPr>
          <p:cNvPr id="6" name="">
            <a:extLst xmlns:a="http://schemas.openxmlformats.org/drawingml/2006/main">
              <a:ext uri="{FF2B5EF4-FFF2-40B4-BE49-F238E27FC236}">
                <a16:creationId xmlns:a16="http://schemas.microsoft.com/office/drawing/2014/main" id="{6C4A0D09-9F63-4B9A-84FC-C3CD0BD85944}"/>
              </a:ext>
            </a:extLst>
          </p:cNvPr>
          <p:cNvSpPr>
            <a:spLocks xmlns:a="http://schemas.openxmlformats.org/drawingml/2006/main" noGrp="1"/>
          </p:cNvSpPr>
          <p:nvPr/>
        </p:nvSpPr>
        <p:spPr>
          <a:xfrm xmlns:a="http://schemas.openxmlformats.org/drawingml/2006/main">
            <a:off x="800100" y="1762125"/>
            <a:ext cx="120015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857"/>
          </a:bodyPr>
          <a:lstStyle xmlns:a="http://schemas.openxmlformats.org/drawingml/2006/main"/>
          <a:p xmlns:a="http://schemas.openxmlformats.org/drawingml/2006/main">
            <a:pPr algn="l">
              <a:buNone/>
              <a:defRPr sz="1050" b="1">
                <a:solidFill>
                  <a:srgbClr val="247A59"/>
                </a:solidFill>
                <a:latin typeface="Helvetica Neue"/>
                <a:ea typeface="Helvetica Neue"/>
                <a:cs typeface="Helvetica Neue"/>
              </a:defRPr>
            </a:pPr>
            <a:r>
              <a:rPr sz="1050" b="1">
                <a:solidFill>
                  <a:srgbClr val="247A59"/>
                </a:solidFill>
                <a:latin typeface="Helvetica Neue"/>
                <a:ea typeface="Helvetica Neue"/>
                <a:cs typeface="Helvetica Neue"/>
              </a:rPr>
              <a:t>RUNS TODAY</a:t>
            </a:r>
          </a:p>
        </p:txBody>
      </p:sp>
      <p:sp>
        <p:nvSpPr>
          <p:cNvPr id="7" name="">
            <a:extLst xmlns:a="http://schemas.openxmlformats.org/drawingml/2006/main">
              <a:ext uri="{FF2B5EF4-FFF2-40B4-BE49-F238E27FC236}">
                <a16:creationId xmlns:a16="http://schemas.microsoft.com/office/drawing/2014/main" id="{DE53C278-8683-4E98-84E7-96A510C3F44E}"/>
              </a:ext>
            </a:extLst>
          </p:cNvPr>
          <p:cNvSpPr>
            <a:spLocks xmlns:a="http://schemas.openxmlformats.org/drawingml/2006/main" noGrp="1"/>
          </p:cNvSpPr>
          <p:nvPr/>
        </p:nvSpPr>
        <p:spPr>
          <a:xfrm xmlns:a="http://schemas.openxmlformats.org/drawingml/2006/main">
            <a:off x="685800" y="2266950"/>
            <a:ext cx="266700" cy="266700"/>
          </a:xfrm>
          <a:prstGeom xmlns:a="http://schemas.openxmlformats.org/drawingml/2006/main" prst="roundRect">
            <a:avLst>
              <a:gd name="adj" fmla="val 50000"/>
            </a:avLst>
          </a:prstGeom>
          <a:solidFill xmlns:a="http://schemas.openxmlformats.org/drawingml/2006/main">
            <a:srgbClr val="EAF7F1"/>
          </a:solidFill>
          <a:ln xmlns:a="http://schemas.openxmlformats.org/drawingml/2006/main" w="9525">
            <a:solidFill>
              <a:srgbClr val="A9DFC9"/>
            </a:solidFill>
            <a:prstDash val="solid"/>
          </a:ln>
        </p:spPr>
      </p:sp>
      <p:sp>
        <p:nvSpPr>
          <p:cNvPr id="8" name="">
            <a:extLst xmlns:a="http://schemas.openxmlformats.org/drawingml/2006/main">
              <a:ext uri="{FF2B5EF4-FFF2-40B4-BE49-F238E27FC236}">
                <a16:creationId xmlns:a16="http://schemas.microsoft.com/office/drawing/2014/main" id="{C03B9381-0A59-414C-BEEB-8E714A7336CF}"/>
              </a:ext>
            </a:extLst>
          </p:cNvPr>
          <p:cNvSpPr>
            <a:spLocks xmlns:a="http://schemas.openxmlformats.org/drawingml/2006/main" noGrp="1"/>
          </p:cNvSpPr>
          <p:nvPr/>
        </p:nvSpPr>
        <p:spPr>
          <a:xfrm xmlns:a="http://schemas.openxmlformats.org/drawingml/2006/main">
            <a:off x="742950" y="2295525"/>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200" b="1">
                <a:solidFill>
                  <a:srgbClr val="247A59"/>
                </a:solidFill>
                <a:latin typeface="Helvetica Neue"/>
                <a:ea typeface="Helvetica Neue"/>
                <a:cs typeface="Helvetica Neue"/>
              </a:defRPr>
            </a:pPr>
            <a:r>
              <a:rPr sz="1200" b="1">
                <a:solidFill>
                  <a:srgbClr val="247A59"/>
                </a:solidFill>
                <a:latin typeface="Helvetica Neue"/>
                <a:ea typeface="Helvetica Neue"/>
                <a:cs typeface="Helvetica Neue"/>
              </a:rPr>
              <a:t>✓</a:t>
            </a:r>
          </a:p>
        </p:txBody>
      </p:sp>
      <p:sp>
        <p:nvSpPr>
          <p:cNvPr id="9" name="">
            <a:extLst xmlns:a="http://schemas.openxmlformats.org/drawingml/2006/main">
              <a:ext uri="{FF2B5EF4-FFF2-40B4-BE49-F238E27FC236}">
                <a16:creationId xmlns:a16="http://schemas.microsoft.com/office/drawing/2014/main" id="{1B2FE6B0-320C-417E-8A1A-879419763A56}"/>
              </a:ext>
            </a:extLst>
          </p:cNvPr>
          <p:cNvSpPr>
            <a:spLocks xmlns:a="http://schemas.openxmlformats.org/drawingml/2006/main" noGrp="1"/>
          </p:cNvSpPr>
          <p:nvPr/>
        </p:nvSpPr>
        <p:spPr>
          <a:xfrm xmlns:a="http://schemas.openxmlformats.org/drawingml/2006/main">
            <a:off x="1104900" y="2247900"/>
            <a:ext cx="41529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544"/>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Interface and API routes</a:t>
            </a:r>
          </a:p>
        </p:txBody>
      </p:sp>
      <p:sp>
        <p:nvSpPr>
          <p:cNvPr id="10" name="">
            <a:extLst xmlns:a="http://schemas.openxmlformats.org/drawingml/2006/main">
              <a:ext uri="{FF2B5EF4-FFF2-40B4-BE49-F238E27FC236}">
                <a16:creationId xmlns:a16="http://schemas.microsoft.com/office/drawing/2014/main" id="{97B51185-F006-48A4-A1C8-28FF6BD765B9}"/>
              </a:ext>
            </a:extLst>
          </p:cNvPr>
          <p:cNvSpPr>
            <a:spLocks xmlns:a="http://schemas.openxmlformats.org/drawingml/2006/main" noGrp="1"/>
          </p:cNvSpPr>
          <p:nvPr/>
        </p:nvSpPr>
        <p:spPr>
          <a:xfrm xmlns:a="http://schemas.openxmlformats.org/drawingml/2006/main">
            <a:off x="1104900" y="2533650"/>
            <a:ext cx="4152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r>
              <a:t/>
            </a:r>
          </a:p>
        </p:txBody>
      </p:sp>
      <p:sp>
        <p:nvSpPr>
          <p:cNvPr id="11" name="">
            <a:extLst xmlns:a="http://schemas.openxmlformats.org/drawingml/2006/main">
              <a:ext uri="{FF2B5EF4-FFF2-40B4-BE49-F238E27FC236}">
                <a16:creationId xmlns:a16="http://schemas.microsoft.com/office/drawing/2014/main" id="{E612B173-A7EC-4AE9-BA73-C0E5AFE0B9BA}"/>
              </a:ext>
            </a:extLst>
          </p:cNvPr>
          <p:cNvSpPr>
            <a:spLocks xmlns:a="http://schemas.openxmlformats.org/drawingml/2006/main" noGrp="1"/>
          </p:cNvSpPr>
          <p:nvPr/>
        </p:nvSpPr>
        <p:spPr>
          <a:xfrm xmlns:a="http://schemas.openxmlformats.org/drawingml/2006/main">
            <a:off x="685800" y="2724150"/>
            <a:ext cx="266700" cy="266700"/>
          </a:xfrm>
          <a:prstGeom xmlns:a="http://schemas.openxmlformats.org/drawingml/2006/main" prst="roundRect">
            <a:avLst>
              <a:gd name="adj" fmla="val 50000"/>
            </a:avLst>
          </a:prstGeom>
          <a:solidFill xmlns:a="http://schemas.openxmlformats.org/drawingml/2006/main">
            <a:srgbClr val="EAF7F1"/>
          </a:solidFill>
          <a:ln xmlns:a="http://schemas.openxmlformats.org/drawingml/2006/main" w="9525">
            <a:solidFill>
              <a:srgbClr val="A9DFC9"/>
            </a:solidFill>
            <a:prstDash val="solid"/>
          </a:ln>
        </p:spPr>
      </p:sp>
      <p:sp>
        <p:nvSpPr>
          <p:cNvPr id="12" name="">
            <a:extLst xmlns:a="http://schemas.openxmlformats.org/drawingml/2006/main">
              <a:ext uri="{FF2B5EF4-FFF2-40B4-BE49-F238E27FC236}">
                <a16:creationId xmlns:a16="http://schemas.microsoft.com/office/drawing/2014/main" id="{4BEEC2F2-A405-4817-AF78-149C32ABC816}"/>
              </a:ext>
            </a:extLst>
          </p:cNvPr>
          <p:cNvSpPr>
            <a:spLocks xmlns:a="http://schemas.openxmlformats.org/drawingml/2006/main" noGrp="1"/>
          </p:cNvSpPr>
          <p:nvPr/>
        </p:nvSpPr>
        <p:spPr>
          <a:xfrm xmlns:a="http://schemas.openxmlformats.org/drawingml/2006/main">
            <a:off x="742950" y="2752725"/>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200" b="1">
                <a:solidFill>
                  <a:srgbClr val="247A59"/>
                </a:solidFill>
                <a:latin typeface="Helvetica Neue"/>
                <a:ea typeface="Helvetica Neue"/>
                <a:cs typeface="Helvetica Neue"/>
              </a:defRPr>
            </a:pPr>
            <a:r>
              <a:rPr sz="1200" b="1">
                <a:solidFill>
                  <a:srgbClr val="247A59"/>
                </a:solidFill>
                <a:latin typeface="Helvetica Neue"/>
                <a:ea typeface="Helvetica Neue"/>
                <a:cs typeface="Helvetica Neue"/>
              </a:rPr>
              <a:t>✓</a:t>
            </a:r>
          </a:p>
        </p:txBody>
      </p:sp>
      <p:sp>
        <p:nvSpPr>
          <p:cNvPr id="13" name="">
            <a:extLst xmlns:a="http://schemas.openxmlformats.org/drawingml/2006/main">
              <a:ext uri="{FF2B5EF4-FFF2-40B4-BE49-F238E27FC236}">
                <a16:creationId xmlns:a16="http://schemas.microsoft.com/office/drawing/2014/main" id="{049E349C-8886-4F72-895A-080D41700841}"/>
              </a:ext>
            </a:extLst>
          </p:cNvPr>
          <p:cNvSpPr>
            <a:spLocks xmlns:a="http://schemas.openxmlformats.org/drawingml/2006/main" noGrp="1"/>
          </p:cNvSpPr>
          <p:nvPr/>
        </p:nvSpPr>
        <p:spPr>
          <a:xfrm xmlns:a="http://schemas.openxmlformats.org/drawingml/2006/main">
            <a:off x="1104900" y="2705100"/>
            <a:ext cx="41529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544"/>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PostgreSQL schema and manual file import</a:t>
            </a:r>
          </a:p>
        </p:txBody>
      </p:sp>
      <p:sp>
        <p:nvSpPr>
          <p:cNvPr id="14" name="">
            <a:extLst xmlns:a="http://schemas.openxmlformats.org/drawingml/2006/main">
              <a:ext uri="{FF2B5EF4-FFF2-40B4-BE49-F238E27FC236}">
                <a16:creationId xmlns:a16="http://schemas.microsoft.com/office/drawing/2014/main" id="{FC908AEA-2316-4C8A-A666-4AA153866861}"/>
              </a:ext>
            </a:extLst>
          </p:cNvPr>
          <p:cNvSpPr>
            <a:spLocks xmlns:a="http://schemas.openxmlformats.org/drawingml/2006/main" noGrp="1"/>
          </p:cNvSpPr>
          <p:nvPr/>
        </p:nvSpPr>
        <p:spPr>
          <a:xfrm xmlns:a="http://schemas.openxmlformats.org/drawingml/2006/main">
            <a:off x="1104900" y="2990850"/>
            <a:ext cx="4152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r>
              <a:t/>
            </a:r>
          </a:p>
        </p:txBody>
      </p:sp>
      <p:sp>
        <p:nvSpPr>
          <p:cNvPr id="15" name="">
            <a:extLst xmlns:a="http://schemas.openxmlformats.org/drawingml/2006/main">
              <a:ext uri="{FF2B5EF4-FFF2-40B4-BE49-F238E27FC236}">
                <a16:creationId xmlns:a16="http://schemas.microsoft.com/office/drawing/2014/main" id="{68621680-B99C-4BF6-845E-85CB22E48266}"/>
              </a:ext>
            </a:extLst>
          </p:cNvPr>
          <p:cNvSpPr>
            <a:spLocks xmlns:a="http://schemas.openxmlformats.org/drawingml/2006/main" noGrp="1"/>
          </p:cNvSpPr>
          <p:nvPr/>
        </p:nvSpPr>
        <p:spPr>
          <a:xfrm xmlns:a="http://schemas.openxmlformats.org/drawingml/2006/main">
            <a:off x="685800" y="3181350"/>
            <a:ext cx="266700" cy="266700"/>
          </a:xfrm>
          <a:prstGeom xmlns:a="http://schemas.openxmlformats.org/drawingml/2006/main" prst="roundRect">
            <a:avLst>
              <a:gd name="adj" fmla="val 50000"/>
            </a:avLst>
          </a:prstGeom>
          <a:solidFill xmlns:a="http://schemas.openxmlformats.org/drawingml/2006/main">
            <a:srgbClr val="EAF7F1"/>
          </a:solidFill>
          <a:ln xmlns:a="http://schemas.openxmlformats.org/drawingml/2006/main" w="9525">
            <a:solidFill>
              <a:srgbClr val="A9DFC9"/>
            </a:solidFill>
            <a:prstDash val="solid"/>
          </a:ln>
        </p:spPr>
      </p:sp>
      <p:sp>
        <p:nvSpPr>
          <p:cNvPr id="16" name="">
            <a:extLst xmlns:a="http://schemas.openxmlformats.org/drawingml/2006/main">
              <a:ext uri="{FF2B5EF4-FFF2-40B4-BE49-F238E27FC236}">
                <a16:creationId xmlns:a16="http://schemas.microsoft.com/office/drawing/2014/main" id="{5975CE81-A386-4156-8944-6514F223EB08}"/>
              </a:ext>
            </a:extLst>
          </p:cNvPr>
          <p:cNvSpPr>
            <a:spLocks xmlns:a="http://schemas.openxmlformats.org/drawingml/2006/main" noGrp="1"/>
          </p:cNvSpPr>
          <p:nvPr/>
        </p:nvSpPr>
        <p:spPr>
          <a:xfrm xmlns:a="http://schemas.openxmlformats.org/drawingml/2006/main">
            <a:off x="742950" y="3209925"/>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200" b="1">
                <a:solidFill>
                  <a:srgbClr val="247A59"/>
                </a:solidFill>
                <a:latin typeface="Helvetica Neue"/>
                <a:ea typeface="Helvetica Neue"/>
                <a:cs typeface="Helvetica Neue"/>
              </a:defRPr>
            </a:pPr>
            <a:r>
              <a:rPr sz="1200" b="1">
                <a:solidFill>
                  <a:srgbClr val="247A59"/>
                </a:solidFill>
                <a:latin typeface="Helvetica Neue"/>
                <a:ea typeface="Helvetica Neue"/>
                <a:cs typeface="Helvetica Neue"/>
              </a:rPr>
              <a:t>✓</a:t>
            </a:r>
          </a:p>
        </p:txBody>
      </p:sp>
      <p:sp>
        <p:nvSpPr>
          <p:cNvPr id="17" name="">
            <a:extLst xmlns:a="http://schemas.openxmlformats.org/drawingml/2006/main">
              <a:ext uri="{FF2B5EF4-FFF2-40B4-BE49-F238E27FC236}">
                <a16:creationId xmlns:a16="http://schemas.microsoft.com/office/drawing/2014/main" id="{59DB7FFD-012D-4084-9042-F42B6A456FC9}"/>
              </a:ext>
            </a:extLst>
          </p:cNvPr>
          <p:cNvSpPr>
            <a:spLocks xmlns:a="http://schemas.openxmlformats.org/drawingml/2006/main" noGrp="1"/>
          </p:cNvSpPr>
          <p:nvPr/>
        </p:nvSpPr>
        <p:spPr>
          <a:xfrm xmlns:a="http://schemas.openxmlformats.org/drawingml/2006/main">
            <a:off x="1104900" y="3162300"/>
            <a:ext cx="41529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544"/>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OpenAI embeddings and repeat-import control</a:t>
            </a:r>
          </a:p>
        </p:txBody>
      </p:sp>
      <p:sp>
        <p:nvSpPr>
          <p:cNvPr id="18" name="">
            <a:extLst xmlns:a="http://schemas.openxmlformats.org/drawingml/2006/main">
              <a:ext uri="{FF2B5EF4-FFF2-40B4-BE49-F238E27FC236}">
                <a16:creationId xmlns:a16="http://schemas.microsoft.com/office/drawing/2014/main" id="{9EE911C2-60EA-4D64-ADFB-9C0D32EA7A8F}"/>
              </a:ext>
            </a:extLst>
          </p:cNvPr>
          <p:cNvSpPr>
            <a:spLocks xmlns:a="http://schemas.openxmlformats.org/drawingml/2006/main" noGrp="1"/>
          </p:cNvSpPr>
          <p:nvPr/>
        </p:nvSpPr>
        <p:spPr>
          <a:xfrm xmlns:a="http://schemas.openxmlformats.org/drawingml/2006/main">
            <a:off x="1104900" y="3448050"/>
            <a:ext cx="4152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r>
              <a:t/>
            </a:r>
          </a:p>
        </p:txBody>
      </p:sp>
      <p:sp>
        <p:nvSpPr>
          <p:cNvPr id="19" name="">
            <a:extLst xmlns:a="http://schemas.openxmlformats.org/drawingml/2006/main">
              <a:ext uri="{FF2B5EF4-FFF2-40B4-BE49-F238E27FC236}">
                <a16:creationId xmlns:a16="http://schemas.microsoft.com/office/drawing/2014/main" id="{13A374E0-12CE-473D-B264-DF803B1B3121}"/>
              </a:ext>
            </a:extLst>
          </p:cNvPr>
          <p:cNvSpPr>
            <a:spLocks xmlns:a="http://schemas.openxmlformats.org/drawingml/2006/main" noGrp="1"/>
          </p:cNvSpPr>
          <p:nvPr/>
        </p:nvSpPr>
        <p:spPr>
          <a:xfrm xmlns:a="http://schemas.openxmlformats.org/drawingml/2006/main">
            <a:off x="685800" y="3638550"/>
            <a:ext cx="266700" cy="266700"/>
          </a:xfrm>
          <a:prstGeom xmlns:a="http://schemas.openxmlformats.org/drawingml/2006/main" prst="roundRect">
            <a:avLst>
              <a:gd name="adj" fmla="val 50000"/>
            </a:avLst>
          </a:prstGeom>
          <a:solidFill xmlns:a="http://schemas.openxmlformats.org/drawingml/2006/main">
            <a:srgbClr val="EAF7F1"/>
          </a:solidFill>
          <a:ln xmlns:a="http://schemas.openxmlformats.org/drawingml/2006/main" w="9525">
            <a:solidFill>
              <a:srgbClr val="A9DFC9"/>
            </a:solidFill>
            <a:prstDash val="solid"/>
          </a:ln>
        </p:spPr>
      </p:sp>
      <p:sp>
        <p:nvSpPr>
          <p:cNvPr id="20" name="">
            <a:extLst xmlns:a="http://schemas.openxmlformats.org/drawingml/2006/main">
              <a:ext uri="{FF2B5EF4-FFF2-40B4-BE49-F238E27FC236}">
                <a16:creationId xmlns:a16="http://schemas.microsoft.com/office/drawing/2014/main" id="{82E8644C-357A-42C4-A9E2-8D942C679D9E}"/>
              </a:ext>
            </a:extLst>
          </p:cNvPr>
          <p:cNvSpPr>
            <a:spLocks xmlns:a="http://schemas.openxmlformats.org/drawingml/2006/main" noGrp="1"/>
          </p:cNvSpPr>
          <p:nvPr/>
        </p:nvSpPr>
        <p:spPr>
          <a:xfrm xmlns:a="http://schemas.openxmlformats.org/drawingml/2006/main">
            <a:off x="742950" y="3667125"/>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200" b="1">
                <a:solidFill>
                  <a:srgbClr val="247A59"/>
                </a:solidFill>
                <a:latin typeface="Helvetica Neue"/>
                <a:ea typeface="Helvetica Neue"/>
                <a:cs typeface="Helvetica Neue"/>
              </a:defRPr>
            </a:pPr>
            <a:r>
              <a:rPr sz="1200" b="1">
                <a:solidFill>
                  <a:srgbClr val="247A59"/>
                </a:solidFill>
                <a:latin typeface="Helvetica Neue"/>
                <a:ea typeface="Helvetica Neue"/>
                <a:cs typeface="Helvetica Neue"/>
              </a:rPr>
              <a:t>✓</a:t>
            </a:r>
          </a:p>
        </p:txBody>
      </p:sp>
      <p:sp>
        <p:nvSpPr>
          <p:cNvPr id="21" name="">
            <a:extLst xmlns:a="http://schemas.openxmlformats.org/drawingml/2006/main">
              <a:ext uri="{FF2B5EF4-FFF2-40B4-BE49-F238E27FC236}">
                <a16:creationId xmlns:a16="http://schemas.microsoft.com/office/drawing/2014/main" id="{5C472E48-41BE-48B1-9388-CD31E3C9EE4A}"/>
              </a:ext>
            </a:extLst>
          </p:cNvPr>
          <p:cNvSpPr>
            <a:spLocks xmlns:a="http://schemas.openxmlformats.org/drawingml/2006/main" noGrp="1"/>
          </p:cNvSpPr>
          <p:nvPr/>
        </p:nvSpPr>
        <p:spPr>
          <a:xfrm xmlns:a="http://schemas.openxmlformats.org/drawingml/2006/main">
            <a:off x="1104900" y="3619500"/>
            <a:ext cx="41529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544"/>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Company-scoped retrieval and gpt-5.6-sol</a:t>
            </a:r>
          </a:p>
        </p:txBody>
      </p:sp>
      <p:sp>
        <p:nvSpPr>
          <p:cNvPr id="22" name="">
            <a:extLst xmlns:a="http://schemas.openxmlformats.org/drawingml/2006/main">
              <a:ext uri="{FF2B5EF4-FFF2-40B4-BE49-F238E27FC236}">
                <a16:creationId xmlns:a16="http://schemas.microsoft.com/office/drawing/2014/main" id="{EF1B4B12-A52A-4E4C-BAA9-3BAC2F5D9972}"/>
              </a:ext>
            </a:extLst>
          </p:cNvPr>
          <p:cNvSpPr>
            <a:spLocks xmlns:a="http://schemas.openxmlformats.org/drawingml/2006/main" noGrp="1"/>
          </p:cNvSpPr>
          <p:nvPr/>
        </p:nvSpPr>
        <p:spPr>
          <a:xfrm xmlns:a="http://schemas.openxmlformats.org/drawingml/2006/main">
            <a:off x="1104900" y="3905250"/>
            <a:ext cx="4152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r>
              <a:t/>
            </a:r>
          </a:p>
        </p:txBody>
      </p:sp>
      <p:sp>
        <p:nvSpPr>
          <p:cNvPr id="23" name="">
            <a:extLst xmlns:a="http://schemas.openxmlformats.org/drawingml/2006/main">
              <a:ext uri="{FF2B5EF4-FFF2-40B4-BE49-F238E27FC236}">
                <a16:creationId xmlns:a16="http://schemas.microsoft.com/office/drawing/2014/main" id="{33741759-6443-44CC-A10F-B90743822CFE}"/>
              </a:ext>
            </a:extLst>
          </p:cNvPr>
          <p:cNvSpPr>
            <a:spLocks xmlns:a="http://schemas.openxmlformats.org/drawingml/2006/main" noGrp="1"/>
          </p:cNvSpPr>
          <p:nvPr/>
        </p:nvSpPr>
        <p:spPr>
          <a:xfrm xmlns:a="http://schemas.openxmlformats.org/drawingml/2006/main">
            <a:off x="685800" y="4095750"/>
            <a:ext cx="266700" cy="266700"/>
          </a:xfrm>
          <a:prstGeom xmlns:a="http://schemas.openxmlformats.org/drawingml/2006/main" prst="roundRect">
            <a:avLst>
              <a:gd name="adj" fmla="val 50000"/>
            </a:avLst>
          </a:prstGeom>
          <a:solidFill xmlns:a="http://schemas.openxmlformats.org/drawingml/2006/main">
            <a:srgbClr val="EAF7F1"/>
          </a:solidFill>
          <a:ln xmlns:a="http://schemas.openxmlformats.org/drawingml/2006/main" w="9525">
            <a:solidFill>
              <a:srgbClr val="A9DFC9"/>
            </a:solidFill>
            <a:prstDash val="solid"/>
          </a:ln>
        </p:spPr>
      </p:sp>
      <p:sp>
        <p:nvSpPr>
          <p:cNvPr id="24" name="">
            <a:extLst xmlns:a="http://schemas.openxmlformats.org/drawingml/2006/main">
              <a:ext uri="{FF2B5EF4-FFF2-40B4-BE49-F238E27FC236}">
                <a16:creationId xmlns:a16="http://schemas.microsoft.com/office/drawing/2014/main" id="{AB907E69-39BA-4CC1-8FD2-4E5B52C5A90C}"/>
              </a:ext>
            </a:extLst>
          </p:cNvPr>
          <p:cNvSpPr>
            <a:spLocks xmlns:a="http://schemas.openxmlformats.org/drawingml/2006/main" noGrp="1"/>
          </p:cNvSpPr>
          <p:nvPr/>
        </p:nvSpPr>
        <p:spPr>
          <a:xfrm xmlns:a="http://schemas.openxmlformats.org/drawingml/2006/main">
            <a:off x="742950" y="4124325"/>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200" b="1">
                <a:solidFill>
                  <a:srgbClr val="247A59"/>
                </a:solidFill>
                <a:latin typeface="Helvetica Neue"/>
                <a:ea typeface="Helvetica Neue"/>
                <a:cs typeface="Helvetica Neue"/>
              </a:defRPr>
            </a:pPr>
            <a:r>
              <a:rPr sz="1200" b="1">
                <a:solidFill>
                  <a:srgbClr val="247A59"/>
                </a:solidFill>
                <a:latin typeface="Helvetica Neue"/>
                <a:ea typeface="Helvetica Neue"/>
                <a:cs typeface="Helvetica Neue"/>
              </a:rPr>
              <a:t>✓</a:t>
            </a:r>
          </a:p>
        </p:txBody>
      </p:sp>
      <p:sp>
        <p:nvSpPr>
          <p:cNvPr id="25" name="">
            <a:extLst xmlns:a="http://schemas.openxmlformats.org/drawingml/2006/main">
              <a:ext uri="{FF2B5EF4-FFF2-40B4-BE49-F238E27FC236}">
                <a16:creationId xmlns:a16="http://schemas.microsoft.com/office/drawing/2014/main" id="{E6B2F385-472E-4D2F-AC6E-4CBF8A780C78}"/>
              </a:ext>
            </a:extLst>
          </p:cNvPr>
          <p:cNvSpPr>
            <a:spLocks xmlns:a="http://schemas.openxmlformats.org/drawingml/2006/main" noGrp="1"/>
          </p:cNvSpPr>
          <p:nvPr/>
        </p:nvSpPr>
        <p:spPr>
          <a:xfrm xmlns:a="http://schemas.openxmlformats.org/drawingml/2006/main">
            <a:off x="1104900" y="4076700"/>
            <a:ext cx="41529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544"/>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Strict schema, citations, and source drill-down</a:t>
            </a:r>
          </a:p>
        </p:txBody>
      </p:sp>
      <p:sp>
        <p:nvSpPr>
          <p:cNvPr id="26" name="">
            <a:extLst xmlns:a="http://schemas.openxmlformats.org/drawingml/2006/main">
              <a:ext uri="{FF2B5EF4-FFF2-40B4-BE49-F238E27FC236}">
                <a16:creationId xmlns:a16="http://schemas.microsoft.com/office/drawing/2014/main" id="{A4A0DB9C-186C-4B5C-A333-E8E632450401}"/>
              </a:ext>
            </a:extLst>
          </p:cNvPr>
          <p:cNvSpPr>
            <a:spLocks xmlns:a="http://schemas.openxmlformats.org/drawingml/2006/main" noGrp="1"/>
          </p:cNvSpPr>
          <p:nvPr/>
        </p:nvSpPr>
        <p:spPr>
          <a:xfrm xmlns:a="http://schemas.openxmlformats.org/drawingml/2006/main">
            <a:off x="1104900" y="4362450"/>
            <a:ext cx="4152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r>
              <a:t/>
            </a:r>
          </a:p>
        </p:txBody>
      </p:sp>
      <p:sp>
        <p:nvSpPr>
          <p:cNvPr id="27" name="">
            <a:extLst xmlns:a="http://schemas.openxmlformats.org/drawingml/2006/main">
              <a:ext uri="{FF2B5EF4-FFF2-40B4-BE49-F238E27FC236}">
                <a16:creationId xmlns:a16="http://schemas.microsoft.com/office/drawing/2014/main" id="{CD8FE40C-07C3-4860-AFAD-62721E67A5A9}"/>
              </a:ext>
            </a:extLst>
          </p:cNvPr>
          <p:cNvSpPr>
            <a:spLocks xmlns:a="http://schemas.openxmlformats.org/drawingml/2006/main" noGrp="1"/>
          </p:cNvSpPr>
          <p:nvPr/>
        </p:nvSpPr>
        <p:spPr>
          <a:xfrm xmlns:a="http://schemas.openxmlformats.org/drawingml/2006/main">
            <a:off x="685800" y="4552950"/>
            <a:ext cx="266700" cy="266700"/>
          </a:xfrm>
          <a:prstGeom xmlns:a="http://schemas.openxmlformats.org/drawingml/2006/main" prst="roundRect">
            <a:avLst>
              <a:gd name="adj" fmla="val 50000"/>
            </a:avLst>
          </a:prstGeom>
          <a:solidFill xmlns:a="http://schemas.openxmlformats.org/drawingml/2006/main">
            <a:srgbClr val="EAF7F1"/>
          </a:solidFill>
          <a:ln xmlns:a="http://schemas.openxmlformats.org/drawingml/2006/main" w="9525">
            <a:solidFill>
              <a:srgbClr val="A9DFC9"/>
            </a:solidFill>
            <a:prstDash val="solid"/>
          </a:ln>
        </p:spPr>
      </p:sp>
      <p:sp>
        <p:nvSpPr>
          <p:cNvPr id="28" name="">
            <a:extLst xmlns:a="http://schemas.openxmlformats.org/drawingml/2006/main">
              <a:ext uri="{FF2B5EF4-FFF2-40B4-BE49-F238E27FC236}">
                <a16:creationId xmlns:a16="http://schemas.microsoft.com/office/drawing/2014/main" id="{240D9B71-DFC8-477C-9D82-9CA578FF2CA8}"/>
              </a:ext>
            </a:extLst>
          </p:cNvPr>
          <p:cNvSpPr>
            <a:spLocks xmlns:a="http://schemas.openxmlformats.org/drawingml/2006/main" noGrp="1"/>
          </p:cNvSpPr>
          <p:nvPr/>
        </p:nvSpPr>
        <p:spPr>
          <a:xfrm xmlns:a="http://schemas.openxmlformats.org/drawingml/2006/main">
            <a:off x="742950" y="4581525"/>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200" b="1">
                <a:solidFill>
                  <a:srgbClr val="247A59"/>
                </a:solidFill>
                <a:latin typeface="Helvetica Neue"/>
                <a:ea typeface="Helvetica Neue"/>
                <a:cs typeface="Helvetica Neue"/>
              </a:defRPr>
            </a:pPr>
            <a:r>
              <a:rPr sz="1200" b="1">
                <a:solidFill>
                  <a:srgbClr val="247A59"/>
                </a:solidFill>
                <a:latin typeface="Helvetica Neue"/>
                <a:ea typeface="Helvetica Neue"/>
                <a:cs typeface="Helvetica Neue"/>
              </a:rPr>
              <a:t>✓</a:t>
            </a:r>
          </a:p>
        </p:txBody>
      </p:sp>
      <p:sp>
        <p:nvSpPr>
          <p:cNvPr id="29" name="">
            <a:extLst xmlns:a="http://schemas.openxmlformats.org/drawingml/2006/main">
              <a:ext uri="{FF2B5EF4-FFF2-40B4-BE49-F238E27FC236}">
                <a16:creationId xmlns:a16="http://schemas.microsoft.com/office/drawing/2014/main" id="{FF6354B8-5995-4C82-B3CC-540234CDFD0D}"/>
              </a:ext>
            </a:extLst>
          </p:cNvPr>
          <p:cNvSpPr>
            <a:spLocks xmlns:a="http://schemas.openxmlformats.org/drawingml/2006/main" noGrp="1"/>
          </p:cNvSpPr>
          <p:nvPr/>
        </p:nvSpPr>
        <p:spPr>
          <a:xfrm xmlns:a="http://schemas.openxmlformats.org/drawingml/2006/main">
            <a:off x="1104900" y="4533900"/>
            <a:ext cx="41529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544"/>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Local fallback and saved brief audit</a:t>
            </a:r>
          </a:p>
        </p:txBody>
      </p:sp>
      <p:sp>
        <p:nvSpPr>
          <p:cNvPr id="30" name="">
            <a:extLst xmlns:a="http://schemas.openxmlformats.org/drawingml/2006/main">
              <a:ext uri="{FF2B5EF4-FFF2-40B4-BE49-F238E27FC236}">
                <a16:creationId xmlns:a16="http://schemas.microsoft.com/office/drawing/2014/main" id="{329B6427-62E0-482F-97D3-63254171C4AD}"/>
              </a:ext>
            </a:extLst>
          </p:cNvPr>
          <p:cNvSpPr>
            <a:spLocks xmlns:a="http://schemas.openxmlformats.org/drawingml/2006/main" noGrp="1"/>
          </p:cNvSpPr>
          <p:nvPr/>
        </p:nvSpPr>
        <p:spPr>
          <a:xfrm xmlns:a="http://schemas.openxmlformats.org/drawingml/2006/main">
            <a:off x="1104900" y="4819650"/>
            <a:ext cx="4152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r>
              <a:t/>
            </a:r>
          </a:p>
        </p:txBody>
      </p:sp>
      <p:sp>
        <p:nvSpPr>
          <p:cNvPr id="31" name="">
            <a:extLst xmlns:a="http://schemas.openxmlformats.org/drawingml/2006/main">
              <a:ext uri="{FF2B5EF4-FFF2-40B4-BE49-F238E27FC236}">
                <a16:creationId xmlns:a16="http://schemas.microsoft.com/office/drawing/2014/main" id="{A1275246-0B5E-4F0B-B242-D7609D78ED76}"/>
              </a:ext>
            </a:extLst>
          </p:cNvPr>
          <p:cNvSpPr>
            <a:spLocks xmlns:a="http://schemas.openxmlformats.org/drawingml/2006/main" noGrp="1"/>
          </p:cNvSpPr>
          <p:nvPr/>
        </p:nvSpPr>
        <p:spPr>
          <a:xfrm xmlns:a="http://schemas.openxmlformats.org/drawingml/2006/main">
            <a:off x="685800" y="5010150"/>
            <a:ext cx="266700" cy="266700"/>
          </a:xfrm>
          <a:prstGeom xmlns:a="http://schemas.openxmlformats.org/drawingml/2006/main" prst="roundRect">
            <a:avLst>
              <a:gd name="adj" fmla="val 50000"/>
            </a:avLst>
          </a:prstGeom>
          <a:solidFill xmlns:a="http://schemas.openxmlformats.org/drawingml/2006/main">
            <a:srgbClr val="EAF7F1"/>
          </a:solidFill>
          <a:ln xmlns:a="http://schemas.openxmlformats.org/drawingml/2006/main" w="9525">
            <a:solidFill>
              <a:srgbClr val="A9DFC9"/>
            </a:solidFill>
            <a:prstDash val="solid"/>
          </a:ln>
        </p:spPr>
      </p:sp>
      <p:sp>
        <p:nvSpPr>
          <p:cNvPr id="32" name="">
            <a:extLst xmlns:a="http://schemas.openxmlformats.org/drawingml/2006/main">
              <a:ext uri="{FF2B5EF4-FFF2-40B4-BE49-F238E27FC236}">
                <a16:creationId xmlns:a16="http://schemas.microsoft.com/office/drawing/2014/main" id="{6C41D126-2EA4-4C3D-9014-D4D23225A808}"/>
              </a:ext>
            </a:extLst>
          </p:cNvPr>
          <p:cNvSpPr>
            <a:spLocks xmlns:a="http://schemas.openxmlformats.org/drawingml/2006/main" noGrp="1"/>
          </p:cNvSpPr>
          <p:nvPr/>
        </p:nvSpPr>
        <p:spPr>
          <a:xfrm xmlns:a="http://schemas.openxmlformats.org/drawingml/2006/main">
            <a:off x="742950" y="5038725"/>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200" b="1">
                <a:solidFill>
                  <a:srgbClr val="247A59"/>
                </a:solidFill>
                <a:latin typeface="Helvetica Neue"/>
                <a:ea typeface="Helvetica Neue"/>
                <a:cs typeface="Helvetica Neue"/>
              </a:defRPr>
            </a:pPr>
            <a:r>
              <a:rPr sz="1200" b="1">
                <a:solidFill>
                  <a:srgbClr val="247A59"/>
                </a:solidFill>
                <a:latin typeface="Helvetica Neue"/>
                <a:ea typeface="Helvetica Neue"/>
                <a:cs typeface="Helvetica Neue"/>
              </a:rPr>
              <a:t>✓</a:t>
            </a:r>
          </a:p>
        </p:txBody>
      </p:sp>
      <p:sp>
        <p:nvSpPr>
          <p:cNvPr id="33" name="">
            <a:extLst xmlns:a="http://schemas.openxmlformats.org/drawingml/2006/main">
              <a:ext uri="{FF2B5EF4-FFF2-40B4-BE49-F238E27FC236}">
                <a16:creationId xmlns:a16="http://schemas.microsoft.com/office/drawing/2014/main" id="{169CFD4E-A3DD-411F-AA46-D2AC09D3F113}"/>
              </a:ext>
            </a:extLst>
          </p:cNvPr>
          <p:cNvSpPr>
            <a:spLocks xmlns:a="http://schemas.openxmlformats.org/drawingml/2006/main" noGrp="1"/>
          </p:cNvSpPr>
          <p:nvPr/>
        </p:nvSpPr>
        <p:spPr>
          <a:xfrm xmlns:a="http://schemas.openxmlformats.org/drawingml/2006/main">
            <a:off x="1104900" y="4991100"/>
            <a:ext cx="41529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544"/>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Good, Bad, and Wrong feedback capture</a:t>
            </a:r>
          </a:p>
        </p:txBody>
      </p:sp>
      <p:sp>
        <p:nvSpPr>
          <p:cNvPr id="34" name="">
            <a:extLst xmlns:a="http://schemas.openxmlformats.org/drawingml/2006/main">
              <a:ext uri="{FF2B5EF4-FFF2-40B4-BE49-F238E27FC236}">
                <a16:creationId xmlns:a16="http://schemas.microsoft.com/office/drawing/2014/main" id="{56CE7EB0-3F29-4D3F-B156-2B90B615CA29}"/>
              </a:ext>
            </a:extLst>
          </p:cNvPr>
          <p:cNvSpPr>
            <a:spLocks xmlns:a="http://schemas.openxmlformats.org/drawingml/2006/main" noGrp="1"/>
          </p:cNvSpPr>
          <p:nvPr/>
        </p:nvSpPr>
        <p:spPr>
          <a:xfrm xmlns:a="http://schemas.openxmlformats.org/drawingml/2006/main">
            <a:off x="1104900" y="5276850"/>
            <a:ext cx="4152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r>
              <a:t/>
            </a:r>
          </a:p>
        </p:txBody>
      </p:sp>
      <p:sp>
        <p:nvSpPr>
          <p:cNvPr id="35" name="">
            <a:extLst xmlns:a="http://schemas.openxmlformats.org/drawingml/2006/main">
              <a:ext uri="{FF2B5EF4-FFF2-40B4-BE49-F238E27FC236}">
                <a16:creationId xmlns:a16="http://schemas.microsoft.com/office/drawing/2014/main" id="{0156AC8E-7EBB-4E1C-AAA4-F25E6FA6D44C}"/>
              </a:ext>
            </a:extLst>
          </p:cNvPr>
          <p:cNvSpPr>
            <a:spLocks xmlns:a="http://schemas.openxmlformats.org/drawingml/2006/main" noGrp="1"/>
          </p:cNvSpPr>
          <p:nvPr/>
        </p:nvSpPr>
        <p:spPr>
          <a:xfrm xmlns:a="http://schemas.openxmlformats.org/drawingml/2006/main">
            <a:off x="5905500" y="1485900"/>
            <a:ext cx="5410200" cy="4343400"/>
          </a:xfrm>
          <a:prstGeom xmlns:a="http://schemas.openxmlformats.org/drawingml/2006/main" prst="roundRect">
            <a:avLst>
              <a:gd name="adj" fmla="val 3947"/>
            </a:avLst>
          </a:prstGeom>
          <a:solidFill xmlns:a="http://schemas.openxmlformats.org/drawingml/2006/main">
            <a:srgbClr val="F2F4F7"/>
          </a:solidFill>
          <a:ln xmlns:a="http://schemas.openxmlformats.org/drawingml/2006/main" w="9525">
            <a:solidFill>
              <a:srgbClr val="D0D5DD"/>
            </a:solidFill>
            <a:prstDash val="solid"/>
          </a:ln>
        </p:spPr>
      </p:sp>
      <p:sp>
        <p:nvSpPr>
          <p:cNvPr id="36" name="">
            <a:extLst xmlns:a="http://schemas.openxmlformats.org/drawingml/2006/main">
              <a:ext uri="{FF2B5EF4-FFF2-40B4-BE49-F238E27FC236}">
                <a16:creationId xmlns:a16="http://schemas.microsoft.com/office/drawing/2014/main" id="{E8036B47-CE47-4FF4-A4D9-7A84C31F61DD}"/>
              </a:ext>
            </a:extLst>
          </p:cNvPr>
          <p:cNvSpPr>
            <a:spLocks xmlns:a="http://schemas.openxmlformats.org/drawingml/2006/main" noGrp="1"/>
          </p:cNvSpPr>
          <p:nvPr/>
        </p:nvSpPr>
        <p:spPr>
          <a:xfrm xmlns:a="http://schemas.openxmlformats.org/drawingml/2006/main">
            <a:off x="6134100" y="1714500"/>
            <a:ext cx="1809750" cy="285750"/>
          </a:xfrm>
          <a:prstGeom xmlns:a="http://schemas.openxmlformats.org/drawingml/2006/main" prst="roundRect">
            <a:avLst>
              <a:gd name="adj" fmla="val 50000"/>
            </a:avLst>
          </a:prstGeom>
          <a:solidFill xmlns:a="http://schemas.openxmlformats.org/drawingml/2006/main">
            <a:srgbClr val="FFF4E5"/>
          </a:solidFill>
          <a:ln xmlns:a="http://schemas.openxmlformats.org/drawingml/2006/main" w="9525">
            <a:solidFill>
              <a:srgbClr val="F4C78E"/>
            </a:solidFill>
            <a:prstDash val="solid"/>
          </a:ln>
        </p:spPr>
      </p:sp>
      <p:sp>
        <p:nvSpPr>
          <p:cNvPr id="37" name="">
            <a:extLst xmlns:a="http://schemas.openxmlformats.org/drawingml/2006/main">
              <a:ext uri="{FF2B5EF4-FFF2-40B4-BE49-F238E27FC236}">
                <a16:creationId xmlns:a16="http://schemas.microsoft.com/office/drawing/2014/main" id="{1B2960AD-1486-4714-AECB-C71207E1F6A4}"/>
              </a:ext>
            </a:extLst>
          </p:cNvPr>
          <p:cNvSpPr>
            <a:spLocks xmlns:a="http://schemas.openxmlformats.org/drawingml/2006/main" noGrp="1"/>
          </p:cNvSpPr>
          <p:nvPr/>
        </p:nvSpPr>
        <p:spPr>
          <a:xfrm xmlns:a="http://schemas.openxmlformats.org/drawingml/2006/main">
            <a:off x="6248400" y="1762125"/>
            <a:ext cx="158115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857"/>
          </a:bodyPr>
          <a:lstStyle xmlns:a="http://schemas.openxmlformats.org/drawingml/2006/main"/>
          <a:p xmlns:a="http://schemas.openxmlformats.org/drawingml/2006/main">
            <a:pPr algn="l">
              <a:buNone/>
              <a:defRPr sz="1050" b="1">
                <a:solidFill>
                  <a:srgbClr val="B54708"/>
                </a:solidFill>
                <a:latin typeface="Helvetica Neue"/>
                <a:ea typeface="Helvetica Neue"/>
                <a:cs typeface="Helvetica Neue"/>
              </a:defRPr>
            </a:pPr>
            <a:r>
              <a:rPr sz="1050" b="1">
                <a:solidFill>
                  <a:srgbClr val="B54708"/>
                </a:solidFill>
                <a:latin typeface="Helvetica Neue"/>
                <a:ea typeface="Helvetica Neue"/>
                <a:cs typeface="Helvetica Neue"/>
              </a:rPr>
              <a:t>DEMO BOUNDARY</a:t>
            </a:r>
          </a:p>
        </p:txBody>
      </p:sp>
      <p:sp>
        <p:nvSpPr>
          <p:cNvPr id="38" name="">
            <a:extLst xmlns:a="http://schemas.openxmlformats.org/drawingml/2006/main">
              <a:ext uri="{FF2B5EF4-FFF2-40B4-BE49-F238E27FC236}">
                <a16:creationId xmlns:a16="http://schemas.microsoft.com/office/drawing/2014/main" id="{618CDEE8-CD3F-4DBF-BC1C-80E64C71901F}"/>
              </a:ext>
            </a:extLst>
          </p:cNvPr>
          <p:cNvSpPr>
            <a:spLocks xmlns:a="http://schemas.openxmlformats.org/drawingml/2006/main" noGrp="1"/>
          </p:cNvSpPr>
          <p:nvPr/>
        </p:nvSpPr>
        <p:spPr>
          <a:xfrm xmlns:a="http://schemas.openxmlformats.org/drawingml/2006/main">
            <a:off x="6153150" y="2362200"/>
            <a:ext cx="76200" cy="76200"/>
          </a:xfrm>
          <a:prstGeom xmlns:a="http://schemas.openxmlformats.org/drawingml/2006/main" prst="roundRect">
            <a:avLst>
              <a:gd name="adj" fmla="val 50000"/>
            </a:avLst>
          </a:prstGeom>
          <a:solidFill xmlns:a="http://schemas.openxmlformats.org/drawingml/2006/main">
            <a:srgbClr val="B54708"/>
          </a:solidFill>
          <a:ln xmlns:a="http://schemas.openxmlformats.org/drawingml/2006/main" w="9525">
            <a:solidFill>
              <a:srgbClr val="B54708"/>
            </a:solidFill>
            <a:prstDash val="solid"/>
          </a:ln>
        </p:spPr>
      </p:sp>
      <p:sp>
        <p:nvSpPr>
          <p:cNvPr id="39" name="">
            <a:extLst xmlns:a="http://schemas.openxmlformats.org/drawingml/2006/main">
              <a:ext uri="{FF2B5EF4-FFF2-40B4-BE49-F238E27FC236}">
                <a16:creationId xmlns:a16="http://schemas.microsoft.com/office/drawing/2014/main" id="{098399F3-F9ED-4555-80C8-6CDC3A2ABF5E}"/>
              </a:ext>
            </a:extLst>
          </p:cNvPr>
          <p:cNvSpPr>
            <a:spLocks xmlns:a="http://schemas.openxmlformats.org/drawingml/2006/main" noGrp="1"/>
          </p:cNvSpPr>
          <p:nvPr/>
        </p:nvSpPr>
        <p:spPr>
          <a:xfrm xmlns:a="http://schemas.openxmlformats.org/drawingml/2006/main">
            <a:off x="6362700" y="2295525"/>
            <a:ext cx="4648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10 fictional companies</a:t>
            </a:r>
          </a:p>
        </p:txBody>
      </p:sp>
      <p:sp>
        <p:nvSpPr>
          <p:cNvPr id="40" name="">
            <a:extLst xmlns:a="http://schemas.openxmlformats.org/drawingml/2006/main">
              <a:ext uri="{FF2B5EF4-FFF2-40B4-BE49-F238E27FC236}">
                <a16:creationId xmlns:a16="http://schemas.microsoft.com/office/drawing/2014/main" id="{08A9FCAC-8F3D-418D-B6A1-F89B906AF108}"/>
              </a:ext>
            </a:extLst>
          </p:cNvPr>
          <p:cNvSpPr>
            <a:spLocks xmlns:a="http://schemas.openxmlformats.org/drawingml/2006/main" noGrp="1"/>
          </p:cNvSpPr>
          <p:nvPr/>
        </p:nvSpPr>
        <p:spPr>
          <a:xfrm xmlns:a="http://schemas.openxmlformats.org/drawingml/2006/main">
            <a:off x="6153150" y="2819400"/>
            <a:ext cx="76200" cy="76200"/>
          </a:xfrm>
          <a:prstGeom xmlns:a="http://schemas.openxmlformats.org/drawingml/2006/main" prst="roundRect">
            <a:avLst>
              <a:gd name="adj" fmla="val 50000"/>
            </a:avLst>
          </a:prstGeom>
          <a:solidFill xmlns:a="http://schemas.openxmlformats.org/drawingml/2006/main">
            <a:srgbClr val="B54708"/>
          </a:solidFill>
          <a:ln xmlns:a="http://schemas.openxmlformats.org/drawingml/2006/main" w="9525">
            <a:solidFill>
              <a:srgbClr val="B54708"/>
            </a:solidFill>
            <a:prstDash val="solid"/>
          </a:ln>
        </p:spPr>
      </p:sp>
      <p:sp>
        <p:nvSpPr>
          <p:cNvPr id="41" name="">
            <a:extLst xmlns:a="http://schemas.openxmlformats.org/drawingml/2006/main">
              <a:ext uri="{FF2B5EF4-FFF2-40B4-BE49-F238E27FC236}">
                <a16:creationId xmlns:a16="http://schemas.microsoft.com/office/drawing/2014/main" id="{B89A3839-1695-415E-ADAD-3FC055C1718F}"/>
              </a:ext>
            </a:extLst>
          </p:cNvPr>
          <p:cNvSpPr>
            <a:spLocks xmlns:a="http://schemas.openxmlformats.org/drawingml/2006/main" noGrp="1"/>
          </p:cNvSpPr>
          <p:nvPr/>
        </p:nvSpPr>
        <p:spPr>
          <a:xfrm xmlns:a="http://schemas.openxmlformats.org/drawingml/2006/main">
            <a:off x="6362700" y="2752725"/>
            <a:ext cx="4648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Source-supported local rules remain as the failure fallback</a:t>
            </a:r>
          </a:p>
        </p:txBody>
      </p:sp>
      <p:sp>
        <p:nvSpPr>
          <p:cNvPr id="42" name="">
            <a:extLst xmlns:a="http://schemas.openxmlformats.org/drawingml/2006/main">
              <a:ext uri="{FF2B5EF4-FFF2-40B4-BE49-F238E27FC236}">
                <a16:creationId xmlns:a16="http://schemas.microsoft.com/office/drawing/2014/main" id="{94BA962C-B23C-46F0-B890-7AF5E8CC6C28}"/>
              </a:ext>
            </a:extLst>
          </p:cNvPr>
          <p:cNvSpPr>
            <a:spLocks xmlns:a="http://schemas.openxmlformats.org/drawingml/2006/main" noGrp="1"/>
          </p:cNvSpPr>
          <p:nvPr/>
        </p:nvSpPr>
        <p:spPr>
          <a:xfrm xmlns:a="http://schemas.openxmlformats.org/drawingml/2006/main">
            <a:off x="6153150" y="3276600"/>
            <a:ext cx="76200" cy="76200"/>
          </a:xfrm>
          <a:prstGeom xmlns:a="http://schemas.openxmlformats.org/drawingml/2006/main" prst="roundRect">
            <a:avLst>
              <a:gd name="adj" fmla="val 50000"/>
            </a:avLst>
          </a:prstGeom>
          <a:solidFill xmlns:a="http://schemas.openxmlformats.org/drawingml/2006/main">
            <a:srgbClr val="B54708"/>
          </a:solidFill>
          <a:ln xmlns:a="http://schemas.openxmlformats.org/drawingml/2006/main" w="9525">
            <a:solidFill>
              <a:srgbClr val="B54708"/>
            </a:solidFill>
            <a:prstDash val="solid"/>
          </a:ln>
        </p:spPr>
      </p:sp>
      <p:sp>
        <p:nvSpPr>
          <p:cNvPr id="43" name="">
            <a:extLst xmlns:a="http://schemas.openxmlformats.org/drawingml/2006/main">
              <a:ext uri="{FF2B5EF4-FFF2-40B4-BE49-F238E27FC236}">
                <a16:creationId xmlns:a16="http://schemas.microsoft.com/office/drawing/2014/main" id="{9536D5C5-691D-46F0-83CE-BA6B9D8F4D6D}"/>
              </a:ext>
            </a:extLst>
          </p:cNvPr>
          <p:cNvSpPr>
            <a:spLocks xmlns:a="http://schemas.openxmlformats.org/drawingml/2006/main" noGrp="1"/>
          </p:cNvSpPr>
          <p:nvPr/>
        </p:nvSpPr>
        <p:spPr>
          <a:xfrm xmlns:a="http://schemas.openxmlformats.org/drawingml/2006/main">
            <a:off x="6362700" y="3209925"/>
            <a:ext cx="4648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Static files, local PostgreSQL, and a fixed date</a:t>
            </a:r>
          </a:p>
        </p:txBody>
      </p:sp>
      <p:sp>
        <p:nvSpPr>
          <p:cNvPr id="44" name="">
            <a:extLst xmlns:a="http://schemas.openxmlformats.org/drawingml/2006/main">
              <a:ext uri="{FF2B5EF4-FFF2-40B4-BE49-F238E27FC236}">
                <a16:creationId xmlns:a16="http://schemas.microsoft.com/office/drawing/2014/main" id="{7B9A0E37-CACC-4EFD-836F-5AF091EEEDCF}"/>
              </a:ext>
            </a:extLst>
          </p:cNvPr>
          <p:cNvSpPr>
            <a:spLocks xmlns:a="http://schemas.openxmlformats.org/drawingml/2006/main" noGrp="1"/>
          </p:cNvSpPr>
          <p:nvPr/>
        </p:nvSpPr>
        <p:spPr>
          <a:xfrm xmlns:a="http://schemas.openxmlformats.org/drawingml/2006/main">
            <a:off x="6153150" y="3733800"/>
            <a:ext cx="76200" cy="76200"/>
          </a:xfrm>
          <a:prstGeom xmlns:a="http://schemas.openxmlformats.org/drawingml/2006/main" prst="roundRect">
            <a:avLst>
              <a:gd name="adj" fmla="val 50000"/>
            </a:avLst>
          </a:prstGeom>
          <a:solidFill xmlns:a="http://schemas.openxmlformats.org/drawingml/2006/main">
            <a:srgbClr val="B54708"/>
          </a:solidFill>
          <a:ln xmlns:a="http://schemas.openxmlformats.org/drawingml/2006/main" w="9525">
            <a:solidFill>
              <a:srgbClr val="B54708"/>
            </a:solidFill>
            <a:prstDash val="solid"/>
          </a:ln>
        </p:spPr>
      </p:sp>
      <p:sp>
        <p:nvSpPr>
          <p:cNvPr id="45" name="">
            <a:extLst xmlns:a="http://schemas.openxmlformats.org/drawingml/2006/main">
              <a:ext uri="{FF2B5EF4-FFF2-40B4-BE49-F238E27FC236}">
                <a16:creationId xmlns:a16="http://schemas.microsoft.com/office/drawing/2014/main" id="{D0354110-2FB3-4544-9BF4-14A3A73CAB95}"/>
              </a:ext>
            </a:extLst>
          </p:cNvPr>
          <p:cNvSpPr>
            <a:spLocks xmlns:a="http://schemas.openxmlformats.org/drawingml/2006/main" noGrp="1"/>
          </p:cNvSpPr>
          <p:nvPr/>
        </p:nvSpPr>
        <p:spPr>
          <a:xfrm xmlns:a="http://schemas.openxmlformats.org/drawingml/2006/main">
            <a:off x="6362700" y="3667125"/>
            <a:ext cx="4648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OpenAI embeddings use fictional demo text</a:t>
            </a:r>
          </a:p>
        </p:txBody>
      </p:sp>
      <p:sp>
        <p:nvSpPr>
          <p:cNvPr id="46" name="">
            <a:extLst xmlns:a="http://schemas.openxmlformats.org/drawingml/2006/main">
              <a:ext uri="{FF2B5EF4-FFF2-40B4-BE49-F238E27FC236}">
                <a16:creationId xmlns:a16="http://schemas.microsoft.com/office/drawing/2014/main" id="{5B4CB06D-F6A2-46FA-B243-DA73C237D185}"/>
              </a:ext>
            </a:extLst>
          </p:cNvPr>
          <p:cNvSpPr>
            <a:spLocks xmlns:a="http://schemas.openxmlformats.org/drawingml/2006/main" noGrp="1"/>
          </p:cNvSpPr>
          <p:nvPr/>
        </p:nvSpPr>
        <p:spPr>
          <a:xfrm xmlns:a="http://schemas.openxmlformats.org/drawingml/2006/main">
            <a:off x="6153150" y="4191000"/>
            <a:ext cx="76200" cy="76200"/>
          </a:xfrm>
          <a:prstGeom xmlns:a="http://schemas.openxmlformats.org/drawingml/2006/main" prst="roundRect">
            <a:avLst>
              <a:gd name="adj" fmla="val 50000"/>
            </a:avLst>
          </a:prstGeom>
          <a:solidFill xmlns:a="http://schemas.openxmlformats.org/drawingml/2006/main">
            <a:srgbClr val="B54708"/>
          </a:solidFill>
          <a:ln xmlns:a="http://schemas.openxmlformats.org/drawingml/2006/main" w="9525">
            <a:solidFill>
              <a:srgbClr val="B54708"/>
            </a:solidFill>
            <a:prstDash val="solid"/>
          </a:ln>
        </p:spPr>
      </p:sp>
      <p:sp>
        <p:nvSpPr>
          <p:cNvPr id="47" name="">
            <a:extLst xmlns:a="http://schemas.openxmlformats.org/drawingml/2006/main">
              <a:ext uri="{FF2B5EF4-FFF2-40B4-BE49-F238E27FC236}">
                <a16:creationId xmlns:a16="http://schemas.microsoft.com/office/drawing/2014/main" id="{63C9D8ED-30F2-4E3E-AD9B-AB4BC1017ABE}"/>
              </a:ext>
            </a:extLst>
          </p:cNvPr>
          <p:cNvSpPr>
            <a:spLocks xmlns:a="http://schemas.openxmlformats.org/drawingml/2006/main" noGrp="1"/>
          </p:cNvSpPr>
          <p:nvPr/>
        </p:nvSpPr>
        <p:spPr>
          <a:xfrm xmlns:a="http://schemas.openxmlformats.org/drawingml/2006/main">
            <a:off x="6362700" y="4124325"/>
            <a:ext cx="4648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gpt-5.6-sol and Responses API are active for briefs</a:t>
            </a:r>
          </a:p>
        </p:txBody>
      </p:sp>
      <p:sp>
        <p:nvSpPr>
          <p:cNvPr id="48" name="">
            <a:extLst xmlns:a="http://schemas.openxmlformats.org/drawingml/2006/main">
              <a:ext uri="{FF2B5EF4-FFF2-40B4-BE49-F238E27FC236}">
                <a16:creationId xmlns:a16="http://schemas.microsoft.com/office/drawing/2014/main" id="{F8355BF9-C88B-4D73-8354-02EE9009C6D6}"/>
              </a:ext>
            </a:extLst>
          </p:cNvPr>
          <p:cNvSpPr>
            <a:spLocks xmlns:a="http://schemas.openxmlformats.org/drawingml/2006/main" noGrp="1"/>
          </p:cNvSpPr>
          <p:nvPr/>
        </p:nvSpPr>
        <p:spPr>
          <a:xfrm xmlns:a="http://schemas.openxmlformats.org/drawingml/2006/main">
            <a:off x="6153150" y="4648200"/>
            <a:ext cx="76200" cy="76200"/>
          </a:xfrm>
          <a:prstGeom xmlns:a="http://schemas.openxmlformats.org/drawingml/2006/main" prst="roundRect">
            <a:avLst>
              <a:gd name="adj" fmla="val 50000"/>
            </a:avLst>
          </a:prstGeom>
          <a:solidFill xmlns:a="http://schemas.openxmlformats.org/drawingml/2006/main">
            <a:srgbClr val="B54708"/>
          </a:solidFill>
          <a:ln xmlns:a="http://schemas.openxmlformats.org/drawingml/2006/main" w="9525">
            <a:solidFill>
              <a:srgbClr val="B54708"/>
            </a:solidFill>
            <a:prstDash val="solid"/>
          </a:ln>
        </p:spPr>
      </p:sp>
      <p:sp>
        <p:nvSpPr>
          <p:cNvPr id="49" name="">
            <a:extLst xmlns:a="http://schemas.openxmlformats.org/drawingml/2006/main">
              <a:ext uri="{FF2B5EF4-FFF2-40B4-BE49-F238E27FC236}">
                <a16:creationId xmlns:a16="http://schemas.microsoft.com/office/drawing/2014/main" id="{42E33EBE-F4FC-4200-BE63-29A8041FA684}"/>
              </a:ext>
            </a:extLst>
          </p:cNvPr>
          <p:cNvSpPr>
            <a:spLocks xmlns:a="http://schemas.openxmlformats.org/drawingml/2006/main" noGrp="1"/>
          </p:cNvSpPr>
          <p:nvPr/>
        </p:nvSpPr>
        <p:spPr>
          <a:xfrm xmlns:a="http://schemas.openxmlformats.org/drawingml/2006/main">
            <a:off x="6362700" y="4581525"/>
            <a:ext cx="4648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7015"/>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No automatic source watcher, live connectors, or filings adapter</a:t>
            </a:r>
          </a:p>
        </p:txBody>
      </p:sp>
      <p:sp>
        <p:nvSpPr>
          <p:cNvPr id="50" name="">
            <a:extLst xmlns:a="http://schemas.openxmlformats.org/drawingml/2006/main">
              <a:ext uri="{FF2B5EF4-FFF2-40B4-BE49-F238E27FC236}">
                <a16:creationId xmlns:a16="http://schemas.microsoft.com/office/drawing/2014/main" id="{323388CF-7281-4DF1-A442-E2A94DB705AB}"/>
              </a:ext>
            </a:extLst>
          </p:cNvPr>
          <p:cNvSpPr>
            <a:spLocks xmlns:a="http://schemas.openxmlformats.org/drawingml/2006/main" noGrp="1"/>
          </p:cNvSpPr>
          <p:nvPr/>
        </p:nvSpPr>
        <p:spPr>
          <a:xfrm xmlns:a="http://schemas.openxmlformats.org/drawingml/2006/main">
            <a:off x="6153150" y="5105400"/>
            <a:ext cx="76200" cy="76200"/>
          </a:xfrm>
          <a:prstGeom xmlns:a="http://schemas.openxmlformats.org/drawingml/2006/main" prst="roundRect">
            <a:avLst>
              <a:gd name="adj" fmla="val 50000"/>
            </a:avLst>
          </a:prstGeom>
          <a:solidFill xmlns:a="http://schemas.openxmlformats.org/drawingml/2006/main">
            <a:srgbClr val="B54708"/>
          </a:solidFill>
          <a:ln xmlns:a="http://schemas.openxmlformats.org/drawingml/2006/main" w="9525">
            <a:solidFill>
              <a:srgbClr val="B54708"/>
            </a:solidFill>
            <a:prstDash val="solid"/>
          </a:ln>
        </p:spPr>
      </p:sp>
      <p:sp>
        <p:nvSpPr>
          <p:cNvPr id="51" name="">
            <a:extLst xmlns:a="http://schemas.openxmlformats.org/drawingml/2006/main">
              <a:ext uri="{FF2B5EF4-FFF2-40B4-BE49-F238E27FC236}">
                <a16:creationId xmlns:a16="http://schemas.microsoft.com/office/drawing/2014/main" id="{AEEC6469-660B-4EB7-877D-E5FB3002905F}"/>
              </a:ext>
            </a:extLst>
          </p:cNvPr>
          <p:cNvSpPr>
            <a:spLocks xmlns:a="http://schemas.openxmlformats.org/drawingml/2006/main" noGrp="1"/>
          </p:cNvSpPr>
          <p:nvPr/>
        </p:nvSpPr>
        <p:spPr>
          <a:xfrm xmlns:a="http://schemas.openxmlformats.org/drawingml/2006/main">
            <a:off x="6362700" y="5038725"/>
            <a:ext cx="4648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838"/>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No sign-in, access rules, schedule, webhook, or reviewer screen</a:t>
            </a:r>
          </a:p>
        </p:txBody>
      </p:sp>
      <p:sp>
        <p:nvSpPr>
          <p:cNvPr id="52" name="">
            <a:extLst xmlns:a="http://schemas.openxmlformats.org/drawingml/2006/main">
              <a:ext uri="{FF2B5EF4-FFF2-40B4-BE49-F238E27FC236}">
                <a16:creationId xmlns:a16="http://schemas.microsoft.com/office/drawing/2014/main" id="{AC2FCDB2-CCE1-4F3F-81ED-1CB32DC4F115}"/>
              </a:ext>
            </a:extLst>
          </p:cNvPr>
          <p:cNvSpPr>
            <a:spLocks xmlns:a="http://schemas.openxmlformats.org/drawingml/2006/main" noGrp="1"/>
          </p:cNvSpPr>
          <p:nvPr/>
        </p:nvSpPr>
        <p:spPr>
          <a:xfrm xmlns:a="http://schemas.openxmlformats.org/drawingml/2006/main">
            <a:off x="6134100" y="541020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375"/>
          </a:bodyPr>
          <a:lstStyle xmlns:a="http://schemas.openxmlformats.org/drawingml/2006/main"/>
          <a:p xmlns:a="http://schemas.openxmlformats.org/drawingml/2006/main">
            <a:pPr algn="l">
              <a:buNone/>
              <a:defRPr sz="1200" b="1">
                <a:solidFill>
                  <a:srgbClr val="B54708"/>
                </a:solidFill>
                <a:latin typeface="Helvetica Neue"/>
                <a:ea typeface="Helvetica Neue"/>
                <a:cs typeface="Helvetica Neue"/>
              </a:defRPr>
            </a:pPr>
            <a:r>
              <a:rPr sz="1200" b="1">
                <a:solidFill>
                  <a:srgbClr val="B54708"/>
                </a:solidFill>
                <a:latin typeface="Helvetica Neue"/>
                <a:ea typeface="Helvetica Neue"/>
                <a:cs typeface="Helvetica Neue"/>
              </a:rPr>
              <a:t>OpenAI receives fictional text only. It receives no raw JSON or unrelated company records.</a:t>
            </a:r>
          </a:p>
        </p:txBody>
      </p:sp>
    </p:spTree>
    <p:extLst>
      <p:ext uri="{BB962C8B-B14F-4D97-AF65-F5344CB8AC3E}">
        <p14:creationId xmlns:p14="http://schemas.microsoft.com/office/powerpoint/2010/main" val="26650751"/>
      </p:ext>
    </p:extLst>
  </p:cSld>
</p:sld>
</file>

<file path=ppt/slides/slide10.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B48A21C7-CE03-4BC4-898F-2976E47ACF7A}"/>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7554"/>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3000" b="1">
                <a:solidFill>
                  <a:srgbClr val="101828"/>
                </a:solidFill>
                <a:latin typeface="Helvetica Neue"/>
                <a:ea typeface="Helvetica Neue"/>
                <a:cs typeface="Helvetica Neue"/>
              </a:rPr>
              <a:t>How would two people reach an internal pilot in eight weeks?</a:t>
            </a:r>
          </a:p>
        </p:txBody>
      </p:sp>
      <p:sp>
        <p:nvSpPr>
          <p:cNvPr id="2" name="">
            <a:extLst xmlns:a="http://schemas.openxmlformats.org/drawingml/2006/main">
              <a:ext uri="{FF2B5EF4-FFF2-40B4-BE49-F238E27FC236}">
                <a16:creationId xmlns:a16="http://schemas.microsoft.com/office/drawing/2014/main" id="{09B70858-4A35-41AC-BA4E-97385B0D613C}"/>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6932D16F-3E93-49C8-A083-E6763E45CD17}"/>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10</a:t>
            </a:r>
          </a:p>
        </p:txBody>
      </p:sp>
      <p:sp>
        <p:nvSpPr>
          <p:cNvPr id="4" name="">
            <a:extLst xmlns:a="http://schemas.openxmlformats.org/drawingml/2006/main">
              <a:ext uri="{FF2B5EF4-FFF2-40B4-BE49-F238E27FC236}">
                <a16:creationId xmlns:a16="http://schemas.microsoft.com/office/drawing/2014/main" id="{F6AA8900-8D83-489E-AEA5-4DF6BA250739}"/>
              </a:ext>
            </a:extLst>
          </p:cNvPr>
          <p:cNvSpPr>
            <a:spLocks xmlns:a="http://schemas.openxmlformats.org/drawingml/2006/main" noGrp="1"/>
          </p:cNvSpPr>
          <p:nvPr/>
        </p:nvSpPr>
        <p:spPr>
          <a:xfrm xmlns:a="http://schemas.openxmlformats.org/drawingml/2006/main">
            <a:off x="1057275" y="2324100"/>
            <a:ext cx="9001125" cy="0"/>
          </a:xfrm>
          <a:prstGeom xmlns:a="http://schemas.openxmlformats.org/drawingml/2006/main" prst="line">
            <a:avLst/>
          </a:prstGeom>
          <a:noFill xmlns:a="http://schemas.openxmlformats.org/drawingml/2006/main"/>
          <a:ln xmlns:a="http://schemas.openxmlformats.org/drawingml/2006/main" w="28575">
            <a:solidFill>
              <a:srgbClr val="9CB5D5"/>
            </a:solidFill>
            <a:prstDash val="solid"/>
          </a:ln>
        </p:spPr>
      </p:sp>
      <p:sp>
        <p:nvSpPr>
          <p:cNvPr id="5" name="">
            <a:extLst xmlns:a="http://schemas.openxmlformats.org/drawingml/2006/main">
              <a:ext uri="{FF2B5EF4-FFF2-40B4-BE49-F238E27FC236}">
                <a16:creationId xmlns:a16="http://schemas.microsoft.com/office/drawing/2014/main" id="{20A0FB16-277A-415B-B0A6-8E73C2815796}"/>
              </a:ext>
            </a:extLst>
          </p:cNvPr>
          <p:cNvSpPr>
            <a:spLocks xmlns:a="http://schemas.openxmlformats.org/drawingml/2006/main" noGrp="1"/>
          </p:cNvSpPr>
          <p:nvPr/>
        </p:nvSpPr>
        <p:spPr>
          <a:xfrm xmlns:a="http://schemas.openxmlformats.org/drawingml/2006/main">
            <a:off x="1476375" y="2171700"/>
            <a:ext cx="228600" cy="2286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6" name="">
            <a:extLst xmlns:a="http://schemas.openxmlformats.org/drawingml/2006/main">
              <a:ext uri="{FF2B5EF4-FFF2-40B4-BE49-F238E27FC236}">
                <a16:creationId xmlns:a16="http://schemas.microsoft.com/office/drawing/2014/main" id="{03049BA2-9994-4F21-94A5-B41BE3149E4E}"/>
              </a:ext>
            </a:extLst>
          </p:cNvPr>
          <p:cNvSpPr>
            <a:spLocks xmlns:a="http://schemas.openxmlformats.org/drawingml/2006/main" noGrp="1"/>
          </p:cNvSpPr>
          <p:nvPr/>
        </p:nvSpPr>
        <p:spPr>
          <a:xfrm xmlns:a="http://schemas.openxmlformats.org/drawingml/2006/main">
            <a:off x="457200" y="2609850"/>
            <a:ext cx="2457450" cy="2476500"/>
          </a:xfrm>
          <a:prstGeom xmlns:a="http://schemas.openxmlformats.org/drawingml/2006/main" prst="roundRect">
            <a:avLst>
              <a:gd name="adj" fmla="val 6202"/>
            </a:avLst>
          </a:prstGeom>
          <a:solidFill xmlns:a="http://schemas.openxmlformats.org/drawingml/2006/main">
            <a:srgbClr val="FFFFFF"/>
          </a:solidFill>
          <a:ln xmlns:a="http://schemas.openxmlformats.org/drawingml/2006/main" w="9525">
            <a:solidFill>
              <a:srgbClr val="D0D5DD"/>
            </a:solidFill>
            <a:prstDash val="solid"/>
          </a:ln>
        </p:spPr>
      </p:sp>
      <p:sp>
        <p:nvSpPr>
          <p:cNvPr id="7" name="">
            <a:extLst xmlns:a="http://schemas.openxmlformats.org/drawingml/2006/main">
              <a:ext uri="{FF2B5EF4-FFF2-40B4-BE49-F238E27FC236}">
                <a16:creationId xmlns:a16="http://schemas.microsoft.com/office/drawing/2014/main" id="{1F65D154-8701-4349-9AFF-7DA254E7C5CA}"/>
              </a:ext>
            </a:extLst>
          </p:cNvPr>
          <p:cNvSpPr>
            <a:spLocks xmlns:a="http://schemas.openxmlformats.org/drawingml/2006/main" noGrp="1"/>
          </p:cNvSpPr>
          <p:nvPr/>
        </p:nvSpPr>
        <p:spPr>
          <a:xfrm xmlns:a="http://schemas.openxmlformats.org/drawingml/2006/main">
            <a:off x="666750" y="2838450"/>
            <a:ext cx="2000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111"/>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900" b="1">
                <a:solidFill>
                  <a:srgbClr val="315F9F"/>
                </a:solidFill>
                <a:latin typeface="Helvetica Neue"/>
                <a:ea typeface="Helvetica Neue"/>
                <a:cs typeface="Helvetica Neue"/>
              </a:rPr>
              <a:t>PROPOSED · WEEKS 1–2</a:t>
            </a:r>
          </a:p>
        </p:txBody>
      </p:sp>
      <p:sp>
        <p:nvSpPr>
          <p:cNvPr id="8" name="">
            <a:extLst xmlns:a="http://schemas.openxmlformats.org/drawingml/2006/main">
              <a:ext uri="{FF2B5EF4-FFF2-40B4-BE49-F238E27FC236}">
                <a16:creationId xmlns:a16="http://schemas.microsoft.com/office/drawing/2014/main" id="{C64C3219-E26B-4090-B4AC-9A1D699133EC}"/>
              </a:ext>
            </a:extLst>
          </p:cNvPr>
          <p:cNvSpPr>
            <a:spLocks xmlns:a="http://schemas.openxmlformats.org/drawingml/2006/main" noGrp="1"/>
          </p:cNvSpPr>
          <p:nvPr/>
        </p:nvSpPr>
        <p:spPr>
          <a:xfrm xmlns:a="http://schemas.openxmlformats.org/drawingml/2006/main">
            <a:off x="666750" y="3209925"/>
            <a:ext cx="20383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939"/>
          </a:bodyPr>
          <a:lstStyle xmlns:a="http://schemas.openxmlformats.org/drawingml/2006/main"/>
          <a:p xmlns:a="http://schemas.openxmlformats.org/drawingml/2006/main">
            <a:pPr algn="l">
              <a:buNone/>
              <a:defRPr sz="1650" b="1">
                <a:solidFill>
                  <a:srgbClr val="101828"/>
                </a:solidFill>
                <a:latin typeface="Helvetica Neue"/>
                <a:ea typeface="Helvetica Neue"/>
                <a:cs typeface="Helvetica Neue"/>
              </a:defRPr>
            </a:pPr>
            <a:r>
              <a:rPr sz="1650" b="1">
                <a:solidFill>
                  <a:srgbClr val="101828"/>
                </a:solidFill>
                <a:latin typeface="Helvetica Neue"/>
                <a:ea typeface="Helvetica Neue"/>
                <a:cs typeface="Helvetica Neue"/>
              </a:rPr>
              <a:t>Build one source-to-brief path</a:t>
            </a:r>
          </a:p>
        </p:txBody>
      </p:sp>
      <p:sp>
        <p:nvSpPr>
          <p:cNvPr id="9" name="">
            <a:extLst xmlns:a="http://schemas.openxmlformats.org/drawingml/2006/main">
              <a:ext uri="{FF2B5EF4-FFF2-40B4-BE49-F238E27FC236}">
                <a16:creationId xmlns:a16="http://schemas.microsoft.com/office/drawing/2014/main" id="{EF101CF2-9E15-45BA-BEE2-9A4742BA8580}"/>
              </a:ext>
            </a:extLst>
          </p:cNvPr>
          <p:cNvSpPr>
            <a:spLocks xmlns:a="http://schemas.openxmlformats.org/drawingml/2006/main" noGrp="1"/>
          </p:cNvSpPr>
          <p:nvPr/>
        </p:nvSpPr>
        <p:spPr>
          <a:xfrm xmlns:a="http://schemas.openxmlformats.org/drawingml/2006/main">
            <a:off x="666750" y="3876675"/>
            <a:ext cx="20383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Reference answers</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Source contract</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One-company slice</a:t>
            </a:r>
          </a:p>
        </p:txBody>
      </p:sp>
      <p:sp>
        <p:nvSpPr>
          <p:cNvPr id="10" name="">
            <a:extLst xmlns:a="http://schemas.openxmlformats.org/drawingml/2006/main">
              <a:ext uri="{FF2B5EF4-FFF2-40B4-BE49-F238E27FC236}">
                <a16:creationId xmlns:a16="http://schemas.microsoft.com/office/drawing/2014/main" id="{7AB3725A-8499-4B9F-902D-1547D90E1C54}"/>
              </a:ext>
            </a:extLst>
          </p:cNvPr>
          <p:cNvSpPr>
            <a:spLocks xmlns:a="http://schemas.openxmlformats.org/drawingml/2006/main" noGrp="1"/>
          </p:cNvSpPr>
          <p:nvPr/>
        </p:nvSpPr>
        <p:spPr>
          <a:xfrm xmlns:a="http://schemas.openxmlformats.org/drawingml/2006/main">
            <a:off x="4210050" y="2171700"/>
            <a:ext cx="228600" cy="2286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11" name="">
            <a:extLst xmlns:a="http://schemas.openxmlformats.org/drawingml/2006/main">
              <a:ext uri="{FF2B5EF4-FFF2-40B4-BE49-F238E27FC236}">
                <a16:creationId xmlns:a16="http://schemas.microsoft.com/office/drawing/2014/main" id="{913AFA8F-4649-4DC7-8F2E-34007EF14B85}"/>
              </a:ext>
            </a:extLst>
          </p:cNvPr>
          <p:cNvSpPr>
            <a:spLocks xmlns:a="http://schemas.openxmlformats.org/drawingml/2006/main" noGrp="1"/>
          </p:cNvSpPr>
          <p:nvPr/>
        </p:nvSpPr>
        <p:spPr>
          <a:xfrm xmlns:a="http://schemas.openxmlformats.org/drawingml/2006/main">
            <a:off x="3190875" y="2609850"/>
            <a:ext cx="2457450" cy="2476500"/>
          </a:xfrm>
          <a:prstGeom xmlns:a="http://schemas.openxmlformats.org/drawingml/2006/main" prst="roundRect">
            <a:avLst>
              <a:gd name="adj" fmla="val 6202"/>
            </a:avLst>
          </a:prstGeom>
          <a:solidFill xmlns:a="http://schemas.openxmlformats.org/drawingml/2006/main">
            <a:srgbClr val="E8F0FB"/>
          </a:solidFill>
          <a:ln xmlns:a="http://schemas.openxmlformats.org/drawingml/2006/main" w="9525">
            <a:solidFill>
              <a:srgbClr val="9CB5D5"/>
            </a:solidFill>
            <a:prstDash val="solid"/>
          </a:ln>
        </p:spPr>
      </p:sp>
      <p:sp>
        <p:nvSpPr>
          <p:cNvPr id="12" name="">
            <a:extLst xmlns:a="http://schemas.openxmlformats.org/drawingml/2006/main">
              <a:ext uri="{FF2B5EF4-FFF2-40B4-BE49-F238E27FC236}">
                <a16:creationId xmlns:a16="http://schemas.microsoft.com/office/drawing/2014/main" id="{FA8820BD-E9D8-4EE0-91EF-A42C6781D2EC}"/>
              </a:ext>
            </a:extLst>
          </p:cNvPr>
          <p:cNvSpPr>
            <a:spLocks xmlns:a="http://schemas.openxmlformats.org/drawingml/2006/main" noGrp="1"/>
          </p:cNvSpPr>
          <p:nvPr/>
        </p:nvSpPr>
        <p:spPr>
          <a:xfrm xmlns:a="http://schemas.openxmlformats.org/drawingml/2006/main">
            <a:off x="3400425" y="2838450"/>
            <a:ext cx="2000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WEEKS 3–4</a:t>
            </a:r>
          </a:p>
        </p:txBody>
      </p:sp>
      <p:sp>
        <p:nvSpPr>
          <p:cNvPr id="13" name="">
            <a:extLst xmlns:a="http://schemas.openxmlformats.org/drawingml/2006/main">
              <a:ext uri="{FF2B5EF4-FFF2-40B4-BE49-F238E27FC236}">
                <a16:creationId xmlns:a16="http://schemas.microsoft.com/office/drawing/2014/main" id="{D25C1FD4-F4A1-44A7-A1AC-BFCA9E9B513A}"/>
              </a:ext>
            </a:extLst>
          </p:cNvPr>
          <p:cNvSpPr>
            <a:spLocks xmlns:a="http://schemas.openxmlformats.org/drawingml/2006/main" noGrp="1"/>
          </p:cNvSpPr>
          <p:nvPr/>
        </p:nvSpPr>
        <p:spPr>
          <a:xfrm xmlns:a="http://schemas.openxmlformats.org/drawingml/2006/main">
            <a:off x="3400425" y="3209925"/>
            <a:ext cx="20383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939"/>
          </a:bodyPr>
          <a:lstStyle xmlns:a="http://schemas.openxmlformats.org/drawingml/2006/main"/>
          <a:p xmlns:a="http://schemas.openxmlformats.org/drawingml/2006/main">
            <a:pPr algn="l">
              <a:buNone/>
              <a:defRPr sz="1650" b="1">
                <a:solidFill>
                  <a:srgbClr val="101828"/>
                </a:solidFill>
                <a:latin typeface="Helvetica Neue"/>
                <a:ea typeface="Helvetica Neue"/>
                <a:cs typeface="Helvetica Neue"/>
              </a:defRPr>
            </a:pPr>
            <a:r>
              <a:rPr sz="1650" b="1">
                <a:solidFill>
                  <a:srgbClr val="101828"/>
                </a:solidFill>
                <a:latin typeface="Helvetica Neue"/>
                <a:ea typeface="Helvetica Neue"/>
                <a:cs typeface="Helvetica Neue"/>
              </a:rPr>
              <a:t>Connect one approved source</a:t>
            </a:r>
          </a:p>
        </p:txBody>
      </p:sp>
      <p:sp>
        <p:nvSpPr>
          <p:cNvPr id="14" name="">
            <a:extLst xmlns:a="http://schemas.openxmlformats.org/drawingml/2006/main">
              <a:ext uri="{FF2B5EF4-FFF2-40B4-BE49-F238E27FC236}">
                <a16:creationId xmlns:a16="http://schemas.microsoft.com/office/drawing/2014/main" id="{D6F8C5E2-CF81-455B-A842-DB2C25910D2D}"/>
              </a:ext>
            </a:extLst>
          </p:cNvPr>
          <p:cNvSpPr>
            <a:spLocks xmlns:a="http://schemas.openxmlformats.org/drawingml/2006/main" noGrp="1"/>
          </p:cNvSpPr>
          <p:nvPr/>
        </p:nvSpPr>
        <p:spPr>
          <a:xfrm xmlns:a="http://schemas.openxmlformats.org/drawingml/2006/main">
            <a:off x="3400425" y="3876675"/>
            <a:ext cx="20383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Read-only connector</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Incremental import</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Company mapping check</a:t>
            </a:r>
          </a:p>
        </p:txBody>
      </p:sp>
      <p:sp>
        <p:nvSpPr>
          <p:cNvPr id="15" name="">
            <a:extLst xmlns:a="http://schemas.openxmlformats.org/drawingml/2006/main">
              <a:ext uri="{FF2B5EF4-FFF2-40B4-BE49-F238E27FC236}">
                <a16:creationId xmlns:a16="http://schemas.microsoft.com/office/drawing/2014/main" id="{008777A7-B3A0-4F97-B3F1-99FA5E7A7BC0}"/>
              </a:ext>
            </a:extLst>
          </p:cNvPr>
          <p:cNvSpPr>
            <a:spLocks xmlns:a="http://schemas.openxmlformats.org/drawingml/2006/main" noGrp="1"/>
          </p:cNvSpPr>
          <p:nvPr/>
        </p:nvSpPr>
        <p:spPr>
          <a:xfrm xmlns:a="http://schemas.openxmlformats.org/drawingml/2006/main">
            <a:off x="6943725" y="2171700"/>
            <a:ext cx="228600" cy="2286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16" name="">
            <a:extLst xmlns:a="http://schemas.openxmlformats.org/drawingml/2006/main">
              <a:ext uri="{FF2B5EF4-FFF2-40B4-BE49-F238E27FC236}">
                <a16:creationId xmlns:a16="http://schemas.microsoft.com/office/drawing/2014/main" id="{85A70862-469D-415E-AC13-2BF4C28F4C7B}"/>
              </a:ext>
            </a:extLst>
          </p:cNvPr>
          <p:cNvSpPr>
            <a:spLocks xmlns:a="http://schemas.openxmlformats.org/drawingml/2006/main" noGrp="1"/>
          </p:cNvSpPr>
          <p:nvPr/>
        </p:nvSpPr>
        <p:spPr>
          <a:xfrm xmlns:a="http://schemas.openxmlformats.org/drawingml/2006/main">
            <a:off x="5924550" y="2609850"/>
            <a:ext cx="2457450" cy="2476500"/>
          </a:xfrm>
          <a:prstGeom xmlns:a="http://schemas.openxmlformats.org/drawingml/2006/main" prst="roundRect">
            <a:avLst>
              <a:gd name="adj" fmla="val 6202"/>
            </a:avLst>
          </a:prstGeom>
          <a:solidFill xmlns:a="http://schemas.openxmlformats.org/drawingml/2006/main">
            <a:srgbClr val="FFFFFF"/>
          </a:solidFill>
          <a:ln xmlns:a="http://schemas.openxmlformats.org/drawingml/2006/main" w="9525">
            <a:solidFill>
              <a:srgbClr val="D0D5DD"/>
            </a:solidFill>
            <a:prstDash val="solid"/>
          </a:ln>
        </p:spPr>
      </p:sp>
      <p:sp>
        <p:nvSpPr>
          <p:cNvPr id="17" name="">
            <a:extLst xmlns:a="http://schemas.openxmlformats.org/drawingml/2006/main">
              <a:ext uri="{FF2B5EF4-FFF2-40B4-BE49-F238E27FC236}">
                <a16:creationId xmlns:a16="http://schemas.microsoft.com/office/drawing/2014/main" id="{2F40EFA4-B3E1-48E9-B048-F8D6BD7FAC88}"/>
              </a:ext>
            </a:extLst>
          </p:cNvPr>
          <p:cNvSpPr>
            <a:spLocks xmlns:a="http://schemas.openxmlformats.org/drawingml/2006/main" noGrp="1"/>
          </p:cNvSpPr>
          <p:nvPr/>
        </p:nvSpPr>
        <p:spPr>
          <a:xfrm xmlns:a="http://schemas.openxmlformats.org/drawingml/2006/main">
            <a:off x="6134100" y="2838450"/>
            <a:ext cx="2000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WEEKS 5–6</a:t>
            </a:r>
          </a:p>
        </p:txBody>
      </p:sp>
      <p:sp>
        <p:nvSpPr>
          <p:cNvPr id="18" name="">
            <a:extLst xmlns:a="http://schemas.openxmlformats.org/drawingml/2006/main">
              <a:ext uri="{FF2B5EF4-FFF2-40B4-BE49-F238E27FC236}">
                <a16:creationId xmlns:a16="http://schemas.microsoft.com/office/drawing/2014/main" id="{F0D4F2DF-06EE-4F15-A3C6-C8D3A96833D5}"/>
              </a:ext>
            </a:extLst>
          </p:cNvPr>
          <p:cNvSpPr>
            <a:spLocks xmlns:a="http://schemas.openxmlformats.org/drawingml/2006/main" noGrp="1"/>
          </p:cNvSpPr>
          <p:nvPr/>
        </p:nvSpPr>
        <p:spPr>
          <a:xfrm xmlns:a="http://schemas.openxmlformats.org/drawingml/2006/main">
            <a:off x="6134100" y="3209925"/>
            <a:ext cx="20383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4820"/>
          </a:bodyPr>
          <a:lstStyle xmlns:a="http://schemas.openxmlformats.org/drawingml/2006/main"/>
          <a:p xmlns:a="http://schemas.openxmlformats.org/drawingml/2006/main">
            <a:pPr algn="l">
              <a:buNone/>
              <a:defRPr sz="1650" b="1">
                <a:solidFill>
                  <a:srgbClr val="101828"/>
                </a:solidFill>
                <a:latin typeface="Helvetica Neue"/>
                <a:ea typeface="Helvetica Neue"/>
                <a:cs typeface="Helvetica Neue"/>
              </a:defRPr>
            </a:pPr>
            <a:r>
              <a:rPr sz="1650" b="1">
                <a:solidFill>
                  <a:srgbClr val="101828"/>
                </a:solidFill>
                <a:latin typeface="Helvetica Neue"/>
                <a:ea typeface="Helvetica Neue"/>
                <a:cs typeface="Helvetica Neue"/>
              </a:rPr>
              <a:t>Test retrieval and access</a:t>
            </a:r>
          </a:p>
        </p:txBody>
      </p:sp>
      <p:sp>
        <p:nvSpPr>
          <p:cNvPr id="19" name="">
            <a:extLst xmlns:a="http://schemas.openxmlformats.org/drawingml/2006/main">
              <a:ext uri="{FF2B5EF4-FFF2-40B4-BE49-F238E27FC236}">
                <a16:creationId xmlns:a16="http://schemas.microsoft.com/office/drawing/2014/main" id="{C5BE0EB4-D171-46D5-AE72-9983A065A3F5}"/>
              </a:ext>
            </a:extLst>
          </p:cNvPr>
          <p:cNvSpPr>
            <a:spLocks xmlns:a="http://schemas.openxmlformats.org/drawingml/2006/main" noGrp="1"/>
          </p:cNvSpPr>
          <p:nvPr/>
        </p:nvSpPr>
        <p:spPr>
          <a:xfrm xmlns:a="http://schemas.openxmlformats.org/drawingml/2006/main">
            <a:off x="6134100" y="3876675"/>
            <a:ext cx="20383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Access checks</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Evaluated retrieval</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Generation and fallback evaluation</a:t>
            </a:r>
          </a:p>
        </p:txBody>
      </p:sp>
      <p:sp>
        <p:nvSpPr>
          <p:cNvPr id="20" name="">
            <a:extLst xmlns:a="http://schemas.openxmlformats.org/drawingml/2006/main">
              <a:ext uri="{FF2B5EF4-FFF2-40B4-BE49-F238E27FC236}">
                <a16:creationId xmlns:a16="http://schemas.microsoft.com/office/drawing/2014/main" id="{1A32A016-7301-49CD-B90A-7D57F4D0D685}"/>
              </a:ext>
            </a:extLst>
          </p:cNvPr>
          <p:cNvSpPr>
            <a:spLocks xmlns:a="http://schemas.openxmlformats.org/drawingml/2006/main" noGrp="1"/>
          </p:cNvSpPr>
          <p:nvPr/>
        </p:nvSpPr>
        <p:spPr>
          <a:xfrm xmlns:a="http://schemas.openxmlformats.org/drawingml/2006/main">
            <a:off x="9677400" y="2171700"/>
            <a:ext cx="228600" cy="2286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21" name="">
            <a:extLst xmlns:a="http://schemas.openxmlformats.org/drawingml/2006/main">
              <a:ext uri="{FF2B5EF4-FFF2-40B4-BE49-F238E27FC236}">
                <a16:creationId xmlns:a16="http://schemas.microsoft.com/office/drawing/2014/main" id="{99FCB468-F74B-4357-9A52-E37407197048}"/>
              </a:ext>
            </a:extLst>
          </p:cNvPr>
          <p:cNvSpPr>
            <a:spLocks xmlns:a="http://schemas.openxmlformats.org/drawingml/2006/main" noGrp="1"/>
          </p:cNvSpPr>
          <p:nvPr/>
        </p:nvSpPr>
        <p:spPr>
          <a:xfrm xmlns:a="http://schemas.openxmlformats.org/drawingml/2006/main">
            <a:off x="8658225" y="2609850"/>
            <a:ext cx="2457450" cy="2476500"/>
          </a:xfrm>
          <a:prstGeom xmlns:a="http://schemas.openxmlformats.org/drawingml/2006/main" prst="roundRect">
            <a:avLst>
              <a:gd name="adj" fmla="val 6202"/>
            </a:avLst>
          </a:prstGeom>
          <a:solidFill xmlns:a="http://schemas.openxmlformats.org/drawingml/2006/main">
            <a:srgbClr val="E8F0FB"/>
          </a:solidFill>
          <a:ln xmlns:a="http://schemas.openxmlformats.org/drawingml/2006/main" w="9525">
            <a:solidFill>
              <a:srgbClr val="9CB5D5"/>
            </a:solidFill>
            <a:prstDash val="solid"/>
          </a:ln>
        </p:spPr>
      </p:sp>
      <p:sp>
        <p:nvSpPr>
          <p:cNvPr id="22" name="">
            <a:extLst xmlns:a="http://schemas.openxmlformats.org/drawingml/2006/main">
              <a:ext uri="{FF2B5EF4-FFF2-40B4-BE49-F238E27FC236}">
                <a16:creationId xmlns:a16="http://schemas.microsoft.com/office/drawing/2014/main" id="{6E06FC1C-4C98-4854-B230-8BE2949563A6}"/>
              </a:ext>
            </a:extLst>
          </p:cNvPr>
          <p:cNvSpPr>
            <a:spLocks xmlns:a="http://schemas.openxmlformats.org/drawingml/2006/main" noGrp="1"/>
          </p:cNvSpPr>
          <p:nvPr/>
        </p:nvSpPr>
        <p:spPr>
          <a:xfrm xmlns:a="http://schemas.openxmlformats.org/drawingml/2006/main">
            <a:off x="8867775" y="2838450"/>
            <a:ext cx="2000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WEEKS 7–8</a:t>
            </a:r>
          </a:p>
        </p:txBody>
      </p:sp>
      <p:sp>
        <p:nvSpPr>
          <p:cNvPr id="23" name="">
            <a:extLst xmlns:a="http://schemas.openxmlformats.org/drawingml/2006/main">
              <a:ext uri="{FF2B5EF4-FFF2-40B4-BE49-F238E27FC236}">
                <a16:creationId xmlns:a16="http://schemas.microsoft.com/office/drawing/2014/main" id="{3F5B3583-FB90-4EDE-95F5-3AE6193A1599}"/>
              </a:ext>
            </a:extLst>
          </p:cNvPr>
          <p:cNvSpPr>
            <a:spLocks xmlns:a="http://schemas.openxmlformats.org/drawingml/2006/main" noGrp="1"/>
          </p:cNvSpPr>
          <p:nvPr/>
        </p:nvSpPr>
        <p:spPr>
          <a:xfrm xmlns:a="http://schemas.openxmlformats.org/drawingml/2006/main">
            <a:off x="8867775" y="3209925"/>
            <a:ext cx="20383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939"/>
          </a:bodyPr>
          <a:lstStyle xmlns:a="http://schemas.openxmlformats.org/drawingml/2006/main"/>
          <a:p xmlns:a="http://schemas.openxmlformats.org/drawingml/2006/main">
            <a:pPr algn="l">
              <a:buNone/>
              <a:defRPr sz="1650" b="1">
                <a:solidFill>
                  <a:srgbClr val="101828"/>
                </a:solidFill>
                <a:latin typeface="Helvetica Neue"/>
                <a:ea typeface="Helvetica Neue"/>
                <a:cs typeface="Helvetica Neue"/>
              </a:defRPr>
            </a:pPr>
            <a:r>
              <a:rPr sz="1650" b="1">
                <a:solidFill>
                  <a:srgbClr val="101828"/>
                </a:solidFill>
                <a:latin typeface="Helvetica Neue"/>
                <a:ea typeface="Helvetica Neue"/>
                <a:cs typeface="Helvetica Neue"/>
              </a:rPr>
              <a:t>Run the pilot and scale test</a:t>
            </a:r>
          </a:p>
        </p:txBody>
      </p:sp>
      <p:sp>
        <p:nvSpPr>
          <p:cNvPr id="24" name="">
            <a:extLst xmlns:a="http://schemas.openxmlformats.org/drawingml/2006/main">
              <a:ext uri="{FF2B5EF4-FFF2-40B4-BE49-F238E27FC236}">
                <a16:creationId xmlns:a16="http://schemas.microsoft.com/office/drawing/2014/main" id="{2A76C785-0332-4439-89D8-4C92564AB60F}"/>
              </a:ext>
            </a:extLst>
          </p:cNvPr>
          <p:cNvSpPr>
            <a:spLocks xmlns:a="http://schemas.openxmlformats.org/drawingml/2006/main" noGrp="1"/>
          </p:cNvSpPr>
          <p:nvPr/>
        </p:nvSpPr>
        <p:spPr>
          <a:xfrm xmlns:a="http://schemas.openxmlformats.org/drawingml/2006/main">
            <a:off x="8867775" y="3876675"/>
            <a:ext cx="20383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Reconciliation</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Monitoring</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250-company test and principal pilot</a:t>
            </a:r>
          </a:p>
        </p:txBody>
      </p:sp>
      <p:sp>
        <p:nvSpPr>
          <p:cNvPr id="25" name="">
            <a:extLst xmlns:a="http://schemas.openxmlformats.org/drawingml/2006/main">
              <a:ext uri="{FF2B5EF4-FFF2-40B4-BE49-F238E27FC236}">
                <a16:creationId xmlns:a16="http://schemas.microsoft.com/office/drawing/2014/main" id="{8FD243BD-D1D8-4D5E-9080-89BCC3F63E9D}"/>
              </a:ext>
            </a:extLst>
          </p:cNvPr>
          <p:cNvSpPr>
            <a:spLocks xmlns:a="http://schemas.openxmlformats.org/drawingml/2006/main" noGrp="1"/>
          </p:cNvSpPr>
          <p:nvPr/>
        </p:nvSpPr>
        <p:spPr>
          <a:xfrm xmlns:a="http://schemas.openxmlformats.org/drawingml/2006/main">
            <a:off x="457200" y="5391150"/>
            <a:ext cx="10858500" cy="628650"/>
          </a:xfrm>
          <a:prstGeom xmlns:a="http://schemas.openxmlformats.org/drawingml/2006/main" prst="roundRect">
            <a:avLst>
              <a:gd name="adj" fmla="val 21212"/>
            </a:avLst>
          </a:prstGeom>
          <a:solidFill xmlns:a="http://schemas.openxmlformats.org/drawingml/2006/main">
            <a:srgbClr val="F2F4F7"/>
          </a:solidFill>
          <a:ln xmlns:a="http://schemas.openxmlformats.org/drawingml/2006/main" w="9525">
            <a:solidFill>
              <a:srgbClr val="D0D5DD"/>
            </a:solidFill>
            <a:prstDash val="solid"/>
          </a:ln>
        </p:spPr>
      </p:sp>
      <p:sp>
        <p:nvSpPr>
          <p:cNvPr id="26" name="">
            <a:extLst xmlns:a="http://schemas.openxmlformats.org/drawingml/2006/main">
              <a:ext uri="{FF2B5EF4-FFF2-40B4-BE49-F238E27FC236}">
                <a16:creationId xmlns:a16="http://schemas.microsoft.com/office/drawing/2014/main" id="{6DBF2437-14B5-4A46-9FC0-D460E78897FD}"/>
              </a:ext>
            </a:extLst>
          </p:cNvPr>
          <p:cNvSpPr>
            <a:spLocks xmlns:a="http://schemas.openxmlformats.org/drawingml/2006/main" noGrp="1"/>
          </p:cNvSpPr>
          <p:nvPr/>
        </p:nvSpPr>
        <p:spPr>
          <a:xfrm xmlns:a="http://schemas.openxmlformats.org/drawingml/2006/main">
            <a:off x="666750" y="55816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l">
              <a:buNone/>
              <a:defRPr sz="1200" b="1">
                <a:solidFill>
                  <a:srgbClr val="101828"/>
                </a:solidFill>
                <a:latin typeface="Helvetica Neue"/>
                <a:ea typeface="Helvetica Neue"/>
                <a:cs typeface="Helvetica Neue"/>
              </a:defRPr>
            </a:pPr>
            <a:r>
              <a:rPr sz="1200" b="1">
                <a:solidFill>
                  <a:srgbClr val="101828"/>
                </a:solidFill>
                <a:latin typeface="Helvetica Neue"/>
                <a:ea typeface="Helvetica Neue"/>
                <a:cs typeface="Helvetica Neue"/>
              </a:rPr>
              <a:t>PERSON 1 · Product and application</a:t>
            </a:r>
          </a:p>
        </p:txBody>
      </p:sp>
      <p:sp>
        <p:nvSpPr>
          <p:cNvPr id="27" name="">
            <a:extLst xmlns:a="http://schemas.openxmlformats.org/drawingml/2006/main">
              <a:ext uri="{FF2B5EF4-FFF2-40B4-BE49-F238E27FC236}">
                <a16:creationId xmlns:a16="http://schemas.microsoft.com/office/drawing/2014/main" id="{918CF25F-52C6-4E33-BCCB-F49769B2D014}"/>
              </a:ext>
            </a:extLst>
          </p:cNvPr>
          <p:cNvSpPr>
            <a:spLocks xmlns:a="http://schemas.openxmlformats.org/drawingml/2006/main" noGrp="1"/>
          </p:cNvSpPr>
          <p:nvPr/>
        </p:nvSpPr>
        <p:spPr>
          <a:xfrm xmlns:a="http://schemas.openxmlformats.org/drawingml/2006/main">
            <a:off x="4476750" y="5581650"/>
            <a:ext cx="3238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l">
              <a:buNone/>
              <a:defRPr sz="1200" b="1">
                <a:solidFill>
                  <a:srgbClr val="101828"/>
                </a:solidFill>
                <a:latin typeface="Helvetica Neue"/>
                <a:ea typeface="Helvetica Neue"/>
                <a:cs typeface="Helvetica Neue"/>
              </a:defRPr>
            </a:pPr>
            <a:r>
              <a:rPr sz="1200" b="1">
                <a:solidFill>
                  <a:srgbClr val="101828"/>
                </a:solidFill>
                <a:latin typeface="Helvetica Neue"/>
                <a:ea typeface="Helvetica Neue"/>
                <a:cs typeface="Helvetica Neue"/>
              </a:rPr>
              <a:t>PERSON 2 · Data and platform</a:t>
            </a:r>
          </a:p>
        </p:txBody>
      </p:sp>
      <p:sp>
        <p:nvSpPr>
          <p:cNvPr id="28" name="">
            <a:extLst xmlns:a="http://schemas.openxmlformats.org/drawingml/2006/main">
              <a:ext uri="{FF2B5EF4-FFF2-40B4-BE49-F238E27FC236}">
                <a16:creationId xmlns:a16="http://schemas.microsoft.com/office/drawing/2014/main" id="{DB910F2C-EF3B-4B5A-AC88-78FDB08FE0C6}"/>
              </a:ext>
            </a:extLst>
          </p:cNvPr>
          <p:cNvSpPr>
            <a:spLocks xmlns:a="http://schemas.openxmlformats.org/drawingml/2006/main" noGrp="1"/>
          </p:cNvSpPr>
          <p:nvPr/>
        </p:nvSpPr>
        <p:spPr>
          <a:xfrm xmlns:a="http://schemas.openxmlformats.org/drawingml/2006/main">
            <a:off x="7953375" y="558165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l">
              <a:buNone/>
              <a:defRPr sz="1200" b="1">
                <a:solidFill>
                  <a:srgbClr val="315F9F"/>
                </a:solidFill>
                <a:latin typeface="Helvetica Neue"/>
                <a:ea typeface="Helvetica Neue"/>
                <a:cs typeface="Helvetica Neue"/>
              </a:defRPr>
            </a:pPr>
            <a:r>
              <a:rPr sz="1200" b="1">
                <a:solidFill>
                  <a:srgbClr val="315F9F"/>
                </a:solidFill>
                <a:latin typeface="Helvetica Neue"/>
                <a:ea typeface="Helvetica Neue"/>
                <a:cs typeface="Helvetica Neue"/>
              </a:rPr>
              <a:t>SHARED · Source contract and evaluation set</a:t>
            </a:r>
          </a:p>
        </p:txBody>
      </p:sp>
    </p:spTree>
    <p:extLst>
      <p:ext uri="{BB962C8B-B14F-4D97-AF65-F5344CB8AC3E}">
        <p14:creationId xmlns:p14="http://schemas.microsoft.com/office/powerpoint/2010/main" val="1276192043"/>
      </p:ext>
    </p:extLst>
  </p:cSld>
</p:sld>
</file>

<file path=ppt/slides/slide11.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47D7DB73-AD97-4C88-8C7A-A4A75DE3DDCC}"/>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3000" b="1">
                <a:solidFill>
                  <a:srgbClr val="101828"/>
                </a:solidFill>
                <a:latin typeface="Helvetica Neue"/>
                <a:ea typeface="Helvetica Neue"/>
                <a:cs typeface="Helvetica Neue"/>
              </a:rPr>
              <a:t>What do I de-risk first, and what changes with more time?</a:t>
            </a:r>
          </a:p>
        </p:txBody>
      </p:sp>
      <p:sp>
        <p:nvSpPr>
          <p:cNvPr id="2" name="">
            <a:extLst xmlns:a="http://schemas.openxmlformats.org/drawingml/2006/main">
              <a:ext uri="{FF2B5EF4-FFF2-40B4-BE49-F238E27FC236}">
                <a16:creationId xmlns:a16="http://schemas.microsoft.com/office/drawing/2014/main" id="{1148B56E-B5D3-40D5-84C7-3298B3E762FB}"/>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AB2D00DE-0653-4BEF-8506-56714A0FA028}"/>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11</a:t>
            </a:r>
          </a:p>
        </p:txBody>
      </p:sp>
      <p:sp>
        <p:nvSpPr>
          <p:cNvPr id="4" name="">
            <a:extLst xmlns:a="http://schemas.openxmlformats.org/drawingml/2006/main">
              <a:ext uri="{FF2B5EF4-FFF2-40B4-BE49-F238E27FC236}">
                <a16:creationId xmlns:a16="http://schemas.microsoft.com/office/drawing/2014/main" id="{84CA3562-EE1C-4D17-9AF1-23A0716F7861}"/>
              </a:ext>
            </a:extLst>
          </p:cNvPr>
          <p:cNvSpPr>
            <a:spLocks xmlns:a="http://schemas.openxmlformats.org/drawingml/2006/main" noGrp="1"/>
          </p:cNvSpPr>
          <p:nvPr/>
        </p:nvSpPr>
        <p:spPr>
          <a:xfrm xmlns:a="http://schemas.openxmlformats.org/drawingml/2006/main">
            <a:off x="457200" y="1504950"/>
            <a:ext cx="9906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2184"/>
          </a:bodyPr>
          <a:lstStyle xmlns:a="http://schemas.openxmlformats.org/drawingml/2006/main"/>
          <a:p xmlns:a="http://schemas.openxmlformats.org/drawingml/2006/main">
            <a:pPr algn="l">
              <a:buNone/>
              <a:defRPr sz="2550" b="1">
                <a:solidFill>
                  <a:srgbClr val="315F9F"/>
                </a:solidFill>
                <a:latin typeface="Helvetica Neue"/>
                <a:ea typeface="Helvetica Neue"/>
                <a:cs typeface="Helvetica Neue"/>
              </a:defRPr>
            </a:pPr>
            <a:r>
              <a:rPr sz="2550" b="1">
                <a:solidFill>
                  <a:srgbClr val="315F9F"/>
                </a:solidFill>
                <a:latin typeface="Helvetica Neue"/>
                <a:ea typeface="Helvetica Neue"/>
                <a:cs typeface="Helvetica Neue"/>
              </a:rPr>
              <a:t>First risk: retrieve the right evidence and show when the answer is uncertain.</a:t>
            </a:r>
          </a:p>
        </p:txBody>
      </p:sp>
      <p:sp>
        <p:nvSpPr>
          <p:cNvPr id="5" name="">
            <a:extLst xmlns:a="http://schemas.openxmlformats.org/drawingml/2006/main">
              <a:ext uri="{FF2B5EF4-FFF2-40B4-BE49-F238E27FC236}">
                <a16:creationId xmlns:a16="http://schemas.microsoft.com/office/drawing/2014/main" id="{5562A5C6-60ED-4181-9E47-254F83779A64}"/>
              </a:ext>
            </a:extLst>
          </p:cNvPr>
          <p:cNvSpPr>
            <a:spLocks xmlns:a="http://schemas.openxmlformats.org/drawingml/2006/main" noGrp="1"/>
          </p:cNvSpPr>
          <p:nvPr/>
        </p:nvSpPr>
        <p:spPr>
          <a:xfrm xmlns:a="http://schemas.openxmlformats.org/drawingml/2006/main">
            <a:off x="457200" y="2400300"/>
            <a:ext cx="3333750" cy="2800350"/>
          </a:xfrm>
          <a:prstGeom xmlns:a="http://schemas.openxmlformats.org/drawingml/2006/main" prst="roundRect">
            <a:avLst>
              <a:gd name="adj" fmla="val 6122"/>
            </a:avLst>
          </a:prstGeom>
          <a:solidFill xmlns:a="http://schemas.openxmlformats.org/drawingml/2006/main">
            <a:srgbClr val="FFFFFF"/>
          </a:solidFill>
          <a:ln xmlns:a="http://schemas.openxmlformats.org/drawingml/2006/main" w="9525">
            <a:solidFill>
              <a:srgbClr val="D0D5DD"/>
            </a:solidFill>
            <a:prstDash val="solid"/>
          </a:ln>
        </p:spPr>
      </p:sp>
      <p:sp>
        <p:nvSpPr>
          <p:cNvPr id="6" name="">
            <a:extLst xmlns:a="http://schemas.openxmlformats.org/drawingml/2006/main">
              <a:ext uri="{FF2B5EF4-FFF2-40B4-BE49-F238E27FC236}">
                <a16:creationId xmlns:a16="http://schemas.microsoft.com/office/drawing/2014/main" id="{E612701B-CF09-4277-9DC9-F0E56890F11C}"/>
              </a:ext>
            </a:extLst>
          </p:cNvPr>
          <p:cNvSpPr>
            <a:spLocks xmlns:a="http://schemas.openxmlformats.org/drawingml/2006/main" noGrp="1"/>
          </p:cNvSpPr>
          <p:nvPr/>
        </p:nvSpPr>
        <p:spPr>
          <a:xfrm xmlns:a="http://schemas.openxmlformats.org/drawingml/2006/main">
            <a:off x="685800" y="264795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FIRST PROTOTYPE</a:t>
            </a:r>
          </a:p>
        </p:txBody>
      </p:sp>
      <p:sp>
        <p:nvSpPr>
          <p:cNvPr id="7" name="">
            <a:extLst xmlns:a="http://schemas.openxmlformats.org/drawingml/2006/main">
              <a:ext uri="{FF2B5EF4-FFF2-40B4-BE49-F238E27FC236}">
                <a16:creationId xmlns:a16="http://schemas.microsoft.com/office/drawing/2014/main" id="{B233DDE3-C518-45BB-AFC1-EC711ACC02AE}"/>
              </a:ext>
            </a:extLst>
          </p:cNvPr>
          <p:cNvSpPr>
            <a:spLocks xmlns:a="http://schemas.openxmlformats.org/drawingml/2006/main" noGrp="1"/>
          </p:cNvSpPr>
          <p:nvPr/>
        </p:nvSpPr>
        <p:spPr>
          <a:xfrm xmlns:a="http://schemas.openxmlformats.org/drawingml/2006/main">
            <a:off x="685800" y="3048000"/>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435"/>
          </a:bodyPr>
          <a:lstStyle xmlns:a="http://schemas.openxmlformats.org/drawingml/2006/main"/>
          <a:p xmlns:a="http://schemas.openxmlformats.org/drawingml/2006/main">
            <a:pPr algn="l">
              <a:buNone/>
              <a:defRPr sz="1725" b="1">
                <a:solidFill>
                  <a:srgbClr val="101828"/>
                </a:solidFill>
                <a:latin typeface="Helvetica Neue"/>
                <a:ea typeface="Helvetica Neue"/>
                <a:cs typeface="Helvetica Neue"/>
              </a:defRPr>
            </a:pPr>
            <a:r>
              <a:rPr sz="1725" b="1">
                <a:solidFill>
                  <a:srgbClr val="101828"/>
                </a:solidFill>
                <a:latin typeface="Helvetica Neue"/>
                <a:ea typeface="Helvetica Neue"/>
                <a:cs typeface="Helvetica Neue"/>
              </a:rPr>
              <a:t>One company and one real source</a:t>
            </a:r>
          </a:p>
        </p:txBody>
      </p:sp>
      <p:sp>
        <p:nvSpPr>
          <p:cNvPr id="8" name="">
            <a:extLst xmlns:a="http://schemas.openxmlformats.org/drawingml/2006/main">
              <a:ext uri="{FF2B5EF4-FFF2-40B4-BE49-F238E27FC236}">
                <a16:creationId xmlns:a16="http://schemas.microsoft.com/office/drawing/2014/main" id="{A9A47721-2CAB-45CC-A0B0-A2173E47E46B}"/>
              </a:ext>
            </a:extLst>
          </p:cNvPr>
          <p:cNvSpPr>
            <a:spLocks xmlns:a="http://schemas.openxmlformats.org/drawingml/2006/main" noGrp="1"/>
          </p:cNvSpPr>
          <p:nvPr/>
        </p:nvSpPr>
        <p:spPr>
          <a:xfrm xmlns:a="http://schemas.openxmlformats.org/drawingml/2006/main">
            <a:off x="685800" y="3762375"/>
            <a:ext cx="285750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One current fact</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One true conflict</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One missing fact</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One changed source record</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Reference answers</a:t>
            </a:r>
          </a:p>
        </p:txBody>
      </p:sp>
      <p:sp>
        <p:nvSpPr>
          <p:cNvPr id="9" name="">
            <a:extLst xmlns:a="http://schemas.openxmlformats.org/drawingml/2006/main">
              <a:ext uri="{FF2B5EF4-FFF2-40B4-BE49-F238E27FC236}">
                <a16:creationId xmlns:a16="http://schemas.microsoft.com/office/drawing/2014/main" id="{9A2149D0-122E-4662-9C67-860C2D3353C0}"/>
              </a:ext>
            </a:extLst>
          </p:cNvPr>
          <p:cNvSpPr>
            <a:spLocks xmlns:a="http://schemas.openxmlformats.org/drawingml/2006/main" noGrp="1"/>
          </p:cNvSpPr>
          <p:nvPr/>
        </p:nvSpPr>
        <p:spPr>
          <a:xfrm xmlns:a="http://schemas.openxmlformats.org/drawingml/2006/main">
            <a:off x="4095750" y="2400300"/>
            <a:ext cx="3333750" cy="2800350"/>
          </a:xfrm>
          <a:prstGeom xmlns:a="http://schemas.openxmlformats.org/drawingml/2006/main" prst="roundRect">
            <a:avLst>
              <a:gd name="adj" fmla="val 6122"/>
            </a:avLst>
          </a:prstGeom>
          <a:solidFill xmlns:a="http://schemas.openxmlformats.org/drawingml/2006/main">
            <a:srgbClr val="F2F4F7"/>
          </a:solidFill>
          <a:ln xmlns:a="http://schemas.openxmlformats.org/drawingml/2006/main" w="9525">
            <a:solidFill>
              <a:srgbClr val="D0D5DD"/>
            </a:solidFill>
            <a:prstDash val="solid"/>
          </a:ln>
        </p:spPr>
      </p:sp>
      <p:sp>
        <p:nvSpPr>
          <p:cNvPr id="10" name="">
            <a:extLst xmlns:a="http://schemas.openxmlformats.org/drawingml/2006/main">
              <a:ext uri="{FF2B5EF4-FFF2-40B4-BE49-F238E27FC236}">
                <a16:creationId xmlns:a16="http://schemas.microsoft.com/office/drawing/2014/main" id="{3B17A513-9371-40C5-979E-A976BA6D2B28}"/>
              </a:ext>
            </a:extLst>
          </p:cNvPr>
          <p:cNvSpPr>
            <a:spLocks xmlns:a="http://schemas.openxmlformats.org/drawingml/2006/main" noGrp="1"/>
          </p:cNvSpPr>
          <p:nvPr/>
        </p:nvSpPr>
        <p:spPr>
          <a:xfrm xmlns:a="http://schemas.openxmlformats.org/drawingml/2006/main">
            <a:off x="4324350" y="264795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CRITICAL DEPENDENCIES</a:t>
            </a:r>
          </a:p>
        </p:txBody>
      </p:sp>
      <p:sp>
        <p:nvSpPr>
          <p:cNvPr id="11" name="">
            <a:extLst xmlns:a="http://schemas.openxmlformats.org/drawingml/2006/main">
              <a:ext uri="{FF2B5EF4-FFF2-40B4-BE49-F238E27FC236}">
                <a16:creationId xmlns:a16="http://schemas.microsoft.com/office/drawing/2014/main" id="{EAEF692C-81C5-4F80-BEF7-B65ABE382A68}"/>
              </a:ext>
            </a:extLst>
          </p:cNvPr>
          <p:cNvSpPr>
            <a:spLocks xmlns:a="http://schemas.openxmlformats.org/drawingml/2006/main" noGrp="1"/>
          </p:cNvSpPr>
          <p:nvPr/>
        </p:nvSpPr>
        <p:spPr>
          <a:xfrm xmlns:a="http://schemas.openxmlformats.org/drawingml/2006/main">
            <a:off x="4324350" y="3048000"/>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725" b="1">
                <a:solidFill>
                  <a:srgbClr val="101828"/>
                </a:solidFill>
                <a:latin typeface="Helvetica Neue"/>
                <a:ea typeface="Helvetica Neue"/>
                <a:cs typeface="Helvetica Neue"/>
              </a:defRPr>
            </a:pPr>
            <a:r>
              <a:rPr sz="1725" b="1">
                <a:solidFill>
                  <a:srgbClr val="101828"/>
                </a:solidFill>
                <a:latin typeface="Helvetica Neue"/>
                <a:ea typeface="Helvetica Neue"/>
                <a:cs typeface="Helvetica Neue"/>
              </a:rPr>
              <a:t>Access and ownership</a:t>
            </a:r>
          </a:p>
        </p:txBody>
      </p:sp>
      <p:sp>
        <p:nvSpPr>
          <p:cNvPr id="12" name="">
            <a:extLst xmlns:a="http://schemas.openxmlformats.org/drawingml/2006/main">
              <a:ext uri="{FF2B5EF4-FFF2-40B4-BE49-F238E27FC236}">
                <a16:creationId xmlns:a16="http://schemas.microsoft.com/office/drawing/2014/main" id="{16E21101-5479-4093-B7A3-67DC3D3F5AE8}"/>
              </a:ext>
            </a:extLst>
          </p:cNvPr>
          <p:cNvSpPr>
            <a:spLocks xmlns:a="http://schemas.openxmlformats.org/drawingml/2006/main" noGrp="1"/>
          </p:cNvSpPr>
          <p:nvPr/>
        </p:nvSpPr>
        <p:spPr>
          <a:xfrm xmlns:a="http://schemas.openxmlformats.org/drawingml/2006/main">
            <a:off x="4324350" y="3762375"/>
            <a:ext cx="285750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464"/>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Source owners</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API access</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Canonical company IDs</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Access and retention rules</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Model policy</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Principal review</a:t>
            </a:r>
          </a:p>
        </p:txBody>
      </p:sp>
      <p:sp>
        <p:nvSpPr>
          <p:cNvPr id="13" name="">
            <a:extLst xmlns:a="http://schemas.openxmlformats.org/drawingml/2006/main">
              <a:ext uri="{FF2B5EF4-FFF2-40B4-BE49-F238E27FC236}">
                <a16:creationId xmlns:a16="http://schemas.microsoft.com/office/drawing/2014/main" id="{C58C9AB4-4295-4DBC-8C8F-775BFAD2D383}"/>
              </a:ext>
            </a:extLst>
          </p:cNvPr>
          <p:cNvSpPr>
            <a:spLocks xmlns:a="http://schemas.openxmlformats.org/drawingml/2006/main" noGrp="1"/>
          </p:cNvSpPr>
          <p:nvPr/>
        </p:nvSpPr>
        <p:spPr>
          <a:xfrm xmlns:a="http://schemas.openxmlformats.org/drawingml/2006/main">
            <a:off x="7734300" y="2400300"/>
            <a:ext cx="3333750" cy="2800350"/>
          </a:xfrm>
          <a:prstGeom xmlns:a="http://schemas.openxmlformats.org/drawingml/2006/main" prst="roundRect">
            <a:avLst>
              <a:gd name="adj" fmla="val 6122"/>
            </a:avLst>
          </a:prstGeom>
          <a:solidFill xmlns:a="http://schemas.openxmlformats.org/drawingml/2006/main">
            <a:srgbClr val="E8F0FB"/>
          </a:solidFill>
          <a:ln xmlns:a="http://schemas.openxmlformats.org/drawingml/2006/main" w="9525">
            <a:solidFill>
              <a:srgbClr val="9CB5D5"/>
            </a:solidFill>
            <a:prstDash val="solid"/>
          </a:ln>
        </p:spPr>
      </p:sp>
      <p:sp>
        <p:nvSpPr>
          <p:cNvPr id="14" name="">
            <a:extLst xmlns:a="http://schemas.openxmlformats.org/drawingml/2006/main">
              <a:ext uri="{FF2B5EF4-FFF2-40B4-BE49-F238E27FC236}">
                <a16:creationId xmlns:a16="http://schemas.microsoft.com/office/drawing/2014/main" id="{9AAB8465-872C-4C3C-AD42-A1827E2443DA}"/>
              </a:ext>
            </a:extLst>
          </p:cNvPr>
          <p:cNvSpPr>
            <a:spLocks xmlns:a="http://schemas.openxmlformats.org/drawingml/2006/main" noGrp="1"/>
          </p:cNvSpPr>
          <p:nvPr/>
        </p:nvSpPr>
        <p:spPr>
          <a:xfrm xmlns:a="http://schemas.openxmlformats.org/drawingml/2006/main">
            <a:off x="7962900" y="264795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WITH MORE TIME</a:t>
            </a:r>
          </a:p>
        </p:txBody>
      </p:sp>
      <p:sp>
        <p:nvSpPr>
          <p:cNvPr id="15" name="">
            <a:extLst xmlns:a="http://schemas.openxmlformats.org/drawingml/2006/main">
              <a:ext uri="{FF2B5EF4-FFF2-40B4-BE49-F238E27FC236}">
                <a16:creationId xmlns:a16="http://schemas.microsoft.com/office/drawing/2014/main" id="{F20FEF94-1E54-482B-BA81-CD1C7288DD19}"/>
              </a:ext>
            </a:extLst>
          </p:cNvPr>
          <p:cNvSpPr>
            <a:spLocks xmlns:a="http://schemas.openxmlformats.org/drawingml/2006/main" noGrp="1"/>
          </p:cNvSpPr>
          <p:nvPr/>
        </p:nvSpPr>
        <p:spPr>
          <a:xfrm xmlns:a="http://schemas.openxmlformats.org/drawingml/2006/main">
            <a:off x="7962900" y="3048000"/>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725" b="1">
                <a:solidFill>
                  <a:srgbClr val="101828"/>
                </a:solidFill>
                <a:latin typeface="Helvetica Neue"/>
                <a:ea typeface="Helvetica Neue"/>
                <a:cs typeface="Helvetica Neue"/>
              </a:defRPr>
            </a:pPr>
            <a:r>
              <a:rPr sz="1725" b="1">
                <a:solidFill>
                  <a:srgbClr val="101828"/>
                </a:solidFill>
                <a:latin typeface="Helvetica Neue"/>
                <a:ea typeface="Helvetica Neue"/>
                <a:cs typeface="Helvetica Neue"/>
              </a:rPr>
              <a:t>Generalize and operate</a:t>
            </a:r>
          </a:p>
        </p:txBody>
      </p:sp>
      <p:sp>
        <p:nvSpPr>
          <p:cNvPr id="16" name="">
            <a:extLst xmlns:a="http://schemas.openxmlformats.org/drawingml/2006/main">
              <a:ext uri="{FF2B5EF4-FFF2-40B4-BE49-F238E27FC236}">
                <a16:creationId xmlns:a16="http://schemas.microsoft.com/office/drawing/2014/main" id="{57A04CC8-E1F2-4C4B-A6C1-119A2988EF63}"/>
              </a:ext>
            </a:extLst>
          </p:cNvPr>
          <p:cNvSpPr>
            <a:spLocks xmlns:a="http://schemas.openxmlformats.org/drawingml/2006/main" noGrp="1"/>
          </p:cNvSpPr>
          <p:nvPr/>
        </p:nvSpPr>
        <p:spPr>
          <a:xfrm xmlns:a="http://schemas.openxmlformats.org/drawingml/2006/main">
            <a:off x="7962900" y="3762375"/>
            <a:ext cx="285750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Connectors and reconciliation</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Access-aware retrieval</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Retrieval and generation evaluation</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Reviewer workflow and monitoring</a:t>
            </a:r>
          </a:p>
        </p:txBody>
      </p:sp>
      <p:sp>
        <p:nvSpPr>
          <p:cNvPr id="17" name="">
            <a:extLst xmlns:a="http://schemas.openxmlformats.org/drawingml/2006/main">
              <a:ext uri="{FF2B5EF4-FFF2-40B4-BE49-F238E27FC236}">
                <a16:creationId xmlns:a16="http://schemas.microsoft.com/office/drawing/2014/main" id="{8BBED693-7757-48A5-974E-73B0F60C6B41}"/>
              </a:ext>
            </a:extLst>
          </p:cNvPr>
          <p:cNvSpPr>
            <a:spLocks xmlns:a="http://schemas.openxmlformats.org/drawingml/2006/main" noGrp="1"/>
          </p:cNvSpPr>
          <p:nvPr/>
        </p:nvSpPr>
        <p:spPr>
          <a:xfrm xmlns:a="http://schemas.openxmlformats.org/drawingml/2006/main">
            <a:off x="457200" y="5514975"/>
            <a:ext cx="10858500" cy="533400"/>
          </a:xfrm>
          <a:prstGeom xmlns:a="http://schemas.openxmlformats.org/drawingml/2006/main" prst="roundRect">
            <a:avLst>
              <a:gd name="adj" fmla="val 25000"/>
            </a:avLst>
          </a:prstGeom>
          <a:solidFill xmlns:a="http://schemas.openxmlformats.org/drawingml/2006/main">
            <a:srgbClr val="101828"/>
          </a:solidFill>
          <a:ln xmlns:a="http://schemas.openxmlformats.org/drawingml/2006/main" w="9525">
            <a:solidFill>
              <a:srgbClr val="101828"/>
            </a:solidFill>
            <a:prstDash val="solid"/>
          </a:ln>
        </p:spPr>
      </p:sp>
      <p:sp>
        <p:nvSpPr>
          <p:cNvPr id="18" name="">
            <a:extLst xmlns:a="http://schemas.openxmlformats.org/drawingml/2006/main">
              <a:ext uri="{FF2B5EF4-FFF2-40B4-BE49-F238E27FC236}">
                <a16:creationId xmlns:a16="http://schemas.microsoft.com/office/drawing/2014/main" id="{87390179-8675-41A8-B68B-4764A48D41FE}"/>
              </a:ext>
            </a:extLst>
          </p:cNvPr>
          <p:cNvSpPr>
            <a:spLocks xmlns:a="http://schemas.openxmlformats.org/drawingml/2006/main" noGrp="1"/>
          </p:cNvSpPr>
          <p:nvPr/>
        </p:nvSpPr>
        <p:spPr>
          <a:xfrm xmlns:a="http://schemas.openxmlformats.org/drawingml/2006/main">
            <a:off x="685800" y="5676900"/>
            <a:ext cx="1333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1905"/>
          </a:bodyPr>
          <a:lstStyle xmlns:a="http://schemas.openxmlformats.org/drawingml/2006/main"/>
          <a:p xmlns:a="http://schemas.openxmlformats.org/drawingml/2006/main">
            <a:pPr algn="l">
              <a:buNone/>
              <a:defRPr sz="1050" b="1">
                <a:solidFill>
                  <a:srgbClr val="9CB5D5"/>
                </a:solidFill>
                <a:latin typeface="Helvetica Neue"/>
                <a:ea typeface="Helvetica Neue"/>
                <a:cs typeface="Helvetica Neue"/>
              </a:defRPr>
            </a:pPr>
            <a:r>
              <a:rPr sz="1050" b="1">
                <a:solidFill>
                  <a:srgbClr val="9CB5D5"/>
                </a:solidFill>
                <a:latin typeface="Helvetica Neue"/>
                <a:ea typeface="Helvetica Neue"/>
                <a:cs typeface="Helvetica Neue"/>
              </a:rPr>
              <a:t>NEXT DECISION</a:t>
            </a:r>
          </a:p>
        </p:txBody>
      </p:sp>
      <p:sp>
        <p:nvSpPr>
          <p:cNvPr id="19" name="">
            <a:extLst xmlns:a="http://schemas.openxmlformats.org/drawingml/2006/main">
              <a:ext uri="{FF2B5EF4-FFF2-40B4-BE49-F238E27FC236}">
                <a16:creationId xmlns:a16="http://schemas.microsoft.com/office/drawing/2014/main" id="{37CB83B3-D284-4081-B799-9D7848AC112B}"/>
              </a:ext>
            </a:extLst>
          </p:cNvPr>
          <p:cNvSpPr>
            <a:spLocks xmlns:a="http://schemas.openxmlformats.org/drawingml/2006/main" noGrp="1"/>
          </p:cNvSpPr>
          <p:nvPr/>
        </p:nvSpPr>
        <p:spPr>
          <a:xfrm xmlns:a="http://schemas.openxmlformats.org/drawingml/2006/main">
            <a:off x="2190750" y="5638800"/>
            <a:ext cx="8763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350" b="1">
                <a:solidFill>
                  <a:srgbClr val="FFFFFF"/>
                </a:solidFill>
                <a:latin typeface="Helvetica Neue"/>
                <a:ea typeface="Helvetica Neue"/>
                <a:cs typeface="Helvetica Neue"/>
              </a:defRPr>
            </a:pPr>
            <a:r>
              <a:rPr sz="1350" b="1">
                <a:solidFill>
                  <a:srgbClr val="FFFFFF"/>
                </a:solidFill>
                <a:latin typeface="Helvetica Neue"/>
                <a:ea typeface="Helvetica Neue"/>
                <a:cs typeface="Helvetica Neue"/>
              </a:rPr>
              <a:t>Approve one source-to-brief pilot after source owners, access owners, and the AIVC principal confirm the test set.</a:t>
            </a:r>
          </a:p>
        </p:txBody>
      </p:sp>
    </p:spTree>
    <p:extLst>
      <p:ext uri="{BB962C8B-B14F-4D97-AF65-F5344CB8AC3E}">
        <p14:creationId xmlns:p14="http://schemas.microsoft.com/office/powerpoint/2010/main" val="151547627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2026-09-01T00:58:44.9880000Z</dcterms:created>
  <dcterms:modified xsi:type="dcterms:W3CDTF">2026-09-01T00:58:44.9880000Z</dcterms:modified>
</coreProperties>
</file>