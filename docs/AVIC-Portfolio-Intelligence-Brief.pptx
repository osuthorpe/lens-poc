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46327e7d2c844cb" /><Relationship Type="http://schemas.openxmlformats.org/officeDocument/2006/relationships/extended-properties" Target="/docProps/app.xml" Id="Rcfe35ccbda554bc3" /><Relationship Type="http://schemas.openxmlformats.org/officeDocument/2006/relationships/officeDocument" Target="/ppt/presentation.xml" Id="R44329e58c5f74e58" /></Relationships>
</file>

<file path=ppt/presentation.xml><?xml version="1.0" encoding="utf-8"?>
<p:presentation xmlns:p="http://schemas.openxmlformats.org/presentationml/2006/main">
  <p:sldMasterIdLst>
    <p:sldMasterId xmlns:r="http://schemas.openxmlformats.org/officeDocument/2006/relationships" id="2147483648" r:id="Rda283dfa648d4584"/>
  </p:sldMasterIdLst>
  <p:notesMasterIdLst>
    <p:notesMasterId xmlns:r="http://schemas.openxmlformats.org/officeDocument/2006/relationships" r:id="R0d45a54ec7bd4da4"/>
  </p:notesMasterIdLst>
  <p:sldIdLst>
    <p:sldId xmlns:r="http://schemas.openxmlformats.org/officeDocument/2006/relationships" id="256" r:id="R02ee3741cc444b49"/>
    <p:sldId xmlns:r="http://schemas.openxmlformats.org/officeDocument/2006/relationships" id="257" r:id="Re68532dde9794887"/>
    <p:sldId xmlns:r="http://schemas.openxmlformats.org/officeDocument/2006/relationships" id="258" r:id="Rfb9acd727540483f"/>
    <p:sldId xmlns:r="http://schemas.openxmlformats.org/officeDocument/2006/relationships" id="259" r:id="Ra7d44a611c454ab7"/>
    <p:sldId xmlns:r="http://schemas.openxmlformats.org/officeDocument/2006/relationships" id="260" r:id="Rcb1a75e12e76475f"/>
    <p:sldId xmlns:r="http://schemas.openxmlformats.org/officeDocument/2006/relationships" id="261" r:id="Rb237c3d35dfd4405"/>
    <p:sldId xmlns:r="http://schemas.openxmlformats.org/officeDocument/2006/relationships" id="262" r:id="R071ed606606a41e5"/>
    <p:sldId xmlns:r="http://schemas.openxmlformats.org/officeDocument/2006/relationships" id="263" r:id="Re5a7428e710241eb"/>
    <p:sldId xmlns:r="http://schemas.openxmlformats.org/officeDocument/2006/relationships" id="264" r:id="R7a9c0cca2b6d461f"/>
    <p:sldId xmlns:r="http://schemas.openxmlformats.org/officeDocument/2006/relationships" id="265" r:id="R7aea5c8baa814ac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67ed0e045674e77" /><Relationship Type="http://schemas.openxmlformats.org/officeDocument/2006/relationships/slideMaster" Target="/ppt/slideMasters/slideMaster1.xml" Id="Rda283dfa648d4584" /><Relationship Type="http://schemas.openxmlformats.org/officeDocument/2006/relationships/notesMaster" Target="/ppt/notesMasters/notesMaster1.xml" Id="R0d45a54ec7bd4da4" /><Relationship Type="http://schemas.openxmlformats.org/officeDocument/2006/relationships/presProps" Target="/ppt/presProps.xml" Id="R62997ec712e74d09" /><Relationship Type="http://schemas.openxmlformats.org/officeDocument/2006/relationships/tableStyles" Target="/ppt/tableStyles.xml" Id="Rfc67715a85e24c11" /><Relationship Type="http://schemas.openxmlformats.org/officeDocument/2006/relationships/slide" Target="/ppt/slides/slide1.xml" Id="R02ee3741cc444b49" /><Relationship Type="http://schemas.openxmlformats.org/officeDocument/2006/relationships/slide" Target="/ppt/slides/slide2.xml" Id="Re68532dde9794887" /><Relationship Type="http://schemas.openxmlformats.org/officeDocument/2006/relationships/slide" Target="/ppt/slides/slide3.xml" Id="Rfb9acd727540483f" /><Relationship Type="http://schemas.openxmlformats.org/officeDocument/2006/relationships/slide" Target="/ppt/slides/slide4.xml" Id="Ra7d44a611c454ab7" /><Relationship Type="http://schemas.openxmlformats.org/officeDocument/2006/relationships/slide" Target="/ppt/slides/slide5.xml" Id="Rcb1a75e12e76475f" /><Relationship Type="http://schemas.openxmlformats.org/officeDocument/2006/relationships/slide" Target="/ppt/slides/slide6.xml" Id="Rb237c3d35dfd4405" /><Relationship Type="http://schemas.openxmlformats.org/officeDocument/2006/relationships/slide" Target="/ppt/slides/slide7.xml" Id="R071ed606606a41e5" /><Relationship Type="http://schemas.openxmlformats.org/officeDocument/2006/relationships/slide" Target="/ppt/slides/slide8.xml" Id="Re5a7428e710241eb" /><Relationship Type="http://schemas.openxmlformats.org/officeDocument/2006/relationships/slide" Target="/ppt/slides/slide9.xml" Id="R7a9c0cca2b6d461f" /><Relationship Type="http://schemas.openxmlformats.org/officeDocument/2006/relationships/slide" Target="/ppt/slides/slide10.xml" Id="R7aea5c8baa814ac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907b08442d5434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6c3bb5678c24a76" /><Relationship Type="http://schemas.openxmlformats.org/officeDocument/2006/relationships/notesMaster" Target="/ppt/notesMasters/notesMaster1.xml" Id="Rf439544f1e084323" /></Relationships>
</file>

<file path=ppt/notesSlides/_rels/notesSlide2.xml.rels>&#65279;<?xml version="1.0" encoding="utf-8"?><Relationships xmlns="http://schemas.openxmlformats.org/package/2006/relationships"><Relationship Type="http://schemas.openxmlformats.org/officeDocument/2006/relationships/slide" Target="/ppt/slides/slide2.xml" Id="R8674415f8cff4911" /><Relationship Type="http://schemas.openxmlformats.org/officeDocument/2006/relationships/notesMaster" Target="/ppt/notesMasters/notesMaster1.xml" Id="Rb68e892848d543f0" /></Relationships>
</file>

<file path=ppt/notesSlides/_rels/notesSlide3.xml.rels>&#65279;<?xml version="1.0" encoding="utf-8"?><Relationships xmlns="http://schemas.openxmlformats.org/package/2006/relationships"><Relationship Type="http://schemas.openxmlformats.org/officeDocument/2006/relationships/slide" Target="/ppt/slides/slide3.xml" Id="R210196e64cdd4139" /><Relationship Type="http://schemas.openxmlformats.org/officeDocument/2006/relationships/notesMaster" Target="/ppt/notesMasters/notesMaster1.xml" Id="Rb4e86ebb47864de4" /></Relationships>
</file>

<file path=ppt/notesSlides/_rels/notesSlide4.xml.rels>&#65279;<?xml version="1.0" encoding="utf-8"?><Relationships xmlns="http://schemas.openxmlformats.org/package/2006/relationships"><Relationship Type="http://schemas.openxmlformats.org/officeDocument/2006/relationships/slide" Target="/ppt/slides/slide4.xml" Id="Rb13367f7805044e4" /><Relationship Type="http://schemas.openxmlformats.org/officeDocument/2006/relationships/notesMaster" Target="/ppt/notesMasters/notesMaster1.xml" Id="R06f6c4551ea54e18" /></Relationships>
</file>

<file path=ppt/notesSlides/_rels/notesSlide5.xml.rels>&#65279;<?xml version="1.0" encoding="utf-8"?><Relationships xmlns="http://schemas.openxmlformats.org/package/2006/relationships"><Relationship Type="http://schemas.openxmlformats.org/officeDocument/2006/relationships/slide" Target="/ppt/slides/slide5.xml" Id="R4780726c06e64e46" /><Relationship Type="http://schemas.openxmlformats.org/officeDocument/2006/relationships/notesMaster" Target="/ppt/notesMasters/notesMaster1.xml" Id="Re2fd9ead84874207" /></Relationships>
</file>

<file path=ppt/notesSlides/_rels/notesSlide6.xml.rels>&#65279;<?xml version="1.0" encoding="utf-8"?><Relationships xmlns="http://schemas.openxmlformats.org/package/2006/relationships"><Relationship Type="http://schemas.openxmlformats.org/officeDocument/2006/relationships/slide" Target="/ppt/slides/slide6.xml" Id="R55ec01533be545bd" /><Relationship Type="http://schemas.openxmlformats.org/officeDocument/2006/relationships/notesMaster" Target="/ppt/notesMasters/notesMaster1.xml" Id="Rf53dfa95c6cf48af" /></Relationships>
</file>

<file path=ppt/notesSlides/_rels/notesSlide7.xml.rels>&#65279;<?xml version="1.0" encoding="utf-8"?><Relationships xmlns="http://schemas.openxmlformats.org/package/2006/relationships"><Relationship Type="http://schemas.openxmlformats.org/officeDocument/2006/relationships/slide" Target="/ppt/slides/slide7.xml" Id="R6cda9318249e4558" /><Relationship Type="http://schemas.openxmlformats.org/officeDocument/2006/relationships/notesMaster" Target="/ppt/notesMasters/notesMaster1.xml" Id="R2a0344a7f42c48fd" /></Relationships>
</file>

<file path=ppt/notesSlides/_rels/notesSlide8.xml.rels>&#65279;<?xml version="1.0" encoding="utf-8"?><Relationships xmlns="http://schemas.openxmlformats.org/package/2006/relationships"><Relationship Type="http://schemas.openxmlformats.org/officeDocument/2006/relationships/slide" Target="/ppt/slides/slide8.xml" Id="R09c880a1702048e5" /><Relationship Type="http://schemas.openxmlformats.org/officeDocument/2006/relationships/notesMaster" Target="/ppt/notesMasters/notesMaster1.xml" Id="Rd30770d6ec6441a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a6f5614dea748f3" /><Relationship Type="http://schemas.openxmlformats.org/officeDocument/2006/relationships/notesMaster" Target="/ppt/notesMasters/notesMaster1.xml" Id="R701fa6ef7477417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e0e74f0919b4d5a" /><Relationship Type="http://schemas.openxmlformats.org/officeDocument/2006/relationships/notesMaster" Target="/ppt/notesMasters/notesMaster1.xml" Id="R4536a0c458ed4b6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Lens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desktop flow. The AIVC principal selects a company, scans the brief, opens the evidence and original source, and sends feedback without changing context.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/private/tmp/avic-deck-wide-main.png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file import validates each company ID, keeps the source record, calculates checksums, creates chunks, and sends fictional normalized chunk text to the OpenAI Embeddings API. PostgreSQL stores the returned embeddings. A brief request creates one query embedding. SQL filters by company and ranks up to 30 source records. The server sends only the selected company metadata and retrieved evidence to gpt-5.6-sol through the Responses API. It requests a strict schema with low reasoning effort, no tools, and no response storage. A 27-second model timeout and a 29-second request budget have no automatic retry. The server checks source IDs, company isolation, exact source quotes, typed values, qualitative support, source status, and investment safety. It saves the brief, generation mode, model data, and source ranks. If generation fails a check or exceeds the budget, local rules create a source-supported fallback. The app does not call a source system during a brief request. V1 does not watch a folder or Slack. To add a demo record, add it in a supported format, run the import route or the data import command, and select Refresh Brief. The importer reuses unchanged embeddings and embeds only new or changed chunks. A Slack thread must be added to the Slack JSON file with a known company ID.</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/Users/alexthorpe/Documents/GitHub/AVIC/db/schema.sql</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active retrieval model is text-embedding-3-large with 1,536 dimensions. The active brief model is gpt-5.6-sol through the Responses API. The app uses low reasoning effort. In the measured demo checks, low effort produced two valid briefs in 15.4 and 20.9 seconds. Medium effort was slower and sometimes exceeded the test timeout. Keep low effort until a reviewed evaluation shows a useful quality gain.</a:t>
            </a:r>
          </a:p>
          <a:p xmlns:a="http://schemas.openxmlformats.org/drawingml/2006/main">
            <a:r>
              <a:t/>
            </a:r>
          </a:p>
          <a:p xmlns:a="http://schemas.openxmlformats.org/drawingml/2006/main">
            <a:r>
              <a:t>[Sources]</a:t>
            </a:r>
          </a:p>
          <a:p xmlns:a="http://schemas.openxmlformats.org/drawingml/2006/main">
            <a:r>
              <a:t>- /Users/alexthorpe/Documents/GitHub/AVIC/package.json</a:t>
            </a:r>
          </a:p>
          <a:p xmlns:a="http://schemas.openxmlformats.org/drawingml/2006/main">
            <a:r>
              <a:t>- /Users/alexthorpe/Documents/GitHub/AVIC/lib/embeddings.ts</a:t>
            </a:r>
          </a:p>
          <a:p xmlns:a="http://schemas.openxmlformats.org/drawingml/2006/main">
            <a:r>
              <a:t>- /Users/alexthorpe/Documents/GitHub/AVIC/lib/brief-generation.ts</a:t>
            </a:r>
          </a:p>
          <a:p xmlns:a="http://schemas.openxmlformats.org/drawingml/2006/main">
            <a:r>
              <a:t>- /Users/alexthorpe/Documents/GitHub/AVIC/scripts/verify-generation.ts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https://developers.openai.com/api/docs/guides/latest-model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checkout has 69 passing app tests. The 22 live checks include 19 V1 database checks, one embedding check, and two source-supported generation checks. VectorForge took 15.4 seconds. Kestrel Health took 20.9 seconds. Both generated briefs kept citations and the required conflict or unverified state. The local check covers all 10 fictional companies. It does not use the generation model. Use two checks for each evaluation type. Retrieval checks that a must-find source is in the first 30 results and that no result belongs to another company. Grounding checks that each claim cites retrieved evidence and that each numeric value appears in a cited source. Product evaluation measures response time and usefulness for the AIVC principal. Operations evaluation checks that invalid generated output uses the fallback and that a changed source changes the next brief. Run the same set after each retrieval, prompt, model, schema, or source-rule change.</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/Users/alexthorpe/Documents/GitHub/AVIC/docs/prd-v1.md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/Users/alexthorpe/Documents/GitHub/AVIC/lib/ingestion.ts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 /Users/alexthorpe/Documents/GitHub/AVIC/tests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V1 acceptance criteria, not current production service levels. The 4 out of 5 usefulness score is a pilot target and has not been measured.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defines the current Lens boundary. The app implements the interface, API routes, file import, PostgreSQL storage, OpenAI embeddings, company-scoped retrieval, source-supported generation with gpt-5.6-sol, strict checks, source drill-down, local fallback, saved generation audit data, and feedback capture. It uses 10 fictional companies, static source files, a local database, and a fixed reference date. The OpenAI request contains selected fictional text only. It excludes raw JSON, source locators, access metadata, and records for unrelated companies. Live connectors, public filings, sign-in, source access enforcement, schedules, webhooks, and a reviewer screen are not active.</a:t>
            </a:r>
          </a:p>
          <a:p xmlns:a="http://schemas.openxmlformats.org/drawingml/2006/main">
            <a:r>
              <a:t/>
            </a:r>
          </a:p>
          <a:p xmlns:a="http://schemas.openxmlformats.org/drawingml/2006/main">
            <a:r>
              <a:t>[Sources]</a:t>
            </a:r>
          </a:p>
          <a:p xmlns:a="http://schemas.openxmlformats.org/drawingml/2006/main">
            <a:r>
              <a:t>- /Users/alexthorpe/Documents/GitHub/AVIC/app/page.tsx</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Weeks 5 and 6 include retrieval evaluation and generation-and-fallback evaluation. The plan depends on source access, company IDs, access rules, and review time from the AIVC principal.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With more time, evaluate both retrieval and source-supported generation, then add the reviewer workflow and monitoring.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3b535f8edd7445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97b45d4ecbd4cc0" /><Relationship Type="http://schemas.openxmlformats.org/officeDocument/2006/relationships/slideLayout" Target="/ppt/slideLayouts/slideLayout1.xml" Id="R29271d76b1d0430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9271d76b1d0430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edd987f060a485a" /><Relationship Type="http://schemas.openxmlformats.org/officeDocument/2006/relationships/notesSlide" Target="/ppt/notesSlides/notesSlide1.xml" Id="Rb809638a6f504f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2f6833cbf5f43e4" /><Relationship Type="http://schemas.openxmlformats.org/officeDocument/2006/relationships/notesSlide" Target="/ppt/notesSlides/notesSlide2.xml" Id="R13ff72a4c4b44b7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bd79894c4f34a95" /><Relationship Type="http://schemas.openxmlformats.org/officeDocument/2006/relationships/image" Target="/ppt/media/image.jpeg" Id="R56e449e1b0224a8d" /><Relationship Type="http://schemas.openxmlformats.org/officeDocument/2006/relationships/notesSlide" Target="/ppt/notesSlides/notesSlide3.xml" Id="R3b0d28294478489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81cf017e0b64103" /><Relationship Type="http://schemas.openxmlformats.org/officeDocument/2006/relationships/image" Target="/ppt/media/image.png" Id="Rf16ff07f9aaa406c" /><Relationship Type="http://schemas.openxmlformats.org/officeDocument/2006/relationships/notesSlide" Target="/ppt/notesSlides/notesSlide4.xml" Id="Rb4cb51e93c344e8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20191fe9cc04678" /><Relationship Type="http://schemas.openxmlformats.org/officeDocument/2006/relationships/notesSlide" Target="/ppt/notesSlides/notesSlide5.xml" Id="R9f8a57baa81f4cc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62517e8d7cc41b5" /><Relationship Type="http://schemas.openxmlformats.org/officeDocument/2006/relationships/notesSlide" Target="/ppt/notesSlides/notesSlide6.xml" Id="R549b052e8e42407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71429357c22444a" /><Relationship Type="http://schemas.openxmlformats.org/officeDocument/2006/relationships/notesSlide" Target="/ppt/notesSlides/notesSlide7.xml" Id="Re283a98ff8dd4ae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8af53ed0e5f4eef" /><Relationship Type="http://schemas.openxmlformats.org/officeDocument/2006/relationships/notesSlide" Target="/ppt/notesSlides/notesSlide8.xml" Id="R8484d92e604e49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18a82c58b3742d5" /><Relationship Type="http://schemas.openxmlformats.org/officeDocument/2006/relationships/notesSlide" Target="/ppt/notesSlides/notesSlide9.xml" Id="R20fa0f4abcf14b4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85f0222e2014775" /><Relationship Type="http://schemas.openxmlformats.org/officeDocument/2006/relationships/notesSlide" Target="/ppt/notesSlides/notesSlide10.xml" Id="R04e06ca532ad41c9"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Lens</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Company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83"/>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fictional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Lens</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does Lens replace?</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33"/>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An AIVC principal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The AIVC principal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Lens organizes evidence. The AIVC principal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685800" y="361950"/>
            <a:ext cx="108204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Lens let an AIVC principal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brief, evidence, original source, and feedback stay in one flow.</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56e449e1b0224a8d"/>
          <a:stretch xmlns:a="http://schemas.openxmlformats.org/drawingml/2006/main"/>
        </p:blipFill>
        <p:spPr>
          <a:xfrm xmlns:a="http://schemas.openxmlformats.org/drawingml/2006/main">
            <a:off x="595993" y="1924050"/>
            <a:ext cx="7342414" cy="4057650"/>
          </a:xfrm>
          <a:prstGeom xmlns:a="http://schemas.openxmlformats.org/drawingml/2006/main" prst="roundRect">
            <a:avLst>
              <a:gd name="adj" fmla="val 2817"/>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Lens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Import reads new or changed demo records. Refresh Brief retrieves them and writes a new brief. There is no live source watcher.</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No filings adapter</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each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Request embeddings</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8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Companies and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embeddings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runs and evidence</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68"/>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Create query embedding</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Company ID filter in SQL</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Full-text and embedding search</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Use quality and recency</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Investor UI</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Portfolio or pipeline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in 30 seconds or less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full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873"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874"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875"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876" name=""/>
          <p:cNvCxnSpPr>
            <a:stCxn xmlns:a="http://schemas.openxmlformats.org/drawingml/2006/main" id="14" idx="3"/>
            <a:endCxn xmlns:a="http://schemas.openxmlformats.org/drawingml/2006/main" id="17" idx="1"/>
          </p:cNvCxnSpPr>
          <p:nvPr/>
        </p:nvCxnSpPr>
        <p:spPr>
          <a:xfrm xmlns:a="http://schemas.openxmlformats.org/drawingml/2006/main">
            <a:off x="7696200" y="3048000"/>
            <a:ext cx="2047875"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CONTROLS THAT STAY</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Checksums · company filter · selected source IDs · value support · source-status guard · timeout · fallback · feedback</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PRODUCTION HARDENING    Managed connectors · access rules · reviewed prompts · model policy · monitoring</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CURRENT IMPORT · BEFORE REQUEST</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CURRENT BRIEF · ON REQUEST</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Build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gpt-5.6-sol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Responses API</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Selected sources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Strict checks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or fallback</a:t>
            </a:r>
          </a:p>
        </p:txBody>
      </p:sp>
      <p:cxnSp>
        <p:nvCxnSpPr>
          <p:cNvPr id="888"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889"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pic>
        <p:nvPicPr>
          <p:cNvPr id="891" name=""/>
          <p:cNvPicPr>
            <a:picLocks xmlns:a="http://schemas.openxmlformats.org/drawingml/2006/main" noChangeAspect="1"/>
          </p:cNvPicPr>
          <p:nvPr/>
        </p:nvPicPr>
        <p:blipFill>
          <a:blip xmlns:r="http://schemas.openxmlformats.org/officeDocument/2006/relationships" xmlns:a="http://schemas.openxmlformats.org/drawingml/2006/main" r:embed="Rf16ff07f9aaa406c"/>
          <a:stretch xmlns:a="http://schemas.openxmlformats.org/drawingml/2006/main"/>
        </p:blipFill>
        <p:spPr>
          <a:xfrm xmlns:a="http://schemas.openxmlformats.org/drawingml/2006/main">
            <a:off x="439341" y="1476375"/>
            <a:ext cx="11084719" cy="4667250"/>
          </a:xfrm>
          <a:prstGeom xmlns:a="http://schemas.openxmlformats.org/drawingml/2006/main" prst="rect">
            <a:avLst/>
          </a:prstGeom>
        </p:spPr>
      </p:pic>
    </p:spTree>
    <p:extLst>
      <p:ext uri="{BB962C8B-B14F-4D97-AF65-F5344CB8AC3E}">
        <p14:creationId xmlns:p14="http://schemas.microsoft.com/office/powerpoint/2010/main" val="1629625627"/>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Which stack runs Lens today?</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TECHNOLOGY</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7981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ROLE IN LENS</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Serves the interface, API routes, evidence views, and feedback.</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Stores evidence, embeddings, brief audit data, and feedback.</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Imports the fictional source files and runs the local database.</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OpenAI (LLM)</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Uses text-embedding-3-large to find evidence and gpt-5.6-sol to write the brief.</a:t>
            </a:r>
          </a:p>
        </p:txBody>
      </p:sp>
    </p:spTree>
    <p:extLst>
      <p:ext uri="{BB962C8B-B14F-4D97-AF65-F5344CB8AC3E}">
        <p14:creationId xmlns:p14="http://schemas.microsoft.com/office/powerpoint/2010/main" val="436145467"/>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 I know Lens works?</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CURRENT RESULT</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Lens passed 91 checks. Two AI briefs finished in 30 seconds or less.</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FIND THE RIGHT RECORDS</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Find</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Finds the required record</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Does not mix companies</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CHECK THE FACTS</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Check</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253"/>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Each statement links to a source</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Each number matches a source</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HELP THE USER</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Use</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Makes a brief in 30 seconds</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User target is 4 out of 5</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HANDLE CHANGES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Update</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466"/>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Uses a backup if the AI fails</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New records change the next brief</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Checks cover facts, sources, and changes. A user reviews usefulness.</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Run the checks again after any system or source change.</a:t>
            </a:r>
          </a:p>
        </p:txBody>
      </p:sp>
    </p:spTree>
    <p:extLst>
      <p:ext uri="{BB962C8B-B14F-4D97-AF65-F5344CB8AC3E}">
        <p14:creationId xmlns:p14="http://schemas.microsoft.com/office/powerpoint/2010/main" val="1483308295"/>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must V1 do, and what is good enough to ship?</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An AIVC principal prepares for a company discussion</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His information is spread across several systems. He needs current evidence before he uses his judgment.</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SPEED</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≤30 sec</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target for each company</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SOURCE CHECK</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Required</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Source, date, excerpt, and original record</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ISOLATION</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0</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Records from another company</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USEFULNESS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≥4/5</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Pilot target; not measured</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Core stories: get a brief · understand the company · check a statement · report a problem</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Good enough means a small internal pilot with approved sources, a reference set, validated source access, and a feedback owner.</a:t>
            </a:r>
          </a:p>
        </p:txBody>
      </p:sp>
    </p:spTree>
    <p:extLst>
      <p:ext uri="{BB962C8B-B14F-4D97-AF65-F5344CB8AC3E}">
        <p14:creationId xmlns:p14="http://schemas.microsoft.com/office/powerpoint/2010/main" val="1483308295"/>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D90E6CAA-500E-48FE-9B53-5F49A30A4FA3}"/>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runs in Lens today, and what is planned?</a:t>
            </a:r>
          </a:p>
        </p:txBody>
      </p:sp>
      <p:sp>
        <p:nvSpPr>
          <p:cNvPr id="2" name="">
            <a:extLst xmlns:a="http://schemas.openxmlformats.org/drawingml/2006/main">
              <a:ext uri="{FF2B5EF4-FFF2-40B4-BE49-F238E27FC236}">
                <a16:creationId xmlns:a16="http://schemas.microsoft.com/office/drawing/2014/main" id="{EF65C2A4-B64B-4D22-95C8-408BF13E2BC9}"/>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80FF9FAF-5706-4922-868C-E24C4C57357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08</a:t>
            </a:r>
          </a:p>
        </p:txBody>
      </p:sp>
      <p:sp>
        <p:nvSpPr>
          <p:cNvPr id="4" name="">
            <a:extLst xmlns:a="http://schemas.openxmlformats.org/drawingml/2006/main">
              <a:ext uri="{FF2B5EF4-FFF2-40B4-BE49-F238E27FC236}">
                <a16:creationId xmlns:a16="http://schemas.microsoft.com/office/drawing/2014/main" id="{685A96E9-6F50-4414-A07D-C76C7C79E4EB}"/>
              </a:ext>
            </a:extLst>
          </p:cNvPr>
          <p:cNvSpPr>
            <a:spLocks xmlns:a="http://schemas.openxmlformats.org/drawingml/2006/main" noGrp="1"/>
          </p:cNvSpPr>
          <p:nvPr/>
        </p:nvSpPr>
        <p:spPr>
          <a:xfrm xmlns:a="http://schemas.openxmlformats.org/drawingml/2006/main">
            <a:off x="457200" y="1485900"/>
            <a:ext cx="5219700" cy="4343400"/>
          </a:xfrm>
          <a:prstGeom xmlns:a="http://schemas.openxmlformats.org/drawingml/2006/main" prst="roundRect">
            <a:avLst>
              <a:gd name="adj" fmla="val 3947"/>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CC29C1BE-B33B-46AA-942D-A837CDBDCB70}"/>
              </a:ext>
            </a:extLst>
          </p:cNvPr>
          <p:cNvSpPr>
            <a:spLocks xmlns:a="http://schemas.openxmlformats.org/drawingml/2006/main" noGrp="1"/>
          </p:cNvSpPr>
          <p:nvPr/>
        </p:nvSpPr>
        <p:spPr>
          <a:xfrm xmlns:a="http://schemas.openxmlformats.org/drawingml/2006/main">
            <a:off x="685800" y="1714500"/>
            <a:ext cx="1428750" cy="28575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6" name="">
            <a:extLst xmlns:a="http://schemas.openxmlformats.org/drawingml/2006/main">
              <a:ext uri="{FF2B5EF4-FFF2-40B4-BE49-F238E27FC236}">
                <a16:creationId xmlns:a16="http://schemas.microsoft.com/office/drawing/2014/main" id="{6C4A0D09-9F63-4B9A-84FC-C3CD0BD85944}"/>
              </a:ext>
            </a:extLst>
          </p:cNvPr>
          <p:cNvSpPr>
            <a:spLocks xmlns:a="http://schemas.openxmlformats.org/drawingml/2006/main" noGrp="1"/>
          </p:cNvSpPr>
          <p:nvPr/>
        </p:nvSpPr>
        <p:spPr>
          <a:xfrm xmlns:a="http://schemas.openxmlformats.org/drawingml/2006/main">
            <a:off x="800100" y="1762125"/>
            <a:ext cx="1200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247A59"/>
                </a:solidFill>
                <a:latin typeface="Helvetica Neue"/>
                <a:ea typeface="Helvetica Neue"/>
                <a:cs typeface="Helvetica Neue"/>
              </a:defRPr>
            </a:pPr>
            <a:r>
              <a:rPr sz="1050" b="1">
                <a:solidFill>
                  <a:srgbClr val="247A59"/>
                </a:solidFill>
                <a:latin typeface="Helvetica Neue"/>
                <a:ea typeface="Helvetica Neue"/>
                <a:cs typeface="Helvetica Neue"/>
              </a:rPr>
              <a:t>RUNS TODAY</a:t>
            </a:r>
          </a:p>
        </p:txBody>
      </p:sp>
      <p:sp>
        <p:nvSpPr>
          <p:cNvPr id="7" name="">
            <a:extLst xmlns:a="http://schemas.openxmlformats.org/drawingml/2006/main">
              <a:ext uri="{FF2B5EF4-FFF2-40B4-BE49-F238E27FC236}">
                <a16:creationId xmlns:a16="http://schemas.microsoft.com/office/drawing/2014/main" id="{DE53C278-8683-4E98-84E7-96A510C3F44E}"/>
              </a:ext>
            </a:extLst>
          </p:cNvPr>
          <p:cNvSpPr>
            <a:spLocks xmlns:a="http://schemas.openxmlformats.org/drawingml/2006/main" noGrp="1"/>
          </p:cNvSpPr>
          <p:nvPr/>
        </p:nvSpPr>
        <p:spPr>
          <a:xfrm xmlns:a="http://schemas.openxmlformats.org/drawingml/2006/main">
            <a:off x="685800" y="2266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8" name="">
            <a:extLst xmlns:a="http://schemas.openxmlformats.org/drawingml/2006/main">
              <a:ext uri="{FF2B5EF4-FFF2-40B4-BE49-F238E27FC236}">
                <a16:creationId xmlns:a16="http://schemas.microsoft.com/office/drawing/2014/main" id="{C03B9381-0A59-414C-BEEB-8E714A7336CF}"/>
              </a:ext>
            </a:extLst>
          </p:cNvPr>
          <p:cNvSpPr>
            <a:spLocks xmlns:a="http://schemas.openxmlformats.org/drawingml/2006/main" noGrp="1"/>
          </p:cNvSpPr>
          <p:nvPr/>
        </p:nvSpPr>
        <p:spPr>
          <a:xfrm xmlns:a="http://schemas.openxmlformats.org/drawingml/2006/main">
            <a:off x="742950" y="2295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9" name="">
            <a:extLst xmlns:a="http://schemas.openxmlformats.org/drawingml/2006/main">
              <a:ext uri="{FF2B5EF4-FFF2-40B4-BE49-F238E27FC236}">
                <a16:creationId xmlns:a16="http://schemas.microsoft.com/office/drawing/2014/main" id="{1B2FE6B0-320C-417E-8A1A-879419763A56}"/>
              </a:ext>
            </a:extLst>
          </p:cNvPr>
          <p:cNvSpPr>
            <a:spLocks xmlns:a="http://schemas.openxmlformats.org/drawingml/2006/main" noGrp="1"/>
          </p:cNvSpPr>
          <p:nvPr/>
        </p:nvSpPr>
        <p:spPr>
          <a:xfrm xmlns:a="http://schemas.openxmlformats.org/drawingml/2006/main">
            <a:off x="1104900" y="2247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Interface and API routes</a:t>
            </a:r>
          </a:p>
        </p:txBody>
      </p:sp>
      <p:sp>
        <p:nvSpPr>
          <p:cNvPr id="10" name="">
            <a:extLst xmlns:a="http://schemas.openxmlformats.org/drawingml/2006/main">
              <a:ext uri="{FF2B5EF4-FFF2-40B4-BE49-F238E27FC236}">
                <a16:creationId xmlns:a16="http://schemas.microsoft.com/office/drawing/2014/main" id="{97B51185-F006-48A4-A1C8-28FF6BD765B9}"/>
              </a:ext>
            </a:extLst>
          </p:cNvPr>
          <p:cNvSpPr>
            <a:spLocks xmlns:a="http://schemas.openxmlformats.org/drawingml/2006/main" noGrp="1"/>
          </p:cNvSpPr>
          <p:nvPr/>
        </p:nvSpPr>
        <p:spPr>
          <a:xfrm xmlns:a="http://schemas.openxmlformats.org/drawingml/2006/main">
            <a:off x="1104900" y="2533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1" name="">
            <a:extLst xmlns:a="http://schemas.openxmlformats.org/drawingml/2006/main">
              <a:ext uri="{FF2B5EF4-FFF2-40B4-BE49-F238E27FC236}">
                <a16:creationId xmlns:a16="http://schemas.microsoft.com/office/drawing/2014/main" id="{E612B173-A7EC-4AE9-BA73-C0E5AFE0B9BA}"/>
              </a:ext>
            </a:extLst>
          </p:cNvPr>
          <p:cNvSpPr>
            <a:spLocks xmlns:a="http://schemas.openxmlformats.org/drawingml/2006/main" noGrp="1"/>
          </p:cNvSpPr>
          <p:nvPr/>
        </p:nvSpPr>
        <p:spPr>
          <a:xfrm xmlns:a="http://schemas.openxmlformats.org/drawingml/2006/main">
            <a:off x="685800" y="2724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2" name="">
            <a:extLst xmlns:a="http://schemas.openxmlformats.org/drawingml/2006/main">
              <a:ext uri="{FF2B5EF4-FFF2-40B4-BE49-F238E27FC236}">
                <a16:creationId xmlns:a16="http://schemas.microsoft.com/office/drawing/2014/main" id="{4BEEC2F2-A405-4817-AF78-149C32ABC816}"/>
              </a:ext>
            </a:extLst>
          </p:cNvPr>
          <p:cNvSpPr>
            <a:spLocks xmlns:a="http://schemas.openxmlformats.org/drawingml/2006/main" noGrp="1"/>
          </p:cNvSpPr>
          <p:nvPr/>
        </p:nvSpPr>
        <p:spPr>
          <a:xfrm xmlns:a="http://schemas.openxmlformats.org/drawingml/2006/main">
            <a:off x="742950" y="2752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049E349C-8886-4F72-895A-080D41700841}"/>
              </a:ext>
            </a:extLst>
          </p:cNvPr>
          <p:cNvSpPr>
            <a:spLocks xmlns:a="http://schemas.openxmlformats.org/drawingml/2006/main" noGrp="1"/>
          </p:cNvSpPr>
          <p:nvPr/>
        </p:nvSpPr>
        <p:spPr>
          <a:xfrm xmlns:a="http://schemas.openxmlformats.org/drawingml/2006/main">
            <a:off x="1104900" y="2705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PostgreSQL schema and manual file import</a:t>
            </a:r>
          </a:p>
        </p:txBody>
      </p:sp>
      <p:sp>
        <p:nvSpPr>
          <p:cNvPr id="14" name="">
            <a:extLst xmlns:a="http://schemas.openxmlformats.org/drawingml/2006/main">
              <a:ext uri="{FF2B5EF4-FFF2-40B4-BE49-F238E27FC236}">
                <a16:creationId xmlns:a16="http://schemas.microsoft.com/office/drawing/2014/main" id="{FC908AEA-2316-4C8A-A666-4AA153866861}"/>
              </a:ext>
            </a:extLst>
          </p:cNvPr>
          <p:cNvSpPr>
            <a:spLocks xmlns:a="http://schemas.openxmlformats.org/drawingml/2006/main" noGrp="1"/>
          </p:cNvSpPr>
          <p:nvPr/>
        </p:nvSpPr>
        <p:spPr>
          <a:xfrm xmlns:a="http://schemas.openxmlformats.org/drawingml/2006/main">
            <a:off x="1104900" y="2990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5" name="">
            <a:extLst xmlns:a="http://schemas.openxmlformats.org/drawingml/2006/main">
              <a:ext uri="{FF2B5EF4-FFF2-40B4-BE49-F238E27FC236}">
                <a16:creationId xmlns:a16="http://schemas.microsoft.com/office/drawing/2014/main" id="{68621680-B99C-4BF6-845E-85CB22E48266}"/>
              </a:ext>
            </a:extLst>
          </p:cNvPr>
          <p:cNvSpPr>
            <a:spLocks xmlns:a="http://schemas.openxmlformats.org/drawingml/2006/main" noGrp="1"/>
          </p:cNvSpPr>
          <p:nvPr/>
        </p:nvSpPr>
        <p:spPr>
          <a:xfrm xmlns:a="http://schemas.openxmlformats.org/drawingml/2006/main">
            <a:off x="685800" y="31813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6" name="">
            <a:extLst xmlns:a="http://schemas.openxmlformats.org/drawingml/2006/main">
              <a:ext uri="{FF2B5EF4-FFF2-40B4-BE49-F238E27FC236}">
                <a16:creationId xmlns:a16="http://schemas.microsoft.com/office/drawing/2014/main" id="{5975CE81-A386-4156-8944-6514F223EB08}"/>
              </a:ext>
            </a:extLst>
          </p:cNvPr>
          <p:cNvSpPr>
            <a:spLocks xmlns:a="http://schemas.openxmlformats.org/drawingml/2006/main" noGrp="1"/>
          </p:cNvSpPr>
          <p:nvPr/>
        </p:nvSpPr>
        <p:spPr>
          <a:xfrm xmlns:a="http://schemas.openxmlformats.org/drawingml/2006/main">
            <a:off x="742950" y="32099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7" name="">
            <a:extLst xmlns:a="http://schemas.openxmlformats.org/drawingml/2006/main">
              <a:ext uri="{FF2B5EF4-FFF2-40B4-BE49-F238E27FC236}">
                <a16:creationId xmlns:a16="http://schemas.microsoft.com/office/drawing/2014/main" id="{59DB7FFD-012D-4084-9042-F42B6A456FC9}"/>
              </a:ext>
            </a:extLst>
          </p:cNvPr>
          <p:cNvSpPr>
            <a:spLocks xmlns:a="http://schemas.openxmlformats.org/drawingml/2006/main" noGrp="1"/>
          </p:cNvSpPr>
          <p:nvPr/>
        </p:nvSpPr>
        <p:spPr>
          <a:xfrm xmlns:a="http://schemas.openxmlformats.org/drawingml/2006/main">
            <a:off x="1104900" y="31623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OpenAI embeddings and repeat-import control</a:t>
            </a:r>
          </a:p>
        </p:txBody>
      </p:sp>
      <p:sp>
        <p:nvSpPr>
          <p:cNvPr id="18" name="">
            <a:extLst xmlns:a="http://schemas.openxmlformats.org/drawingml/2006/main">
              <a:ext uri="{FF2B5EF4-FFF2-40B4-BE49-F238E27FC236}">
                <a16:creationId xmlns:a16="http://schemas.microsoft.com/office/drawing/2014/main" id="{9EE911C2-60EA-4D64-ADFB-9C0D32EA7A8F}"/>
              </a:ext>
            </a:extLst>
          </p:cNvPr>
          <p:cNvSpPr>
            <a:spLocks xmlns:a="http://schemas.openxmlformats.org/drawingml/2006/main" noGrp="1"/>
          </p:cNvSpPr>
          <p:nvPr/>
        </p:nvSpPr>
        <p:spPr>
          <a:xfrm xmlns:a="http://schemas.openxmlformats.org/drawingml/2006/main">
            <a:off x="1104900" y="34480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9" name="">
            <a:extLst xmlns:a="http://schemas.openxmlformats.org/drawingml/2006/main">
              <a:ext uri="{FF2B5EF4-FFF2-40B4-BE49-F238E27FC236}">
                <a16:creationId xmlns:a16="http://schemas.microsoft.com/office/drawing/2014/main" id="{13A374E0-12CE-473D-B264-DF803B1B3121}"/>
              </a:ext>
            </a:extLst>
          </p:cNvPr>
          <p:cNvSpPr>
            <a:spLocks xmlns:a="http://schemas.openxmlformats.org/drawingml/2006/main" noGrp="1"/>
          </p:cNvSpPr>
          <p:nvPr/>
        </p:nvSpPr>
        <p:spPr>
          <a:xfrm xmlns:a="http://schemas.openxmlformats.org/drawingml/2006/main">
            <a:off x="685800" y="36385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0" name="">
            <a:extLst xmlns:a="http://schemas.openxmlformats.org/drawingml/2006/main">
              <a:ext uri="{FF2B5EF4-FFF2-40B4-BE49-F238E27FC236}">
                <a16:creationId xmlns:a16="http://schemas.microsoft.com/office/drawing/2014/main" id="{82E8644C-357A-42C4-A9E2-8D942C679D9E}"/>
              </a:ext>
            </a:extLst>
          </p:cNvPr>
          <p:cNvSpPr>
            <a:spLocks xmlns:a="http://schemas.openxmlformats.org/drawingml/2006/main" noGrp="1"/>
          </p:cNvSpPr>
          <p:nvPr/>
        </p:nvSpPr>
        <p:spPr>
          <a:xfrm xmlns:a="http://schemas.openxmlformats.org/drawingml/2006/main">
            <a:off x="742950" y="36671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1" name="">
            <a:extLst xmlns:a="http://schemas.openxmlformats.org/drawingml/2006/main">
              <a:ext uri="{FF2B5EF4-FFF2-40B4-BE49-F238E27FC236}">
                <a16:creationId xmlns:a16="http://schemas.microsoft.com/office/drawing/2014/main" id="{5C472E48-41BE-48B1-9388-CD31E3C9EE4A}"/>
              </a:ext>
            </a:extLst>
          </p:cNvPr>
          <p:cNvSpPr>
            <a:spLocks xmlns:a="http://schemas.openxmlformats.org/drawingml/2006/main" noGrp="1"/>
          </p:cNvSpPr>
          <p:nvPr/>
        </p:nvSpPr>
        <p:spPr>
          <a:xfrm xmlns:a="http://schemas.openxmlformats.org/drawingml/2006/main">
            <a:off x="1104900" y="36195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Company-scoped retrieval and gpt-5.6-sol</a:t>
            </a:r>
          </a:p>
        </p:txBody>
      </p:sp>
      <p:sp>
        <p:nvSpPr>
          <p:cNvPr id="22" name="">
            <a:extLst xmlns:a="http://schemas.openxmlformats.org/drawingml/2006/main">
              <a:ext uri="{FF2B5EF4-FFF2-40B4-BE49-F238E27FC236}">
                <a16:creationId xmlns:a16="http://schemas.microsoft.com/office/drawing/2014/main" id="{EF1B4B12-A52A-4E4C-BAA9-3BAC2F5D9972}"/>
              </a:ext>
            </a:extLst>
          </p:cNvPr>
          <p:cNvSpPr>
            <a:spLocks xmlns:a="http://schemas.openxmlformats.org/drawingml/2006/main" noGrp="1"/>
          </p:cNvSpPr>
          <p:nvPr/>
        </p:nvSpPr>
        <p:spPr>
          <a:xfrm xmlns:a="http://schemas.openxmlformats.org/drawingml/2006/main">
            <a:off x="1104900" y="39052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3" name="">
            <a:extLst xmlns:a="http://schemas.openxmlformats.org/drawingml/2006/main">
              <a:ext uri="{FF2B5EF4-FFF2-40B4-BE49-F238E27FC236}">
                <a16:creationId xmlns:a16="http://schemas.microsoft.com/office/drawing/2014/main" id="{33741759-6443-44CC-A10F-B90743822CFE}"/>
              </a:ext>
            </a:extLst>
          </p:cNvPr>
          <p:cNvSpPr>
            <a:spLocks xmlns:a="http://schemas.openxmlformats.org/drawingml/2006/main" noGrp="1"/>
          </p:cNvSpPr>
          <p:nvPr/>
        </p:nvSpPr>
        <p:spPr>
          <a:xfrm xmlns:a="http://schemas.openxmlformats.org/drawingml/2006/main">
            <a:off x="685800" y="40957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4" name="">
            <a:extLst xmlns:a="http://schemas.openxmlformats.org/drawingml/2006/main">
              <a:ext uri="{FF2B5EF4-FFF2-40B4-BE49-F238E27FC236}">
                <a16:creationId xmlns:a16="http://schemas.microsoft.com/office/drawing/2014/main" id="{AB907E69-39BA-4CC1-8FD2-4E5B52C5A90C}"/>
              </a:ext>
            </a:extLst>
          </p:cNvPr>
          <p:cNvSpPr>
            <a:spLocks xmlns:a="http://schemas.openxmlformats.org/drawingml/2006/main" noGrp="1"/>
          </p:cNvSpPr>
          <p:nvPr/>
        </p:nvSpPr>
        <p:spPr>
          <a:xfrm xmlns:a="http://schemas.openxmlformats.org/drawingml/2006/main">
            <a:off x="742950" y="41243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5" name="">
            <a:extLst xmlns:a="http://schemas.openxmlformats.org/drawingml/2006/main">
              <a:ext uri="{FF2B5EF4-FFF2-40B4-BE49-F238E27FC236}">
                <a16:creationId xmlns:a16="http://schemas.microsoft.com/office/drawing/2014/main" id="{E6B2F385-472E-4D2F-AC6E-4CBF8A780C78}"/>
              </a:ext>
            </a:extLst>
          </p:cNvPr>
          <p:cNvSpPr>
            <a:spLocks xmlns:a="http://schemas.openxmlformats.org/drawingml/2006/main" noGrp="1"/>
          </p:cNvSpPr>
          <p:nvPr/>
        </p:nvSpPr>
        <p:spPr>
          <a:xfrm xmlns:a="http://schemas.openxmlformats.org/drawingml/2006/main">
            <a:off x="1104900" y="40767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Strict schema, citations, and source drill-down</a:t>
            </a:r>
          </a:p>
        </p:txBody>
      </p:sp>
      <p:sp>
        <p:nvSpPr>
          <p:cNvPr id="26" name="">
            <a:extLst xmlns:a="http://schemas.openxmlformats.org/drawingml/2006/main">
              <a:ext uri="{FF2B5EF4-FFF2-40B4-BE49-F238E27FC236}">
                <a16:creationId xmlns:a16="http://schemas.microsoft.com/office/drawing/2014/main" id="{A4A0DB9C-186C-4B5C-A333-E8E632450401}"/>
              </a:ext>
            </a:extLst>
          </p:cNvPr>
          <p:cNvSpPr>
            <a:spLocks xmlns:a="http://schemas.openxmlformats.org/drawingml/2006/main" noGrp="1"/>
          </p:cNvSpPr>
          <p:nvPr/>
        </p:nvSpPr>
        <p:spPr>
          <a:xfrm xmlns:a="http://schemas.openxmlformats.org/drawingml/2006/main">
            <a:off x="1104900" y="43624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7" name="">
            <a:extLst xmlns:a="http://schemas.openxmlformats.org/drawingml/2006/main">
              <a:ext uri="{FF2B5EF4-FFF2-40B4-BE49-F238E27FC236}">
                <a16:creationId xmlns:a16="http://schemas.microsoft.com/office/drawing/2014/main" id="{CD8FE40C-07C3-4860-AFAD-62721E67A5A9}"/>
              </a:ext>
            </a:extLst>
          </p:cNvPr>
          <p:cNvSpPr>
            <a:spLocks xmlns:a="http://schemas.openxmlformats.org/drawingml/2006/main" noGrp="1"/>
          </p:cNvSpPr>
          <p:nvPr/>
        </p:nvSpPr>
        <p:spPr>
          <a:xfrm xmlns:a="http://schemas.openxmlformats.org/drawingml/2006/main">
            <a:off x="685800" y="4552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8" name="">
            <a:extLst xmlns:a="http://schemas.openxmlformats.org/drawingml/2006/main">
              <a:ext uri="{FF2B5EF4-FFF2-40B4-BE49-F238E27FC236}">
                <a16:creationId xmlns:a16="http://schemas.microsoft.com/office/drawing/2014/main" id="{240D9B71-DFC8-477C-9D82-9CA578FF2CA8}"/>
              </a:ext>
            </a:extLst>
          </p:cNvPr>
          <p:cNvSpPr>
            <a:spLocks xmlns:a="http://schemas.openxmlformats.org/drawingml/2006/main" noGrp="1"/>
          </p:cNvSpPr>
          <p:nvPr/>
        </p:nvSpPr>
        <p:spPr>
          <a:xfrm xmlns:a="http://schemas.openxmlformats.org/drawingml/2006/main">
            <a:off x="742950" y="4581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9" name="">
            <a:extLst xmlns:a="http://schemas.openxmlformats.org/drawingml/2006/main">
              <a:ext uri="{FF2B5EF4-FFF2-40B4-BE49-F238E27FC236}">
                <a16:creationId xmlns:a16="http://schemas.microsoft.com/office/drawing/2014/main" id="{FF6354B8-5995-4C82-B3CC-540234CDFD0D}"/>
              </a:ext>
            </a:extLst>
          </p:cNvPr>
          <p:cNvSpPr>
            <a:spLocks xmlns:a="http://schemas.openxmlformats.org/drawingml/2006/main" noGrp="1"/>
          </p:cNvSpPr>
          <p:nvPr/>
        </p:nvSpPr>
        <p:spPr>
          <a:xfrm xmlns:a="http://schemas.openxmlformats.org/drawingml/2006/main">
            <a:off x="1104900" y="4533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Local fallback and saved brief audit</a:t>
            </a:r>
          </a:p>
        </p:txBody>
      </p:sp>
      <p:sp>
        <p:nvSpPr>
          <p:cNvPr id="30" name="">
            <a:extLst xmlns:a="http://schemas.openxmlformats.org/drawingml/2006/main">
              <a:ext uri="{FF2B5EF4-FFF2-40B4-BE49-F238E27FC236}">
                <a16:creationId xmlns:a16="http://schemas.microsoft.com/office/drawing/2014/main" id="{329B6427-62E0-482F-97D3-63254171C4AD}"/>
              </a:ext>
            </a:extLst>
          </p:cNvPr>
          <p:cNvSpPr>
            <a:spLocks xmlns:a="http://schemas.openxmlformats.org/drawingml/2006/main" noGrp="1"/>
          </p:cNvSpPr>
          <p:nvPr/>
        </p:nvSpPr>
        <p:spPr>
          <a:xfrm xmlns:a="http://schemas.openxmlformats.org/drawingml/2006/main">
            <a:off x="1104900" y="4819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1" name="">
            <a:extLst xmlns:a="http://schemas.openxmlformats.org/drawingml/2006/main">
              <a:ext uri="{FF2B5EF4-FFF2-40B4-BE49-F238E27FC236}">
                <a16:creationId xmlns:a16="http://schemas.microsoft.com/office/drawing/2014/main" id="{A1275246-0B5E-4F0B-B242-D7609D78ED76}"/>
              </a:ext>
            </a:extLst>
          </p:cNvPr>
          <p:cNvSpPr>
            <a:spLocks xmlns:a="http://schemas.openxmlformats.org/drawingml/2006/main" noGrp="1"/>
          </p:cNvSpPr>
          <p:nvPr/>
        </p:nvSpPr>
        <p:spPr>
          <a:xfrm xmlns:a="http://schemas.openxmlformats.org/drawingml/2006/main">
            <a:off x="685800" y="5010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32" name="">
            <a:extLst xmlns:a="http://schemas.openxmlformats.org/drawingml/2006/main">
              <a:ext uri="{FF2B5EF4-FFF2-40B4-BE49-F238E27FC236}">
                <a16:creationId xmlns:a16="http://schemas.microsoft.com/office/drawing/2014/main" id="{6C41D126-2EA4-4C3D-9014-D4D23225A808}"/>
              </a:ext>
            </a:extLst>
          </p:cNvPr>
          <p:cNvSpPr>
            <a:spLocks xmlns:a="http://schemas.openxmlformats.org/drawingml/2006/main" noGrp="1"/>
          </p:cNvSpPr>
          <p:nvPr/>
        </p:nvSpPr>
        <p:spPr>
          <a:xfrm xmlns:a="http://schemas.openxmlformats.org/drawingml/2006/main">
            <a:off x="742950" y="5038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33" name="">
            <a:extLst xmlns:a="http://schemas.openxmlformats.org/drawingml/2006/main">
              <a:ext uri="{FF2B5EF4-FFF2-40B4-BE49-F238E27FC236}">
                <a16:creationId xmlns:a16="http://schemas.microsoft.com/office/drawing/2014/main" id="{169CFD4E-A3DD-411F-AA46-D2AC09D3F113}"/>
              </a:ext>
            </a:extLst>
          </p:cNvPr>
          <p:cNvSpPr>
            <a:spLocks xmlns:a="http://schemas.openxmlformats.org/drawingml/2006/main" noGrp="1"/>
          </p:cNvSpPr>
          <p:nvPr/>
        </p:nvSpPr>
        <p:spPr>
          <a:xfrm xmlns:a="http://schemas.openxmlformats.org/drawingml/2006/main">
            <a:off x="1104900" y="4991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Good, Bad, and Wrong feedback capture</a:t>
            </a:r>
          </a:p>
        </p:txBody>
      </p:sp>
      <p:sp>
        <p:nvSpPr>
          <p:cNvPr id="34" name="">
            <a:extLst xmlns:a="http://schemas.openxmlformats.org/drawingml/2006/main">
              <a:ext uri="{FF2B5EF4-FFF2-40B4-BE49-F238E27FC236}">
                <a16:creationId xmlns:a16="http://schemas.microsoft.com/office/drawing/2014/main" id="{56CE7EB0-3F29-4D3F-B156-2B90B615CA29}"/>
              </a:ext>
            </a:extLst>
          </p:cNvPr>
          <p:cNvSpPr>
            <a:spLocks xmlns:a="http://schemas.openxmlformats.org/drawingml/2006/main" noGrp="1"/>
          </p:cNvSpPr>
          <p:nvPr/>
        </p:nvSpPr>
        <p:spPr>
          <a:xfrm xmlns:a="http://schemas.openxmlformats.org/drawingml/2006/main">
            <a:off x="1104900" y="5276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5" name="">
            <a:extLst xmlns:a="http://schemas.openxmlformats.org/drawingml/2006/main">
              <a:ext uri="{FF2B5EF4-FFF2-40B4-BE49-F238E27FC236}">
                <a16:creationId xmlns:a16="http://schemas.microsoft.com/office/drawing/2014/main" id="{0156AC8E-7EBB-4E1C-AAA4-F25E6FA6D44C}"/>
              </a:ext>
            </a:extLst>
          </p:cNvPr>
          <p:cNvSpPr>
            <a:spLocks xmlns:a="http://schemas.openxmlformats.org/drawingml/2006/main" noGrp="1"/>
          </p:cNvSpPr>
          <p:nvPr/>
        </p:nvSpPr>
        <p:spPr>
          <a:xfrm xmlns:a="http://schemas.openxmlformats.org/drawingml/2006/main">
            <a:off x="5905500" y="1485900"/>
            <a:ext cx="5410200" cy="4343400"/>
          </a:xfrm>
          <a:prstGeom xmlns:a="http://schemas.openxmlformats.org/drawingml/2006/main" prst="roundRect">
            <a:avLst>
              <a:gd name="adj" fmla="val 3947"/>
            </a:avLst>
          </a:prstGeom>
          <a:solidFill xmlns:a="http://schemas.openxmlformats.org/drawingml/2006/main">
            <a:srgbClr val="F2F4F7"/>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E8036B47-CE47-4FF4-A4D9-7A84C31F61DD}"/>
              </a:ext>
            </a:extLst>
          </p:cNvPr>
          <p:cNvSpPr>
            <a:spLocks xmlns:a="http://schemas.openxmlformats.org/drawingml/2006/main" noGrp="1"/>
          </p:cNvSpPr>
          <p:nvPr/>
        </p:nvSpPr>
        <p:spPr>
          <a:xfrm xmlns:a="http://schemas.openxmlformats.org/drawingml/2006/main">
            <a:off x="6134100" y="1714500"/>
            <a:ext cx="1809750" cy="285750"/>
          </a:xfrm>
          <a:prstGeom xmlns:a="http://schemas.openxmlformats.org/drawingml/2006/main" prst="roundRect">
            <a:avLst>
              <a:gd name="adj" fmla="val 50000"/>
            </a:avLst>
          </a:prstGeom>
          <a:solidFill xmlns:a="http://schemas.openxmlformats.org/drawingml/2006/main">
            <a:srgbClr val="FFF4E5"/>
          </a:solidFill>
          <a:ln xmlns:a="http://schemas.openxmlformats.org/drawingml/2006/main" w="9525">
            <a:solidFill>
              <a:srgbClr val="F4C78E"/>
            </a:solidFill>
            <a:prstDash val="solid"/>
          </a:ln>
        </p:spPr>
      </p:sp>
      <p:sp>
        <p:nvSpPr>
          <p:cNvPr id="37" name="">
            <a:extLst xmlns:a="http://schemas.openxmlformats.org/drawingml/2006/main">
              <a:ext uri="{FF2B5EF4-FFF2-40B4-BE49-F238E27FC236}">
                <a16:creationId xmlns:a16="http://schemas.microsoft.com/office/drawing/2014/main" id="{1B2960AD-1486-4714-AECB-C71207E1F6A4}"/>
              </a:ext>
            </a:extLst>
          </p:cNvPr>
          <p:cNvSpPr>
            <a:spLocks xmlns:a="http://schemas.openxmlformats.org/drawingml/2006/main" noGrp="1"/>
          </p:cNvSpPr>
          <p:nvPr/>
        </p:nvSpPr>
        <p:spPr>
          <a:xfrm xmlns:a="http://schemas.openxmlformats.org/drawingml/2006/main">
            <a:off x="6248400" y="1762125"/>
            <a:ext cx="1581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54708"/>
                </a:solidFill>
                <a:latin typeface="Helvetica Neue"/>
                <a:ea typeface="Helvetica Neue"/>
                <a:cs typeface="Helvetica Neue"/>
              </a:defRPr>
            </a:pPr>
            <a:r>
              <a:rPr sz="1050" b="1">
                <a:solidFill>
                  <a:srgbClr val="B54708"/>
                </a:solidFill>
                <a:latin typeface="Helvetica Neue"/>
                <a:ea typeface="Helvetica Neue"/>
                <a:cs typeface="Helvetica Neue"/>
              </a:rPr>
              <a:t>DEMO BOUNDARY</a:t>
            </a:r>
          </a:p>
        </p:txBody>
      </p:sp>
      <p:sp>
        <p:nvSpPr>
          <p:cNvPr id="38" name="">
            <a:extLst xmlns:a="http://schemas.openxmlformats.org/drawingml/2006/main">
              <a:ext uri="{FF2B5EF4-FFF2-40B4-BE49-F238E27FC236}">
                <a16:creationId xmlns:a16="http://schemas.microsoft.com/office/drawing/2014/main" id="{618CDEE8-CD3F-4DBF-BC1C-80E64C71901F}"/>
              </a:ext>
            </a:extLst>
          </p:cNvPr>
          <p:cNvSpPr>
            <a:spLocks xmlns:a="http://schemas.openxmlformats.org/drawingml/2006/main" noGrp="1"/>
          </p:cNvSpPr>
          <p:nvPr/>
        </p:nvSpPr>
        <p:spPr>
          <a:xfrm xmlns:a="http://schemas.openxmlformats.org/drawingml/2006/main">
            <a:off x="6153150" y="2362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39" name="">
            <a:extLst xmlns:a="http://schemas.openxmlformats.org/drawingml/2006/main">
              <a:ext uri="{FF2B5EF4-FFF2-40B4-BE49-F238E27FC236}">
                <a16:creationId xmlns:a16="http://schemas.microsoft.com/office/drawing/2014/main" id="{098399F3-F9ED-4555-80C8-6CDC3A2ABF5E}"/>
              </a:ext>
            </a:extLst>
          </p:cNvPr>
          <p:cNvSpPr>
            <a:spLocks xmlns:a="http://schemas.openxmlformats.org/drawingml/2006/main" noGrp="1"/>
          </p:cNvSpPr>
          <p:nvPr/>
        </p:nvSpPr>
        <p:spPr>
          <a:xfrm xmlns:a="http://schemas.openxmlformats.org/drawingml/2006/main">
            <a:off x="6362700" y="2295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10 fictional companies</a:t>
            </a:r>
          </a:p>
        </p:txBody>
      </p:sp>
      <p:sp>
        <p:nvSpPr>
          <p:cNvPr id="40" name="">
            <a:extLst xmlns:a="http://schemas.openxmlformats.org/drawingml/2006/main">
              <a:ext uri="{FF2B5EF4-FFF2-40B4-BE49-F238E27FC236}">
                <a16:creationId xmlns:a16="http://schemas.microsoft.com/office/drawing/2014/main" id="{08A9FCAC-8F3D-418D-B6A1-F89B906AF108}"/>
              </a:ext>
            </a:extLst>
          </p:cNvPr>
          <p:cNvSpPr>
            <a:spLocks xmlns:a="http://schemas.openxmlformats.org/drawingml/2006/main" noGrp="1"/>
          </p:cNvSpPr>
          <p:nvPr/>
        </p:nvSpPr>
        <p:spPr>
          <a:xfrm xmlns:a="http://schemas.openxmlformats.org/drawingml/2006/main">
            <a:off x="6153150" y="2819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1" name="">
            <a:extLst xmlns:a="http://schemas.openxmlformats.org/drawingml/2006/main">
              <a:ext uri="{FF2B5EF4-FFF2-40B4-BE49-F238E27FC236}">
                <a16:creationId xmlns:a16="http://schemas.microsoft.com/office/drawing/2014/main" id="{B89A3839-1695-415E-ADAD-3FC055C1718F}"/>
              </a:ext>
            </a:extLst>
          </p:cNvPr>
          <p:cNvSpPr>
            <a:spLocks xmlns:a="http://schemas.openxmlformats.org/drawingml/2006/main" noGrp="1"/>
          </p:cNvSpPr>
          <p:nvPr/>
        </p:nvSpPr>
        <p:spPr>
          <a:xfrm xmlns:a="http://schemas.openxmlformats.org/drawingml/2006/main">
            <a:off x="6362700" y="2752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Source-supported local rules remain as the failure fallback</a:t>
            </a:r>
          </a:p>
        </p:txBody>
      </p:sp>
      <p:sp>
        <p:nvSpPr>
          <p:cNvPr id="42" name="">
            <a:extLst xmlns:a="http://schemas.openxmlformats.org/drawingml/2006/main">
              <a:ext uri="{FF2B5EF4-FFF2-40B4-BE49-F238E27FC236}">
                <a16:creationId xmlns:a16="http://schemas.microsoft.com/office/drawing/2014/main" id="{94BA962C-B23C-46F0-B890-7AF5E8CC6C28}"/>
              </a:ext>
            </a:extLst>
          </p:cNvPr>
          <p:cNvSpPr>
            <a:spLocks xmlns:a="http://schemas.openxmlformats.org/drawingml/2006/main" noGrp="1"/>
          </p:cNvSpPr>
          <p:nvPr/>
        </p:nvSpPr>
        <p:spPr>
          <a:xfrm xmlns:a="http://schemas.openxmlformats.org/drawingml/2006/main">
            <a:off x="6153150" y="32766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3" name="">
            <a:extLst xmlns:a="http://schemas.openxmlformats.org/drawingml/2006/main">
              <a:ext uri="{FF2B5EF4-FFF2-40B4-BE49-F238E27FC236}">
                <a16:creationId xmlns:a16="http://schemas.microsoft.com/office/drawing/2014/main" id="{9536D5C5-691D-46F0-83CE-BA6B9D8F4D6D}"/>
              </a:ext>
            </a:extLst>
          </p:cNvPr>
          <p:cNvSpPr>
            <a:spLocks xmlns:a="http://schemas.openxmlformats.org/drawingml/2006/main" noGrp="1"/>
          </p:cNvSpPr>
          <p:nvPr/>
        </p:nvSpPr>
        <p:spPr>
          <a:xfrm xmlns:a="http://schemas.openxmlformats.org/drawingml/2006/main">
            <a:off x="6362700" y="32099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Static files, local PostgreSQL, and a fixed date</a:t>
            </a:r>
          </a:p>
        </p:txBody>
      </p:sp>
      <p:sp>
        <p:nvSpPr>
          <p:cNvPr id="44" name="">
            <a:extLst xmlns:a="http://schemas.openxmlformats.org/drawingml/2006/main">
              <a:ext uri="{FF2B5EF4-FFF2-40B4-BE49-F238E27FC236}">
                <a16:creationId xmlns:a16="http://schemas.microsoft.com/office/drawing/2014/main" id="{7B9A0E37-CACC-4EFD-836F-5AF091EEEDCF}"/>
              </a:ext>
            </a:extLst>
          </p:cNvPr>
          <p:cNvSpPr>
            <a:spLocks xmlns:a="http://schemas.openxmlformats.org/drawingml/2006/main" noGrp="1"/>
          </p:cNvSpPr>
          <p:nvPr/>
        </p:nvSpPr>
        <p:spPr>
          <a:xfrm xmlns:a="http://schemas.openxmlformats.org/drawingml/2006/main">
            <a:off x="6153150" y="37338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5" name="">
            <a:extLst xmlns:a="http://schemas.openxmlformats.org/drawingml/2006/main">
              <a:ext uri="{FF2B5EF4-FFF2-40B4-BE49-F238E27FC236}">
                <a16:creationId xmlns:a16="http://schemas.microsoft.com/office/drawing/2014/main" id="{D0354110-2FB3-4544-9BF4-14A3A73CAB95}"/>
              </a:ext>
            </a:extLst>
          </p:cNvPr>
          <p:cNvSpPr>
            <a:spLocks xmlns:a="http://schemas.openxmlformats.org/drawingml/2006/main" noGrp="1"/>
          </p:cNvSpPr>
          <p:nvPr/>
        </p:nvSpPr>
        <p:spPr>
          <a:xfrm xmlns:a="http://schemas.openxmlformats.org/drawingml/2006/main">
            <a:off x="6362700" y="36671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OpenAI embeddings use fictional demo text</a:t>
            </a:r>
          </a:p>
        </p:txBody>
      </p:sp>
      <p:sp>
        <p:nvSpPr>
          <p:cNvPr id="46" name="">
            <a:extLst xmlns:a="http://schemas.openxmlformats.org/drawingml/2006/main">
              <a:ext uri="{FF2B5EF4-FFF2-40B4-BE49-F238E27FC236}">
                <a16:creationId xmlns:a16="http://schemas.microsoft.com/office/drawing/2014/main" id="{5B4CB06D-F6A2-46FA-B243-DA73C237D185}"/>
              </a:ext>
            </a:extLst>
          </p:cNvPr>
          <p:cNvSpPr>
            <a:spLocks xmlns:a="http://schemas.openxmlformats.org/drawingml/2006/main" noGrp="1"/>
          </p:cNvSpPr>
          <p:nvPr/>
        </p:nvSpPr>
        <p:spPr>
          <a:xfrm xmlns:a="http://schemas.openxmlformats.org/drawingml/2006/main">
            <a:off x="6153150" y="41910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7" name="">
            <a:extLst xmlns:a="http://schemas.openxmlformats.org/drawingml/2006/main">
              <a:ext uri="{FF2B5EF4-FFF2-40B4-BE49-F238E27FC236}">
                <a16:creationId xmlns:a16="http://schemas.microsoft.com/office/drawing/2014/main" id="{63C9D8ED-30F2-4E3E-AD9B-AB4BC1017ABE}"/>
              </a:ext>
            </a:extLst>
          </p:cNvPr>
          <p:cNvSpPr>
            <a:spLocks xmlns:a="http://schemas.openxmlformats.org/drawingml/2006/main" noGrp="1"/>
          </p:cNvSpPr>
          <p:nvPr/>
        </p:nvSpPr>
        <p:spPr>
          <a:xfrm xmlns:a="http://schemas.openxmlformats.org/drawingml/2006/main">
            <a:off x="6362700" y="41243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gpt-5.6-sol and Responses API are active for briefs</a:t>
            </a:r>
          </a:p>
        </p:txBody>
      </p:sp>
      <p:sp>
        <p:nvSpPr>
          <p:cNvPr id="48" name="">
            <a:extLst xmlns:a="http://schemas.openxmlformats.org/drawingml/2006/main">
              <a:ext uri="{FF2B5EF4-FFF2-40B4-BE49-F238E27FC236}">
                <a16:creationId xmlns:a16="http://schemas.microsoft.com/office/drawing/2014/main" id="{F8355BF9-C88B-4D73-8354-02EE9009C6D6}"/>
              </a:ext>
            </a:extLst>
          </p:cNvPr>
          <p:cNvSpPr>
            <a:spLocks xmlns:a="http://schemas.openxmlformats.org/drawingml/2006/main" noGrp="1"/>
          </p:cNvSpPr>
          <p:nvPr/>
        </p:nvSpPr>
        <p:spPr>
          <a:xfrm xmlns:a="http://schemas.openxmlformats.org/drawingml/2006/main">
            <a:off x="6153150" y="4648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9" name="">
            <a:extLst xmlns:a="http://schemas.openxmlformats.org/drawingml/2006/main">
              <a:ext uri="{FF2B5EF4-FFF2-40B4-BE49-F238E27FC236}">
                <a16:creationId xmlns:a16="http://schemas.microsoft.com/office/drawing/2014/main" id="{42E33EBE-F4FC-4200-BE63-29A8041FA684}"/>
              </a:ext>
            </a:extLst>
          </p:cNvPr>
          <p:cNvSpPr>
            <a:spLocks xmlns:a="http://schemas.openxmlformats.org/drawingml/2006/main" noGrp="1"/>
          </p:cNvSpPr>
          <p:nvPr/>
        </p:nvSpPr>
        <p:spPr>
          <a:xfrm xmlns:a="http://schemas.openxmlformats.org/drawingml/2006/main">
            <a:off x="6362700" y="4581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015"/>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automatic source watcher, live connectors, or filings adapter</a:t>
            </a:r>
          </a:p>
        </p:txBody>
      </p:sp>
      <p:sp>
        <p:nvSpPr>
          <p:cNvPr id="50" name="">
            <a:extLst xmlns:a="http://schemas.openxmlformats.org/drawingml/2006/main">
              <a:ext uri="{FF2B5EF4-FFF2-40B4-BE49-F238E27FC236}">
                <a16:creationId xmlns:a16="http://schemas.microsoft.com/office/drawing/2014/main" id="{323388CF-7281-4DF1-A442-E2A94DB705AB}"/>
              </a:ext>
            </a:extLst>
          </p:cNvPr>
          <p:cNvSpPr>
            <a:spLocks xmlns:a="http://schemas.openxmlformats.org/drawingml/2006/main" noGrp="1"/>
          </p:cNvSpPr>
          <p:nvPr/>
        </p:nvSpPr>
        <p:spPr>
          <a:xfrm xmlns:a="http://schemas.openxmlformats.org/drawingml/2006/main">
            <a:off x="6153150" y="5105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51" name="">
            <a:extLst xmlns:a="http://schemas.openxmlformats.org/drawingml/2006/main">
              <a:ext uri="{FF2B5EF4-FFF2-40B4-BE49-F238E27FC236}">
                <a16:creationId xmlns:a16="http://schemas.microsoft.com/office/drawing/2014/main" id="{AEEC6469-660B-4EB7-877D-E5FB3002905F}"/>
              </a:ext>
            </a:extLst>
          </p:cNvPr>
          <p:cNvSpPr>
            <a:spLocks xmlns:a="http://schemas.openxmlformats.org/drawingml/2006/main" noGrp="1"/>
          </p:cNvSpPr>
          <p:nvPr/>
        </p:nvSpPr>
        <p:spPr>
          <a:xfrm xmlns:a="http://schemas.openxmlformats.org/drawingml/2006/main">
            <a:off x="6362700" y="5038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sign-in, access rules, schedule, webhook, or reviewer screen</a:t>
            </a:r>
          </a:p>
        </p:txBody>
      </p:sp>
      <p:sp>
        <p:nvSpPr>
          <p:cNvPr id="52" name="">
            <a:extLst xmlns:a="http://schemas.openxmlformats.org/drawingml/2006/main">
              <a:ext uri="{FF2B5EF4-FFF2-40B4-BE49-F238E27FC236}">
                <a16:creationId xmlns:a16="http://schemas.microsoft.com/office/drawing/2014/main" id="{AC2FCDB2-CCE1-4F3F-81ED-1CB32DC4F115}"/>
              </a:ext>
            </a:extLst>
          </p:cNvPr>
          <p:cNvSpPr>
            <a:spLocks xmlns:a="http://schemas.openxmlformats.org/drawingml/2006/main" noGrp="1"/>
          </p:cNvSpPr>
          <p:nvPr/>
        </p:nvSpPr>
        <p:spPr>
          <a:xfrm xmlns:a="http://schemas.openxmlformats.org/drawingml/2006/main">
            <a:off x="6134100" y="54102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1200" b="1">
                <a:solidFill>
                  <a:srgbClr val="B54708"/>
                </a:solidFill>
                <a:latin typeface="Helvetica Neue"/>
                <a:ea typeface="Helvetica Neue"/>
                <a:cs typeface="Helvetica Neue"/>
              </a:defRPr>
            </a:pPr>
            <a:r>
              <a:rPr sz="1200" b="1">
                <a:solidFill>
                  <a:srgbClr val="B54708"/>
                </a:solidFill>
                <a:latin typeface="Helvetica Neue"/>
                <a:ea typeface="Helvetica Neue"/>
                <a:cs typeface="Helvetica Neue"/>
              </a:rPr>
              <a:t>OpenAI receives fictional text only. It receives no raw JSON or unrelated company records.</a:t>
            </a:r>
          </a:p>
        </p:txBody>
      </p:sp>
    </p:spTree>
    <p:extLst>
      <p:ext uri="{BB962C8B-B14F-4D97-AF65-F5344CB8AC3E}">
        <p14:creationId xmlns:p14="http://schemas.microsoft.com/office/powerpoint/2010/main" val="26650751"/>
      </p:ext>
    </p:extLst>
  </p:cSld>
</p:sld>
</file>

<file path=ppt/slides/slide9.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09</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Generation and fallback evaluation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principal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10.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10</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Principal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Retrieval and generation evaluation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the AIVC principal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2026-09-01T01:03:38.5100000Z</dcterms:created>
  <dcterms:modified xsi:type="dcterms:W3CDTF">2026-09-01T01:03:38.5100000Z</dcterms:modified>
</coreProperties>
</file>