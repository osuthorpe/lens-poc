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dca0f4fc4c44d45" /><Relationship Type="http://schemas.openxmlformats.org/officeDocument/2006/relationships/extended-properties" Target="/docProps/app.xml" Id="Rb970cbf29de049d6" /><Relationship Type="http://schemas.openxmlformats.org/officeDocument/2006/relationships/officeDocument" Target="/ppt/presentation.xml" Id="R4d6a91f5ad23437c" /></Relationships>
</file>

<file path=ppt/presentation.xml><?xml version="1.0" encoding="utf-8"?>
<p:presentation xmlns:p="http://schemas.openxmlformats.org/presentationml/2006/main">
  <p:sldMasterIdLst>
    <p:sldMasterId xmlns:r="http://schemas.openxmlformats.org/officeDocument/2006/relationships" id="2147483648" r:id="R78108e3aed324e86"/>
  </p:sldMasterIdLst>
  <p:notesMasterIdLst>
    <p:notesMasterId xmlns:r="http://schemas.openxmlformats.org/officeDocument/2006/relationships" r:id="R11455d7806b14d0e"/>
  </p:notesMasterIdLst>
  <p:sldIdLst>
    <p:sldId xmlns:r="http://schemas.openxmlformats.org/officeDocument/2006/relationships" id="256" r:id="R03ff38c598aa4389"/>
    <p:sldId xmlns:r="http://schemas.openxmlformats.org/officeDocument/2006/relationships" id="257" r:id="R3754c2deeb9a4581"/>
    <p:sldId xmlns:r="http://schemas.openxmlformats.org/officeDocument/2006/relationships" id="258" r:id="Rdff195e6cfdc4c9e"/>
    <p:sldId xmlns:r="http://schemas.openxmlformats.org/officeDocument/2006/relationships" id="259" r:id="R71b76ff4872f40f1"/>
    <p:sldId xmlns:r="http://schemas.openxmlformats.org/officeDocument/2006/relationships" id="260" r:id="Rb208b6f6c2664220"/>
    <p:sldId xmlns:r="http://schemas.openxmlformats.org/officeDocument/2006/relationships" id="261" r:id="R703774e67ecf48ba"/>
    <p:sldId xmlns:r="http://schemas.openxmlformats.org/officeDocument/2006/relationships" id="262" r:id="R1d8e795a26ad4508"/>
    <p:sldId xmlns:r="http://schemas.openxmlformats.org/officeDocument/2006/relationships" id="263" r:id="Rd341cd892f304b0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b9d88ae3a04b73" /><Relationship Type="http://schemas.openxmlformats.org/officeDocument/2006/relationships/slideMaster" Target="/ppt/slideMasters/slideMaster1.xml" Id="R78108e3aed324e86" /><Relationship Type="http://schemas.openxmlformats.org/officeDocument/2006/relationships/notesMaster" Target="/ppt/notesMasters/notesMaster1.xml" Id="R11455d7806b14d0e" /><Relationship Type="http://schemas.openxmlformats.org/officeDocument/2006/relationships/presProps" Target="/ppt/presProps.xml" Id="Re77501d6c5304967" /><Relationship Type="http://schemas.openxmlformats.org/officeDocument/2006/relationships/tableStyles" Target="/ppt/tableStyles.xml" Id="R927e3385079d48be" /><Relationship Type="http://schemas.openxmlformats.org/officeDocument/2006/relationships/slide" Target="/ppt/slides/slide1.xml" Id="R03ff38c598aa4389" /><Relationship Type="http://schemas.openxmlformats.org/officeDocument/2006/relationships/slide" Target="/ppt/slides/slide2.xml" Id="R3754c2deeb9a4581" /><Relationship Type="http://schemas.openxmlformats.org/officeDocument/2006/relationships/slide" Target="/ppt/slides/slide3.xml" Id="Rdff195e6cfdc4c9e" /><Relationship Type="http://schemas.openxmlformats.org/officeDocument/2006/relationships/slide" Target="/ppt/slides/slide4.xml" Id="R71b76ff4872f40f1" /><Relationship Type="http://schemas.openxmlformats.org/officeDocument/2006/relationships/slide" Target="/ppt/slides/slide5.xml" Id="Rb208b6f6c2664220" /><Relationship Type="http://schemas.openxmlformats.org/officeDocument/2006/relationships/slide" Target="/ppt/slides/slide6.xml" Id="R703774e67ecf48ba" /><Relationship Type="http://schemas.openxmlformats.org/officeDocument/2006/relationships/slide" Target="/ppt/slides/slide7.xml" Id="R1d8e795a26ad4508" /><Relationship Type="http://schemas.openxmlformats.org/officeDocument/2006/relationships/slide" Target="/ppt/slides/slide8.xml" Id="Rd341cd892f304b0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5e274c201d44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8af7643a1844e93" /><Relationship Type="http://schemas.openxmlformats.org/officeDocument/2006/relationships/notesMaster" Target="/ppt/notesMasters/notesMaster1.xml" Id="R0d7a7a0f98c44f7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79b9c21efd4baa" /><Relationship Type="http://schemas.openxmlformats.org/officeDocument/2006/relationships/notesMaster" Target="/ppt/notesMasters/notesMaster1.xml" Id="R1423773c523f4b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5999cbe9f57f4c05" /><Relationship Type="http://schemas.openxmlformats.org/officeDocument/2006/relationships/notesMaster" Target="/ppt/notesMasters/notesMaster1.xml" Id="R5069a79fb8694a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db70eb7ede4854" /><Relationship Type="http://schemas.openxmlformats.org/officeDocument/2006/relationships/notesMaster" Target="/ppt/notesMasters/notesMaster1.xml" Id="Rae668830f8aa4c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47622861a8f649bf" /><Relationship Type="http://schemas.openxmlformats.org/officeDocument/2006/relationships/notesMaster" Target="/ppt/notesMasters/notesMaster1.xml" Id="Rfc6402b641a24f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1488df371a4f9e" /><Relationship Type="http://schemas.openxmlformats.org/officeDocument/2006/relationships/notesMaster" Target="/ppt/notesMasters/notesMaster1.xml" Id="R4e2dbce3156a4a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398ef94f8ea4527" /><Relationship Type="http://schemas.openxmlformats.org/officeDocument/2006/relationships/notesMaster" Target="/ppt/notesMasters/notesMaster1.xml" Id="R495a115a40cc44d2"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04655955ce4c14" /><Relationship Type="http://schemas.openxmlformats.org/officeDocument/2006/relationships/notesMaster" Target="/ppt/notesMasters/notesMaster1.xml" Id="R86ebf2061e404b6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Lens or selecting a company first loads that company's latest saved brief. This normal open path does not run retrieval or call a model. If no saved brief exists, the app prepares and saves the first brief. Selecting Refresh brief starts the new-brief path. The retrieval service creates one query embedding, applies a hard company filter, and ranks up to 30 source records by full-text match, embedding similarity, source quality, and date. The server sends only the selected company metadata and retrieved evidence to gpt-5.6-sol through the Responses API. It requests a strict schema with low reasoning effort, no tools, and no response storage. The server checks source IDs, company isolation, exact quotes, values, qualitative support, source status, and investment safety. It saves the new brief, generation mode, model data, source ranks, and time. If generation fails a check or exceeds the time budget, local rules create a source-supported fallback. Import is separate from brief use. It validates records, maps company IDs, keeps source records, calculates checksums, creates chunks, requests embeddings for new or changed chunks, and writes them to PostgreSQL. The app does not watch a folder or Slack. To add a demo record, add it in a supported format, run import, then select Refresh brief.</a:t>
            </a:r>
          </a:p>
          <a:p xmlns:a="http://schemas.openxmlformats.org/drawingml/2006/main">
            <a:r>
              <a:t/>
            </a:r>
          </a:p>
          <a:p xmlns:a="http://schemas.openxmlformats.org/drawingml/2006/main">
            <a:r>
              <a:t>[Sources]</a:t>
            </a:r>
          </a:p>
          <a:p xmlns:a="http://schemas.openxmlformats.org/drawingml/2006/main">
            <a:r>
              <a:t>- /Users/alexthorpe/Documents/GitHub/AVIC/README.md</a:t>
            </a:r>
          </a:p>
          <a:p xmlns:a="http://schemas.openxmlformats.org/drawingml/2006/main">
            <a:r>
              <a:t>- /Users/alexthorpe/Documents/GitHub/AVIC/docs/architecture.md</a:t>
            </a:r>
          </a:p>
          <a:p xmlns:a="http://schemas.openxmlformats.org/drawingml/2006/main">
            <a:r>
              <a:t>- /Users/alexthorpe/Documents/GitHub/AVIC/app/page.tsx</a:t>
            </a:r>
          </a:p>
          <a:p xmlns:a="http://schemas.openxmlformats.org/drawingml/2006/main">
            <a:r>
              <a:t>- /Users/alexthorpe/Documents/GitHub/AVIC/app/api/briefs/route.ts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/Users/alexthorpe/Documents/GitHub/AVIC/db/schema.sql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uses one Next.js application for the interface and API routes. This choice keeps the V1 deployment small. Separate web and service deployments can become useful when traffic or ownership grows. PostgreSQL and pgvector store structured facts, source text, and embeddings in one database. This choice keeps transactions and company filters together. A larger system can move source files to object storage and move search to a separate service. File adapters make the demo repeatable without live access. Production needs approved read-only connectors and incremental imports. OpenAI provides embeddings and brief generation. The server uses strict checks, timeouts, a local backup, and saved audit data. These controls reduce model risk. The trade-off is model cost, response time, and provider dependence. The active embedding model is text-embedding-3-large. The active brief model is gpt-5.6-sol through the Responses API.</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/Users/alexthorpe/Documents/GitHub/AVIC/docs/architecture.md</a:t>
            </a:r>
          </a:p>
          <a:p xmlns:a="http://schemas.openxmlformats.org/drawingml/2006/main">
            <a:r>
              <a:t>- /Users/alexthorpe/Documents/GitHub/AVIC/docs/prd-v1.md</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/Users/alexthorpe/Documents/GitHub/AVIC/lib/retrieval.ts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2caf4441484f5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3e28f34cb14b45" /><Relationship Type="http://schemas.openxmlformats.org/officeDocument/2006/relationships/slideLayout" Target="/ppt/slideLayouts/slideLayout1.xml" Id="Rd797764537a848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797764537a848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e6028c96ba24254" /><Relationship Type="http://schemas.openxmlformats.org/officeDocument/2006/relationships/notesSlide" Target="/ppt/notesSlides/notesSlide1.xml" Id="Re2a0643d6a9846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1b2af5e12994460" /><Relationship Type="http://schemas.openxmlformats.org/officeDocument/2006/relationships/notesSlide" Target="/ppt/notesSlides/notesSlide2.xml" Id="Rf45dc13871494c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256bcef93394522" /><Relationship Type="http://schemas.openxmlformats.org/officeDocument/2006/relationships/image" Target="/ppt/media/image.jpeg" Id="R3140ffa6f7284341" /><Relationship Type="http://schemas.openxmlformats.org/officeDocument/2006/relationships/notesSlide" Target="/ppt/notesSlides/notesSlide3.xml" Id="R1595ec0620964e9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39a70c8dc5a4e55" /><Relationship Type="http://schemas.openxmlformats.org/officeDocument/2006/relationships/notesSlide" Target="/ppt/notesSlides/notesSlide4.xml" Id="R98ba04e5672d4e9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9e040ac92943bc" /><Relationship Type="http://schemas.openxmlformats.org/officeDocument/2006/relationships/notesSlide" Target="/ppt/notesSlides/notesSlide5.xml" Id="Raedea46652b7449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2900d1fd1554aa4" /><Relationship Type="http://schemas.openxmlformats.org/officeDocument/2006/relationships/notesSlide" Target="/ppt/notesSlides/notesSlide6.xml" Id="Rfd475302d23c4ef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08c9c267c404e3b" /><Relationship Type="http://schemas.openxmlformats.org/officeDocument/2006/relationships/notesSlide" Target="/ppt/notesSlides/notesSlide7.xml" Id="R3e70a7c5c01a42a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471ee19853642b9" /><Relationship Type="http://schemas.openxmlformats.org/officeDocument/2006/relationships/notesSlide" Target="/ppt/notesSlides/notesSlide8.xml" Id="R925d612e77944771"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3140ffa6f7284341"/>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prepares the evidence. Open loads the saved brief. Refresh builds and saves a new brief.</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 files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Fictional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files only</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Map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OpenAI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Saved briefs and audit</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Refresh only</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Embed query</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Filter by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 text and vectors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Brief interface</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Load saved brief</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risks, questions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1168"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169"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1170"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OPEN PATH</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Select company → load latest saved brief → show it. No retrieval or model call.</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REFRESH PATH    Retrieve company evidence → OpenAI writes → server checks → save and show the new brief.</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IMPORT · PREPARE EVIDENCE</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BRIEF · LOAD SAVED OR BUILD NEW</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Create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JSON</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Check source IDs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Check quotes and values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local fallback</a:t>
            </a:r>
          </a:p>
        </p:txBody>
      </p:sp>
      <p:cxnSp>
        <p:nvCxnSpPr>
          <p:cNvPr id="1182"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1183"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Why does this stack fit V1?</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WHY IT FITS V1 AND THE TRADE-OFF</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app serves the interface and API routes. Trade-off: the web and service layers do not scale separately.</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database stores facts, source text, and embeddings. Trade-off: a larger system can need separate search and file storage.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Files make the demo repeatable without live access. Trade-off: new data needs a manual import.</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OpenAI (LLM)</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find evidence. gpt-5.6-sol writes the brief. Trade-off: model cost and failure require checks and a local backup.</a:t>
            </a:r>
          </a:p>
        </p:txBody>
      </p:sp>
    </p:spTree>
    <p:extLst>
      <p:ext uri="{BB962C8B-B14F-4D97-AF65-F5344CB8AC3E}">
        <p14:creationId xmlns:p14="http://schemas.microsoft.com/office/powerpoint/2010/main" val="436145467"/>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is good enough to ship as production V1?</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V1 TARGET · CONTROLLED INTERNAL PILOT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Move the proof of concept to approved data, access rules, monitored imports, and a named review owner.</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CORE USER STORIES</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jobs</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Get brief · check fact
See gaps · send feedback</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ACCEPTANCE</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Pass</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6"/>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and date · one company
New data changes brief</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KEY PERFORMANCE INDICATORS</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 gates</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809"/>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≤30 sec · all key facts sourced
0 wrong-company facts · ≥4/5</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PROOF OF CONCEPT TO V1</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Pilot</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4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Approved connector · access rules
Import log · review owner</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journey: get a brief · check a fact · see uncertainty · send feedback</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all checks pass, the 250-company test meets 30 seconds, and the AIVC principal rates usefulness at least 4 out of 5.</a:t>
            </a:r>
          </a:p>
        </p:txBody>
      </p:sp>
    </p:spTree>
    <p:extLst>
      <p:ext uri="{BB962C8B-B14F-4D97-AF65-F5344CB8AC3E}">
        <p14:creationId xmlns:p14="http://schemas.microsoft.com/office/powerpoint/2010/main" val="1483308295"/>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2026-09-01T01:44:59.2890000Z</dcterms:created>
  <dcterms:modified xsi:type="dcterms:W3CDTF">2026-09-01T01:44:59.2890000Z</dcterms:modified>
</coreProperties>
</file>