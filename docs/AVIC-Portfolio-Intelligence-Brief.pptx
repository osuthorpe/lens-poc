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43e4f91486a494e" /><Relationship Type="http://schemas.openxmlformats.org/officeDocument/2006/relationships/extended-properties" Target="/docProps/app.xml" Id="Rb874328c960c44bd" /><Relationship Type="http://schemas.openxmlformats.org/officeDocument/2006/relationships/officeDocument" Target="/ppt/presentation.xml" Id="Red4b187b2dd34088" /></Relationships>
</file>

<file path=ppt/presentation.xml><?xml version="1.0" encoding="utf-8"?>
<p:presentation xmlns:p="http://schemas.openxmlformats.org/presentationml/2006/main">
  <p:sldMasterIdLst>
    <p:sldMasterId xmlns:r="http://schemas.openxmlformats.org/officeDocument/2006/relationships" id="2147483648" r:id="R64585f2ff5cf4f87"/>
  </p:sldMasterIdLst>
  <p:notesMasterIdLst>
    <p:notesMasterId xmlns:r="http://schemas.openxmlformats.org/officeDocument/2006/relationships" r:id="R6fa6ff1ebcc8479b"/>
  </p:notesMasterIdLst>
  <p:sldIdLst>
    <p:sldId xmlns:r="http://schemas.openxmlformats.org/officeDocument/2006/relationships" id="256" r:id="R9caf27d6e933410a"/>
    <p:sldId xmlns:r="http://schemas.openxmlformats.org/officeDocument/2006/relationships" id="257" r:id="Rb526ee678f874284"/>
    <p:sldId xmlns:r="http://schemas.openxmlformats.org/officeDocument/2006/relationships" id="258" r:id="R0893ad1fc4de42bd"/>
    <p:sldId xmlns:r="http://schemas.openxmlformats.org/officeDocument/2006/relationships" id="259" r:id="R8832c422342948d5"/>
    <p:sldId xmlns:r="http://schemas.openxmlformats.org/officeDocument/2006/relationships" id="260" r:id="Rfc7c33ba8cf14241"/>
    <p:sldId xmlns:r="http://schemas.openxmlformats.org/officeDocument/2006/relationships" id="261" r:id="R97ffcdd3528749f6"/>
    <p:sldId xmlns:r="http://schemas.openxmlformats.org/officeDocument/2006/relationships" id="262" r:id="R92ede51ca20a4b85"/>
    <p:sldId xmlns:r="http://schemas.openxmlformats.org/officeDocument/2006/relationships" id="263" r:id="Rc5fee69536464d43"/>
    <p:sldId xmlns:r="http://schemas.openxmlformats.org/officeDocument/2006/relationships" id="264" r:id="R724800fe55594ed6"/>
    <p:sldId xmlns:r="http://schemas.openxmlformats.org/officeDocument/2006/relationships" id="265" r:id="R30d104b9e8224fc7"/>
    <p:sldId xmlns:r="http://schemas.openxmlformats.org/officeDocument/2006/relationships" id="266" r:id="R81da1baac9ef4b05"/>
    <p:sldId xmlns:r="http://schemas.openxmlformats.org/officeDocument/2006/relationships" id="267" r:id="R007c9af60f3d4bbf"/>
    <p:sldId xmlns:r="http://schemas.openxmlformats.org/officeDocument/2006/relationships" id="268" r:id="R82a2f23a29dc449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6a511bbb89443f" /><Relationship Type="http://schemas.openxmlformats.org/officeDocument/2006/relationships/slideMaster" Target="/ppt/slideMasters/slideMaster1.xml" Id="R64585f2ff5cf4f87" /><Relationship Type="http://schemas.openxmlformats.org/officeDocument/2006/relationships/notesMaster" Target="/ppt/notesMasters/notesMaster1.xml" Id="R6fa6ff1ebcc8479b" /><Relationship Type="http://schemas.openxmlformats.org/officeDocument/2006/relationships/presProps" Target="/ppt/presProps.xml" Id="R9fee7283317d450b" /><Relationship Type="http://schemas.openxmlformats.org/officeDocument/2006/relationships/tableStyles" Target="/ppt/tableStyles.xml" Id="Re63294acaeea42a8" /><Relationship Type="http://schemas.openxmlformats.org/officeDocument/2006/relationships/slide" Target="/ppt/slides/slide1.xml" Id="R9caf27d6e933410a" /><Relationship Type="http://schemas.openxmlformats.org/officeDocument/2006/relationships/slide" Target="/ppt/slides/slide2.xml" Id="Rb526ee678f874284" /><Relationship Type="http://schemas.openxmlformats.org/officeDocument/2006/relationships/slide" Target="/ppt/slides/slide3.xml" Id="R0893ad1fc4de42bd" /><Relationship Type="http://schemas.openxmlformats.org/officeDocument/2006/relationships/slide" Target="/ppt/slides/slide4.xml" Id="R8832c422342948d5" /><Relationship Type="http://schemas.openxmlformats.org/officeDocument/2006/relationships/slide" Target="/ppt/slides/slide5.xml" Id="Rfc7c33ba8cf14241" /><Relationship Type="http://schemas.openxmlformats.org/officeDocument/2006/relationships/slide" Target="/ppt/slides/slide6.xml" Id="R97ffcdd3528749f6" /><Relationship Type="http://schemas.openxmlformats.org/officeDocument/2006/relationships/slide" Target="/ppt/slides/slide7.xml" Id="R92ede51ca20a4b85" /><Relationship Type="http://schemas.openxmlformats.org/officeDocument/2006/relationships/slide" Target="/ppt/slides/slide8.xml" Id="Rc5fee69536464d43" /><Relationship Type="http://schemas.openxmlformats.org/officeDocument/2006/relationships/slide" Target="/ppt/slides/slide9.xml" Id="R724800fe55594ed6" /><Relationship Type="http://schemas.openxmlformats.org/officeDocument/2006/relationships/slide" Target="/ppt/slides/slide10.xml" Id="R30d104b9e8224fc7" /><Relationship Type="http://schemas.openxmlformats.org/officeDocument/2006/relationships/slide" Target="/ppt/slides/slide11.xml" Id="R81da1baac9ef4b05" /><Relationship Type="http://schemas.openxmlformats.org/officeDocument/2006/relationships/slide" Target="/ppt/slides/slide12.xml" Id="R007c9af60f3d4bbf" /><Relationship Type="http://schemas.openxmlformats.org/officeDocument/2006/relationships/slide" Target="/ppt/slides/slide13.xml" Id="R82a2f23a29dc44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f43e1343dc4e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561874dcdf4635" /><Relationship Type="http://schemas.openxmlformats.org/officeDocument/2006/relationships/notesMaster" Target="/ppt/notesMasters/notesMaster1.xml" Id="R2c1a9a6c760049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3711cd693ad4f48" /><Relationship Type="http://schemas.openxmlformats.org/officeDocument/2006/relationships/notesMaster" Target="/ppt/notesMasters/notesMaster1.xml" Id="Rbe7b242ac120496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974ac45ea984832" /><Relationship Type="http://schemas.openxmlformats.org/officeDocument/2006/relationships/notesMaster" Target="/ppt/notesMasters/notesMaster1.xml" Id="R7658d938aa1741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f46aabc7944e82" /><Relationship Type="http://schemas.openxmlformats.org/officeDocument/2006/relationships/notesMaster" Target="/ppt/notesMasters/notesMaster1.xml" Id="Rf4ec34c641c049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b9c59a8efa489c" /><Relationship Type="http://schemas.openxmlformats.org/officeDocument/2006/relationships/notesMaster" Target="/ppt/notesMasters/notesMaster1.xml" Id="Rb61fcc0e59614e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e83b27a66f4396" /><Relationship Type="http://schemas.openxmlformats.org/officeDocument/2006/relationships/notesMaster" Target="/ppt/notesMasters/notesMaster1.xml" Id="Raa09b91b0af64b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09e53502c74a60" /><Relationship Type="http://schemas.openxmlformats.org/officeDocument/2006/relationships/notesMaster" Target="/ppt/notesMasters/notesMaster1.xml" Id="Rad728cb01b9d4b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ba2ae29343214a4b" /><Relationship Type="http://schemas.openxmlformats.org/officeDocument/2006/relationships/notesMaster" Target="/ppt/notesMasters/notesMaster1.xml" Id="R1df897bd9baf49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a229ab81614b91" /><Relationship Type="http://schemas.openxmlformats.org/officeDocument/2006/relationships/notesMaster" Target="/ppt/notesMasters/notesMaster1.xml" Id="Rbd82afb65a394f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75a4752efa4f30" /><Relationship Type="http://schemas.openxmlformats.org/officeDocument/2006/relationships/notesMaster" Target="/ppt/notesMasters/notesMaster1.xml" Id="Rc5784c449c3848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ddb4919c8124068" /><Relationship Type="http://schemas.openxmlformats.org/officeDocument/2006/relationships/notesMaster" Target="/ppt/notesMasters/notesMaster1.xml" Id="Rb72a509b0d3049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335ce39a97b41f8" /><Relationship Type="http://schemas.openxmlformats.org/officeDocument/2006/relationships/notesMaster" Target="/ppt/notesMasters/notesMaster1.xml" Id="R7f40f37f1a614f3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514430682749a5" /><Relationship Type="http://schemas.openxmlformats.org/officeDocument/2006/relationships/notesMaster" Target="/ppt/notesMasters/notesMaster1.xml" Id="Re9c2e7e4dc61411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AVIC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RC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10 curated companies, 59 source records, 59 local vectors, 32 application tests, and 17 database checks. The source-reference checks validate IDs and company scope. They do not prove semantic entailment.</a:t>
            </a:r>
          </a:p>
          <a:p xmlns:a="http://schemas.openxmlformats.org/drawingml/2006/main">
            <a:r>
              <a:t/>
            </a:r>
          </a:p>
          <a:p xmlns:a="http://schemas.openxmlformats.org/drawingml/2006/main">
            <a:r>
              <a:t>[Sources]</a:t>
            </a:r>
          </a:p>
          <a:p xmlns:a="http://schemas.openxmlformats.org/drawingml/2006/main">
            <a:r>
              <a:t>- /Users/alexthorpe/Documents/GitHub/AVIC/scripts/verify-v1.ts</a:t>
            </a:r>
          </a:p>
          <a:p xmlns:a="http://schemas.openxmlformats.org/drawingml/2006/main">
            <a:r>
              <a:t>- /Users/alexthorpe/Documents/GitHub/AVIC/demo_data/manifest.json</a:t>
            </a:r>
          </a:p>
          <a:p xmlns:a="http://schemas.openxmlformats.org/drawingml/2006/main">
            <a:r>
              <a:t>- /Users/alexthorpe/Documents/GitHub/AVIC/tests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Current flow: file import validates each supplied company ID, keeps the source record, calculates a checksum, creates chunks and local word-hash vectors, and writes the data to PostgreSQL. A brief request uses a fixed query. SQL filters by company before it ranks up to 30 source records. Five companies use tailored templates. The other companies use one generic rule. The service checks source IDs and company isolation, saves the brief and ranked source records, and returns the result to the interface. The request path calls no source system and no external model. The production target uses text-embedding-3-large for retrieval vectors and gpt-5.6-sol through the Responses API for brief generation.</a:t>
            </a:r>
          </a:p>
          <a:p xmlns:a="http://schemas.openxmlformats.org/drawingml/2006/main">
            <a:r>
              <a:t/>
            </a:r>
          </a:p>
          <a:p xmlns:a="http://schemas.openxmlformats.org/drawingml/2006/main">
            <a:r>
              <a:t>[Sources]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/Users/alexthorpe/Documents/GitHub/AVIC/app/page.tsx</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importer maps every record to a known company, keeps the original content, calculates a checksum, and creates structured facts plus search chunks. PostgreSQL keeps both structured and unstructured evidence. Public filings are a planned source only.</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/Users/alexthorpe/Documents/GitHub/AVIC/lib/ingestion.ts</a:t>
            </a:r>
          </a:p>
          <a:p xmlns:a="http://schemas.openxmlformats.org/drawingml/2006/main">
            <a:r>
              <a:t>- /Users/alexthorpe/Documents/GitHub/AVIC/db/schema.sql</a:t>
            </a:r>
          </a:p>
          <a:p xmlns:a="http://schemas.openxmlformats.org/drawingml/2006/main">
            <a:r>
              <a:t>- /Users/alexthorpe/Documents/GitHub/AVIC/demo_data/manifest.json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SQL filters source records and chunks by that company ID before scoring. The score is 38 percent full-text rank, 32 percent local word-hash vector similarity, 20 percent source quality, and 10 percent recency against a fixed date. The query returns up to 30 source records. Fixed templates or one generic rule write the brief. No external model runs. The production target keeps the hard company filter and source IDs. It replaces the local word-hash vectors with text-embedding-3-large and uses gpt-5.6-sol through the Responses API for structured brief generation.</a:t>
            </a:r>
          </a:p>
          <a:p xmlns:a="http://schemas.openxmlformats.org/drawingml/2006/main">
            <a:r>
              <a:t/>
            </a:r>
          </a:p>
          <a:p xmlns:a="http://schemas.openxmlformats.org/drawingml/2006/main">
            <a:r>
              <a:t>[Sources]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prototype uses no external model. For production, choose text-embedding-3-large because OpenAI identifies it as the most capable embedding model. Choose gpt-5.6-sol because OpenAI identifies it as the flagship model for complex professional work. Use the Responses API and a structured output schema. Start with medium reasoning effort. Increase the effort only when the evaluation set shows a useful quality gain and the request stays within the response-time target.</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/Users/alexthorpe/Documents/GitHub/AVIC/db/schema.sql</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checks are proposed acceptance targets. Retrieval uses code checks for must-find evidence in the first 30 results and zero records from another company. Grounding uses a source-ID check and a reviewer check that the source supports the factual claim. Product evaluation measures response time and RC usefulness. Operations evaluation tests repeat import and source-change behavior. Run the same set after each small change. Use the set to compare gpt-5.6-sol at medium and high reasoning effort. Keep the lower effort when both settings pass.</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https://developers.openai.com/api/reference/java/resources/evals/methods/create</a:t>
            </a:r>
          </a:p>
          <a:p xmlns:a="http://schemas.openxmlformats.org/drawingml/2006/main">
            <a:r>
              <a:t>- https://developers.openai.com/api/reference/resources/graders</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boundary. The current app implements the interface, API routes, file import, PostgreSQL storage, local retrieval, fixed brief generation, source drill-down, saved brief runs, and feedback capture. The demo uses 10 fictional companies, static source files, a local database, word-hash vectors, and a fixed reference date. Live connectors, public filings, sign-in, source access enforcement, schedules, webhooks, reviewer tools, text-embedding-3-large, gpt-5.6-sol, and the Responses API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/Users/alexthorpe/Documents/GitHub/AVIC/app/api/sources/[id]/route.ts</a:t>
            </a:r>
          </a:p>
          <a:p xmlns:a="http://schemas.openxmlformats.org/drawingml/2006/main">
            <a:r>
              <a:t>- /Users/alexthorpe/Documents/GitHub/AVIC/app/api/feedback/route.ts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The plan depends on source access, company IDs, access rules, and RC review time.</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5f6a654d45e4e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0192e1ae4b4ed0" /><Relationship Type="http://schemas.openxmlformats.org/officeDocument/2006/relationships/slideLayout" Target="/ppt/slideLayouts/slideLayout1.xml" Id="Rfea9ec3f2f9f434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a9ec3f2f9f434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62fc7f71d83478f" /><Relationship Type="http://schemas.openxmlformats.org/officeDocument/2006/relationships/notesSlide" Target="/ppt/notesSlides/notesSlide1.xml" Id="Rcdf459980f154b2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38e928457f949f9" /><Relationship Type="http://schemas.openxmlformats.org/officeDocument/2006/relationships/notesSlide" Target="/ppt/notesSlides/notesSlide2.xml" Id="R93a929c7e5204c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85f8ca1f74d4e4f" /><Relationship Type="http://schemas.openxmlformats.org/officeDocument/2006/relationships/image" Target="/ppt/media/image.jpeg" Id="R74609029c3734c30" /><Relationship Type="http://schemas.openxmlformats.org/officeDocument/2006/relationships/notesSlide" Target="/ppt/notesSlides/notesSlide3.xml" Id="R47787fae8ac840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936910c0ba402e" /><Relationship Type="http://schemas.openxmlformats.org/officeDocument/2006/relationships/notesSlide" Target="/ppt/notesSlides/notesSlide4.xml" Id="Rb5d252c0b7dc41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fd0884b13d54491" /><Relationship Type="http://schemas.openxmlformats.org/officeDocument/2006/relationships/notesSlide" Target="/ppt/notesSlides/notesSlide5.xml" Id="R18d7d571621149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e89e97793ad462c" /><Relationship Type="http://schemas.openxmlformats.org/officeDocument/2006/relationships/notesSlide" Target="/ppt/notesSlides/notesSlide6.xml" Id="Ra9949af3b070416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11531b825bf4eb8" /><Relationship Type="http://schemas.openxmlformats.org/officeDocument/2006/relationships/notesSlide" Target="/ppt/notesSlides/notesSlide7.xml" Id="R5447a349d30c42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cc3c1536ed4f3b" /><Relationship Type="http://schemas.openxmlformats.org/officeDocument/2006/relationships/notesSlide" Target="/ppt/notesSlides/notesSlide8.xml" Id="Rce945aed3248463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2c637e365f423d" /><Relationship Type="http://schemas.openxmlformats.org/officeDocument/2006/relationships/notesSlide" Target="/ppt/notesSlides/notesSlide9.xml" Id="R82a00f9872fa476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9aa37f514364c7f" /><Relationship Type="http://schemas.openxmlformats.org/officeDocument/2006/relationships/notesSlide" Target="/ppt/notesSlides/notesSlide10.xml" Id="R4824e8d4607345c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25b9d055854f7e" /><Relationship Type="http://schemas.openxmlformats.org/officeDocument/2006/relationships/notesSlide" Target="/ppt/notesSlides/notesSlide11.xml" Id="R12187cd4d14c4e1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6c015aa4eb04d8c" /><Relationship Type="http://schemas.openxmlformats.org/officeDocument/2006/relationships/notesSlide" Target="/ppt/notesSlides/notesSlide12.xml" Id="Rfe4535526c724c8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4f599a1979d4b1c" /><Relationship Type="http://schemas.openxmlformats.org/officeDocument/2006/relationships/notesSlide" Target="/ppt/notesSlides/notesSlide13.xml" Id="R93d59cd60b144ecb"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AVIC</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Portfolio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98"/>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imported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AVIC</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is AVIC replacing?</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RC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RC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AVIC organizes evidence. RC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the working prototype let RC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74609029c3734c30"/>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34E38232-A601-4B33-99ED-19B54747F4B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works today, and how did I test it?</a:t>
            </a:r>
          </a:p>
        </p:txBody>
      </p:sp>
      <p:sp>
        <p:nvSpPr>
          <p:cNvPr id="2" name="">
            <a:extLst xmlns:a="http://schemas.openxmlformats.org/drawingml/2006/main">
              <a:ext uri="{FF2B5EF4-FFF2-40B4-BE49-F238E27FC236}">
                <a16:creationId xmlns:a16="http://schemas.microsoft.com/office/drawing/2014/main" id="{9CF82D18-9423-4C8C-AF4D-EA6D1329C100}"/>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5357D0EB-B896-497B-BED0-F0C1C550C97F}"/>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87DAD644-55F4-4DAD-96B3-DC6C170A1372}"/>
              </a:ext>
            </a:extLst>
          </p:cNvPr>
          <p:cNvSpPr>
            <a:spLocks xmlns:a="http://schemas.openxmlformats.org/drawingml/2006/main" noGrp="1"/>
          </p:cNvSpPr>
          <p:nvPr/>
        </p:nvSpPr>
        <p:spPr>
          <a:xfrm xmlns:a="http://schemas.openxmlformats.org/drawingml/2006/main">
            <a:off x="4572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314023AE-B558-4188-A8C4-2414A5FEB0DC}"/>
              </a:ext>
            </a:extLst>
          </p:cNvPr>
          <p:cNvSpPr>
            <a:spLocks xmlns:a="http://schemas.openxmlformats.org/drawingml/2006/main" noGrp="1"/>
          </p:cNvSpPr>
          <p:nvPr/>
        </p:nvSpPr>
        <p:spPr>
          <a:xfrm xmlns:a="http://schemas.openxmlformats.org/drawingml/2006/main">
            <a:off x="6858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FE1771CD-5CDF-4F6B-8D87-192966526F68}"/>
              </a:ext>
            </a:extLst>
          </p:cNvPr>
          <p:cNvSpPr>
            <a:spLocks xmlns:a="http://schemas.openxmlformats.org/drawingml/2006/main" noGrp="1"/>
          </p:cNvSpPr>
          <p:nvPr/>
        </p:nvSpPr>
        <p:spPr>
          <a:xfrm xmlns:a="http://schemas.openxmlformats.org/drawingml/2006/main">
            <a:off x="6858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curated companies</a:t>
            </a:r>
          </a:p>
        </p:txBody>
      </p:sp>
      <p:sp>
        <p:nvSpPr>
          <p:cNvPr id="7" name="">
            <a:extLst xmlns:a="http://schemas.openxmlformats.org/drawingml/2006/main">
              <a:ext uri="{FF2B5EF4-FFF2-40B4-BE49-F238E27FC236}">
                <a16:creationId xmlns:a16="http://schemas.microsoft.com/office/drawing/2014/main" id="{37B25352-7D58-4731-93B8-9020F1ABEFF7}"/>
              </a:ext>
            </a:extLst>
          </p:cNvPr>
          <p:cNvSpPr>
            <a:spLocks xmlns:a="http://schemas.openxmlformats.org/drawingml/2006/main" noGrp="1"/>
          </p:cNvSpPr>
          <p:nvPr/>
        </p:nvSpPr>
        <p:spPr>
          <a:xfrm xmlns:a="http://schemas.openxmlformats.org/drawingml/2006/main">
            <a:off x="6858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2 portfolio and 8 pipeline</a:t>
            </a:r>
          </a:p>
        </p:txBody>
      </p:sp>
      <p:sp>
        <p:nvSpPr>
          <p:cNvPr id="8" name="">
            <a:extLst xmlns:a="http://schemas.openxmlformats.org/drawingml/2006/main">
              <a:ext uri="{FF2B5EF4-FFF2-40B4-BE49-F238E27FC236}">
                <a16:creationId xmlns:a16="http://schemas.microsoft.com/office/drawing/2014/main" id="{82E99601-794F-4030-A1A7-8FC7D141F1C2}"/>
              </a:ext>
            </a:extLst>
          </p:cNvPr>
          <p:cNvSpPr>
            <a:spLocks xmlns:a="http://schemas.openxmlformats.org/drawingml/2006/main" noGrp="1"/>
          </p:cNvSpPr>
          <p:nvPr/>
        </p:nvSpPr>
        <p:spPr>
          <a:xfrm xmlns:a="http://schemas.openxmlformats.org/drawingml/2006/main">
            <a:off x="32194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BD8EEEBF-ED4F-4DB0-B74E-485AC67C2648}"/>
              </a:ext>
            </a:extLst>
          </p:cNvPr>
          <p:cNvSpPr>
            <a:spLocks xmlns:a="http://schemas.openxmlformats.org/drawingml/2006/main" noGrp="1"/>
          </p:cNvSpPr>
          <p:nvPr/>
        </p:nvSpPr>
        <p:spPr>
          <a:xfrm xmlns:a="http://schemas.openxmlformats.org/drawingml/2006/main">
            <a:off x="34480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a:t>
            </a:r>
          </a:p>
        </p:txBody>
      </p:sp>
      <p:sp>
        <p:nvSpPr>
          <p:cNvPr id="10" name="">
            <a:extLst xmlns:a="http://schemas.openxmlformats.org/drawingml/2006/main">
              <a:ext uri="{FF2B5EF4-FFF2-40B4-BE49-F238E27FC236}">
                <a16:creationId xmlns:a16="http://schemas.microsoft.com/office/drawing/2014/main" id="{5F07C502-96F0-4528-9AA9-9508C99E1D73}"/>
              </a:ext>
            </a:extLst>
          </p:cNvPr>
          <p:cNvSpPr>
            <a:spLocks xmlns:a="http://schemas.openxmlformats.org/drawingml/2006/main" noGrp="1"/>
          </p:cNvSpPr>
          <p:nvPr/>
        </p:nvSpPr>
        <p:spPr>
          <a:xfrm xmlns:a="http://schemas.openxmlformats.org/drawingml/2006/main">
            <a:off x="34480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source records</a:t>
            </a:r>
          </a:p>
        </p:txBody>
      </p:sp>
      <p:sp>
        <p:nvSpPr>
          <p:cNvPr id="11" name="">
            <a:extLst xmlns:a="http://schemas.openxmlformats.org/drawingml/2006/main">
              <a:ext uri="{FF2B5EF4-FFF2-40B4-BE49-F238E27FC236}">
                <a16:creationId xmlns:a16="http://schemas.microsoft.com/office/drawing/2014/main" id="{D1DC854F-FB4F-485B-A83F-10B17B86FA5B}"/>
              </a:ext>
            </a:extLst>
          </p:cNvPr>
          <p:cNvSpPr>
            <a:spLocks xmlns:a="http://schemas.openxmlformats.org/drawingml/2006/main" noGrp="1"/>
          </p:cNvSpPr>
          <p:nvPr/>
        </p:nvSpPr>
        <p:spPr>
          <a:xfrm xmlns:a="http://schemas.openxmlformats.org/drawingml/2006/main">
            <a:off x="34480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7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CRM, meeting, Slack, and news</a:t>
            </a:r>
          </a:p>
        </p:txBody>
      </p:sp>
      <p:sp>
        <p:nvSpPr>
          <p:cNvPr id="12" name="">
            <a:extLst xmlns:a="http://schemas.openxmlformats.org/drawingml/2006/main">
              <a:ext uri="{FF2B5EF4-FFF2-40B4-BE49-F238E27FC236}">
                <a16:creationId xmlns:a16="http://schemas.microsoft.com/office/drawing/2014/main" id="{ABBA07DD-7C4B-4BA8-9FD7-C902B861D6E7}"/>
              </a:ext>
            </a:extLst>
          </p:cNvPr>
          <p:cNvSpPr>
            <a:spLocks xmlns:a="http://schemas.openxmlformats.org/drawingml/2006/main" noGrp="1"/>
          </p:cNvSpPr>
          <p:nvPr/>
        </p:nvSpPr>
        <p:spPr>
          <a:xfrm xmlns:a="http://schemas.openxmlformats.org/drawingml/2006/main">
            <a:off x="598170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56F624D3-AE3A-442B-8B1A-64819C6AAAAD}"/>
              </a:ext>
            </a:extLst>
          </p:cNvPr>
          <p:cNvSpPr>
            <a:spLocks xmlns:a="http://schemas.openxmlformats.org/drawingml/2006/main" noGrp="1"/>
          </p:cNvSpPr>
          <p:nvPr/>
        </p:nvSpPr>
        <p:spPr>
          <a:xfrm xmlns:a="http://schemas.openxmlformats.org/drawingml/2006/main">
            <a:off x="621030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59/59</a:t>
            </a:r>
          </a:p>
        </p:txBody>
      </p:sp>
      <p:sp>
        <p:nvSpPr>
          <p:cNvPr id="14" name="">
            <a:extLst xmlns:a="http://schemas.openxmlformats.org/drawingml/2006/main">
              <a:ext uri="{FF2B5EF4-FFF2-40B4-BE49-F238E27FC236}">
                <a16:creationId xmlns:a16="http://schemas.microsoft.com/office/drawing/2014/main" id="{1420C9FC-2AC7-416A-A2AE-55B2A3843175}"/>
              </a:ext>
            </a:extLst>
          </p:cNvPr>
          <p:cNvSpPr>
            <a:spLocks xmlns:a="http://schemas.openxmlformats.org/drawingml/2006/main" noGrp="1"/>
          </p:cNvSpPr>
          <p:nvPr/>
        </p:nvSpPr>
        <p:spPr>
          <a:xfrm xmlns:a="http://schemas.openxmlformats.org/drawingml/2006/main">
            <a:off x="621030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776"/>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chunks with demo vectors</a:t>
            </a:r>
          </a:p>
        </p:txBody>
      </p:sp>
      <p:sp>
        <p:nvSpPr>
          <p:cNvPr id="15" name="">
            <a:extLst xmlns:a="http://schemas.openxmlformats.org/drawingml/2006/main">
              <a:ext uri="{FF2B5EF4-FFF2-40B4-BE49-F238E27FC236}">
                <a16:creationId xmlns:a16="http://schemas.microsoft.com/office/drawing/2014/main" id="{F8ADA876-54C8-4B79-98D6-E924FCC1BCCE}"/>
              </a:ext>
            </a:extLst>
          </p:cNvPr>
          <p:cNvSpPr>
            <a:spLocks xmlns:a="http://schemas.openxmlformats.org/drawingml/2006/main" noGrp="1"/>
          </p:cNvSpPr>
          <p:nvPr/>
        </p:nvSpPr>
        <p:spPr>
          <a:xfrm xmlns:a="http://schemas.openxmlformats.org/drawingml/2006/main">
            <a:off x="621030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497"/>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One repeatable demo vector per chunk</a:t>
            </a:r>
          </a:p>
        </p:txBody>
      </p:sp>
      <p:sp>
        <p:nvSpPr>
          <p:cNvPr id="16" name="">
            <a:extLst xmlns:a="http://schemas.openxmlformats.org/drawingml/2006/main">
              <a:ext uri="{FF2B5EF4-FFF2-40B4-BE49-F238E27FC236}">
                <a16:creationId xmlns:a16="http://schemas.microsoft.com/office/drawing/2014/main" id="{867410BE-6050-42D8-9D7C-717BCC6356C1}"/>
              </a:ext>
            </a:extLst>
          </p:cNvPr>
          <p:cNvSpPr>
            <a:spLocks xmlns:a="http://schemas.openxmlformats.org/drawingml/2006/main" noGrp="1"/>
          </p:cNvSpPr>
          <p:nvPr/>
        </p:nvSpPr>
        <p:spPr>
          <a:xfrm xmlns:a="http://schemas.openxmlformats.org/drawingml/2006/main">
            <a:off x="8743950" y="1600200"/>
            <a:ext cx="2571750" cy="171450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8218C5DF-6CF6-48B8-B277-34D4DC67FE8B}"/>
              </a:ext>
            </a:extLst>
          </p:cNvPr>
          <p:cNvSpPr>
            <a:spLocks xmlns:a="http://schemas.openxmlformats.org/drawingml/2006/main" noGrp="1"/>
          </p:cNvSpPr>
          <p:nvPr/>
        </p:nvSpPr>
        <p:spPr>
          <a:xfrm xmlns:a="http://schemas.openxmlformats.org/drawingml/2006/main">
            <a:off x="8972550" y="1828800"/>
            <a:ext cx="211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7500"/>
          </a:bodyPr>
          <a:lstStyle xmlns:a="http://schemas.openxmlformats.org/drawingml/2006/main"/>
          <a:p xmlns:a="http://schemas.openxmlformats.org/drawingml/2006/main">
            <a:pPr algn="l">
              <a:buNone/>
              <a:defRPr sz="3600" b="1">
                <a:solidFill>
                  <a:srgbClr val="101828"/>
                </a:solidFill>
                <a:latin typeface="Helvetica Neue"/>
                <a:ea typeface="Helvetica Neue"/>
                <a:cs typeface="Helvetica Neue"/>
              </a:defRPr>
            </a:pPr>
            <a:r>
              <a:rPr sz="3600" b="1">
                <a:solidFill>
                  <a:srgbClr val="101828"/>
                </a:solidFill>
                <a:latin typeface="Helvetica Neue"/>
                <a:ea typeface="Helvetica Neue"/>
                <a:cs typeface="Helvetica Neue"/>
              </a:rPr>
              <a:t>49</a:t>
            </a:r>
          </a:p>
        </p:txBody>
      </p:sp>
      <p:sp>
        <p:nvSpPr>
          <p:cNvPr id="18" name="">
            <a:extLst xmlns:a="http://schemas.openxmlformats.org/drawingml/2006/main">
              <a:ext uri="{FF2B5EF4-FFF2-40B4-BE49-F238E27FC236}">
                <a16:creationId xmlns:a16="http://schemas.microsoft.com/office/drawing/2014/main" id="{C036AE3F-D1C4-4D0D-A35F-DFF5F7BF2432}"/>
              </a:ext>
            </a:extLst>
          </p:cNvPr>
          <p:cNvSpPr>
            <a:spLocks xmlns:a="http://schemas.openxmlformats.org/drawingml/2006/main" noGrp="1"/>
          </p:cNvSpPr>
          <p:nvPr/>
        </p:nvSpPr>
        <p:spPr>
          <a:xfrm xmlns:a="http://schemas.openxmlformats.org/drawingml/2006/main">
            <a:off x="8972550" y="2495550"/>
            <a:ext cx="2114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344054"/>
                </a:solidFill>
                <a:latin typeface="Helvetica Neue"/>
                <a:ea typeface="Helvetica Neue"/>
                <a:cs typeface="Helvetica Neue"/>
              </a:defRPr>
            </a:pPr>
            <a:r>
              <a:rPr sz="1425" b="1">
                <a:solidFill>
                  <a:srgbClr val="344054"/>
                </a:solidFill>
                <a:latin typeface="Helvetica Neue"/>
                <a:ea typeface="Helvetica Neue"/>
                <a:cs typeface="Helvetica Neue"/>
              </a:rPr>
              <a:t>passing checks</a:t>
            </a:r>
          </a:p>
        </p:txBody>
      </p:sp>
      <p:sp>
        <p:nvSpPr>
          <p:cNvPr id="19" name="">
            <a:extLst xmlns:a="http://schemas.openxmlformats.org/drawingml/2006/main">
              <a:ext uri="{FF2B5EF4-FFF2-40B4-BE49-F238E27FC236}">
                <a16:creationId xmlns:a16="http://schemas.microsoft.com/office/drawing/2014/main" id="{3CA3273F-9072-42DE-948B-4BE817865220}"/>
              </a:ext>
            </a:extLst>
          </p:cNvPr>
          <p:cNvSpPr>
            <a:spLocks xmlns:a="http://schemas.openxmlformats.org/drawingml/2006/main" noGrp="1"/>
          </p:cNvSpPr>
          <p:nvPr/>
        </p:nvSpPr>
        <p:spPr>
          <a:xfrm xmlns:a="http://schemas.openxmlformats.org/drawingml/2006/main">
            <a:off x="8972550" y="287655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843"/>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32 app tests and 17 database checks</a:t>
            </a:r>
          </a:p>
        </p:txBody>
      </p:sp>
      <p:sp>
        <p:nvSpPr>
          <p:cNvPr id="20" name="">
            <a:extLst xmlns:a="http://schemas.openxmlformats.org/drawingml/2006/main">
              <a:ext uri="{FF2B5EF4-FFF2-40B4-BE49-F238E27FC236}">
                <a16:creationId xmlns:a16="http://schemas.microsoft.com/office/drawing/2014/main" id="{BC696C22-8CC4-42C1-AE87-E04618B67F45}"/>
              </a:ext>
            </a:extLst>
          </p:cNvPr>
          <p:cNvSpPr>
            <a:spLocks xmlns:a="http://schemas.openxmlformats.org/drawingml/2006/main" noGrp="1"/>
          </p:cNvSpPr>
          <p:nvPr/>
        </p:nvSpPr>
        <p:spPr>
          <a:xfrm xmlns:a="http://schemas.openxmlformats.org/drawingml/2006/main">
            <a:off x="457200" y="3619500"/>
            <a:ext cx="10858500" cy="2038350"/>
          </a:xfrm>
          <a:prstGeom xmlns:a="http://schemas.openxmlformats.org/drawingml/2006/main" prst="roundRect">
            <a:avLst>
              <a:gd name="adj" fmla="val 8411"/>
            </a:avLst>
          </a:prstGeom>
          <a:solidFill xmlns:a="http://schemas.openxmlformats.org/drawingml/2006/main">
            <a:srgbClr val="E8F0FB"/>
          </a:solidFill>
          <a:ln xmlns:a="http://schemas.openxmlformats.org/drawingml/2006/main" w="9525">
            <a:solidFill>
              <a:srgbClr val="9CB5D5"/>
            </a:solidFill>
            <a:prstDash val="solid"/>
          </a:ln>
        </p:spPr>
      </p:sp>
      <p:sp>
        <p:nvSpPr>
          <p:cNvPr id="21" name="">
            <a:extLst xmlns:a="http://schemas.openxmlformats.org/drawingml/2006/main">
              <a:ext uri="{FF2B5EF4-FFF2-40B4-BE49-F238E27FC236}">
                <a16:creationId xmlns:a16="http://schemas.microsoft.com/office/drawing/2014/main" id="{01642584-EDEF-43BF-99E6-5BF978F0C444}"/>
              </a:ext>
            </a:extLst>
          </p:cNvPr>
          <p:cNvSpPr>
            <a:spLocks xmlns:a="http://schemas.openxmlformats.org/drawingml/2006/main" noGrp="1"/>
          </p:cNvSpPr>
          <p:nvPr/>
        </p:nvSpPr>
        <p:spPr>
          <a:xfrm xmlns:a="http://schemas.openxmlformats.org/drawingml/2006/main">
            <a:off x="742950" y="38766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424"/>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What the current local checks confirm</a:t>
            </a:r>
          </a:p>
        </p:txBody>
      </p:sp>
      <p:sp>
        <p:nvSpPr>
          <p:cNvPr id="22" name="">
            <a:extLst xmlns:a="http://schemas.openxmlformats.org/drawingml/2006/main">
              <a:ext uri="{FF2B5EF4-FFF2-40B4-BE49-F238E27FC236}">
                <a16:creationId xmlns:a16="http://schemas.microsoft.com/office/drawing/2014/main" id="{18919A00-4C98-4488-A084-4206A387CCFB}"/>
              </a:ext>
            </a:extLst>
          </p:cNvPr>
          <p:cNvSpPr>
            <a:spLocks xmlns:a="http://schemas.openxmlformats.org/drawingml/2006/main" noGrp="1"/>
          </p:cNvSpPr>
          <p:nvPr/>
        </p:nvSpPr>
        <p:spPr>
          <a:xfrm xmlns:a="http://schemas.openxmlformats.org/drawingml/2006/main">
            <a:off x="74295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3" name="">
            <a:extLst xmlns:a="http://schemas.openxmlformats.org/drawingml/2006/main">
              <a:ext uri="{FF2B5EF4-FFF2-40B4-BE49-F238E27FC236}">
                <a16:creationId xmlns:a16="http://schemas.microsoft.com/office/drawing/2014/main" id="{27A3D507-5D5C-4554-892E-A568CD05BFA9}"/>
              </a:ext>
            </a:extLst>
          </p:cNvPr>
          <p:cNvSpPr>
            <a:spLocks xmlns:a="http://schemas.openxmlformats.org/drawingml/2006/main" noGrp="1"/>
          </p:cNvSpPr>
          <p:nvPr/>
        </p:nvSpPr>
        <p:spPr>
          <a:xfrm xmlns:a="http://schemas.openxmlformats.org/drawingml/2006/main">
            <a:off x="80010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4" name="">
            <a:extLst xmlns:a="http://schemas.openxmlformats.org/drawingml/2006/main">
              <a:ext uri="{FF2B5EF4-FFF2-40B4-BE49-F238E27FC236}">
                <a16:creationId xmlns:a16="http://schemas.microsoft.com/office/drawing/2014/main" id="{77C3477F-C2B0-47D9-9B9A-0E325FC48695}"/>
              </a:ext>
            </a:extLst>
          </p:cNvPr>
          <p:cNvSpPr>
            <a:spLocks xmlns:a="http://schemas.openxmlformats.org/drawingml/2006/main" noGrp="1"/>
          </p:cNvSpPr>
          <p:nvPr/>
        </p:nvSpPr>
        <p:spPr>
          <a:xfrm xmlns:a="http://schemas.openxmlformats.org/drawingml/2006/main">
            <a:off x="1162050" y="4343400"/>
            <a:ext cx="4343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All 10 companies return a local brief</a:t>
            </a:r>
          </a:p>
        </p:txBody>
      </p:sp>
      <p:sp>
        <p:nvSpPr>
          <p:cNvPr id="25" name="">
            <a:extLst xmlns:a="http://schemas.openxmlformats.org/drawingml/2006/main">
              <a:ext uri="{FF2B5EF4-FFF2-40B4-BE49-F238E27FC236}">
                <a16:creationId xmlns:a16="http://schemas.microsoft.com/office/drawing/2014/main" id="{02C2EE5B-BD3B-4F9C-8687-99BBB16AD392}"/>
              </a:ext>
            </a:extLst>
          </p:cNvPr>
          <p:cNvSpPr>
            <a:spLocks xmlns:a="http://schemas.openxmlformats.org/drawingml/2006/main" noGrp="1"/>
          </p:cNvSpPr>
          <p:nvPr/>
        </p:nvSpPr>
        <p:spPr>
          <a:xfrm xmlns:a="http://schemas.openxmlformats.org/drawingml/2006/main">
            <a:off x="1162050" y="4629150"/>
            <a:ext cx="4343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result is under 30 seconds in the current check.</a:t>
            </a:r>
          </a:p>
        </p:txBody>
      </p:sp>
      <p:sp>
        <p:nvSpPr>
          <p:cNvPr id="26" name="">
            <a:extLst xmlns:a="http://schemas.openxmlformats.org/drawingml/2006/main">
              <a:ext uri="{FF2B5EF4-FFF2-40B4-BE49-F238E27FC236}">
                <a16:creationId xmlns:a16="http://schemas.microsoft.com/office/drawing/2014/main" id="{5031F99B-19F7-481F-8767-3BE4ABAF7DDA}"/>
              </a:ext>
            </a:extLst>
          </p:cNvPr>
          <p:cNvSpPr>
            <a:spLocks xmlns:a="http://schemas.openxmlformats.org/drawingml/2006/main" noGrp="1"/>
          </p:cNvSpPr>
          <p:nvPr/>
        </p:nvSpPr>
        <p:spPr>
          <a:xfrm xmlns:a="http://schemas.openxmlformats.org/drawingml/2006/main">
            <a:off x="5905500" y="43624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7" name="">
            <a:extLst xmlns:a="http://schemas.openxmlformats.org/drawingml/2006/main">
              <a:ext uri="{FF2B5EF4-FFF2-40B4-BE49-F238E27FC236}">
                <a16:creationId xmlns:a16="http://schemas.microsoft.com/office/drawing/2014/main" id="{612BAD4C-E725-46B0-A148-5CC6F7910A93}"/>
              </a:ext>
            </a:extLst>
          </p:cNvPr>
          <p:cNvSpPr>
            <a:spLocks xmlns:a="http://schemas.openxmlformats.org/drawingml/2006/main" noGrp="1"/>
          </p:cNvSpPr>
          <p:nvPr/>
        </p:nvSpPr>
        <p:spPr>
          <a:xfrm xmlns:a="http://schemas.openxmlformats.org/drawingml/2006/main">
            <a:off x="5962650" y="43910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8" name="">
            <a:extLst xmlns:a="http://schemas.openxmlformats.org/drawingml/2006/main">
              <a:ext uri="{FF2B5EF4-FFF2-40B4-BE49-F238E27FC236}">
                <a16:creationId xmlns:a16="http://schemas.microsoft.com/office/drawing/2014/main" id="{0E74E3D3-7DB7-4D0F-B262-FDAFC9F547F6}"/>
              </a:ext>
            </a:extLst>
          </p:cNvPr>
          <p:cNvSpPr>
            <a:spLocks xmlns:a="http://schemas.openxmlformats.org/drawingml/2006/main" noGrp="1"/>
          </p:cNvSpPr>
          <p:nvPr/>
        </p:nvSpPr>
        <p:spPr>
          <a:xfrm xmlns:a="http://schemas.openxmlformats.org/drawingml/2006/main">
            <a:off x="6324600" y="4343400"/>
            <a:ext cx="4533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Source IDs are valid and company-scoped</a:t>
            </a:r>
          </a:p>
        </p:txBody>
      </p:sp>
      <p:sp>
        <p:nvSpPr>
          <p:cNvPr id="29" name="">
            <a:extLst xmlns:a="http://schemas.openxmlformats.org/drawingml/2006/main">
              <a:ext uri="{FF2B5EF4-FFF2-40B4-BE49-F238E27FC236}">
                <a16:creationId xmlns:a16="http://schemas.microsoft.com/office/drawing/2014/main" id="{B6EF0259-EF9B-41A4-8B53-D27D1B390215}"/>
              </a:ext>
            </a:extLst>
          </p:cNvPr>
          <p:cNvSpPr>
            <a:spLocks xmlns:a="http://schemas.openxmlformats.org/drawingml/2006/main" noGrp="1"/>
          </p:cNvSpPr>
          <p:nvPr/>
        </p:nvSpPr>
        <p:spPr>
          <a:xfrm xmlns:a="http://schemas.openxmlformats.org/drawingml/2006/main">
            <a:off x="6324600" y="4629150"/>
            <a:ext cx="4533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943"/>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The demo covers conflict, earlier value, unverified claim, and missing data.</a:t>
            </a:r>
          </a:p>
        </p:txBody>
      </p:sp>
      <p:sp>
        <p:nvSpPr>
          <p:cNvPr id="30" name="">
            <a:extLst xmlns:a="http://schemas.openxmlformats.org/drawingml/2006/main">
              <a:ext uri="{FF2B5EF4-FFF2-40B4-BE49-F238E27FC236}">
                <a16:creationId xmlns:a16="http://schemas.microsoft.com/office/drawing/2014/main" id="{4AE642AA-8B13-4653-9E09-F49AFB9EDFD2}"/>
              </a:ext>
            </a:extLst>
          </p:cNvPr>
          <p:cNvSpPr>
            <a:spLocks xmlns:a="http://schemas.openxmlformats.org/drawingml/2006/main" noGrp="1"/>
          </p:cNvSpPr>
          <p:nvPr/>
        </p:nvSpPr>
        <p:spPr>
          <a:xfrm xmlns:a="http://schemas.openxmlformats.org/drawingml/2006/main">
            <a:off x="742950" y="52197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Current local results on the curated dataset. They are not production benchmarks.</a:t>
            </a:r>
          </a:p>
        </p:txBody>
      </p:sp>
    </p:spTree>
    <p:extLst>
      <p:ext uri="{BB962C8B-B14F-4D97-AF65-F5344CB8AC3E}">
        <p14:creationId xmlns:p14="http://schemas.microsoft.com/office/powerpoint/2010/main" val="217603439"/>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the system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The app imports files before a request. A brief reads local PostgreSQL. It calls no source system or external model.</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demo vectors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local vector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247"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248"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249"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250"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before rank · source IDs · saved source ranks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TARGET    Connectors · access rules · schedules · reconciliation · text-embedding-3-large (Embeddings API) · gpt-5.6-sol (Responses API)</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Fixed brief rules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No model call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Check source IDs and company</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brief and source ranks</a:t>
            </a:r>
          </a:p>
        </p:txBody>
      </p:sp>
      <p:cxnSp>
        <p:nvCxnSpPr>
          <p:cNvPr id="262"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263"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spTree>
    <p:extLst>
      <p:ext uri="{BB962C8B-B14F-4D97-AF65-F5344CB8AC3E}">
        <p14:creationId xmlns:p14="http://schemas.microsoft.com/office/powerpoint/2010/main" val="162962562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DB7B3EEB-D638-4724-AAF7-119C489C9CD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How do source records become searchable evidence?</a:t>
            </a:r>
          </a:p>
        </p:txBody>
      </p:sp>
      <p:sp>
        <p:nvSpPr>
          <p:cNvPr id="2" name="">
            <a:extLst xmlns:a="http://schemas.openxmlformats.org/drawingml/2006/main">
              <a:ext uri="{FF2B5EF4-FFF2-40B4-BE49-F238E27FC236}">
                <a16:creationId xmlns:a16="http://schemas.microsoft.com/office/drawing/2014/main" id="{09705ED1-D51F-46D6-86F2-64D21DC0D084}"/>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06B9AC04-D709-4811-8011-6CBF5DDBDCB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24A84428-21BF-430B-AB26-3A6B26D5C7DF}"/>
              </a:ext>
            </a:extLst>
          </p:cNvPr>
          <p:cNvSpPr>
            <a:spLocks xmlns:a="http://schemas.openxmlformats.org/drawingml/2006/main" noGrp="1"/>
          </p:cNvSpPr>
          <p:nvPr/>
        </p:nvSpPr>
        <p:spPr>
          <a:xfrm xmlns:a="http://schemas.openxmlformats.org/drawingml/2006/main">
            <a:off x="457200" y="13525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V1 uses file adapters. Public filings are a target source, but the prototype has no filing adapter.</a:t>
            </a:r>
          </a:p>
        </p:txBody>
      </p:sp>
      <p:sp>
        <p:nvSpPr>
          <p:cNvPr id="5" name="">
            <a:extLst xmlns:a="http://schemas.openxmlformats.org/drawingml/2006/main">
              <a:ext uri="{FF2B5EF4-FFF2-40B4-BE49-F238E27FC236}">
                <a16:creationId xmlns:a16="http://schemas.microsoft.com/office/drawing/2014/main" id="{896AB9F0-C69D-4A69-808D-6EF2BA8CD82A}"/>
              </a:ext>
            </a:extLst>
          </p:cNvPr>
          <p:cNvSpPr>
            <a:spLocks xmlns:a="http://schemas.openxmlformats.org/drawingml/2006/main" noGrp="1"/>
          </p:cNvSpPr>
          <p:nvPr/>
        </p:nvSpPr>
        <p:spPr>
          <a:xfrm xmlns:a="http://schemas.openxmlformats.org/drawingml/2006/main">
            <a:off x="457200" y="20002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5A55690E-0B75-4171-92B6-19446C212B93}"/>
              </a:ext>
            </a:extLst>
          </p:cNvPr>
          <p:cNvSpPr>
            <a:spLocks xmlns:a="http://schemas.openxmlformats.org/drawingml/2006/main" noGrp="1"/>
          </p:cNvSpPr>
          <p:nvPr/>
        </p:nvSpPr>
        <p:spPr>
          <a:xfrm xmlns:a="http://schemas.openxmlformats.org/drawingml/2006/main">
            <a:off x="561975" y="20574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1DFBEFDC-1AD1-482F-BA2B-A1477C59E296}"/>
              </a:ext>
            </a:extLst>
          </p:cNvPr>
          <p:cNvSpPr>
            <a:spLocks xmlns:a="http://schemas.openxmlformats.org/drawingml/2006/main" noGrp="1"/>
          </p:cNvSpPr>
          <p:nvPr/>
        </p:nvSpPr>
        <p:spPr>
          <a:xfrm xmlns:a="http://schemas.openxmlformats.org/drawingml/2006/main">
            <a:off x="971550" y="20288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Read and validate one source record</a:t>
            </a:r>
          </a:p>
        </p:txBody>
      </p:sp>
      <p:sp>
        <p:nvSpPr>
          <p:cNvPr id="8" name="">
            <a:extLst xmlns:a="http://schemas.openxmlformats.org/drawingml/2006/main">
              <a:ext uri="{FF2B5EF4-FFF2-40B4-BE49-F238E27FC236}">
                <a16:creationId xmlns:a16="http://schemas.microsoft.com/office/drawing/2014/main" id="{42D004A4-470B-427C-9F30-0D4084329D3B}"/>
              </a:ext>
            </a:extLst>
          </p:cNvPr>
          <p:cNvSpPr>
            <a:spLocks xmlns:a="http://schemas.openxmlformats.org/drawingml/2006/main" noGrp="1"/>
          </p:cNvSpPr>
          <p:nvPr/>
        </p:nvSpPr>
        <p:spPr>
          <a:xfrm xmlns:a="http://schemas.openxmlformats.org/drawingml/2006/main">
            <a:off x="619125" y="23717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9" name="">
            <a:extLst xmlns:a="http://schemas.openxmlformats.org/drawingml/2006/main">
              <a:ext uri="{FF2B5EF4-FFF2-40B4-BE49-F238E27FC236}">
                <a16:creationId xmlns:a16="http://schemas.microsoft.com/office/drawing/2014/main" id="{A8A8914F-BE10-4304-B4E7-B45DA4C1C63E}"/>
              </a:ext>
            </a:extLst>
          </p:cNvPr>
          <p:cNvSpPr>
            <a:spLocks xmlns:a="http://schemas.openxmlformats.org/drawingml/2006/main" noGrp="1"/>
          </p:cNvSpPr>
          <p:nvPr/>
        </p:nvSpPr>
        <p:spPr>
          <a:xfrm xmlns:a="http://schemas.openxmlformats.org/drawingml/2006/main">
            <a:off x="457200" y="27241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744DA04E-E782-4241-A00D-8BDB6C1710A7}"/>
              </a:ext>
            </a:extLst>
          </p:cNvPr>
          <p:cNvSpPr>
            <a:spLocks xmlns:a="http://schemas.openxmlformats.org/drawingml/2006/main" noGrp="1"/>
          </p:cNvSpPr>
          <p:nvPr/>
        </p:nvSpPr>
        <p:spPr>
          <a:xfrm xmlns:a="http://schemas.openxmlformats.org/drawingml/2006/main">
            <a:off x="561975" y="27813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DF9E2949-2E8A-485A-BB75-2DF646A1DC1B}"/>
              </a:ext>
            </a:extLst>
          </p:cNvPr>
          <p:cNvSpPr>
            <a:spLocks xmlns:a="http://schemas.openxmlformats.org/drawingml/2006/main" noGrp="1"/>
          </p:cNvSpPr>
          <p:nvPr/>
        </p:nvSpPr>
        <p:spPr>
          <a:xfrm xmlns:a="http://schemas.openxmlformats.org/drawingml/2006/main">
            <a:off x="971550" y="27527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Assign a known company ID</a:t>
            </a:r>
          </a:p>
        </p:txBody>
      </p:sp>
      <p:sp>
        <p:nvSpPr>
          <p:cNvPr id="12" name="">
            <a:extLst xmlns:a="http://schemas.openxmlformats.org/drawingml/2006/main">
              <a:ext uri="{FF2B5EF4-FFF2-40B4-BE49-F238E27FC236}">
                <a16:creationId xmlns:a16="http://schemas.microsoft.com/office/drawing/2014/main" id="{BA392708-9950-446C-9ADA-FBD2E6F519AB}"/>
              </a:ext>
            </a:extLst>
          </p:cNvPr>
          <p:cNvSpPr>
            <a:spLocks xmlns:a="http://schemas.openxmlformats.org/drawingml/2006/main" noGrp="1"/>
          </p:cNvSpPr>
          <p:nvPr/>
        </p:nvSpPr>
        <p:spPr>
          <a:xfrm xmlns:a="http://schemas.openxmlformats.org/drawingml/2006/main">
            <a:off x="619125" y="30956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3" name="">
            <a:extLst xmlns:a="http://schemas.openxmlformats.org/drawingml/2006/main">
              <a:ext uri="{FF2B5EF4-FFF2-40B4-BE49-F238E27FC236}">
                <a16:creationId xmlns:a16="http://schemas.microsoft.com/office/drawing/2014/main" id="{4AF011EC-1C83-4C78-B335-F8C94918CC8D}"/>
              </a:ext>
            </a:extLst>
          </p:cNvPr>
          <p:cNvSpPr>
            <a:spLocks xmlns:a="http://schemas.openxmlformats.org/drawingml/2006/main" noGrp="1"/>
          </p:cNvSpPr>
          <p:nvPr/>
        </p:nvSpPr>
        <p:spPr>
          <a:xfrm xmlns:a="http://schemas.openxmlformats.org/drawingml/2006/main">
            <a:off x="457200" y="34480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267B03D7-4FFF-4222-8023-4B9CA2C306D3}"/>
              </a:ext>
            </a:extLst>
          </p:cNvPr>
          <p:cNvSpPr>
            <a:spLocks xmlns:a="http://schemas.openxmlformats.org/drawingml/2006/main" noGrp="1"/>
          </p:cNvSpPr>
          <p:nvPr/>
        </p:nvSpPr>
        <p:spPr>
          <a:xfrm xmlns:a="http://schemas.openxmlformats.org/drawingml/2006/main">
            <a:off x="561975" y="35052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E878125C-7399-406D-BC38-0734C61BE00C}"/>
              </a:ext>
            </a:extLst>
          </p:cNvPr>
          <p:cNvSpPr>
            <a:spLocks xmlns:a="http://schemas.openxmlformats.org/drawingml/2006/main" noGrp="1"/>
          </p:cNvSpPr>
          <p:nvPr/>
        </p:nvSpPr>
        <p:spPr>
          <a:xfrm xmlns:a="http://schemas.openxmlformats.org/drawingml/2006/main">
            <a:off x="971550" y="34766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Keep the original content, dates, and source location</a:t>
            </a:r>
          </a:p>
        </p:txBody>
      </p:sp>
      <p:sp>
        <p:nvSpPr>
          <p:cNvPr id="16" name="">
            <a:extLst xmlns:a="http://schemas.openxmlformats.org/drawingml/2006/main">
              <a:ext uri="{FF2B5EF4-FFF2-40B4-BE49-F238E27FC236}">
                <a16:creationId xmlns:a16="http://schemas.microsoft.com/office/drawing/2014/main" id="{D7561669-D96D-4F99-AAE4-AE64D61FD29B}"/>
              </a:ext>
            </a:extLst>
          </p:cNvPr>
          <p:cNvSpPr>
            <a:spLocks xmlns:a="http://schemas.openxmlformats.org/drawingml/2006/main" noGrp="1"/>
          </p:cNvSpPr>
          <p:nvPr/>
        </p:nvSpPr>
        <p:spPr>
          <a:xfrm xmlns:a="http://schemas.openxmlformats.org/drawingml/2006/main">
            <a:off x="619125" y="38195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17" name="">
            <a:extLst xmlns:a="http://schemas.openxmlformats.org/drawingml/2006/main">
              <a:ext uri="{FF2B5EF4-FFF2-40B4-BE49-F238E27FC236}">
                <a16:creationId xmlns:a16="http://schemas.microsoft.com/office/drawing/2014/main" id="{5969D8FE-F79D-4F30-8530-3ED39A96BD24}"/>
              </a:ext>
            </a:extLst>
          </p:cNvPr>
          <p:cNvSpPr>
            <a:spLocks xmlns:a="http://schemas.openxmlformats.org/drawingml/2006/main" noGrp="1"/>
          </p:cNvSpPr>
          <p:nvPr/>
        </p:nvSpPr>
        <p:spPr>
          <a:xfrm xmlns:a="http://schemas.openxmlformats.org/drawingml/2006/main">
            <a:off x="457200" y="41719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DE72449E-1384-407C-AC51-A2662CEB52CA}"/>
              </a:ext>
            </a:extLst>
          </p:cNvPr>
          <p:cNvSpPr>
            <a:spLocks xmlns:a="http://schemas.openxmlformats.org/drawingml/2006/main" noGrp="1"/>
          </p:cNvSpPr>
          <p:nvPr/>
        </p:nvSpPr>
        <p:spPr>
          <a:xfrm xmlns:a="http://schemas.openxmlformats.org/drawingml/2006/main">
            <a:off x="561975" y="42291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D786C1E8-153D-4E33-BBE6-7D81EB56046E}"/>
              </a:ext>
            </a:extLst>
          </p:cNvPr>
          <p:cNvSpPr>
            <a:spLocks xmlns:a="http://schemas.openxmlformats.org/drawingml/2006/main" noGrp="1"/>
          </p:cNvSpPr>
          <p:nvPr/>
        </p:nvSpPr>
        <p:spPr>
          <a:xfrm xmlns:a="http://schemas.openxmlformats.org/drawingml/2006/main">
            <a:off x="971550" y="42005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Normalize the text and calculate a checksum</a:t>
            </a:r>
          </a:p>
        </p:txBody>
      </p:sp>
      <p:sp>
        <p:nvSpPr>
          <p:cNvPr id="20" name="">
            <a:extLst xmlns:a="http://schemas.openxmlformats.org/drawingml/2006/main">
              <a:ext uri="{FF2B5EF4-FFF2-40B4-BE49-F238E27FC236}">
                <a16:creationId xmlns:a16="http://schemas.microsoft.com/office/drawing/2014/main" id="{FCCB409B-36D1-4D07-8523-93405C75454C}"/>
              </a:ext>
            </a:extLst>
          </p:cNvPr>
          <p:cNvSpPr>
            <a:spLocks xmlns:a="http://schemas.openxmlformats.org/drawingml/2006/main" noGrp="1"/>
          </p:cNvSpPr>
          <p:nvPr/>
        </p:nvSpPr>
        <p:spPr>
          <a:xfrm xmlns:a="http://schemas.openxmlformats.org/drawingml/2006/main">
            <a:off x="619125" y="4543425"/>
            <a:ext cx="0" cy="0"/>
          </a:xfrm>
          <a:prstGeom xmlns:a="http://schemas.openxmlformats.org/drawingml/2006/main" prst="line">
            <a:avLst/>
          </a:prstGeom>
          <a:noFill xmlns:a="http://schemas.openxmlformats.org/drawingml/2006/main"/>
          <a:ln xmlns:a="http://schemas.openxmlformats.org/drawingml/2006/main" w="19050">
            <a:solidFill>
              <a:srgbClr val="9CB5D5"/>
            </a:solidFill>
            <a:prstDash val="solid"/>
          </a:ln>
        </p:spPr>
      </p:sp>
      <p:sp>
        <p:nvSpPr>
          <p:cNvPr id="21" name="">
            <a:extLst xmlns:a="http://schemas.openxmlformats.org/drawingml/2006/main">
              <a:ext uri="{FF2B5EF4-FFF2-40B4-BE49-F238E27FC236}">
                <a16:creationId xmlns:a16="http://schemas.microsoft.com/office/drawing/2014/main" id="{C901AFB4-3CC6-4EF1-99E3-CA08389983BB}"/>
              </a:ext>
            </a:extLst>
          </p:cNvPr>
          <p:cNvSpPr>
            <a:spLocks xmlns:a="http://schemas.openxmlformats.org/drawingml/2006/main" noGrp="1"/>
          </p:cNvSpPr>
          <p:nvPr/>
        </p:nvSpPr>
        <p:spPr>
          <a:xfrm xmlns:a="http://schemas.openxmlformats.org/drawingml/2006/main">
            <a:off x="457200" y="4895850"/>
            <a:ext cx="323850" cy="32385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2" name="">
            <a:extLst xmlns:a="http://schemas.openxmlformats.org/drawingml/2006/main">
              <a:ext uri="{FF2B5EF4-FFF2-40B4-BE49-F238E27FC236}">
                <a16:creationId xmlns:a16="http://schemas.microsoft.com/office/drawing/2014/main" id="{39B717AD-6170-4CFF-BB81-8BC5838DFFBA}"/>
              </a:ext>
            </a:extLst>
          </p:cNvPr>
          <p:cNvSpPr>
            <a:spLocks xmlns:a="http://schemas.openxmlformats.org/drawingml/2006/main" noGrp="1"/>
          </p:cNvSpPr>
          <p:nvPr/>
        </p:nvSpPr>
        <p:spPr>
          <a:xfrm xmlns:a="http://schemas.openxmlformats.org/drawingml/2006/main">
            <a:off x="561975" y="4953000"/>
            <a:ext cx="133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5</a:t>
            </a:r>
          </a:p>
        </p:txBody>
      </p:sp>
      <p:sp>
        <p:nvSpPr>
          <p:cNvPr id="23" name="">
            <a:extLst xmlns:a="http://schemas.openxmlformats.org/drawingml/2006/main">
              <a:ext uri="{FF2B5EF4-FFF2-40B4-BE49-F238E27FC236}">
                <a16:creationId xmlns:a16="http://schemas.microsoft.com/office/drawing/2014/main" id="{28DAAB14-613C-43B8-BDF1-18A66C092515}"/>
              </a:ext>
            </a:extLst>
          </p:cNvPr>
          <p:cNvSpPr>
            <a:spLocks xmlns:a="http://schemas.openxmlformats.org/drawingml/2006/main" noGrp="1"/>
          </p:cNvSpPr>
          <p:nvPr/>
        </p:nvSpPr>
        <p:spPr>
          <a:xfrm xmlns:a="http://schemas.openxmlformats.org/drawingml/2006/main">
            <a:off x="971550" y="4924425"/>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350" b="0">
                <a:solidFill>
                  <a:srgbClr val="344054"/>
                </a:solidFill>
                <a:latin typeface="Helvetica Neue"/>
                <a:ea typeface="Helvetica Neue"/>
                <a:cs typeface="Helvetica Neue"/>
              </a:rPr>
              <a:t>Create facts, chunks, search text, and local vectors</a:t>
            </a:r>
          </a:p>
        </p:txBody>
      </p:sp>
      <p:sp>
        <p:nvSpPr>
          <p:cNvPr id="24" name="">
            <a:extLst xmlns:a="http://schemas.openxmlformats.org/drawingml/2006/main">
              <a:ext uri="{FF2B5EF4-FFF2-40B4-BE49-F238E27FC236}">
                <a16:creationId xmlns:a16="http://schemas.microsoft.com/office/drawing/2014/main" id="{AE4B2134-0E03-439A-A505-DE179D4F8A78}"/>
              </a:ext>
            </a:extLst>
          </p:cNvPr>
          <p:cNvSpPr>
            <a:spLocks xmlns:a="http://schemas.openxmlformats.org/drawingml/2006/main" noGrp="1"/>
          </p:cNvSpPr>
          <p:nvPr/>
        </p:nvSpPr>
        <p:spPr>
          <a:xfrm xmlns:a="http://schemas.openxmlformats.org/drawingml/2006/main">
            <a:off x="5857875" y="1866900"/>
            <a:ext cx="2571750" cy="3429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50B4CBE1-89EE-44EE-983C-A9759975B102}"/>
              </a:ext>
            </a:extLst>
          </p:cNvPr>
          <p:cNvSpPr>
            <a:spLocks xmlns:a="http://schemas.openxmlformats.org/drawingml/2006/main" noGrp="1"/>
          </p:cNvSpPr>
          <p:nvPr/>
        </p:nvSpPr>
        <p:spPr>
          <a:xfrm xmlns:a="http://schemas.openxmlformats.org/drawingml/2006/main">
            <a:off x="6086475" y="2095500"/>
            <a:ext cx="146685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6" name="">
            <a:extLst xmlns:a="http://schemas.openxmlformats.org/drawingml/2006/main">
              <a:ext uri="{FF2B5EF4-FFF2-40B4-BE49-F238E27FC236}">
                <a16:creationId xmlns:a16="http://schemas.microsoft.com/office/drawing/2014/main" id="{65E29143-C486-4B9C-992D-E9D30EFD7418}"/>
              </a:ext>
            </a:extLst>
          </p:cNvPr>
          <p:cNvSpPr>
            <a:spLocks xmlns:a="http://schemas.openxmlformats.org/drawingml/2006/main" noGrp="1"/>
          </p:cNvSpPr>
          <p:nvPr/>
        </p:nvSpPr>
        <p:spPr>
          <a:xfrm xmlns:a="http://schemas.openxmlformats.org/drawingml/2006/main">
            <a:off x="6200775" y="2143125"/>
            <a:ext cx="12382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STRUCTURED</a:t>
            </a:r>
          </a:p>
        </p:txBody>
      </p:sp>
      <p:sp>
        <p:nvSpPr>
          <p:cNvPr id="27" name="">
            <a:extLst xmlns:a="http://schemas.openxmlformats.org/drawingml/2006/main">
              <a:ext uri="{FF2B5EF4-FFF2-40B4-BE49-F238E27FC236}">
                <a16:creationId xmlns:a16="http://schemas.microsoft.com/office/drawing/2014/main" id="{DFDCA77A-5E0E-43A6-BB0A-56BF2DE0DC4A}"/>
              </a:ext>
            </a:extLst>
          </p:cNvPr>
          <p:cNvSpPr>
            <a:spLocks xmlns:a="http://schemas.openxmlformats.org/drawingml/2006/main" noGrp="1"/>
          </p:cNvSpPr>
          <p:nvPr/>
        </p:nvSpPr>
        <p:spPr>
          <a:xfrm xmlns:a="http://schemas.openxmlformats.org/drawingml/2006/main">
            <a:off x="6086475"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8" name="">
            <a:extLst xmlns:a="http://schemas.openxmlformats.org/drawingml/2006/main">
              <a:ext uri="{FF2B5EF4-FFF2-40B4-BE49-F238E27FC236}">
                <a16:creationId xmlns:a16="http://schemas.microsoft.com/office/drawing/2014/main" id="{6B7F2038-5230-4C6D-B7BE-2F1B21A08219}"/>
              </a:ext>
            </a:extLst>
          </p:cNvPr>
          <p:cNvSpPr>
            <a:spLocks xmlns:a="http://schemas.openxmlformats.org/drawingml/2006/main" noGrp="1"/>
          </p:cNvSpPr>
          <p:nvPr/>
        </p:nvSpPr>
        <p:spPr>
          <a:xfrm xmlns:a="http://schemas.openxmlformats.org/drawingml/2006/main">
            <a:off x="6296025" y="262890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1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Companies and relationships</a:t>
            </a:r>
          </a:p>
        </p:txBody>
      </p:sp>
      <p:sp>
        <p:nvSpPr>
          <p:cNvPr id="29" name="">
            <a:extLst xmlns:a="http://schemas.openxmlformats.org/drawingml/2006/main">
              <a:ext uri="{FF2B5EF4-FFF2-40B4-BE49-F238E27FC236}">
                <a16:creationId xmlns:a16="http://schemas.microsoft.com/office/drawing/2014/main" id="{5D0A1E6A-DDE2-4B51-9CA3-BB600382FAFD}"/>
              </a:ext>
            </a:extLst>
          </p:cNvPr>
          <p:cNvSpPr>
            <a:spLocks xmlns:a="http://schemas.openxmlformats.org/drawingml/2006/main" noGrp="1"/>
          </p:cNvSpPr>
          <p:nvPr/>
        </p:nvSpPr>
        <p:spPr>
          <a:xfrm xmlns:a="http://schemas.openxmlformats.org/drawingml/2006/main">
            <a:off x="6086475"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0" name="">
            <a:extLst xmlns:a="http://schemas.openxmlformats.org/drawingml/2006/main">
              <a:ext uri="{FF2B5EF4-FFF2-40B4-BE49-F238E27FC236}">
                <a16:creationId xmlns:a16="http://schemas.microsoft.com/office/drawing/2014/main" id="{8C9C2D3B-3862-47DC-8DCC-CDD999C31758}"/>
              </a:ext>
            </a:extLst>
          </p:cNvPr>
          <p:cNvSpPr>
            <a:spLocks xmlns:a="http://schemas.openxmlformats.org/drawingml/2006/main" noGrp="1"/>
          </p:cNvSpPr>
          <p:nvPr/>
        </p:nvSpPr>
        <p:spPr>
          <a:xfrm xmlns:a="http://schemas.openxmlformats.org/drawingml/2006/main">
            <a:off x="6296025" y="3143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97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Facts, values, and dates</a:t>
            </a:r>
          </a:p>
        </p:txBody>
      </p:sp>
      <p:sp>
        <p:nvSpPr>
          <p:cNvPr id="31" name="">
            <a:extLst xmlns:a="http://schemas.openxmlformats.org/drawingml/2006/main">
              <a:ext uri="{FF2B5EF4-FFF2-40B4-BE49-F238E27FC236}">
                <a16:creationId xmlns:a16="http://schemas.microsoft.com/office/drawing/2014/main" id="{F482ED8D-B68B-44E4-87AC-903197BE6FCE}"/>
              </a:ext>
            </a:extLst>
          </p:cNvPr>
          <p:cNvSpPr>
            <a:spLocks xmlns:a="http://schemas.openxmlformats.org/drawingml/2006/main" noGrp="1"/>
          </p:cNvSpPr>
          <p:nvPr/>
        </p:nvSpPr>
        <p:spPr>
          <a:xfrm xmlns:a="http://schemas.openxmlformats.org/drawingml/2006/main">
            <a:off x="6086475"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2" name="">
            <a:extLst xmlns:a="http://schemas.openxmlformats.org/drawingml/2006/main">
              <a:ext uri="{FF2B5EF4-FFF2-40B4-BE49-F238E27FC236}">
                <a16:creationId xmlns:a16="http://schemas.microsoft.com/office/drawing/2014/main" id="{D94107E3-D67A-4E88-B122-31CFD386E0DA}"/>
              </a:ext>
            </a:extLst>
          </p:cNvPr>
          <p:cNvSpPr>
            <a:spLocks xmlns:a="http://schemas.openxmlformats.org/drawingml/2006/main" noGrp="1"/>
          </p:cNvSpPr>
          <p:nvPr/>
        </p:nvSpPr>
        <p:spPr>
          <a:xfrm xmlns:a="http://schemas.openxmlformats.org/drawingml/2006/main">
            <a:off x="6296025" y="3657600"/>
            <a:ext cx="1885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1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identity and verification data</a:t>
            </a:r>
          </a:p>
        </p:txBody>
      </p:sp>
      <p:sp>
        <p:nvSpPr>
          <p:cNvPr id="33" name="">
            <a:extLst xmlns:a="http://schemas.openxmlformats.org/drawingml/2006/main">
              <a:ext uri="{FF2B5EF4-FFF2-40B4-BE49-F238E27FC236}">
                <a16:creationId xmlns:a16="http://schemas.microsoft.com/office/drawing/2014/main" id="{59FA7323-BC67-4C89-AEB0-3B13FB5C5ADD}"/>
              </a:ext>
            </a:extLst>
          </p:cNvPr>
          <p:cNvSpPr>
            <a:spLocks xmlns:a="http://schemas.openxmlformats.org/drawingml/2006/main" noGrp="1"/>
          </p:cNvSpPr>
          <p:nvPr/>
        </p:nvSpPr>
        <p:spPr>
          <a:xfrm xmlns:a="http://schemas.openxmlformats.org/drawingml/2006/main">
            <a:off x="6086475" y="4352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4" name="">
            <a:extLst xmlns:a="http://schemas.openxmlformats.org/drawingml/2006/main">
              <a:ext uri="{FF2B5EF4-FFF2-40B4-BE49-F238E27FC236}">
                <a16:creationId xmlns:a16="http://schemas.microsoft.com/office/drawing/2014/main" id="{1259E530-E8A2-41EA-8346-C57BFB7E85BB}"/>
              </a:ext>
            </a:extLst>
          </p:cNvPr>
          <p:cNvSpPr>
            <a:spLocks xmlns:a="http://schemas.openxmlformats.org/drawingml/2006/main" noGrp="1"/>
          </p:cNvSpPr>
          <p:nvPr/>
        </p:nvSpPr>
        <p:spPr>
          <a:xfrm xmlns:a="http://schemas.openxmlformats.org/drawingml/2006/main">
            <a:off x="6296025" y="4286250"/>
            <a:ext cx="18859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26"/>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Brief runs and feedback</a:t>
            </a:r>
          </a:p>
        </p:txBody>
      </p:sp>
      <p:sp>
        <p:nvSpPr>
          <p:cNvPr id="35" name="">
            <a:extLst xmlns:a="http://schemas.openxmlformats.org/drawingml/2006/main">
              <a:ext uri="{FF2B5EF4-FFF2-40B4-BE49-F238E27FC236}">
                <a16:creationId xmlns:a16="http://schemas.microsoft.com/office/drawing/2014/main" id="{008F0A80-4D98-430F-966E-9CC4CF3626B3}"/>
              </a:ext>
            </a:extLst>
          </p:cNvPr>
          <p:cNvSpPr>
            <a:spLocks xmlns:a="http://schemas.openxmlformats.org/drawingml/2006/main" noGrp="1"/>
          </p:cNvSpPr>
          <p:nvPr/>
        </p:nvSpPr>
        <p:spPr>
          <a:xfrm xmlns:a="http://schemas.openxmlformats.org/drawingml/2006/main">
            <a:off x="8667750" y="1866900"/>
            <a:ext cx="2647950" cy="3429000"/>
          </a:xfrm>
          <a:prstGeom xmlns:a="http://schemas.openxmlformats.org/drawingml/2006/main" prst="roundRect">
            <a:avLst>
              <a:gd name="adj" fmla="val 6475"/>
            </a:avLst>
          </a:prstGeom>
          <a:solidFill xmlns:a="http://schemas.openxmlformats.org/drawingml/2006/main">
            <a:srgbClr val="E8F0FB"/>
          </a:solidFill>
          <a:ln xmlns:a="http://schemas.openxmlformats.org/drawingml/2006/main" w="9525">
            <a:solidFill>
              <a:srgbClr val="9CB5D5"/>
            </a:solidFill>
            <a:prstDash val="solid"/>
          </a:ln>
        </p:spPr>
      </p:sp>
      <p:sp>
        <p:nvSpPr>
          <p:cNvPr id="36" name="">
            <a:extLst xmlns:a="http://schemas.openxmlformats.org/drawingml/2006/main">
              <a:ext uri="{FF2B5EF4-FFF2-40B4-BE49-F238E27FC236}">
                <a16:creationId xmlns:a16="http://schemas.microsoft.com/office/drawing/2014/main" id="{9C168A5B-B590-44D1-B806-F5F395BC196C}"/>
              </a:ext>
            </a:extLst>
          </p:cNvPr>
          <p:cNvSpPr>
            <a:spLocks xmlns:a="http://schemas.openxmlformats.org/drawingml/2006/main" noGrp="1"/>
          </p:cNvSpPr>
          <p:nvPr/>
        </p:nvSpPr>
        <p:spPr>
          <a:xfrm xmlns:a="http://schemas.openxmlformats.org/drawingml/2006/main">
            <a:off x="8896350" y="2095500"/>
            <a:ext cx="1714500" cy="28575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9525">
            <a:solidFill>
              <a:srgbClr val="9CB5D5"/>
            </a:solidFill>
            <a:prstDash val="solid"/>
          </a:ln>
        </p:spPr>
      </p:sp>
      <p:sp>
        <p:nvSpPr>
          <p:cNvPr id="37" name="">
            <a:extLst xmlns:a="http://schemas.openxmlformats.org/drawingml/2006/main">
              <a:ext uri="{FF2B5EF4-FFF2-40B4-BE49-F238E27FC236}">
                <a16:creationId xmlns:a16="http://schemas.microsoft.com/office/drawing/2014/main" id="{202E3F51-1461-462E-A2C6-5F8626BC9D9C}"/>
              </a:ext>
            </a:extLst>
          </p:cNvPr>
          <p:cNvSpPr>
            <a:spLocks xmlns:a="http://schemas.openxmlformats.org/drawingml/2006/main" noGrp="1"/>
          </p:cNvSpPr>
          <p:nvPr/>
        </p:nvSpPr>
        <p:spPr>
          <a:xfrm xmlns:a="http://schemas.openxmlformats.org/drawingml/2006/main">
            <a:off x="9010650" y="2143125"/>
            <a:ext cx="1485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UNSTRUCTURED</a:t>
            </a:r>
          </a:p>
        </p:txBody>
      </p:sp>
      <p:sp>
        <p:nvSpPr>
          <p:cNvPr id="38" name="">
            <a:extLst xmlns:a="http://schemas.openxmlformats.org/drawingml/2006/main">
              <a:ext uri="{FF2B5EF4-FFF2-40B4-BE49-F238E27FC236}">
                <a16:creationId xmlns:a16="http://schemas.microsoft.com/office/drawing/2014/main" id="{B502E35D-8EB6-40A1-908B-46F01167CEE2}"/>
              </a:ext>
            </a:extLst>
          </p:cNvPr>
          <p:cNvSpPr>
            <a:spLocks xmlns:a="http://schemas.openxmlformats.org/drawingml/2006/main" noGrp="1"/>
          </p:cNvSpPr>
          <p:nvPr/>
        </p:nvSpPr>
        <p:spPr>
          <a:xfrm xmlns:a="http://schemas.openxmlformats.org/drawingml/2006/main">
            <a:off x="8896350" y="26955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39" name="">
            <a:extLst xmlns:a="http://schemas.openxmlformats.org/drawingml/2006/main">
              <a:ext uri="{FF2B5EF4-FFF2-40B4-BE49-F238E27FC236}">
                <a16:creationId xmlns:a16="http://schemas.microsoft.com/office/drawing/2014/main" id="{24C4359B-11DC-4514-982F-3577788DC549}"/>
              </a:ext>
            </a:extLst>
          </p:cNvPr>
          <p:cNvSpPr>
            <a:spLocks xmlns:a="http://schemas.openxmlformats.org/drawingml/2006/main" noGrp="1"/>
          </p:cNvSpPr>
          <p:nvPr/>
        </p:nvSpPr>
        <p:spPr>
          <a:xfrm xmlns:a="http://schemas.openxmlformats.org/drawingml/2006/main">
            <a:off x="9105900" y="26289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16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Original JSON and Markdown</a:t>
            </a:r>
          </a:p>
        </p:txBody>
      </p:sp>
      <p:sp>
        <p:nvSpPr>
          <p:cNvPr id="40" name="">
            <a:extLst xmlns:a="http://schemas.openxmlformats.org/drawingml/2006/main">
              <a:ext uri="{FF2B5EF4-FFF2-40B4-BE49-F238E27FC236}">
                <a16:creationId xmlns:a16="http://schemas.microsoft.com/office/drawing/2014/main" id="{FAA29960-54C0-4E28-8FBC-E7E6FFDFF2F7}"/>
              </a:ext>
            </a:extLst>
          </p:cNvPr>
          <p:cNvSpPr>
            <a:spLocks xmlns:a="http://schemas.openxmlformats.org/drawingml/2006/main" noGrp="1"/>
          </p:cNvSpPr>
          <p:nvPr/>
        </p:nvSpPr>
        <p:spPr>
          <a:xfrm xmlns:a="http://schemas.openxmlformats.org/drawingml/2006/main">
            <a:off x="8896350" y="32099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1" name="">
            <a:extLst xmlns:a="http://schemas.openxmlformats.org/drawingml/2006/main">
              <a:ext uri="{FF2B5EF4-FFF2-40B4-BE49-F238E27FC236}">
                <a16:creationId xmlns:a16="http://schemas.microsoft.com/office/drawing/2014/main" id="{7702A8CE-DF25-4A6F-A9FC-D7D0911E0A49}"/>
              </a:ext>
            </a:extLst>
          </p:cNvPr>
          <p:cNvSpPr>
            <a:spLocks xmlns:a="http://schemas.openxmlformats.org/drawingml/2006/main" noGrp="1"/>
          </p:cNvSpPr>
          <p:nvPr/>
        </p:nvSpPr>
        <p:spPr>
          <a:xfrm xmlns:a="http://schemas.openxmlformats.org/drawingml/2006/main">
            <a:off x="9105900" y="314325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Normalized source text</a:t>
            </a:r>
          </a:p>
        </p:txBody>
      </p:sp>
      <p:sp>
        <p:nvSpPr>
          <p:cNvPr id="42" name="">
            <a:extLst xmlns:a="http://schemas.openxmlformats.org/drawingml/2006/main">
              <a:ext uri="{FF2B5EF4-FFF2-40B4-BE49-F238E27FC236}">
                <a16:creationId xmlns:a16="http://schemas.microsoft.com/office/drawing/2014/main" id="{298CF7C7-3CD4-4558-BDC0-52F948A4E676}"/>
              </a:ext>
            </a:extLst>
          </p:cNvPr>
          <p:cNvSpPr>
            <a:spLocks xmlns:a="http://schemas.openxmlformats.org/drawingml/2006/main" noGrp="1"/>
          </p:cNvSpPr>
          <p:nvPr/>
        </p:nvSpPr>
        <p:spPr>
          <a:xfrm xmlns:a="http://schemas.openxmlformats.org/drawingml/2006/main">
            <a:off x="8896350" y="372427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3" name="">
            <a:extLst xmlns:a="http://schemas.openxmlformats.org/drawingml/2006/main">
              <a:ext uri="{FF2B5EF4-FFF2-40B4-BE49-F238E27FC236}">
                <a16:creationId xmlns:a16="http://schemas.microsoft.com/office/drawing/2014/main" id="{C7BE4148-2E18-44CF-B9F2-A708B72C673B}"/>
              </a:ext>
            </a:extLst>
          </p:cNvPr>
          <p:cNvSpPr>
            <a:spLocks xmlns:a="http://schemas.openxmlformats.org/drawingml/2006/main" noGrp="1"/>
          </p:cNvSpPr>
          <p:nvPr/>
        </p:nvSpPr>
        <p:spPr>
          <a:xfrm xmlns:a="http://schemas.openxmlformats.org/drawingml/2006/main">
            <a:off x="9105900" y="3657600"/>
            <a:ext cx="1981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609"/>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 chunks and search text</a:t>
            </a:r>
          </a:p>
        </p:txBody>
      </p:sp>
      <p:sp>
        <p:nvSpPr>
          <p:cNvPr id="44" name="">
            <a:extLst xmlns:a="http://schemas.openxmlformats.org/drawingml/2006/main">
              <a:ext uri="{FF2B5EF4-FFF2-40B4-BE49-F238E27FC236}">
                <a16:creationId xmlns:a16="http://schemas.microsoft.com/office/drawing/2014/main" id="{D364477A-E7B2-485F-B991-59280566C2C4}"/>
              </a:ext>
            </a:extLst>
          </p:cNvPr>
          <p:cNvSpPr>
            <a:spLocks xmlns:a="http://schemas.openxmlformats.org/drawingml/2006/main" noGrp="1"/>
          </p:cNvSpPr>
          <p:nvPr/>
        </p:nvSpPr>
        <p:spPr>
          <a:xfrm xmlns:a="http://schemas.openxmlformats.org/drawingml/2006/main">
            <a:off x="8896350" y="4238625"/>
            <a:ext cx="76200" cy="762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45" name="">
            <a:extLst xmlns:a="http://schemas.openxmlformats.org/drawingml/2006/main">
              <a:ext uri="{FF2B5EF4-FFF2-40B4-BE49-F238E27FC236}">
                <a16:creationId xmlns:a16="http://schemas.microsoft.com/office/drawing/2014/main" id="{F2169384-31B1-4D6C-A1AB-F5694A39F46F}"/>
              </a:ext>
            </a:extLst>
          </p:cNvPr>
          <p:cNvSpPr>
            <a:spLocks xmlns:a="http://schemas.openxmlformats.org/drawingml/2006/main" noGrp="1"/>
          </p:cNvSpPr>
          <p:nvPr/>
        </p:nvSpPr>
        <p:spPr>
          <a:xfrm xmlns:a="http://schemas.openxmlformats.org/drawingml/2006/main">
            <a:off x="9105900" y="4171950"/>
            <a:ext cx="1981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8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Repeatable demo vectors</a:t>
            </a:r>
          </a:p>
        </p:txBody>
      </p:sp>
      <p:sp>
        <p:nvSpPr>
          <p:cNvPr id="46" name="">
            <a:extLst xmlns:a="http://schemas.openxmlformats.org/drawingml/2006/main">
              <a:ext uri="{FF2B5EF4-FFF2-40B4-BE49-F238E27FC236}">
                <a16:creationId xmlns:a16="http://schemas.microsoft.com/office/drawing/2014/main" id="{8B7D4F15-8AAA-4EBF-AFFB-776DC5EA727A}"/>
              </a:ext>
            </a:extLst>
          </p:cNvPr>
          <p:cNvSpPr>
            <a:spLocks xmlns:a="http://schemas.openxmlformats.org/drawingml/2006/main" noGrp="1"/>
          </p:cNvSpPr>
          <p:nvPr/>
        </p:nvSpPr>
        <p:spPr>
          <a:xfrm xmlns:a="http://schemas.openxmlformats.org/drawingml/2006/main">
            <a:off x="5857875" y="5524500"/>
            <a:ext cx="5457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132"/>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Checksums update changed records and avoid duplicates. Production also needs authenticated connectors, incremental import, deletion handling, schedules, and access rules.</a:t>
            </a:r>
          </a:p>
        </p:txBody>
      </p:sp>
    </p:spTree>
    <p:extLst>
      <p:ext uri="{BB962C8B-B14F-4D97-AF65-F5344CB8AC3E}">
        <p14:creationId xmlns:p14="http://schemas.microsoft.com/office/powerpoint/2010/main" val="1181973846"/>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the current app retrieve and write the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The company filter runs first. The system ranks only evidence for the selected company.</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HARD COMPANY FILTER</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Rank up to 30 records with initial heuristics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text match</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demo vector</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source quality</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497"/>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recency</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Retrieve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PostgreSQL full-text and demo-vector similarity</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Build</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Five tailored templates or one generic rule. No model call.</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and save</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source IDs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company isolation</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brief and source ranks</a:t>
            </a:r>
          </a:p>
        </p:txBody>
      </p:sp>
      <p:cxnSp>
        <p:nvCxnSpPr>
          <p:cNvPr id="209"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210"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CURRENT V1: fixed query, initial weights, fixed date, and no external model.</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TARGET: text-embedding-3-large via Embeddings API; gpt-5.6-sol via Responses API.</a:t>
            </a:r>
          </a:p>
        </p:txBody>
      </p:sp>
    </p:spTree>
    <p:extLst>
      <p:ext uri="{BB962C8B-B14F-4D97-AF65-F5344CB8AC3E}">
        <p14:creationId xmlns:p14="http://schemas.microsoft.com/office/powerpoint/2010/main" val="111413319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now, and which model is the quality-first target?</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CURRENT CHOICE</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TARGET</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codebase supports the interface and server routes.</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store holds facts, evidence text, vectors,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demo is repeatable and does not need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Demo vectors and fixed brief rules</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app calls no external model. Results are repeatable and easy to test.</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Target: text-embedding-3-large via Embeddings API; gpt-5.6-sol via Responses API.</a:t>
            </a:r>
          </a:p>
        </p:txBody>
      </p:sp>
    </p:spTree>
    <p:extLst>
      <p:ext uri="{BB962C8B-B14F-4D97-AF65-F5344CB8AC3E}">
        <p14:creationId xmlns:p14="http://schemas.microsoft.com/office/powerpoint/2010/main" val="436145467"/>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V1 evaluation uses eight acceptance checks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PROPOSED EVALUATION SET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Use reviewed company questions that include confirmed facts, true conflicts, missing facts, and changed records.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Each claim has a source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Reviewer confirms support</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RC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27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duplicate on repeat import</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Next brief uses changed content</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and Operations · Reviewer checks: Grounding and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or source-rule change.</a:t>
            </a:r>
          </a:p>
        </p:txBody>
      </p:sp>
    </p:spTree>
    <p:extLst>
      <p:ext uri="{BB962C8B-B14F-4D97-AF65-F5344CB8AC3E}">
        <p14:creationId xmlns:p14="http://schemas.microsoft.com/office/powerpoint/2010/main" val="1483308295"/>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RC is preparing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Checksum-based record updates</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top-30 retrieval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Evidence and full source record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Saved brief runs and ranked source records</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OR NOT BUILT</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5 tailored templates and 5 briefs from one generic rule</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text-embedding-3-large is not active</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not active</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live connectors or public-filings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514975"/>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The current app sends no OpenAI API request.</a:t>
            </a:r>
          </a:p>
        </p:txBody>
      </p:sp>
    </p:spTree>
    <p:extLst>
      <p:ext uri="{BB962C8B-B14F-4D97-AF65-F5344CB8AC3E}">
        <p14:creationId xmlns:p14="http://schemas.microsoft.com/office/powerpoint/2010/main" val="26650751"/>
      </p:ext>
    </p:extLst>
  </p:cSld>
</p:sld>
</file>

<file path=ppt/slides/slide1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Grounded generation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RC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13</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RC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embeddings and grounded generation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RC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2026-08-31T22:23:20.8290000Z</dcterms:created>
  <dcterms:modified xsi:type="dcterms:W3CDTF">2026-08-31T22:23:20.8290000Z</dcterms:modified>
</coreProperties>
</file>