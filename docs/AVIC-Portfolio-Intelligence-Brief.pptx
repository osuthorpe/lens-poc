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4539fe1587442cf" /><Relationship Type="http://schemas.openxmlformats.org/officeDocument/2006/relationships/extended-properties" Target="/docProps/app.xml" Id="Rb6aa7cdf113d4064" /><Relationship Type="http://schemas.openxmlformats.org/officeDocument/2006/relationships/officeDocument" Target="/ppt/presentation.xml" Id="Rc15fe9daf52e4dee" /></Relationships>
</file>

<file path=ppt/presentation.xml><?xml version="1.0" encoding="utf-8"?>
<p:presentation xmlns:p="http://schemas.openxmlformats.org/presentationml/2006/main">
  <p:sldMasterIdLst>
    <p:sldMasterId xmlns:r="http://schemas.openxmlformats.org/officeDocument/2006/relationships" id="2147483648" r:id="Rdad4b009dda14fad"/>
  </p:sldMasterIdLst>
  <p:notesMasterIdLst>
    <p:notesMasterId xmlns:r="http://schemas.openxmlformats.org/officeDocument/2006/relationships" r:id="Rdbb064cc86cf4566"/>
  </p:notesMasterIdLst>
  <p:sldIdLst>
    <p:sldId xmlns:r="http://schemas.openxmlformats.org/officeDocument/2006/relationships" id="256" r:id="Ra1238ae6cfc44322"/>
    <p:sldId xmlns:r="http://schemas.openxmlformats.org/officeDocument/2006/relationships" id="257" r:id="Rf00ad866928c43c7"/>
    <p:sldId xmlns:r="http://schemas.openxmlformats.org/officeDocument/2006/relationships" id="258" r:id="R458208d3189c4961"/>
    <p:sldId xmlns:r="http://schemas.openxmlformats.org/officeDocument/2006/relationships" id="259" r:id="R6a2a2db296ce483a"/>
    <p:sldId xmlns:r="http://schemas.openxmlformats.org/officeDocument/2006/relationships" id="260" r:id="R5bf06958df1943c5"/>
    <p:sldId xmlns:r="http://schemas.openxmlformats.org/officeDocument/2006/relationships" id="261" r:id="Rb14d3535793f4eea"/>
    <p:sldId xmlns:r="http://schemas.openxmlformats.org/officeDocument/2006/relationships" id="262" r:id="R0fcfc38a84b24885"/>
    <p:sldId xmlns:r="http://schemas.openxmlformats.org/officeDocument/2006/relationships" id="263" r:id="Rc671f5d6ef4c48d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e6b88933cd44366" /><Relationship Type="http://schemas.openxmlformats.org/officeDocument/2006/relationships/slideMaster" Target="/ppt/slideMasters/slideMaster1.xml" Id="Rdad4b009dda14fad" /><Relationship Type="http://schemas.openxmlformats.org/officeDocument/2006/relationships/notesMaster" Target="/ppt/notesMasters/notesMaster1.xml" Id="Rdbb064cc86cf4566" /><Relationship Type="http://schemas.openxmlformats.org/officeDocument/2006/relationships/presProps" Target="/ppt/presProps.xml" Id="R3a7497a4b5394147" /><Relationship Type="http://schemas.openxmlformats.org/officeDocument/2006/relationships/tableStyles" Target="/ppt/tableStyles.xml" Id="Rc04ce3e133b34253" /><Relationship Type="http://schemas.openxmlformats.org/officeDocument/2006/relationships/slide" Target="/ppt/slides/slide1.xml" Id="Ra1238ae6cfc44322" /><Relationship Type="http://schemas.openxmlformats.org/officeDocument/2006/relationships/slide" Target="/ppt/slides/slide2.xml" Id="Rf00ad866928c43c7" /><Relationship Type="http://schemas.openxmlformats.org/officeDocument/2006/relationships/slide" Target="/ppt/slides/slide3.xml" Id="R458208d3189c4961" /><Relationship Type="http://schemas.openxmlformats.org/officeDocument/2006/relationships/slide" Target="/ppt/slides/slide4.xml" Id="R6a2a2db296ce483a" /><Relationship Type="http://schemas.openxmlformats.org/officeDocument/2006/relationships/slide" Target="/ppt/slides/slide5.xml" Id="R5bf06958df1943c5" /><Relationship Type="http://schemas.openxmlformats.org/officeDocument/2006/relationships/slide" Target="/ppt/slides/slide6.xml" Id="Rb14d3535793f4eea" /><Relationship Type="http://schemas.openxmlformats.org/officeDocument/2006/relationships/slide" Target="/ppt/slides/slide7.xml" Id="R0fcfc38a84b24885" /><Relationship Type="http://schemas.openxmlformats.org/officeDocument/2006/relationships/slide" Target="/ppt/slides/slide8.xml" Id="Rc671f5d6ef4c48d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ee6ee6aeeae4ae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8dbb091ed51412f" /><Relationship Type="http://schemas.openxmlformats.org/officeDocument/2006/relationships/notesMaster" Target="/ppt/notesMasters/notesMaster1.xml" Id="R88989b3b8e5a45f3" /></Relationships>
</file>

<file path=ppt/notesSlides/_rels/notesSlide2.xml.rels>&#65279;<?xml version="1.0" encoding="utf-8"?><Relationships xmlns="http://schemas.openxmlformats.org/package/2006/relationships"><Relationship Type="http://schemas.openxmlformats.org/officeDocument/2006/relationships/slide" Target="/ppt/slides/slide2.xml" Id="Rdb4980176be548d2" /><Relationship Type="http://schemas.openxmlformats.org/officeDocument/2006/relationships/notesMaster" Target="/ppt/notesMasters/notesMaster1.xml" Id="R1ad3570ef6f74c31" /></Relationships>
</file>

<file path=ppt/notesSlides/_rels/notesSlide3.xml.rels>&#65279;<?xml version="1.0" encoding="utf-8"?><Relationships xmlns="http://schemas.openxmlformats.org/package/2006/relationships"><Relationship Type="http://schemas.openxmlformats.org/officeDocument/2006/relationships/slide" Target="/ppt/slides/slide3.xml" Id="R340ebfd7acb74167" /><Relationship Type="http://schemas.openxmlformats.org/officeDocument/2006/relationships/notesMaster" Target="/ppt/notesMasters/notesMaster1.xml" Id="R325ee90f3d0a4ca2" /></Relationships>
</file>

<file path=ppt/notesSlides/_rels/notesSlide4.xml.rels>&#65279;<?xml version="1.0" encoding="utf-8"?><Relationships xmlns="http://schemas.openxmlformats.org/package/2006/relationships"><Relationship Type="http://schemas.openxmlformats.org/officeDocument/2006/relationships/slide" Target="/ppt/slides/slide4.xml" Id="R46bd50849e9d4265" /><Relationship Type="http://schemas.openxmlformats.org/officeDocument/2006/relationships/notesMaster" Target="/ppt/notesMasters/notesMaster1.xml" Id="Re599cf5b7ed84f12" /></Relationships>
</file>

<file path=ppt/notesSlides/_rels/notesSlide5.xml.rels>&#65279;<?xml version="1.0" encoding="utf-8"?><Relationships xmlns="http://schemas.openxmlformats.org/package/2006/relationships"><Relationship Type="http://schemas.openxmlformats.org/officeDocument/2006/relationships/slide" Target="/ppt/slides/slide5.xml" Id="R157f1611f41c4c55" /><Relationship Type="http://schemas.openxmlformats.org/officeDocument/2006/relationships/notesMaster" Target="/ppt/notesMasters/notesMaster1.xml" Id="Re81a326d9d6b4b07" /></Relationships>
</file>

<file path=ppt/notesSlides/_rels/notesSlide6.xml.rels>&#65279;<?xml version="1.0" encoding="utf-8"?><Relationships xmlns="http://schemas.openxmlformats.org/package/2006/relationships"><Relationship Type="http://schemas.openxmlformats.org/officeDocument/2006/relationships/slide" Target="/ppt/slides/slide6.xml" Id="R0c59b6ee1e7f4bce" /><Relationship Type="http://schemas.openxmlformats.org/officeDocument/2006/relationships/notesMaster" Target="/ppt/notesMasters/notesMaster1.xml" Id="R02191c7e2a1a42f9" /></Relationships>
</file>

<file path=ppt/notesSlides/_rels/notesSlide7.xml.rels>&#65279;<?xml version="1.0" encoding="utf-8"?><Relationships xmlns="http://schemas.openxmlformats.org/package/2006/relationships"><Relationship Type="http://schemas.openxmlformats.org/officeDocument/2006/relationships/slide" Target="/ppt/slides/slide7.xml" Id="R3de89032fabd4079" /><Relationship Type="http://schemas.openxmlformats.org/officeDocument/2006/relationships/notesMaster" Target="/ppt/notesMasters/notesMaster1.xml" Id="R07be99a41c834dc3" /></Relationships>
</file>

<file path=ppt/notesSlides/_rels/notesSlide8.xml.rels>&#65279;<?xml version="1.0" encoding="utf-8"?><Relationships xmlns="http://schemas.openxmlformats.org/package/2006/relationships"><Relationship Type="http://schemas.openxmlformats.org/officeDocument/2006/relationships/slide" Target="/ppt/slides/slide8.xml" Id="R42bee2f102514996" /><Relationship Type="http://schemas.openxmlformats.org/officeDocument/2006/relationships/notesMaster" Target="/ppt/notesMasters/notesMaster1.xml" Id="Rb3d3ed347d484d4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answer: Lens is a working local prototype that builds a company brief from imported evidence. Production freshness and access control are not part of this build.</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brief defines the intended user and company universe. The 90-minute value is a scenario estimate. The 30-second value is the product target.</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desktop flow. The AIVC principal selects a company, scans the brief, opens the evidence and original source, and sends feedback without changing context.</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/Users/alexthorpe/Documents/GitHub/AVIC/app/page.tsx</a:t>
            </a:r>
          </a:p>
          <a:p xmlns:a="http://schemas.openxmlformats.org/drawingml/2006/main">
            <a:r>
              <a:t>- /private/tmp/avic-deck-wide-main.png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file import validates each company ID, keeps the source record, calculates checksums, creates chunks, and sends fictional normalized chunk text to the OpenAI Embeddings API. PostgreSQL stores the returned embeddings. A brief request creates one query embedding. SQL filters by company and ranks up to 30 source records. The server sends only the selected company metadata and retrieved evidence to gpt-5.6-sol through the Responses API. It requests a strict schema with low reasoning effort, no tools, and no response storage. A 27-second model timeout and a 29-second request budget have no automatic retry. The server checks source IDs, company isolation, exact source quotes, typed values, qualitative support, source status, and investment safety. It saves the brief, generation mode, model data, and source ranks. If generation fails a check or exceeds the budget, local rules create a source-supported fallback. The app does not call a source system during a brief request. V1 does not watch a folder or Slack. To add a demo record, add it in a supported format, run the import route or the data import command, and select Refresh Brief. The importer reuses unchanged embeddings and embeds only new or changed chunks. A Slack thread must be added to the Slack JSON file with a known company ID.</a:t>
            </a:r>
          </a:p>
          <a:p xmlns:a="http://schemas.openxmlformats.org/drawingml/2006/main">
            <a:r>
              <a:t/>
            </a:r>
          </a:p>
          <a:p xmlns:a="http://schemas.openxmlformats.org/drawingml/2006/main">
            <a:r>
              <a:t>[Sources]</a:t>
            </a:r>
          </a:p>
          <a:p xmlns:a="http://schemas.openxmlformats.org/drawingml/2006/main">
            <a:r>
              <a:t>- /Users/alexthorpe/Documents/GitHub/AVIC/lib/embeddings.ts</a:t>
            </a:r>
          </a:p>
          <a:p xmlns:a="http://schemas.openxmlformats.org/drawingml/2006/main">
            <a:r>
              <a:t>- /Users/alexthorpe/Documents/GitHub/AVIC/lib/ingestion.ts</a:t>
            </a:r>
          </a:p>
          <a:p xmlns:a="http://schemas.openxmlformats.org/drawingml/2006/main">
            <a:r>
              <a:t>- /Users/alexthorpe/Documents/GitHub/AVIC/lib/retrieval.ts</a:t>
            </a:r>
          </a:p>
          <a:p xmlns:a="http://schemas.openxmlformats.org/drawingml/2006/main">
            <a:r>
              <a:t>- /Users/alexthorpe/Documents/GitHub/AVIC/lib/brief-generation.ts</a:t>
            </a:r>
          </a:p>
          <a:p xmlns:a="http://schemas.openxmlformats.org/drawingml/2006/main">
            <a:r>
              <a:t>- /Users/alexthorpe/Documents/GitHub/AVIC/lib/brief.ts</a:t>
            </a:r>
          </a:p>
          <a:p xmlns:a="http://schemas.openxmlformats.org/drawingml/2006/main">
            <a:r>
              <a:t>- /Users/alexthorpe/Documents/GitHub/AVIC/app/api/briefs/route.ts</a:t>
            </a:r>
          </a:p>
          <a:p xmlns:a="http://schemas.openxmlformats.org/drawingml/2006/main">
            <a:r>
              <a:t>- /Users/alexthorpe/Documents/GitHub/AVIC/db/schema.sql</a:t>
            </a:r>
          </a:p>
          <a:p xmlns:a="http://schemas.openxmlformats.org/drawingml/2006/main">
            <a:r>
              <a:t>- https://developers.openai.com/api/docs/models/gpt-5.6-sol</a:t>
            </a:r>
          </a:p>
          <a:p xmlns:a="http://schemas.openxmlformats.org/drawingml/2006/main">
            <a:r>
              <a:t>- https://developers.openai.com/api/reference/cli/resources/responses/methods/create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architecture uses one Next.js application for the interface and API routes. This choice keeps the V1 deployment small. Separate web and service deployments can become useful when traffic or ownership grows. PostgreSQL and pgvector store structured facts, source text, and embeddings in one database. This choice keeps transactions and company filters together. A larger system can move source files to object storage and move search to a separate service. File adapters make the demo repeatable without live access. Production needs approved read-only connectors and incremental imports. OpenAI provides embeddings and brief generation. The server uses strict checks, timeouts, a local backup, and saved audit data. These controls reduce model risk. The trade-off is model cost, response time, and provider dependence. The active embedding model is text-embedding-3-large. The active brief model is gpt-5.6-sol through the Responses API.</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/Users/alexthorpe/Documents/GitHub/AVIC/docs/architecture.md</a:t>
            </a:r>
          </a:p>
          <a:p xmlns:a="http://schemas.openxmlformats.org/drawingml/2006/main">
            <a:r>
              <a:t>- /Users/alexthorpe/Documents/GitHub/AVIC/docs/prd-v1.md</a:t>
            </a:r>
          </a:p>
          <a:p xmlns:a="http://schemas.openxmlformats.org/drawingml/2006/main">
            <a:r>
              <a:t>- /Users/alexthorpe/Documents/GitHub/AVIC/package.json</a:t>
            </a:r>
          </a:p>
          <a:p xmlns:a="http://schemas.openxmlformats.org/drawingml/2006/main">
            <a:r>
              <a:t>- /Users/alexthorpe/Documents/GitHub/AVIC/lib/embeddings.ts</a:t>
            </a:r>
          </a:p>
          <a:p xmlns:a="http://schemas.openxmlformats.org/drawingml/2006/main">
            <a:r>
              <a:t>- /Users/alexthorpe/Documents/GitHub/AVIC/lib/brief-generation.ts</a:t>
            </a:r>
          </a:p>
          <a:p xmlns:a="http://schemas.openxmlformats.org/drawingml/2006/main">
            <a:r>
              <a:t>- /Users/alexthorpe/Documents/GitHub/AVIC/lib/retrieval.ts</a:t>
            </a:r>
          </a:p>
          <a:p xmlns:a="http://schemas.openxmlformats.org/drawingml/2006/main">
            <a:r>
              <a:t>- /Users/alexthorpe/Documents/GitHub/AVIC/db/schema.sql</a:t>
            </a:r>
          </a:p>
          <a:p xmlns:a="http://schemas.openxmlformats.org/drawingml/2006/main">
            <a:r>
              <a:t>- https://developers.openai.com/api/docs/models/text-embedding-3-large</a:t>
            </a:r>
          </a:p>
          <a:p xmlns:a="http://schemas.openxmlformats.org/drawingml/2006/main">
            <a:r>
              <a:t>- https://developers.openai.com/api/docs/models/gpt-5.6-sol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V1 acceptance criteria, not current production service levels. The 4 out of 5 usefulness score is a pilot target and has not been measured.</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/Users/alexthorpe/Documents/GitHub/AVIC/scripts/verify-v1.ts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proposed plan for two people. The 250-company test appears in weeks 7 and 8 because it has not been run. Weeks 5 and 6 include retrieval evaluation and generation-and-fallback evaluation. The plan depends on source access, company IDs, access rules, and review time from the AIVC principal.</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/Users/alexthorpe/Documents/GitHub/AVIC/docs/architecture.md</a:t>
            </a:r>
          </a:p>
          <a:p xmlns:a="http://schemas.openxmlformats.org/drawingml/2006/main">
            <a:r>
              <a:t>- /Users/alexthorpe/Documents/GitHub/AVIC/scripts/verify-generation.ts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risk is evidence retrieval, not model choice. The next slice should use one approved source and a small reference answer set. With more time, evaluate both retrieval and source-supported generation, then add the reviewer workflow and monitoring. The decision is whether to approve that source-to-brief pilot after the named owners confirm access and evaluation conditions.</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/Users/alexthorpe/Documents/GitHub/AVIC/docs/architecture.md</a:t>
            </a:r>
          </a:p>
          <a:p xmlns:a="http://schemas.openxmlformats.org/drawingml/2006/main">
            <a:r>
              <a:t>- /Users/alexthorpe/Documents/GitHub/AVIC/lib/retrieval.ts</a:t>
            </a:r>
          </a:p>
          <a:p xmlns:a="http://schemas.openxmlformats.org/drawingml/2006/main">
            <a:r>
              <a:t>- /Users/alexthorpe/Documents/GitHub/AVIC/lib/brief-generation.ts</a:t>
            </a:r>
          </a:p>
          <a:p xmlns:a="http://schemas.openxmlformats.org/drawingml/2006/main">
            <a:r>
              <a:t>- /Users/alexthorpe/Documents/GitHub/AVIC/scripts/verify-v1.ts</a:t>
            </a:r>
          </a:p>
          <a:p xmlns:a="http://schemas.openxmlformats.org/drawingml/2006/main">
            <a:r>
              <a:t>- /Users/alexthorpe/Documents/GitHub/AVIC/scripts/verify-generation.ts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46a0f7d68f9404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62a69dc2df643c6" /><Relationship Type="http://schemas.openxmlformats.org/officeDocument/2006/relationships/slideLayout" Target="/ppt/slideLayouts/slideLayout1.xml" Id="Rd8e2d851fd774d5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8e2d851fd774d5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7d231492a654af1" /><Relationship Type="http://schemas.openxmlformats.org/officeDocument/2006/relationships/notesSlide" Target="/ppt/notesSlides/notesSlide1.xml" Id="R7b543bb1999a4a4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488134cde4b4f25" /><Relationship Type="http://schemas.openxmlformats.org/officeDocument/2006/relationships/notesSlide" Target="/ppt/notesSlides/notesSlide2.xml" Id="Re43ee41555a7436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06033d0efe54984" /><Relationship Type="http://schemas.openxmlformats.org/officeDocument/2006/relationships/image" Target="/ppt/media/image.jpeg" Id="R7c50bf0d13ca4700" /><Relationship Type="http://schemas.openxmlformats.org/officeDocument/2006/relationships/notesSlide" Target="/ppt/notesSlides/notesSlide3.xml" Id="Rcc41d9c10abe4db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c45eea593534a2b" /><Relationship Type="http://schemas.openxmlformats.org/officeDocument/2006/relationships/image" Target="/ppt/media/image.png" Id="R904c850d77fb4b7e" /><Relationship Type="http://schemas.openxmlformats.org/officeDocument/2006/relationships/notesSlide" Target="/ppt/notesSlides/notesSlide4.xml" Id="Rb2bda7b266c4478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f962d4f19d6419b" /><Relationship Type="http://schemas.openxmlformats.org/officeDocument/2006/relationships/notesSlide" Target="/ppt/notesSlides/notesSlide5.xml" Id="Rc15076fc9f914db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b9dd58d11b249d0" /><Relationship Type="http://schemas.openxmlformats.org/officeDocument/2006/relationships/notesSlide" Target="/ppt/notesSlides/notesSlide6.xml" Id="Raada245f929e49d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c837f568aea45cb" /><Relationship Type="http://schemas.openxmlformats.org/officeDocument/2006/relationships/notesSlide" Target="/ppt/notesSlides/notesSlide7.xml" Id="Rb799da1fe8ab4dc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7cbc52ad96c480c" /><Relationship Type="http://schemas.openxmlformats.org/officeDocument/2006/relationships/notesSlide" Target="/ppt/notesSlides/notesSlide8.xml" Id="R92e537ba8c564208" /></Relationships>
</file>

<file path=ppt/slides/slide1.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5DD1145-7B96-46D8-A68A-0CBA18A7E141}"/>
              </a:ext>
            </a:extLst>
          </p:cNvPr>
          <p:cNvSpPr>
            <a:spLocks xmlns:a="http://schemas.openxmlformats.org/drawingml/2006/main" noGrp="1"/>
          </p:cNvSpPr>
          <p:nvPr/>
        </p:nvSpPr>
        <p:spPr>
          <a:xfrm xmlns:a="http://schemas.openxmlformats.org/drawingml/2006/main">
            <a:off x="457200" y="438150"/>
            <a:ext cx="2857500" cy="285750"/>
          </a:xfrm>
          <a:prstGeom xmlns:a="http://schemas.openxmlformats.org/drawingml/2006/main" prst="roundRect">
            <a:avLst>
              <a:gd name="adj" fmla="val 50000"/>
            </a:avLst>
          </a:prstGeom>
          <a:solidFill xmlns:a="http://schemas.openxmlformats.org/drawingml/2006/main">
            <a:srgbClr val="E8F0FB"/>
          </a:solidFill>
          <a:ln xmlns:a="http://schemas.openxmlformats.org/drawingml/2006/main" w="9525">
            <a:solidFill>
              <a:srgbClr val="9CB5D5"/>
            </a:solidFill>
            <a:prstDash val="solid"/>
          </a:ln>
        </p:spPr>
      </p:sp>
      <p:sp>
        <p:nvSpPr>
          <p:cNvPr id="2" name="">
            <a:extLst xmlns:a="http://schemas.openxmlformats.org/drawingml/2006/main">
              <a:ext uri="{FF2B5EF4-FFF2-40B4-BE49-F238E27FC236}">
                <a16:creationId xmlns:a16="http://schemas.microsoft.com/office/drawing/2014/main" id="{2FFE115D-EF2A-4F10-AB7C-5AE00E3147F6}"/>
              </a:ext>
            </a:extLst>
          </p:cNvPr>
          <p:cNvSpPr>
            <a:spLocks xmlns:a="http://schemas.openxmlformats.org/drawingml/2006/main" noGrp="1"/>
          </p:cNvSpPr>
          <p:nvPr/>
        </p:nvSpPr>
        <p:spPr>
          <a:xfrm xmlns:a="http://schemas.openxmlformats.org/drawingml/2006/main">
            <a:off x="571500" y="485775"/>
            <a:ext cx="26289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57"/>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WORKING LOCAL PROTOTYPE</a:t>
            </a:r>
          </a:p>
        </p:txBody>
      </p:sp>
      <p:sp>
        <p:nvSpPr>
          <p:cNvPr id="3" name="">
            <a:extLst xmlns:a="http://schemas.openxmlformats.org/drawingml/2006/main">
              <a:ext uri="{FF2B5EF4-FFF2-40B4-BE49-F238E27FC236}">
                <a16:creationId xmlns:a16="http://schemas.microsoft.com/office/drawing/2014/main" id="{4B7B49EE-4D40-41E7-A8F1-C2E8C4E1DB9A}"/>
              </a:ext>
            </a:extLst>
          </p:cNvPr>
          <p:cNvSpPr>
            <a:spLocks xmlns:a="http://schemas.openxmlformats.org/drawingml/2006/main" noGrp="1"/>
          </p:cNvSpPr>
          <p:nvPr/>
        </p:nvSpPr>
        <p:spPr>
          <a:xfrm xmlns:a="http://schemas.openxmlformats.org/drawingml/2006/main">
            <a:off x="457200" y="1524000"/>
            <a:ext cx="82867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3450" b="1">
                <a:solidFill>
                  <a:srgbClr val="101828"/>
                </a:solidFill>
                <a:latin typeface="Helvetica Neue"/>
                <a:ea typeface="Helvetica Neue"/>
                <a:cs typeface="Helvetica Neue"/>
              </a:rPr>
              <a:t>Lens</a:t>
            </a:r>
          </a:p>
          <a:p xmlns:a="http://schemas.openxmlformats.org/drawingml/2006/main">
            <a:pPr algn="l">
              <a:buNone/>
              <a:defRPr sz="5100" b="1">
                <a:solidFill>
                  <a:srgbClr val="101828"/>
                </a:solidFill>
                <a:latin typeface="Helvetica Neue"/>
                <a:ea typeface="Helvetica Neue"/>
                <a:cs typeface="Helvetica Neue"/>
              </a:defRPr>
            </a:pPr>
            <a:r>
              <a:rPr sz="3450" b="1">
                <a:solidFill>
                  <a:srgbClr val="101828"/>
                </a:solidFill>
                <a:latin typeface="Helvetica Neue"/>
                <a:ea typeface="Helvetica Neue"/>
                <a:cs typeface="Helvetica Neue"/>
              </a:rPr>
              <a:t>Company intelligence for AIVC</a:t>
            </a:r>
          </a:p>
        </p:txBody>
      </p:sp>
      <p:sp>
        <p:nvSpPr>
          <p:cNvPr id="4" name="">
            <a:extLst xmlns:a="http://schemas.openxmlformats.org/drawingml/2006/main">
              <a:ext uri="{FF2B5EF4-FFF2-40B4-BE49-F238E27FC236}">
                <a16:creationId xmlns:a16="http://schemas.microsoft.com/office/drawing/2014/main" id="{A9B41661-5E1A-4F92-ADD3-F4CFD9277153}"/>
              </a:ext>
            </a:extLst>
          </p:cNvPr>
          <p:cNvSpPr>
            <a:spLocks xmlns:a="http://schemas.openxmlformats.org/drawingml/2006/main" noGrp="1"/>
          </p:cNvSpPr>
          <p:nvPr/>
        </p:nvSpPr>
        <p:spPr>
          <a:xfrm xmlns:a="http://schemas.openxmlformats.org/drawingml/2006/main">
            <a:off x="495300" y="3695700"/>
            <a:ext cx="723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83"/>
          </a:bodyPr>
          <a:lstStyle xmlns:a="http://schemas.openxmlformats.org/drawingml/2006/main"/>
          <a:p xmlns:a="http://schemas.openxmlformats.org/drawingml/2006/main">
            <a:pPr algn="l">
              <a:buNone/>
              <a:defRPr sz="2100" b="1">
                <a:solidFill>
                  <a:srgbClr val="315F9F"/>
                </a:solidFill>
                <a:latin typeface="Helvetica Neue"/>
                <a:ea typeface="Helvetica Neue"/>
                <a:cs typeface="Helvetica Neue"/>
              </a:defRPr>
            </a:pPr>
            <a:r>
              <a:rPr sz="2025" b="1">
                <a:solidFill>
                  <a:srgbClr val="315F9F"/>
                </a:solidFill>
                <a:latin typeface="Helvetica Neue"/>
                <a:ea typeface="Helvetica Neue"/>
                <a:cs typeface="Helvetica Neue"/>
              </a:rPr>
              <a:t>Company briefs from fictional evidence in 30 seconds or less</a:t>
            </a:r>
          </a:p>
        </p:txBody>
      </p:sp>
      <p:sp>
        <p:nvSpPr>
          <p:cNvPr id="5" name="">
            <a:extLst xmlns:a="http://schemas.openxmlformats.org/drawingml/2006/main">
              <a:ext uri="{FF2B5EF4-FFF2-40B4-BE49-F238E27FC236}">
                <a16:creationId xmlns:a16="http://schemas.microsoft.com/office/drawing/2014/main" id="{BE02645B-87CB-4B29-92D6-00F251442053}"/>
              </a:ext>
            </a:extLst>
          </p:cNvPr>
          <p:cNvSpPr>
            <a:spLocks xmlns:a="http://schemas.openxmlformats.org/drawingml/2006/main" noGrp="1"/>
          </p:cNvSpPr>
          <p:nvPr/>
        </p:nvSpPr>
        <p:spPr>
          <a:xfrm xmlns:a="http://schemas.openxmlformats.org/drawingml/2006/main">
            <a:off x="457200" y="485775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8EEB971D-6B6E-42B3-96FB-E8FE4C8AD317}"/>
              </a:ext>
            </a:extLst>
          </p:cNvPr>
          <p:cNvSpPr>
            <a:spLocks xmlns:a="http://schemas.openxmlformats.org/drawingml/2006/main" noGrp="1"/>
          </p:cNvSpPr>
          <p:nvPr/>
        </p:nvSpPr>
        <p:spPr>
          <a:xfrm xmlns:a="http://schemas.openxmlformats.org/drawingml/2006/main">
            <a:off x="457200" y="5162550"/>
            <a:ext cx="742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344054"/>
                </a:solidFill>
                <a:latin typeface="Helvetica Neue"/>
                <a:ea typeface="Helvetica Neue"/>
                <a:cs typeface="Helvetica Neue"/>
              </a:defRPr>
            </a:pPr>
            <a:r>
              <a:rPr sz="1425" b="0">
                <a:solidFill>
                  <a:srgbClr val="344054"/>
                </a:solidFill>
                <a:latin typeface="Helvetica Neue"/>
                <a:ea typeface="Helvetica Neue"/>
                <a:cs typeface="Helvetica Neue"/>
              </a:rPr>
              <a:t>Technical challenge · Product, architecture, and pilot plan</a:t>
            </a:r>
          </a:p>
        </p:txBody>
      </p:sp>
      <p:sp>
        <p:nvSpPr>
          <p:cNvPr id="7" name="">
            <a:extLst xmlns:a="http://schemas.openxmlformats.org/drawingml/2006/main">
              <a:ext uri="{FF2B5EF4-FFF2-40B4-BE49-F238E27FC236}">
                <a16:creationId xmlns:a16="http://schemas.microsoft.com/office/drawing/2014/main" id="{F6A76C5E-3CD4-4748-AEF7-31A1D2F83BAC}"/>
              </a:ext>
            </a:extLst>
          </p:cNvPr>
          <p:cNvSpPr>
            <a:spLocks xmlns:a="http://schemas.openxmlformats.org/drawingml/2006/main" noGrp="1"/>
          </p:cNvSpPr>
          <p:nvPr/>
        </p:nvSpPr>
        <p:spPr>
          <a:xfrm xmlns:a="http://schemas.openxmlformats.org/drawingml/2006/main">
            <a:off x="9525000" y="5162550"/>
            <a:ext cx="1790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buNone/>
              <a:defRPr sz="1125" b="1">
                <a:solidFill>
                  <a:srgbClr val="667085"/>
                </a:solidFill>
                <a:latin typeface="Helvetica Neue"/>
                <a:ea typeface="Helvetica Neue"/>
                <a:cs typeface="Helvetica Neue"/>
              </a:defRPr>
            </a:pPr>
            <a:r>
              <a:rPr sz="1125" b="1">
                <a:solidFill>
                  <a:srgbClr val="667085"/>
                </a:solidFill>
                <a:latin typeface="Helvetica Neue"/>
                <a:ea typeface="Helvetica Neue"/>
                <a:cs typeface="Helvetica Neue"/>
              </a:rPr>
              <a:t>31 AUG 2026</a:t>
            </a:r>
          </a:p>
        </p:txBody>
      </p:sp>
      <p:sp>
        <p:nvSpPr>
          <p:cNvPr id="8" name="">
            <a:extLst xmlns:a="http://schemas.openxmlformats.org/drawingml/2006/main">
              <a:ext uri="{FF2B5EF4-FFF2-40B4-BE49-F238E27FC236}">
                <a16:creationId xmlns:a16="http://schemas.microsoft.com/office/drawing/2014/main" id="{E291299B-C5FE-4207-A40C-B9127CBC5E53}"/>
              </a:ext>
            </a:extLst>
          </p:cNvPr>
          <p:cNvSpPr>
            <a:spLocks xmlns:a="http://schemas.openxmlformats.org/drawingml/2006/main" noGrp="1"/>
          </p:cNvSpPr>
          <p:nvPr/>
        </p:nvSpPr>
        <p:spPr>
          <a:xfrm xmlns:a="http://schemas.openxmlformats.org/drawingml/2006/main">
            <a:off x="457200" y="6172200"/>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125" b="1">
                <a:solidFill>
                  <a:srgbClr val="667085"/>
                </a:solidFill>
                <a:latin typeface="Helvetica Neue"/>
                <a:ea typeface="Helvetica Neue"/>
                <a:cs typeface="Helvetica Neue"/>
              </a:defRPr>
            </a:pPr>
            <a:r>
              <a:rPr sz="1125" b="1">
                <a:solidFill>
                  <a:srgbClr val="667085"/>
                </a:solidFill>
                <a:latin typeface="Helvetica Neue"/>
                <a:ea typeface="Helvetica Neue"/>
                <a:cs typeface="Helvetica Neue"/>
              </a:rPr>
              <a:t>Lens</a:t>
            </a:r>
          </a:p>
        </p:txBody>
      </p:sp>
    </p:spTree>
    <p:extLst>
      <p:ext uri="{BB962C8B-B14F-4D97-AF65-F5344CB8AC3E}">
        <p14:creationId xmlns:p14="http://schemas.microsoft.com/office/powerpoint/2010/main" val="614579951"/>
      </p:ext>
    </p:extLst>
  </p:cSld>
</p:sld>
</file>

<file path=ppt/slides/slide2.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B6C65EB2-113E-4627-87F2-A71ECC3D3678}"/>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job does Lens replace?</a:t>
            </a:r>
          </a:p>
        </p:txBody>
      </p:sp>
      <p:sp>
        <p:nvSpPr>
          <p:cNvPr id="2" name="">
            <a:extLst xmlns:a="http://schemas.openxmlformats.org/drawingml/2006/main">
              <a:ext uri="{FF2B5EF4-FFF2-40B4-BE49-F238E27FC236}">
                <a16:creationId xmlns:a16="http://schemas.microsoft.com/office/drawing/2014/main" id="{38E579A2-9FB9-4372-9154-19087DC39425}"/>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1F77AA71-D3C2-4C98-AFAC-E5412A1AB528}"/>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02</a:t>
            </a:r>
          </a:p>
        </p:txBody>
      </p:sp>
      <p:sp>
        <p:nvSpPr>
          <p:cNvPr id="4" name="">
            <a:extLst xmlns:a="http://schemas.openxmlformats.org/drawingml/2006/main">
              <a:ext uri="{FF2B5EF4-FFF2-40B4-BE49-F238E27FC236}">
                <a16:creationId xmlns:a16="http://schemas.microsoft.com/office/drawing/2014/main" id="{8DCF48F3-450F-4130-95CF-94099BB78493}"/>
              </a:ext>
            </a:extLst>
          </p:cNvPr>
          <p:cNvSpPr>
            <a:spLocks xmlns:a="http://schemas.openxmlformats.org/drawingml/2006/main" noGrp="1"/>
          </p:cNvSpPr>
          <p:nvPr/>
        </p:nvSpPr>
        <p:spPr>
          <a:xfrm xmlns:a="http://schemas.openxmlformats.org/drawingml/2006/main">
            <a:off x="457200" y="1600200"/>
            <a:ext cx="10287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933"/>
          </a:bodyPr>
          <a:lstStyle xmlns:a="http://schemas.openxmlformats.org/drawingml/2006/main"/>
          <a:p xmlns:a="http://schemas.openxmlformats.org/drawingml/2006/main">
            <a:pPr algn="l">
              <a:buNone/>
              <a:defRPr sz="2250"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An AIVC principal prepares for discussions across about 50 portfolio companies and 200 pipeline companies.</a:t>
            </a:r>
          </a:p>
        </p:txBody>
      </p:sp>
      <p:sp>
        <p:nvSpPr>
          <p:cNvPr id="5" name="">
            <a:extLst xmlns:a="http://schemas.openxmlformats.org/drawingml/2006/main">
              <a:ext uri="{FF2B5EF4-FFF2-40B4-BE49-F238E27FC236}">
                <a16:creationId xmlns:a16="http://schemas.microsoft.com/office/drawing/2014/main" id="{248F95D8-6C94-47AD-A1EB-CF294B2AA4EB}"/>
              </a:ext>
            </a:extLst>
          </p:cNvPr>
          <p:cNvSpPr>
            <a:spLocks xmlns:a="http://schemas.openxmlformats.org/drawingml/2006/main" noGrp="1"/>
          </p:cNvSpPr>
          <p:nvPr/>
        </p:nvSpPr>
        <p:spPr>
          <a:xfrm xmlns:a="http://schemas.openxmlformats.org/drawingml/2006/main">
            <a:off x="457200" y="2238375"/>
            <a:ext cx="1028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889"/>
          </a:bodyPr>
          <a:lstStyle xmlns:a="http://schemas.openxmlformats.org/drawingml/2006/main"/>
          <a:p xmlns:a="http://schemas.openxmlformats.org/drawingml/2006/main">
            <a:pPr algn="l">
              <a:buNone/>
              <a:defRPr sz="1425" b="0">
                <a:solidFill>
                  <a:srgbClr val="667085"/>
                </a:solidFill>
                <a:latin typeface="Helvetica Neue"/>
                <a:ea typeface="Helvetica Neue"/>
                <a:cs typeface="Helvetica Neue"/>
              </a:defRPr>
            </a:pPr>
            <a:r>
              <a:rPr sz="1350" b="0">
                <a:solidFill>
                  <a:srgbClr val="667085"/>
                </a:solidFill>
                <a:latin typeface="Helvetica Neue"/>
                <a:ea typeface="Helvetica Neue"/>
                <a:cs typeface="Helvetica Neue"/>
              </a:rPr>
              <a:t>The facts are spread across CRM records, meeting notes, Slack, filings, and news. The AIVC principal must find the latest value, check the source, and see what is missing.</a:t>
            </a:r>
          </a:p>
        </p:txBody>
      </p:sp>
      <p:sp>
        <p:nvSpPr>
          <p:cNvPr id="6" name="">
            <a:extLst xmlns:a="http://schemas.openxmlformats.org/drawingml/2006/main">
              <a:ext uri="{FF2B5EF4-FFF2-40B4-BE49-F238E27FC236}">
                <a16:creationId xmlns:a16="http://schemas.microsoft.com/office/drawing/2014/main" id="{D90417FF-1C78-4630-A7F8-6EC28C547754}"/>
              </a:ext>
            </a:extLst>
          </p:cNvPr>
          <p:cNvSpPr>
            <a:spLocks xmlns:a="http://schemas.openxmlformats.org/drawingml/2006/main" noGrp="1"/>
          </p:cNvSpPr>
          <p:nvPr/>
        </p:nvSpPr>
        <p:spPr>
          <a:xfrm xmlns:a="http://schemas.openxmlformats.org/drawingml/2006/main">
            <a:off x="457200" y="3219450"/>
            <a:ext cx="3381375" cy="2247900"/>
          </a:xfrm>
          <a:prstGeom xmlns:a="http://schemas.openxmlformats.org/drawingml/2006/main" prst="roundRect">
            <a:avLst>
              <a:gd name="adj" fmla="val 7627"/>
            </a:avLst>
          </a:prstGeom>
          <a:solidFill xmlns:a="http://schemas.openxmlformats.org/drawingml/2006/main">
            <a:srgbClr val="FFFFFF"/>
          </a:solidFill>
          <a:ln xmlns:a="http://schemas.openxmlformats.org/drawingml/2006/main" w="9525">
            <a:solidFill>
              <a:srgbClr val="D0D5DD"/>
            </a:solidFill>
            <a:prstDash val="solid"/>
          </a:ln>
        </p:spPr>
      </p:sp>
      <p:sp>
        <p:nvSpPr>
          <p:cNvPr id="7" name="">
            <a:extLst xmlns:a="http://schemas.openxmlformats.org/drawingml/2006/main">
              <a:ext uri="{FF2B5EF4-FFF2-40B4-BE49-F238E27FC236}">
                <a16:creationId xmlns:a16="http://schemas.microsoft.com/office/drawing/2014/main" id="{F0950B1F-A28C-4568-A076-E5A6E0933D1B}"/>
              </a:ext>
            </a:extLst>
          </p:cNvPr>
          <p:cNvSpPr>
            <a:spLocks xmlns:a="http://schemas.openxmlformats.org/drawingml/2006/main" noGrp="1"/>
          </p:cNvSpPr>
          <p:nvPr/>
        </p:nvSpPr>
        <p:spPr>
          <a:xfrm xmlns:a="http://schemas.openxmlformats.org/drawingml/2006/main">
            <a:off x="457200" y="3219450"/>
            <a:ext cx="76200" cy="2247900"/>
          </a:xfrm>
          <a:prstGeom xmlns:a="http://schemas.openxmlformats.org/drawingml/2006/main" prst="rect">
            <a:avLst/>
          </a:prstGeom>
          <a:solidFill xmlns:a="http://schemas.openxmlformats.org/drawingml/2006/main">
            <a:srgbClr val="315F9F"/>
          </a:solidFill>
          <a:ln xmlns:a="http://schemas.openxmlformats.org/drawingml/2006/main" w="9525">
            <a:solidFill>
              <a:srgbClr val="315F9F"/>
            </a:solidFill>
            <a:prstDash val="solid"/>
          </a:ln>
        </p:spPr>
      </p:sp>
      <p:sp>
        <p:nvSpPr>
          <p:cNvPr id="8" name="">
            <a:extLst xmlns:a="http://schemas.openxmlformats.org/drawingml/2006/main">
              <a:ext uri="{FF2B5EF4-FFF2-40B4-BE49-F238E27FC236}">
                <a16:creationId xmlns:a16="http://schemas.microsoft.com/office/drawing/2014/main" id="{6E8B5CB9-5258-49AF-98CB-CA7024CCD3D5}"/>
              </a:ext>
            </a:extLst>
          </p:cNvPr>
          <p:cNvSpPr>
            <a:spLocks xmlns:a="http://schemas.openxmlformats.org/drawingml/2006/main" noGrp="1"/>
          </p:cNvSpPr>
          <p:nvPr/>
        </p:nvSpPr>
        <p:spPr>
          <a:xfrm xmlns:a="http://schemas.openxmlformats.org/drawingml/2006/main">
            <a:off x="742950" y="3505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274"/>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5100" b="1">
                <a:solidFill>
                  <a:srgbClr val="101828"/>
                </a:solidFill>
                <a:latin typeface="Helvetica Neue"/>
                <a:ea typeface="Helvetica Neue"/>
                <a:cs typeface="Helvetica Neue"/>
              </a:rPr>
              <a:t>≈250</a:t>
            </a:r>
          </a:p>
        </p:txBody>
      </p:sp>
      <p:sp>
        <p:nvSpPr>
          <p:cNvPr id="9" name="">
            <a:extLst xmlns:a="http://schemas.openxmlformats.org/drawingml/2006/main">
              <a:ext uri="{FF2B5EF4-FFF2-40B4-BE49-F238E27FC236}">
                <a16:creationId xmlns:a16="http://schemas.microsoft.com/office/drawing/2014/main" id="{35DB3E8C-2A1E-4CB1-A446-D1C965CC3246}"/>
              </a:ext>
            </a:extLst>
          </p:cNvPr>
          <p:cNvSpPr>
            <a:spLocks xmlns:a="http://schemas.openxmlformats.org/drawingml/2006/main" noGrp="1"/>
          </p:cNvSpPr>
          <p:nvPr/>
        </p:nvSpPr>
        <p:spPr>
          <a:xfrm xmlns:a="http://schemas.openxmlformats.org/drawingml/2006/main">
            <a:off x="742950" y="4419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44054"/>
                </a:solidFill>
                <a:latin typeface="Helvetica Neue"/>
                <a:ea typeface="Helvetica Neue"/>
                <a:cs typeface="Helvetica Neue"/>
              </a:defRPr>
            </a:pPr>
            <a:r>
              <a:rPr sz="1650" b="1">
                <a:solidFill>
                  <a:srgbClr val="344054"/>
                </a:solidFill>
                <a:latin typeface="Helvetica Neue"/>
                <a:ea typeface="Helvetica Neue"/>
                <a:cs typeface="Helvetica Neue"/>
              </a:rPr>
              <a:t>companies in scope</a:t>
            </a:r>
          </a:p>
        </p:txBody>
      </p:sp>
      <p:sp>
        <p:nvSpPr>
          <p:cNvPr id="10" name="">
            <a:extLst xmlns:a="http://schemas.openxmlformats.org/drawingml/2006/main">
              <a:ext uri="{FF2B5EF4-FFF2-40B4-BE49-F238E27FC236}">
                <a16:creationId xmlns:a16="http://schemas.microsoft.com/office/drawing/2014/main" id="{D5053B9A-8BFE-4CFB-BD23-363424E0793F}"/>
              </a:ext>
            </a:extLst>
          </p:cNvPr>
          <p:cNvSpPr>
            <a:spLocks xmlns:a="http://schemas.openxmlformats.org/drawingml/2006/main" noGrp="1"/>
          </p:cNvSpPr>
          <p:nvPr/>
        </p:nvSpPr>
        <p:spPr>
          <a:xfrm xmlns:a="http://schemas.openxmlformats.org/drawingml/2006/main">
            <a:off x="742950" y="49530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About 50 portfolio + 200 pipeline</a:t>
            </a:r>
          </a:p>
        </p:txBody>
      </p:sp>
      <p:sp>
        <p:nvSpPr>
          <p:cNvPr id="11" name="">
            <a:extLst xmlns:a="http://schemas.openxmlformats.org/drawingml/2006/main">
              <a:ext uri="{FF2B5EF4-FFF2-40B4-BE49-F238E27FC236}">
                <a16:creationId xmlns:a16="http://schemas.microsoft.com/office/drawing/2014/main" id="{56AC5EA8-248C-47B4-958B-AE6E911531FB}"/>
              </a:ext>
            </a:extLst>
          </p:cNvPr>
          <p:cNvSpPr>
            <a:spLocks xmlns:a="http://schemas.openxmlformats.org/drawingml/2006/main" noGrp="1"/>
          </p:cNvSpPr>
          <p:nvPr/>
        </p:nvSpPr>
        <p:spPr>
          <a:xfrm xmlns:a="http://schemas.openxmlformats.org/drawingml/2006/main">
            <a:off x="3933825" y="3219450"/>
            <a:ext cx="3381375" cy="2247900"/>
          </a:xfrm>
          <a:prstGeom xmlns:a="http://schemas.openxmlformats.org/drawingml/2006/main" prst="roundRect">
            <a:avLst>
              <a:gd name="adj" fmla="val 7627"/>
            </a:avLst>
          </a:prstGeom>
          <a:solidFill xmlns:a="http://schemas.openxmlformats.org/drawingml/2006/main">
            <a:srgbClr val="FFFFFF"/>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0DD683D5-383D-4FAC-92FD-68867DEDD7D7}"/>
              </a:ext>
            </a:extLst>
          </p:cNvPr>
          <p:cNvSpPr>
            <a:spLocks xmlns:a="http://schemas.openxmlformats.org/drawingml/2006/main" noGrp="1"/>
          </p:cNvSpPr>
          <p:nvPr/>
        </p:nvSpPr>
        <p:spPr>
          <a:xfrm xmlns:a="http://schemas.openxmlformats.org/drawingml/2006/main">
            <a:off x="3933825" y="3219450"/>
            <a:ext cx="76200" cy="2247900"/>
          </a:xfrm>
          <a:prstGeom xmlns:a="http://schemas.openxmlformats.org/drawingml/2006/main" prst="rect">
            <a:avLst/>
          </a:prstGeom>
          <a:solidFill xmlns:a="http://schemas.openxmlformats.org/drawingml/2006/main">
            <a:srgbClr val="5D7FB4"/>
          </a:solidFill>
          <a:ln xmlns:a="http://schemas.openxmlformats.org/drawingml/2006/main" w="9525">
            <a:solidFill>
              <a:srgbClr val="5D7FB4"/>
            </a:solidFill>
            <a:prstDash val="solid"/>
          </a:ln>
        </p:spPr>
      </p:sp>
      <p:sp>
        <p:nvSpPr>
          <p:cNvPr id="13" name="">
            <a:extLst xmlns:a="http://schemas.openxmlformats.org/drawingml/2006/main">
              <a:ext uri="{FF2B5EF4-FFF2-40B4-BE49-F238E27FC236}">
                <a16:creationId xmlns:a16="http://schemas.microsoft.com/office/drawing/2014/main" id="{2F025FB5-141F-4754-8532-8F42CEAA8B70}"/>
              </a:ext>
            </a:extLst>
          </p:cNvPr>
          <p:cNvSpPr>
            <a:spLocks xmlns:a="http://schemas.openxmlformats.org/drawingml/2006/main" noGrp="1"/>
          </p:cNvSpPr>
          <p:nvPr/>
        </p:nvSpPr>
        <p:spPr>
          <a:xfrm xmlns:a="http://schemas.openxmlformats.org/drawingml/2006/main">
            <a:off x="4219575" y="3505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274"/>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5100" b="1">
                <a:solidFill>
                  <a:srgbClr val="101828"/>
                </a:solidFill>
                <a:latin typeface="Helvetica Neue"/>
                <a:ea typeface="Helvetica Neue"/>
                <a:cs typeface="Helvetica Neue"/>
              </a:rPr>
              <a:t>90 min</a:t>
            </a:r>
          </a:p>
        </p:txBody>
      </p:sp>
      <p:sp>
        <p:nvSpPr>
          <p:cNvPr id="14" name="">
            <a:extLst xmlns:a="http://schemas.openxmlformats.org/drawingml/2006/main">
              <a:ext uri="{FF2B5EF4-FFF2-40B4-BE49-F238E27FC236}">
                <a16:creationId xmlns:a16="http://schemas.microsoft.com/office/drawing/2014/main" id="{7DD042B3-963F-43BD-8B6B-A49D74611D41}"/>
              </a:ext>
            </a:extLst>
          </p:cNvPr>
          <p:cNvSpPr>
            <a:spLocks xmlns:a="http://schemas.openxmlformats.org/drawingml/2006/main" noGrp="1"/>
          </p:cNvSpPr>
          <p:nvPr/>
        </p:nvSpPr>
        <p:spPr>
          <a:xfrm xmlns:a="http://schemas.openxmlformats.org/drawingml/2006/main">
            <a:off x="4219575" y="4419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44054"/>
                </a:solidFill>
                <a:latin typeface="Helvetica Neue"/>
                <a:ea typeface="Helvetica Neue"/>
                <a:cs typeface="Helvetica Neue"/>
              </a:defRPr>
            </a:pPr>
            <a:r>
              <a:rPr sz="1650" b="1">
                <a:solidFill>
                  <a:srgbClr val="344054"/>
                </a:solidFill>
                <a:latin typeface="Helvetica Neue"/>
                <a:ea typeface="Helvetica Neue"/>
                <a:cs typeface="Helvetica Neue"/>
              </a:rPr>
              <a:t>manual preparation</a:t>
            </a:r>
          </a:p>
        </p:txBody>
      </p:sp>
      <p:sp>
        <p:nvSpPr>
          <p:cNvPr id="15" name="">
            <a:extLst xmlns:a="http://schemas.openxmlformats.org/drawingml/2006/main">
              <a:ext uri="{FF2B5EF4-FFF2-40B4-BE49-F238E27FC236}">
                <a16:creationId xmlns:a16="http://schemas.microsoft.com/office/drawing/2014/main" id="{1353F715-1736-4DA9-A1CF-98E50CB58DCE}"/>
              </a:ext>
            </a:extLst>
          </p:cNvPr>
          <p:cNvSpPr>
            <a:spLocks xmlns:a="http://schemas.openxmlformats.org/drawingml/2006/main" noGrp="1"/>
          </p:cNvSpPr>
          <p:nvPr/>
        </p:nvSpPr>
        <p:spPr>
          <a:xfrm xmlns:a="http://schemas.openxmlformats.org/drawingml/2006/main">
            <a:off x="4219575" y="49530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22"/>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Scenario estimate; not a measured baseline</a:t>
            </a:r>
          </a:p>
        </p:txBody>
      </p:sp>
      <p:sp>
        <p:nvSpPr>
          <p:cNvPr id="16" name="">
            <a:extLst xmlns:a="http://schemas.openxmlformats.org/drawingml/2006/main">
              <a:ext uri="{FF2B5EF4-FFF2-40B4-BE49-F238E27FC236}">
                <a16:creationId xmlns:a16="http://schemas.microsoft.com/office/drawing/2014/main" id="{577AC155-9844-4BC8-896D-32BD07441E24}"/>
              </a:ext>
            </a:extLst>
          </p:cNvPr>
          <p:cNvSpPr>
            <a:spLocks xmlns:a="http://schemas.openxmlformats.org/drawingml/2006/main" noGrp="1"/>
          </p:cNvSpPr>
          <p:nvPr/>
        </p:nvSpPr>
        <p:spPr>
          <a:xfrm xmlns:a="http://schemas.openxmlformats.org/drawingml/2006/main">
            <a:off x="7410450" y="3219450"/>
            <a:ext cx="3381375" cy="2247900"/>
          </a:xfrm>
          <a:prstGeom xmlns:a="http://schemas.openxmlformats.org/drawingml/2006/main" prst="roundRect">
            <a:avLst>
              <a:gd name="adj" fmla="val 7627"/>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372D61F2-45C3-47D8-AC88-3F1E32DCFA11}"/>
              </a:ext>
            </a:extLst>
          </p:cNvPr>
          <p:cNvSpPr>
            <a:spLocks xmlns:a="http://schemas.openxmlformats.org/drawingml/2006/main" noGrp="1"/>
          </p:cNvSpPr>
          <p:nvPr/>
        </p:nvSpPr>
        <p:spPr>
          <a:xfrm xmlns:a="http://schemas.openxmlformats.org/drawingml/2006/main">
            <a:off x="7410450" y="3219450"/>
            <a:ext cx="76200" cy="2247900"/>
          </a:xfrm>
          <a:prstGeom xmlns:a="http://schemas.openxmlformats.org/drawingml/2006/main" prst="rect">
            <a:avLst/>
          </a:prstGeom>
          <a:solidFill xmlns:a="http://schemas.openxmlformats.org/drawingml/2006/main">
            <a:srgbClr val="9CB5D5"/>
          </a:solidFill>
          <a:ln xmlns:a="http://schemas.openxmlformats.org/drawingml/2006/main" w="9525">
            <a:solidFill>
              <a:srgbClr val="9CB5D5"/>
            </a:solidFill>
            <a:prstDash val="solid"/>
          </a:ln>
        </p:spPr>
      </p:sp>
      <p:sp>
        <p:nvSpPr>
          <p:cNvPr id="18" name="">
            <a:extLst xmlns:a="http://schemas.openxmlformats.org/drawingml/2006/main">
              <a:ext uri="{FF2B5EF4-FFF2-40B4-BE49-F238E27FC236}">
                <a16:creationId xmlns:a16="http://schemas.microsoft.com/office/drawing/2014/main" id="{C926A76D-4C90-42DF-A6F2-17737BFECFDE}"/>
              </a:ext>
            </a:extLst>
          </p:cNvPr>
          <p:cNvSpPr>
            <a:spLocks xmlns:a="http://schemas.openxmlformats.org/drawingml/2006/main" noGrp="1"/>
          </p:cNvSpPr>
          <p:nvPr/>
        </p:nvSpPr>
        <p:spPr>
          <a:xfrm xmlns:a="http://schemas.openxmlformats.org/drawingml/2006/main">
            <a:off x="7696200" y="3505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274"/>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5100" b="1">
                <a:solidFill>
                  <a:srgbClr val="101828"/>
                </a:solidFill>
                <a:latin typeface="Helvetica Neue"/>
                <a:ea typeface="Helvetica Neue"/>
                <a:cs typeface="Helvetica Neue"/>
              </a:rPr>
              <a:t>≤30 sec</a:t>
            </a:r>
          </a:p>
        </p:txBody>
      </p:sp>
      <p:sp>
        <p:nvSpPr>
          <p:cNvPr id="19" name="">
            <a:extLst xmlns:a="http://schemas.openxmlformats.org/drawingml/2006/main">
              <a:ext uri="{FF2B5EF4-FFF2-40B4-BE49-F238E27FC236}">
                <a16:creationId xmlns:a16="http://schemas.microsoft.com/office/drawing/2014/main" id="{093E1318-319E-46BC-A315-D16FC24215E3}"/>
              </a:ext>
            </a:extLst>
          </p:cNvPr>
          <p:cNvSpPr>
            <a:spLocks xmlns:a="http://schemas.openxmlformats.org/drawingml/2006/main" noGrp="1"/>
          </p:cNvSpPr>
          <p:nvPr/>
        </p:nvSpPr>
        <p:spPr>
          <a:xfrm xmlns:a="http://schemas.openxmlformats.org/drawingml/2006/main">
            <a:off x="7696200" y="4419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44054"/>
                </a:solidFill>
                <a:latin typeface="Helvetica Neue"/>
                <a:ea typeface="Helvetica Neue"/>
                <a:cs typeface="Helvetica Neue"/>
              </a:defRPr>
            </a:pPr>
            <a:r>
              <a:rPr sz="1650" b="1">
                <a:solidFill>
                  <a:srgbClr val="344054"/>
                </a:solidFill>
                <a:latin typeface="Helvetica Neue"/>
                <a:ea typeface="Helvetica Neue"/>
                <a:cs typeface="Helvetica Neue"/>
              </a:rPr>
              <a:t>brief target</a:t>
            </a:r>
          </a:p>
        </p:txBody>
      </p:sp>
      <p:sp>
        <p:nvSpPr>
          <p:cNvPr id="20" name="">
            <a:extLst xmlns:a="http://schemas.openxmlformats.org/drawingml/2006/main">
              <a:ext uri="{FF2B5EF4-FFF2-40B4-BE49-F238E27FC236}">
                <a16:creationId xmlns:a16="http://schemas.microsoft.com/office/drawing/2014/main" id="{4F8691C0-D6AA-43D5-ADB0-F23290AE504D}"/>
              </a:ext>
            </a:extLst>
          </p:cNvPr>
          <p:cNvSpPr>
            <a:spLocks xmlns:a="http://schemas.openxmlformats.org/drawingml/2006/main" noGrp="1"/>
          </p:cNvSpPr>
          <p:nvPr/>
        </p:nvSpPr>
        <p:spPr>
          <a:xfrm xmlns:a="http://schemas.openxmlformats.org/drawingml/2006/main">
            <a:off x="7696200" y="49530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167"/>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Lens organizes evidence. The AIVC principal keeps the investment judgment.</a:t>
            </a:r>
          </a:p>
        </p:txBody>
      </p:sp>
    </p:spTree>
    <p:extLst>
      <p:ext uri="{BB962C8B-B14F-4D97-AF65-F5344CB8AC3E}">
        <p14:creationId xmlns:p14="http://schemas.microsoft.com/office/powerpoint/2010/main" val="1491271363"/>
      </p:ext>
    </p:extLst>
  </p:cSld>
</p:sld>
</file>

<file path=ppt/slides/slide3.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AA341753-F432-4FAC-905F-6BC9A3308FE6}"/>
              </a:ext>
            </a:extLst>
          </p:cNvPr>
          <p:cNvSpPr>
            <a:spLocks xmlns:a="http://schemas.openxmlformats.org/drawingml/2006/main" noGrp="1"/>
          </p:cNvSpPr>
          <p:nvPr/>
        </p:nvSpPr>
        <p:spPr>
          <a:xfrm xmlns:a="http://schemas.openxmlformats.org/drawingml/2006/main">
            <a:off x="685800" y="361950"/>
            <a:ext cx="108204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does Lens let an AIVC principal do?</a:t>
            </a:r>
          </a:p>
        </p:txBody>
      </p:sp>
      <p:sp>
        <p:nvSpPr>
          <p:cNvPr id="2" name="">
            <a:extLst xmlns:a="http://schemas.openxmlformats.org/drawingml/2006/main">
              <a:ext uri="{FF2B5EF4-FFF2-40B4-BE49-F238E27FC236}">
                <a16:creationId xmlns:a16="http://schemas.microsoft.com/office/drawing/2014/main" id="{15AE18DA-23DC-4F91-B843-5482207C12E5}"/>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A0FA8E7A-FCA5-488D-941A-99A2108683DD}"/>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03</a:t>
            </a:r>
          </a:p>
        </p:txBody>
      </p:sp>
      <p:sp>
        <p:nvSpPr>
          <p:cNvPr id="4" name="">
            <a:extLst xmlns:a="http://schemas.openxmlformats.org/drawingml/2006/main">
              <a:ext uri="{FF2B5EF4-FFF2-40B4-BE49-F238E27FC236}">
                <a16:creationId xmlns:a16="http://schemas.microsoft.com/office/drawing/2014/main" id="{EAAABDBA-8C6F-43CE-B795-FCAE72075F1A}"/>
              </a:ext>
            </a:extLst>
          </p:cNvPr>
          <p:cNvSpPr>
            <a:spLocks xmlns:a="http://schemas.openxmlformats.org/drawingml/2006/main" noGrp="1"/>
          </p:cNvSpPr>
          <p:nvPr/>
        </p:nvSpPr>
        <p:spPr>
          <a:xfrm xmlns:a="http://schemas.openxmlformats.org/drawingml/2006/main">
            <a:off x="457200" y="1333500"/>
            <a:ext cx="7524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0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The brief, evidence, original source, and feedback stay in one flow.</a:t>
            </a:r>
          </a:p>
        </p:txBody>
      </p:sp>
      <p:sp>
        <p:nvSpPr>
          <p:cNvPr id="5" name="">
            <a:extLst xmlns:a="http://schemas.openxmlformats.org/drawingml/2006/main">
              <a:ext uri="{FF2B5EF4-FFF2-40B4-BE49-F238E27FC236}">
                <a16:creationId xmlns:a16="http://schemas.microsoft.com/office/drawing/2014/main" id="{2171D578-EC77-455D-8411-25930D85BE63}"/>
              </a:ext>
            </a:extLst>
          </p:cNvPr>
          <p:cNvSpPr>
            <a:spLocks xmlns:a="http://schemas.openxmlformats.org/drawingml/2006/main" noGrp="1"/>
          </p:cNvSpPr>
          <p:nvPr/>
        </p:nvSpPr>
        <p:spPr>
          <a:xfrm xmlns:a="http://schemas.openxmlformats.org/drawingml/2006/main">
            <a:off x="8343900" y="19526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6" name="">
            <a:extLst xmlns:a="http://schemas.openxmlformats.org/drawingml/2006/main">
              <a:ext uri="{FF2B5EF4-FFF2-40B4-BE49-F238E27FC236}">
                <a16:creationId xmlns:a16="http://schemas.microsoft.com/office/drawing/2014/main" id="{78A12385-E2AC-4E4A-8AE9-C0083C26DB36}"/>
              </a:ext>
            </a:extLst>
          </p:cNvPr>
          <p:cNvSpPr>
            <a:spLocks xmlns:a="http://schemas.openxmlformats.org/drawingml/2006/main" noGrp="1"/>
          </p:cNvSpPr>
          <p:nvPr/>
        </p:nvSpPr>
        <p:spPr>
          <a:xfrm xmlns:a="http://schemas.openxmlformats.org/drawingml/2006/main">
            <a:off x="8439150" y="20002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1</a:t>
            </a:r>
          </a:p>
        </p:txBody>
      </p:sp>
      <p:sp>
        <p:nvSpPr>
          <p:cNvPr id="7" name="">
            <a:extLst xmlns:a="http://schemas.openxmlformats.org/drawingml/2006/main">
              <a:ext uri="{FF2B5EF4-FFF2-40B4-BE49-F238E27FC236}">
                <a16:creationId xmlns:a16="http://schemas.microsoft.com/office/drawing/2014/main" id="{3CB9EA74-BB95-4276-B9A6-114E2E4AD345}"/>
              </a:ext>
            </a:extLst>
          </p:cNvPr>
          <p:cNvSpPr>
            <a:spLocks xmlns:a="http://schemas.openxmlformats.org/drawingml/2006/main" noGrp="1"/>
          </p:cNvSpPr>
          <p:nvPr/>
        </p:nvSpPr>
        <p:spPr>
          <a:xfrm xmlns:a="http://schemas.openxmlformats.org/drawingml/2006/main">
            <a:off x="8801100" y="19431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Select company</a:t>
            </a:r>
          </a:p>
        </p:txBody>
      </p:sp>
      <p:sp>
        <p:nvSpPr>
          <p:cNvPr id="8" name="">
            <a:extLst xmlns:a="http://schemas.openxmlformats.org/drawingml/2006/main">
              <a:ext uri="{FF2B5EF4-FFF2-40B4-BE49-F238E27FC236}">
                <a16:creationId xmlns:a16="http://schemas.microsoft.com/office/drawing/2014/main" id="{0FA5DDC6-3FD4-4355-B84F-85B98D1D52D3}"/>
              </a:ext>
            </a:extLst>
          </p:cNvPr>
          <p:cNvSpPr>
            <a:spLocks xmlns:a="http://schemas.openxmlformats.org/drawingml/2006/main" noGrp="1"/>
          </p:cNvSpPr>
          <p:nvPr/>
        </p:nvSpPr>
        <p:spPr>
          <a:xfrm xmlns:a="http://schemas.openxmlformats.org/drawingml/2006/main">
            <a:off x="8801100" y="22479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Choose a portfolio or pipeline company.</a:t>
            </a:r>
          </a:p>
        </p:txBody>
      </p:sp>
      <p:sp>
        <p:nvSpPr>
          <p:cNvPr id="9" name="">
            <a:extLst xmlns:a="http://schemas.openxmlformats.org/drawingml/2006/main">
              <a:ext uri="{FF2B5EF4-FFF2-40B4-BE49-F238E27FC236}">
                <a16:creationId xmlns:a16="http://schemas.microsoft.com/office/drawing/2014/main" id="{838E1A84-9DC8-4EC3-BD84-249D08DD620D}"/>
              </a:ext>
            </a:extLst>
          </p:cNvPr>
          <p:cNvSpPr>
            <a:spLocks xmlns:a="http://schemas.openxmlformats.org/drawingml/2006/main" noGrp="1"/>
          </p:cNvSpPr>
          <p:nvPr/>
        </p:nvSpPr>
        <p:spPr>
          <a:xfrm xmlns:a="http://schemas.openxmlformats.org/drawingml/2006/main">
            <a:off x="8343900" y="29432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0" name="">
            <a:extLst xmlns:a="http://schemas.openxmlformats.org/drawingml/2006/main">
              <a:ext uri="{FF2B5EF4-FFF2-40B4-BE49-F238E27FC236}">
                <a16:creationId xmlns:a16="http://schemas.microsoft.com/office/drawing/2014/main" id="{327440BB-A5A8-41C6-9175-6A1410B7F248}"/>
              </a:ext>
            </a:extLst>
          </p:cNvPr>
          <p:cNvSpPr>
            <a:spLocks xmlns:a="http://schemas.openxmlformats.org/drawingml/2006/main" noGrp="1"/>
          </p:cNvSpPr>
          <p:nvPr/>
        </p:nvSpPr>
        <p:spPr>
          <a:xfrm xmlns:a="http://schemas.openxmlformats.org/drawingml/2006/main">
            <a:off x="8439150" y="29908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2</a:t>
            </a:r>
          </a:p>
        </p:txBody>
      </p:sp>
      <p:sp>
        <p:nvSpPr>
          <p:cNvPr id="11" name="">
            <a:extLst xmlns:a="http://schemas.openxmlformats.org/drawingml/2006/main">
              <a:ext uri="{FF2B5EF4-FFF2-40B4-BE49-F238E27FC236}">
                <a16:creationId xmlns:a16="http://schemas.microsoft.com/office/drawing/2014/main" id="{216C0B0E-D29C-45B9-BEB5-0D7F57B23369}"/>
              </a:ext>
            </a:extLst>
          </p:cNvPr>
          <p:cNvSpPr>
            <a:spLocks xmlns:a="http://schemas.openxmlformats.org/drawingml/2006/main" noGrp="1"/>
          </p:cNvSpPr>
          <p:nvPr/>
        </p:nvSpPr>
        <p:spPr>
          <a:xfrm xmlns:a="http://schemas.openxmlformats.org/drawingml/2006/main">
            <a:off x="8801100" y="29337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Scan the brief</a:t>
            </a:r>
          </a:p>
        </p:txBody>
      </p:sp>
      <p:sp>
        <p:nvSpPr>
          <p:cNvPr id="12" name="">
            <a:extLst xmlns:a="http://schemas.openxmlformats.org/drawingml/2006/main">
              <a:ext uri="{FF2B5EF4-FFF2-40B4-BE49-F238E27FC236}">
                <a16:creationId xmlns:a16="http://schemas.microsoft.com/office/drawing/2014/main" id="{643780DA-7896-4A5A-88B2-8B9F8E3A55B5}"/>
              </a:ext>
            </a:extLst>
          </p:cNvPr>
          <p:cNvSpPr>
            <a:spLocks xmlns:a="http://schemas.openxmlformats.org/drawingml/2006/main" noGrp="1"/>
          </p:cNvSpPr>
          <p:nvPr/>
        </p:nvSpPr>
        <p:spPr>
          <a:xfrm xmlns:a="http://schemas.openxmlformats.org/drawingml/2006/main">
            <a:off x="8801100" y="32385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Read Key facts, Risks, and Questions.</a:t>
            </a:r>
          </a:p>
        </p:txBody>
      </p:sp>
      <p:sp>
        <p:nvSpPr>
          <p:cNvPr id="13" name="">
            <a:extLst xmlns:a="http://schemas.openxmlformats.org/drawingml/2006/main">
              <a:ext uri="{FF2B5EF4-FFF2-40B4-BE49-F238E27FC236}">
                <a16:creationId xmlns:a16="http://schemas.microsoft.com/office/drawing/2014/main" id="{2C00D830-C080-4CD6-BFA1-2EE115C727AF}"/>
              </a:ext>
            </a:extLst>
          </p:cNvPr>
          <p:cNvSpPr>
            <a:spLocks xmlns:a="http://schemas.openxmlformats.org/drawingml/2006/main" noGrp="1"/>
          </p:cNvSpPr>
          <p:nvPr/>
        </p:nvSpPr>
        <p:spPr>
          <a:xfrm xmlns:a="http://schemas.openxmlformats.org/drawingml/2006/main">
            <a:off x="8343900" y="39338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4" name="">
            <a:extLst xmlns:a="http://schemas.openxmlformats.org/drawingml/2006/main">
              <a:ext uri="{FF2B5EF4-FFF2-40B4-BE49-F238E27FC236}">
                <a16:creationId xmlns:a16="http://schemas.microsoft.com/office/drawing/2014/main" id="{C3C4062D-56DE-44CE-8D5D-310725AFF33F}"/>
              </a:ext>
            </a:extLst>
          </p:cNvPr>
          <p:cNvSpPr>
            <a:spLocks xmlns:a="http://schemas.openxmlformats.org/drawingml/2006/main" noGrp="1"/>
          </p:cNvSpPr>
          <p:nvPr/>
        </p:nvSpPr>
        <p:spPr>
          <a:xfrm xmlns:a="http://schemas.openxmlformats.org/drawingml/2006/main">
            <a:off x="8439150" y="39814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3</a:t>
            </a:r>
          </a:p>
        </p:txBody>
      </p:sp>
      <p:sp>
        <p:nvSpPr>
          <p:cNvPr id="15" name="">
            <a:extLst xmlns:a="http://schemas.openxmlformats.org/drawingml/2006/main">
              <a:ext uri="{FF2B5EF4-FFF2-40B4-BE49-F238E27FC236}">
                <a16:creationId xmlns:a16="http://schemas.microsoft.com/office/drawing/2014/main" id="{6AF726DA-1060-40F1-96BE-56094C583E78}"/>
              </a:ext>
            </a:extLst>
          </p:cNvPr>
          <p:cNvSpPr>
            <a:spLocks xmlns:a="http://schemas.openxmlformats.org/drawingml/2006/main" noGrp="1"/>
          </p:cNvSpPr>
          <p:nvPr/>
        </p:nvSpPr>
        <p:spPr>
          <a:xfrm xmlns:a="http://schemas.openxmlformats.org/drawingml/2006/main">
            <a:off x="8801100" y="39243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Open the source</a:t>
            </a:r>
          </a:p>
        </p:txBody>
      </p:sp>
      <p:sp>
        <p:nvSpPr>
          <p:cNvPr id="16" name="">
            <a:extLst xmlns:a="http://schemas.openxmlformats.org/drawingml/2006/main">
              <a:ext uri="{FF2B5EF4-FFF2-40B4-BE49-F238E27FC236}">
                <a16:creationId xmlns:a16="http://schemas.microsoft.com/office/drawing/2014/main" id="{BEDA7F37-E813-48A3-97AB-7EDCB2354C48}"/>
              </a:ext>
            </a:extLst>
          </p:cNvPr>
          <p:cNvSpPr>
            <a:spLocks xmlns:a="http://schemas.openxmlformats.org/drawingml/2006/main" noGrp="1"/>
          </p:cNvSpPr>
          <p:nvPr/>
        </p:nvSpPr>
        <p:spPr>
          <a:xfrm xmlns:a="http://schemas.openxmlformats.org/drawingml/2006/main">
            <a:off x="8801100" y="4229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See values, dates, evidence, and the original record.</a:t>
            </a:r>
          </a:p>
        </p:txBody>
      </p:sp>
      <p:sp>
        <p:nvSpPr>
          <p:cNvPr id="17" name="">
            <a:extLst xmlns:a="http://schemas.openxmlformats.org/drawingml/2006/main">
              <a:ext uri="{FF2B5EF4-FFF2-40B4-BE49-F238E27FC236}">
                <a16:creationId xmlns:a16="http://schemas.microsoft.com/office/drawing/2014/main" id="{622ECADF-5901-445D-82B7-8174C71493DA}"/>
              </a:ext>
            </a:extLst>
          </p:cNvPr>
          <p:cNvSpPr>
            <a:spLocks xmlns:a="http://schemas.openxmlformats.org/drawingml/2006/main" noGrp="1"/>
          </p:cNvSpPr>
          <p:nvPr/>
        </p:nvSpPr>
        <p:spPr>
          <a:xfrm xmlns:a="http://schemas.openxmlformats.org/drawingml/2006/main">
            <a:off x="8343900" y="49244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8" name="">
            <a:extLst xmlns:a="http://schemas.openxmlformats.org/drawingml/2006/main">
              <a:ext uri="{FF2B5EF4-FFF2-40B4-BE49-F238E27FC236}">
                <a16:creationId xmlns:a16="http://schemas.microsoft.com/office/drawing/2014/main" id="{EDC54E17-A905-4324-9C22-3D025DBF0A4C}"/>
              </a:ext>
            </a:extLst>
          </p:cNvPr>
          <p:cNvSpPr>
            <a:spLocks xmlns:a="http://schemas.openxmlformats.org/drawingml/2006/main" noGrp="1"/>
          </p:cNvSpPr>
          <p:nvPr/>
        </p:nvSpPr>
        <p:spPr>
          <a:xfrm xmlns:a="http://schemas.openxmlformats.org/drawingml/2006/main">
            <a:off x="8439150" y="49720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4</a:t>
            </a:r>
          </a:p>
        </p:txBody>
      </p:sp>
      <p:sp>
        <p:nvSpPr>
          <p:cNvPr id="19" name="">
            <a:extLst xmlns:a="http://schemas.openxmlformats.org/drawingml/2006/main">
              <a:ext uri="{FF2B5EF4-FFF2-40B4-BE49-F238E27FC236}">
                <a16:creationId xmlns:a16="http://schemas.microsoft.com/office/drawing/2014/main" id="{F2AEF4C6-311E-45C9-8B5A-A1303E1BDF24}"/>
              </a:ext>
            </a:extLst>
          </p:cNvPr>
          <p:cNvSpPr>
            <a:spLocks xmlns:a="http://schemas.openxmlformats.org/drawingml/2006/main" noGrp="1"/>
          </p:cNvSpPr>
          <p:nvPr/>
        </p:nvSpPr>
        <p:spPr>
          <a:xfrm xmlns:a="http://schemas.openxmlformats.org/drawingml/2006/main">
            <a:off x="8801100" y="49149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Send feedback</a:t>
            </a:r>
          </a:p>
        </p:txBody>
      </p:sp>
      <p:sp>
        <p:nvSpPr>
          <p:cNvPr id="20" name="">
            <a:extLst xmlns:a="http://schemas.openxmlformats.org/drawingml/2006/main">
              <a:ext uri="{FF2B5EF4-FFF2-40B4-BE49-F238E27FC236}">
                <a16:creationId xmlns:a16="http://schemas.microsoft.com/office/drawing/2014/main" id="{BB988DCF-B844-4248-82AC-B84604456540}"/>
              </a:ext>
            </a:extLst>
          </p:cNvPr>
          <p:cNvSpPr>
            <a:spLocks xmlns:a="http://schemas.openxmlformats.org/drawingml/2006/main" noGrp="1"/>
          </p:cNvSpPr>
          <p:nvPr/>
        </p:nvSpPr>
        <p:spPr>
          <a:xfrm xmlns:a="http://schemas.openxmlformats.org/drawingml/2006/main">
            <a:off x="8801100" y="52197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Mark content Good, Bad, or Wrong.</a:t>
            </a:r>
          </a:p>
        </p:txBody>
      </p:sp>
      <p:sp>
        <p:nvSpPr>
          <p:cNvPr id="21" name="">
            <a:extLst xmlns:a="http://schemas.openxmlformats.org/drawingml/2006/main">
              <a:ext uri="{FF2B5EF4-FFF2-40B4-BE49-F238E27FC236}">
                <a16:creationId xmlns:a16="http://schemas.microsoft.com/office/drawing/2014/main" id="{CEFBF0D0-9C7B-40B0-B1DE-EEED270A69AF}"/>
              </a:ext>
            </a:extLst>
          </p:cNvPr>
          <p:cNvSpPr>
            <a:spLocks xmlns:a="http://schemas.openxmlformats.org/drawingml/2006/main" noGrp="1"/>
          </p:cNvSpPr>
          <p:nvPr/>
        </p:nvSpPr>
        <p:spPr>
          <a:xfrm xmlns:a="http://schemas.openxmlformats.org/drawingml/2006/main">
            <a:off x="457200" y="1809750"/>
            <a:ext cx="7620000" cy="4286250"/>
          </a:xfrm>
          <a:prstGeom xmlns:a="http://schemas.openxmlformats.org/drawingml/2006/main" prst="roundRect">
            <a:avLst>
              <a:gd name="adj" fmla="val 4167"/>
            </a:avLst>
          </a:prstGeom>
          <a:solidFill xmlns:a="http://schemas.openxmlformats.org/drawingml/2006/main">
            <a:srgbClr val="000000">
              <a:alpha val="0"/>
            </a:srgbClr>
          </a:solidFill>
          <a:ln xmlns:a="http://schemas.openxmlformats.org/drawingml/2006/main" w="9525">
            <a:solidFill>
              <a:srgbClr val="D0D5DD"/>
            </a:solidFill>
            <a:prstDash val="solid"/>
          </a:ln>
        </p:spPr>
      </p:sp>
      <p:pic>
        <p:nvPicPr>
          <p:cNvPr id="46" name=""/>
          <p:cNvPicPr>
            <a:picLocks xmlns:a="http://schemas.openxmlformats.org/drawingml/2006/main" noChangeAspect="1"/>
          </p:cNvPicPr>
          <p:nvPr/>
        </p:nvPicPr>
        <p:blipFill>
          <a:blip xmlns:r="http://schemas.openxmlformats.org/officeDocument/2006/relationships" xmlns:a="http://schemas.openxmlformats.org/drawingml/2006/main" r:embed="R7c50bf0d13ca4700"/>
          <a:stretch xmlns:a="http://schemas.openxmlformats.org/drawingml/2006/main"/>
        </p:blipFill>
        <p:spPr>
          <a:xfrm xmlns:a="http://schemas.openxmlformats.org/drawingml/2006/main">
            <a:off x="595993" y="1924050"/>
            <a:ext cx="7342414" cy="4057650"/>
          </a:xfrm>
          <a:prstGeom xmlns:a="http://schemas.openxmlformats.org/drawingml/2006/main" prst="roundRect">
            <a:avLst>
              <a:gd name="adj" fmla="val 2817"/>
            </a:avLst>
          </a:prstGeom>
        </p:spPr>
      </p:pic>
    </p:spTree>
    <p:extLst>
      <p:ext uri="{BB962C8B-B14F-4D97-AF65-F5344CB8AC3E}">
        <p14:creationId xmlns:p14="http://schemas.microsoft.com/office/powerpoint/2010/main" val="1674415678"/>
      </p:ext>
    </p:extLst>
  </p:cSld>
</p:sld>
</file>

<file path=ppt/slides/slide4.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5262F984-D246-4734-ACC5-293D445790EE}"/>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How does Lens work end to end?</a:t>
            </a:r>
          </a:p>
        </p:txBody>
      </p:sp>
      <p:sp>
        <p:nvSpPr>
          <p:cNvPr id="2" name="">
            <a:extLst xmlns:a="http://schemas.openxmlformats.org/drawingml/2006/main">
              <a:ext uri="{FF2B5EF4-FFF2-40B4-BE49-F238E27FC236}">
                <a16:creationId xmlns:a16="http://schemas.microsoft.com/office/drawing/2014/main" id="{0F172B95-C544-452F-900E-C90D7963FD3F}"/>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1961F526-7CB2-473C-9BE1-2AE0B22D99BE}"/>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04</a:t>
            </a:r>
          </a:p>
        </p:txBody>
      </p:sp>
      <p:sp>
        <p:nvSpPr>
          <p:cNvPr id="4" name="">
            <a:extLst xmlns:a="http://schemas.openxmlformats.org/drawingml/2006/main">
              <a:ext uri="{FF2B5EF4-FFF2-40B4-BE49-F238E27FC236}">
                <a16:creationId xmlns:a16="http://schemas.microsoft.com/office/drawing/2014/main" id="{B4F82B3C-046E-4EBA-9746-C6BF4E4A3609}"/>
              </a:ext>
            </a:extLst>
          </p:cNvPr>
          <p:cNvSpPr>
            <a:spLocks xmlns:a="http://schemas.openxmlformats.org/drawingml/2006/main" noGrp="1"/>
          </p:cNvSpPr>
          <p:nvPr/>
        </p:nvSpPr>
        <p:spPr>
          <a:xfrm xmlns:a="http://schemas.openxmlformats.org/drawingml/2006/main">
            <a:off x="457200" y="1200150"/>
            <a:ext cx="9525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667085"/>
                </a:solidFill>
                <a:latin typeface="Helvetica Neue"/>
                <a:ea typeface="Helvetica Neue"/>
                <a:cs typeface="Helvetica Neue"/>
              </a:defRPr>
            </a:pPr>
            <a:r>
              <a:rPr sz="1275" b="0">
                <a:solidFill>
                  <a:srgbClr val="667085"/>
                </a:solidFill>
                <a:latin typeface="Helvetica Neue"/>
                <a:ea typeface="Helvetica Neue"/>
                <a:cs typeface="Helvetica Neue"/>
              </a:rPr>
              <a:t>Import reads new or changed demo records. Refresh Brief retrieves them and writes a new brief. There is no live source watcher.</a:t>
            </a:r>
          </a:p>
        </p:txBody>
      </p:sp>
      <p:sp>
        <p:nvSpPr>
          <p:cNvPr id="5" name="">
            <a:extLst xmlns:a="http://schemas.openxmlformats.org/drawingml/2006/main">
              <a:ext uri="{FF2B5EF4-FFF2-40B4-BE49-F238E27FC236}">
                <a16:creationId xmlns:a16="http://schemas.microsoft.com/office/drawing/2014/main" id="{7FCBC366-29EC-4070-AC66-0FCDB728EE03}"/>
              </a:ext>
            </a:extLst>
          </p:cNvPr>
          <p:cNvSpPr>
            <a:spLocks xmlns:a="http://schemas.openxmlformats.org/drawingml/2006/main" noGrp="1"/>
          </p:cNvSpPr>
          <p:nvPr/>
        </p:nvSpPr>
        <p:spPr>
          <a:xfrm xmlns:a="http://schemas.openxmlformats.org/drawingml/2006/main">
            <a:off x="457200"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FF696949-8B92-4E3C-91C5-474DF9927513}"/>
              </a:ext>
            </a:extLst>
          </p:cNvPr>
          <p:cNvSpPr>
            <a:spLocks xmlns:a="http://schemas.openxmlformats.org/drawingml/2006/main" noGrp="1"/>
          </p:cNvSpPr>
          <p:nvPr/>
        </p:nvSpPr>
        <p:spPr>
          <a:xfrm xmlns:a="http://schemas.openxmlformats.org/drawingml/2006/main">
            <a:off x="609600"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Sources</a:t>
            </a:r>
          </a:p>
        </p:txBody>
      </p:sp>
      <p:sp>
        <p:nvSpPr>
          <p:cNvPr id="7" name="">
            <a:extLst xmlns:a="http://schemas.openxmlformats.org/drawingml/2006/main">
              <a:ext uri="{FF2B5EF4-FFF2-40B4-BE49-F238E27FC236}">
                <a16:creationId xmlns:a16="http://schemas.microsoft.com/office/drawing/2014/main" id="{90F4C1A9-C4CA-4106-BB48-C633031F3719}"/>
              </a:ext>
            </a:extLst>
          </p:cNvPr>
          <p:cNvSpPr>
            <a:spLocks xmlns:a="http://schemas.openxmlformats.org/drawingml/2006/main" noGrp="1"/>
          </p:cNvSpPr>
          <p:nvPr/>
        </p:nvSpPr>
        <p:spPr>
          <a:xfrm xmlns:a="http://schemas.openxmlformats.org/drawingml/2006/main">
            <a:off x="609600"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Static CRM</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Meeting notes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Slack</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News records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No filings adapter</a:t>
            </a:r>
          </a:p>
        </p:txBody>
      </p:sp>
      <p:sp>
        <p:nvSpPr>
          <p:cNvPr id="8" name="">
            <a:extLst xmlns:a="http://schemas.openxmlformats.org/drawingml/2006/main">
              <a:ext uri="{FF2B5EF4-FFF2-40B4-BE49-F238E27FC236}">
                <a16:creationId xmlns:a16="http://schemas.microsoft.com/office/drawing/2014/main" id="{AAE64AD3-688E-46AF-8FEB-BB702085EAFC}"/>
              </a:ext>
            </a:extLst>
          </p:cNvPr>
          <p:cNvSpPr>
            <a:spLocks xmlns:a="http://schemas.openxmlformats.org/drawingml/2006/main" noGrp="1"/>
          </p:cNvSpPr>
          <p:nvPr/>
        </p:nvSpPr>
        <p:spPr>
          <a:xfrm xmlns:a="http://schemas.openxmlformats.org/drawingml/2006/main">
            <a:off x="2314575"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9CB5D5"/>
            </a:solidFill>
            <a:prstDash val="solid"/>
          </a:ln>
        </p:spPr>
      </p:sp>
      <p:sp>
        <p:nvSpPr>
          <p:cNvPr id="9" name="">
            <a:extLst xmlns:a="http://schemas.openxmlformats.org/drawingml/2006/main">
              <a:ext uri="{FF2B5EF4-FFF2-40B4-BE49-F238E27FC236}">
                <a16:creationId xmlns:a16="http://schemas.microsoft.com/office/drawing/2014/main" id="{91BF445C-96EF-491A-BCF7-2AC277A0A731}"/>
              </a:ext>
            </a:extLst>
          </p:cNvPr>
          <p:cNvSpPr>
            <a:spLocks xmlns:a="http://schemas.openxmlformats.org/drawingml/2006/main" noGrp="1"/>
          </p:cNvSpPr>
          <p:nvPr/>
        </p:nvSpPr>
        <p:spPr>
          <a:xfrm xmlns:a="http://schemas.openxmlformats.org/drawingml/2006/main">
            <a:off x="2466975"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Import</a:t>
            </a:r>
          </a:p>
        </p:txBody>
      </p:sp>
      <p:sp>
        <p:nvSpPr>
          <p:cNvPr id="10" name="">
            <a:extLst xmlns:a="http://schemas.openxmlformats.org/drawingml/2006/main">
              <a:ext uri="{FF2B5EF4-FFF2-40B4-BE49-F238E27FC236}">
                <a16:creationId xmlns:a16="http://schemas.microsoft.com/office/drawing/2014/main" id="{AD31BAB3-F830-46F0-A2E9-DA18B80B58A2}"/>
              </a:ext>
            </a:extLst>
          </p:cNvPr>
          <p:cNvSpPr>
            <a:spLocks xmlns:a="http://schemas.openxmlformats.org/drawingml/2006/main" noGrp="1"/>
          </p:cNvSpPr>
          <p:nvPr/>
        </p:nvSpPr>
        <p:spPr>
          <a:xfrm xmlns:a="http://schemas.openxmlformats.org/drawingml/2006/main">
            <a:off x="2466975"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Read each file</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Validate record</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Check company ID</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Keep source record</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Checksum and chunk</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Request embeddings</a:t>
            </a:r>
          </a:p>
        </p:txBody>
      </p:sp>
      <p:sp>
        <p:nvSpPr>
          <p:cNvPr id="11" name="">
            <a:extLst xmlns:a="http://schemas.openxmlformats.org/drawingml/2006/main">
              <a:ext uri="{FF2B5EF4-FFF2-40B4-BE49-F238E27FC236}">
                <a16:creationId xmlns:a16="http://schemas.microsoft.com/office/drawing/2014/main" id="{8D32C6CD-12D3-4383-95F2-A8382D438179}"/>
              </a:ext>
            </a:extLst>
          </p:cNvPr>
          <p:cNvSpPr>
            <a:spLocks xmlns:a="http://schemas.openxmlformats.org/drawingml/2006/main" noGrp="1"/>
          </p:cNvSpPr>
          <p:nvPr/>
        </p:nvSpPr>
        <p:spPr>
          <a:xfrm xmlns:a="http://schemas.openxmlformats.org/drawingml/2006/main">
            <a:off x="4171950"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19050">
            <a:solidFill>
              <a:srgbClr val="5D7FB4"/>
            </a:solidFill>
            <a:prstDash val="solid"/>
          </a:ln>
        </p:spPr>
      </p:sp>
      <p:sp>
        <p:nvSpPr>
          <p:cNvPr id="12" name="">
            <a:extLst xmlns:a="http://schemas.openxmlformats.org/drawingml/2006/main">
              <a:ext uri="{FF2B5EF4-FFF2-40B4-BE49-F238E27FC236}">
                <a16:creationId xmlns:a16="http://schemas.microsoft.com/office/drawing/2014/main" id="{26C71975-15C3-4667-BC34-D9B4464F6811}"/>
              </a:ext>
            </a:extLst>
          </p:cNvPr>
          <p:cNvSpPr>
            <a:spLocks xmlns:a="http://schemas.openxmlformats.org/drawingml/2006/main" noGrp="1"/>
          </p:cNvSpPr>
          <p:nvPr/>
        </p:nvSpPr>
        <p:spPr>
          <a:xfrm xmlns:a="http://schemas.openxmlformats.org/drawingml/2006/main">
            <a:off x="4324350"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Evidence store</a:t>
            </a:r>
          </a:p>
        </p:txBody>
      </p:sp>
      <p:sp>
        <p:nvSpPr>
          <p:cNvPr id="13" name="">
            <a:extLst xmlns:a="http://schemas.openxmlformats.org/drawingml/2006/main">
              <a:ext uri="{FF2B5EF4-FFF2-40B4-BE49-F238E27FC236}">
                <a16:creationId xmlns:a16="http://schemas.microsoft.com/office/drawing/2014/main" id="{AA5FC93D-2600-460B-AAC8-580EFD4F68BC}"/>
              </a:ext>
            </a:extLst>
          </p:cNvPr>
          <p:cNvSpPr>
            <a:spLocks xmlns:a="http://schemas.openxmlformats.org/drawingml/2006/main" noGrp="1"/>
          </p:cNvSpPr>
          <p:nvPr/>
        </p:nvSpPr>
        <p:spPr>
          <a:xfrm xmlns:a="http://schemas.openxmlformats.org/drawingml/2006/main">
            <a:off x="4324350"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18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PostgreSQL and pgvector</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Companies and source records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Facts and dates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Chunks and embeddings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Brief runs and evidence</a:t>
            </a:r>
          </a:p>
        </p:txBody>
      </p:sp>
      <p:sp>
        <p:nvSpPr>
          <p:cNvPr id="14" name="">
            <a:extLst xmlns:a="http://schemas.openxmlformats.org/drawingml/2006/main">
              <a:ext uri="{FF2B5EF4-FFF2-40B4-BE49-F238E27FC236}">
                <a16:creationId xmlns:a16="http://schemas.microsoft.com/office/drawing/2014/main" id="{D8B8EC61-0E23-44B6-8EAF-0255EFCE9F54}"/>
              </a:ext>
            </a:extLst>
          </p:cNvPr>
          <p:cNvSpPr>
            <a:spLocks xmlns:a="http://schemas.openxmlformats.org/drawingml/2006/main" noGrp="1"/>
          </p:cNvSpPr>
          <p:nvPr/>
        </p:nvSpPr>
        <p:spPr>
          <a:xfrm xmlns:a="http://schemas.openxmlformats.org/drawingml/2006/main">
            <a:off x="6029325"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9CB5D5"/>
            </a:solidFill>
            <a:prstDash val="solid"/>
          </a:ln>
        </p:spPr>
      </p:sp>
      <p:sp>
        <p:nvSpPr>
          <p:cNvPr id="15" name="">
            <a:extLst xmlns:a="http://schemas.openxmlformats.org/drawingml/2006/main">
              <a:ext uri="{FF2B5EF4-FFF2-40B4-BE49-F238E27FC236}">
                <a16:creationId xmlns:a16="http://schemas.microsoft.com/office/drawing/2014/main" id="{97E7E6E0-B411-44BD-92AA-7F5DF6550E73}"/>
              </a:ext>
            </a:extLst>
          </p:cNvPr>
          <p:cNvSpPr>
            <a:spLocks xmlns:a="http://schemas.openxmlformats.org/drawingml/2006/main" noGrp="1"/>
          </p:cNvSpPr>
          <p:nvPr/>
        </p:nvSpPr>
        <p:spPr>
          <a:xfrm xmlns:a="http://schemas.openxmlformats.org/drawingml/2006/main">
            <a:off x="6181725"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Retrieve</a:t>
            </a:r>
          </a:p>
        </p:txBody>
      </p:sp>
      <p:sp>
        <p:nvSpPr>
          <p:cNvPr id="16" name="">
            <a:extLst xmlns:a="http://schemas.openxmlformats.org/drawingml/2006/main">
              <a:ext uri="{FF2B5EF4-FFF2-40B4-BE49-F238E27FC236}">
                <a16:creationId xmlns:a16="http://schemas.microsoft.com/office/drawing/2014/main" id="{707B4D61-4907-4A5F-BE30-2C31008C985F}"/>
              </a:ext>
            </a:extLst>
          </p:cNvPr>
          <p:cNvSpPr>
            <a:spLocks xmlns:a="http://schemas.openxmlformats.org/drawingml/2006/main" noGrp="1"/>
          </p:cNvSpPr>
          <p:nvPr/>
        </p:nvSpPr>
        <p:spPr>
          <a:xfrm xmlns:a="http://schemas.openxmlformats.org/drawingml/2006/main">
            <a:off x="6181725"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868"/>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Create query embedding</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Company ID filter in SQL</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Full-text and embedding search</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Rank up to 30 records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Use quality and recency</a:t>
            </a:r>
          </a:p>
        </p:txBody>
      </p:sp>
      <p:sp>
        <p:nvSpPr>
          <p:cNvPr id="17" name="">
            <a:extLst xmlns:a="http://schemas.openxmlformats.org/drawingml/2006/main">
              <a:ext uri="{FF2B5EF4-FFF2-40B4-BE49-F238E27FC236}">
                <a16:creationId xmlns:a16="http://schemas.microsoft.com/office/drawing/2014/main" id="{10E9349B-FC80-44F0-8C6F-18040F8C0556}"/>
              </a:ext>
            </a:extLst>
          </p:cNvPr>
          <p:cNvSpPr>
            <a:spLocks xmlns:a="http://schemas.openxmlformats.org/drawingml/2006/main" noGrp="1"/>
          </p:cNvSpPr>
          <p:nvPr/>
        </p:nvSpPr>
        <p:spPr>
          <a:xfrm xmlns:a="http://schemas.openxmlformats.org/drawingml/2006/main">
            <a:off x="9744075"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D0D5DD"/>
            </a:solidFill>
            <a:prstDash val="solid"/>
          </a:ln>
        </p:spPr>
      </p:sp>
      <p:sp>
        <p:nvSpPr>
          <p:cNvPr id="18" name="">
            <a:extLst xmlns:a="http://schemas.openxmlformats.org/drawingml/2006/main">
              <a:ext uri="{FF2B5EF4-FFF2-40B4-BE49-F238E27FC236}">
                <a16:creationId xmlns:a16="http://schemas.microsoft.com/office/drawing/2014/main" id="{8C14EADC-1D14-41C1-86E1-E97BD739DCBD}"/>
              </a:ext>
            </a:extLst>
          </p:cNvPr>
          <p:cNvSpPr>
            <a:spLocks xmlns:a="http://schemas.openxmlformats.org/drawingml/2006/main" noGrp="1"/>
          </p:cNvSpPr>
          <p:nvPr/>
        </p:nvSpPr>
        <p:spPr>
          <a:xfrm xmlns:a="http://schemas.openxmlformats.org/drawingml/2006/main">
            <a:off x="9896475"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Investor UI</a:t>
            </a:r>
          </a:p>
        </p:txBody>
      </p:sp>
      <p:sp>
        <p:nvSpPr>
          <p:cNvPr id="19" name="">
            <a:extLst xmlns:a="http://schemas.openxmlformats.org/drawingml/2006/main">
              <a:ext uri="{FF2B5EF4-FFF2-40B4-BE49-F238E27FC236}">
                <a16:creationId xmlns:a16="http://schemas.microsoft.com/office/drawing/2014/main" id="{088C108C-FA6E-42B8-8F1A-D28D9488EFEC}"/>
              </a:ext>
            </a:extLst>
          </p:cNvPr>
          <p:cNvSpPr>
            <a:spLocks xmlns:a="http://schemas.openxmlformats.org/drawingml/2006/main" noGrp="1"/>
          </p:cNvSpPr>
          <p:nvPr/>
        </p:nvSpPr>
        <p:spPr>
          <a:xfrm xmlns:a="http://schemas.openxmlformats.org/drawingml/2006/main">
            <a:off x="9896475"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Portfolio or pipeline</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Brief in 30 seconds or less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Open evidence and full source</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Send feedback</a:t>
            </a:r>
          </a:p>
        </p:txBody>
      </p:sp>
      <p:cxnSp>
        <p:nvCxnSpPr>
          <p:cNvPr id="1095" name=""/>
          <p:cNvCxnSpPr>
            <a:stCxn xmlns:a="http://schemas.openxmlformats.org/drawingml/2006/main" id="5" idx="3"/>
            <a:endCxn xmlns:a="http://schemas.openxmlformats.org/drawingml/2006/main" id="8" idx="1"/>
          </p:cNvCxnSpPr>
          <p:nvPr/>
        </p:nvCxnSpPr>
        <p:spPr>
          <a:xfrm xmlns:a="http://schemas.openxmlformats.org/drawingml/2006/main">
            <a:off x="2124075" y="3048000"/>
            <a:ext cx="19050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1096" name=""/>
          <p:cNvCxnSpPr>
            <a:stCxn xmlns:a="http://schemas.openxmlformats.org/drawingml/2006/main" id="8" idx="3"/>
            <a:endCxn xmlns:a="http://schemas.openxmlformats.org/drawingml/2006/main" id="11" idx="1"/>
          </p:cNvCxnSpPr>
          <p:nvPr/>
        </p:nvCxnSpPr>
        <p:spPr>
          <a:xfrm xmlns:a="http://schemas.openxmlformats.org/drawingml/2006/main">
            <a:off x="3981450" y="3048000"/>
            <a:ext cx="19050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1097" name=""/>
          <p:cNvCxnSpPr>
            <a:stCxn xmlns:a="http://schemas.openxmlformats.org/drawingml/2006/main" id="11" idx="3"/>
            <a:endCxn xmlns:a="http://schemas.openxmlformats.org/drawingml/2006/main" id="14" idx="1"/>
          </p:cNvCxnSpPr>
          <p:nvPr/>
        </p:nvCxnSpPr>
        <p:spPr>
          <a:xfrm xmlns:a="http://schemas.openxmlformats.org/drawingml/2006/main">
            <a:off x="5838825" y="3048000"/>
            <a:ext cx="19050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1098" name=""/>
          <p:cNvCxnSpPr>
            <a:stCxn xmlns:a="http://schemas.openxmlformats.org/drawingml/2006/main" id="14" idx="3"/>
            <a:endCxn xmlns:a="http://schemas.openxmlformats.org/drawingml/2006/main" id="17" idx="1"/>
          </p:cNvCxnSpPr>
          <p:nvPr/>
        </p:nvCxnSpPr>
        <p:spPr>
          <a:xfrm xmlns:a="http://schemas.openxmlformats.org/drawingml/2006/main">
            <a:off x="7696200" y="3048000"/>
            <a:ext cx="2047875"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sp>
        <p:nvSpPr>
          <p:cNvPr id="24" name="">
            <a:extLst xmlns:a="http://schemas.openxmlformats.org/drawingml/2006/main">
              <a:ext uri="{FF2B5EF4-FFF2-40B4-BE49-F238E27FC236}">
                <a16:creationId xmlns:a16="http://schemas.microsoft.com/office/drawing/2014/main" id="{B61FFB58-BB8E-471E-98CB-49CBA54C515D}"/>
              </a:ext>
            </a:extLst>
          </p:cNvPr>
          <p:cNvSpPr>
            <a:spLocks xmlns:a="http://schemas.openxmlformats.org/drawingml/2006/main" noGrp="1"/>
          </p:cNvSpPr>
          <p:nvPr/>
        </p:nvSpPr>
        <p:spPr>
          <a:xfrm xmlns:a="http://schemas.openxmlformats.org/drawingml/2006/main">
            <a:off x="457200" y="4438650"/>
            <a:ext cx="10858500" cy="1619250"/>
          </a:xfrm>
          <a:prstGeom xmlns:a="http://schemas.openxmlformats.org/drawingml/2006/main" prst="roundRect">
            <a:avLst>
              <a:gd name="adj" fmla="val 11940"/>
            </a:avLst>
          </a:prstGeom>
          <a:solidFill xmlns:a="http://schemas.openxmlformats.org/drawingml/2006/main">
            <a:srgbClr val="000000">
              <a:alpha val="0"/>
            </a:srgbClr>
          </a:solidFill>
          <a:ln xmlns:a="http://schemas.openxmlformats.org/drawingml/2006/main" w="9525">
            <a:solidFill>
              <a:srgbClr val="D0D5DD"/>
            </a:solidFill>
            <a:prstDash val="solid"/>
          </a:ln>
        </p:spPr>
      </p:sp>
      <p:sp>
        <p:nvSpPr>
          <p:cNvPr id="25" name="">
            <a:extLst xmlns:a="http://schemas.openxmlformats.org/drawingml/2006/main">
              <a:ext uri="{FF2B5EF4-FFF2-40B4-BE49-F238E27FC236}">
                <a16:creationId xmlns:a16="http://schemas.microsoft.com/office/drawing/2014/main" id="{07F00A8E-F14E-4A01-8264-2EC18B7520DF}"/>
              </a:ext>
            </a:extLst>
          </p:cNvPr>
          <p:cNvSpPr>
            <a:spLocks xmlns:a="http://schemas.openxmlformats.org/drawingml/2006/main" noGrp="1"/>
          </p:cNvSpPr>
          <p:nvPr/>
        </p:nvSpPr>
        <p:spPr>
          <a:xfrm xmlns:a="http://schemas.openxmlformats.org/drawingml/2006/main">
            <a:off x="685800" y="462915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714"/>
          </a:bodyPr>
          <a:lstStyle xmlns:a="http://schemas.openxmlformats.org/drawingml/2006/main"/>
          <a:p xmlns:a="http://schemas.openxmlformats.org/drawingml/2006/main">
            <a:pPr algn="l">
              <a:buNone/>
              <a:defRPr sz="1500" b="1">
                <a:solidFill>
                  <a:srgbClr val="101828"/>
                </a:solidFill>
                <a:latin typeface="Helvetica Neue"/>
                <a:ea typeface="Helvetica Neue"/>
                <a:cs typeface="Helvetica Neue"/>
              </a:defRPr>
            </a:pPr>
            <a:r>
              <a:rPr sz="1050" b="1">
                <a:solidFill>
                  <a:srgbClr val="315F9F"/>
                </a:solidFill>
                <a:latin typeface="Helvetica Neue"/>
                <a:ea typeface="Helvetica Neue"/>
                <a:cs typeface="Helvetica Neue"/>
              </a:rPr>
              <a:t>CONTROLS THAT STAY</a:t>
            </a:r>
          </a:p>
        </p:txBody>
      </p:sp>
      <p:sp>
        <p:nvSpPr>
          <p:cNvPr id="26" name="">
            <a:extLst xmlns:a="http://schemas.openxmlformats.org/drawingml/2006/main">
              <a:ext uri="{FF2B5EF4-FFF2-40B4-BE49-F238E27FC236}">
                <a16:creationId xmlns:a16="http://schemas.microsoft.com/office/drawing/2014/main" id="{EA4171B3-C020-4C48-902A-199C6AB20D1D}"/>
              </a:ext>
            </a:extLst>
          </p:cNvPr>
          <p:cNvSpPr>
            <a:spLocks xmlns:a="http://schemas.openxmlformats.org/drawingml/2006/main" noGrp="1"/>
          </p:cNvSpPr>
          <p:nvPr/>
        </p:nvSpPr>
        <p:spPr>
          <a:xfrm xmlns:a="http://schemas.openxmlformats.org/drawingml/2006/main">
            <a:off x="2647950" y="4610100"/>
            <a:ext cx="828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344054"/>
                </a:solidFill>
                <a:latin typeface="Helvetica Neue"/>
                <a:ea typeface="Helvetica Neue"/>
                <a:cs typeface="Helvetica Neue"/>
              </a:defRPr>
            </a:pPr>
            <a:r>
              <a:rPr sz="1125" b="0">
                <a:solidFill>
                  <a:srgbClr val="344054"/>
                </a:solidFill>
                <a:latin typeface="Helvetica Neue"/>
                <a:ea typeface="Helvetica Neue"/>
                <a:cs typeface="Helvetica Neue"/>
              </a:rPr>
              <a:t>Checksums · company filter · selected source IDs · value support · source-status guard · timeout · fallback · feedback</a:t>
            </a:r>
          </a:p>
        </p:txBody>
      </p:sp>
      <p:sp>
        <p:nvSpPr>
          <p:cNvPr id="27" name="">
            <a:extLst xmlns:a="http://schemas.openxmlformats.org/drawingml/2006/main">
              <a:ext uri="{FF2B5EF4-FFF2-40B4-BE49-F238E27FC236}">
                <a16:creationId xmlns:a16="http://schemas.microsoft.com/office/drawing/2014/main" id="{95D9C767-43D9-4311-B764-33EAAB1F58EC}"/>
              </a:ext>
            </a:extLst>
          </p:cNvPr>
          <p:cNvSpPr>
            <a:spLocks xmlns:a="http://schemas.openxmlformats.org/drawingml/2006/main" noGrp="1"/>
          </p:cNvSpPr>
          <p:nvPr/>
        </p:nvSpPr>
        <p:spPr>
          <a:xfrm xmlns:a="http://schemas.openxmlformats.org/drawingml/2006/main">
            <a:off x="685800" y="5267325"/>
            <a:ext cx="102489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975" b="1">
                <a:solidFill>
                  <a:srgbClr val="315F9F"/>
                </a:solidFill>
                <a:latin typeface="Helvetica Neue"/>
                <a:ea typeface="Helvetica Neue"/>
                <a:cs typeface="Helvetica Neue"/>
              </a:rPr>
              <a:t>PRODUCTION HARDENING    Managed connectors · access rules · reviewed prompts · model policy · monitoring</a:t>
            </a:r>
          </a:p>
        </p:txBody>
      </p:sp>
      <p:sp>
        <p:nvSpPr>
          <p:cNvPr id="74" name="">
            <a:extLst xmlns:a="http://schemas.openxmlformats.org/drawingml/2006/main">
              <a:ext uri="{FF2B5EF4-FFF2-40B4-BE49-F238E27FC236}">
                <a16:creationId xmlns:a16="http://schemas.microsoft.com/office/drawing/2014/main" id="{876761DC-591F-4BA5-87BF-202A2CAA662F}"/>
              </a:ext>
            </a:extLst>
          </p:cNvPr>
          <p:cNvSpPr>
            <a:spLocks xmlns:a="http://schemas.openxmlformats.org/drawingml/2006/main" noGrp="1"/>
          </p:cNvSpPr>
          <p:nvPr/>
        </p:nvSpPr>
        <p:spPr>
          <a:xfrm xmlns:a="http://schemas.openxmlformats.org/drawingml/2006/main">
            <a:off x="457200" y="1504950"/>
            <a:ext cx="5381625" cy="266700"/>
          </a:xfrm>
          <a:prstGeom xmlns:a="http://schemas.openxmlformats.org/drawingml/2006/main" prst="rect">
            <a:avLst/>
          </a:prstGeom>
        </p:spPr>
        <p:txBody>
          <a:bodyPr xmlns:a="http://schemas.openxmlformats.org/drawingml/2006/main" lIns="38100" tIns="19050" rIns="38100" bIns="19050" anchor="ctr">
            <a:normAutofit fontScale="100000"/>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1  CURRENT IMPORT · BEFORE REQUEST</a:t>
            </a:r>
          </a:p>
        </p:txBody>
      </p:sp>
      <p:sp>
        <p:nvSpPr>
          <p:cNvPr id="75" name="">
            <a:extLst xmlns:a="http://schemas.openxmlformats.org/drawingml/2006/main">
              <a:ext uri="{FF2B5EF4-FFF2-40B4-BE49-F238E27FC236}">
                <a16:creationId xmlns:a16="http://schemas.microsoft.com/office/drawing/2014/main" id="{DE5B8472-F0A9-4DC3-B8D5-E6104426EC1F}"/>
              </a:ext>
            </a:extLst>
          </p:cNvPr>
          <p:cNvSpPr>
            <a:spLocks xmlns:a="http://schemas.openxmlformats.org/drawingml/2006/main" noGrp="1"/>
          </p:cNvSpPr>
          <p:nvPr/>
        </p:nvSpPr>
        <p:spPr>
          <a:xfrm xmlns:a="http://schemas.openxmlformats.org/drawingml/2006/main">
            <a:off x="6029325" y="1504950"/>
            <a:ext cx="5381625" cy="266700"/>
          </a:xfrm>
          <a:prstGeom xmlns:a="http://schemas.openxmlformats.org/drawingml/2006/main" prst="rect">
            <a:avLst/>
          </a:prstGeom>
        </p:spPr>
        <p:txBody>
          <a:bodyPr xmlns:a="http://schemas.openxmlformats.org/drawingml/2006/main" lIns="38100" tIns="19050" rIns="38100" bIns="19050" anchor="ctr">
            <a:normAutofit fontScale="100000"/>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2  CURRENT BRIEF · ON REQUEST</a:t>
            </a:r>
          </a:p>
        </p:txBody>
      </p:sp>
      <p:sp>
        <p:nvSpPr>
          <p:cNvPr id="76" name="">
            <a:extLst xmlns:a="http://schemas.openxmlformats.org/drawingml/2006/main">
              <a:ext uri="{FF2B5EF4-FFF2-40B4-BE49-F238E27FC236}">
                <a16:creationId xmlns:a16="http://schemas.microsoft.com/office/drawing/2014/main" id="{44449F1B-2B10-45DE-9D09-31B025BCA0F1}"/>
              </a:ext>
            </a:extLst>
          </p:cNvPr>
          <p:cNvSpPr>
            <a:spLocks xmlns:a="http://schemas.openxmlformats.org/drawingml/2006/main" noGrp="1"/>
          </p:cNvSpPr>
          <p:nvPr/>
        </p:nvSpPr>
        <p:spPr>
          <a:xfrm xmlns:a="http://schemas.openxmlformats.org/drawingml/2006/main">
            <a:off x="457200" y="1790700"/>
            <a:ext cx="5381625" cy="0"/>
          </a:xfrm>
          <a:prstGeom xmlns:a="http://schemas.openxmlformats.org/drawingml/2006/main" prst="line">
            <a:avLst/>
          </a:prstGeom>
          <a:ln xmlns:a="http://schemas.openxmlformats.org/drawingml/2006/main" w="19050">
            <a:solidFill>
              <a:srgbClr val="5D7FB4"/>
            </a:solidFill>
            <a:prstDash val="solid"/>
          </a:ln>
        </p:spPr>
      </p:sp>
      <p:sp>
        <p:nvSpPr>
          <p:cNvPr id="77" name="">
            <a:extLst xmlns:a="http://schemas.openxmlformats.org/drawingml/2006/main">
              <a:ext uri="{FF2B5EF4-FFF2-40B4-BE49-F238E27FC236}">
                <a16:creationId xmlns:a16="http://schemas.microsoft.com/office/drawing/2014/main" id="{EA399CA2-473B-4773-B305-27FBBE0FE99A}"/>
              </a:ext>
            </a:extLst>
          </p:cNvPr>
          <p:cNvSpPr>
            <a:spLocks xmlns:a="http://schemas.openxmlformats.org/drawingml/2006/main" noGrp="1"/>
          </p:cNvSpPr>
          <p:nvPr/>
        </p:nvSpPr>
        <p:spPr>
          <a:xfrm xmlns:a="http://schemas.openxmlformats.org/drawingml/2006/main">
            <a:off x="6029325" y="1790700"/>
            <a:ext cx="5381625" cy="0"/>
          </a:xfrm>
          <a:prstGeom xmlns:a="http://schemas.openxmlformats.org/drawingml/2006/main" prst="line">
            <a:avLst/>
          </a:prstGeom>
          <a:ln xmlns:a="http://schemas.openxmlformats.org/drawingml/2006/main" w="19050">
            <a:solidFill>
              <a:srgbClr val="5D7FB4"/>
            </a:solidFill>
            <a:prstDash val="solid"/>
          </a:ln>
        </p:spPr>
      </p:sp>
      <p:sp>
        <p:nvSpPr>
          <p:cNvPr id="78" name="">
            <a:extLst xmlns:a="http://schemas.openxmlformats.org/drawingml/2006/main">
              <a:ext uri="{FF2B5EF4-FFF2-40B4-BE49-F238E27FC236}">
                <a16:creationId xmlns:a16="http://schemas.microsoft.com/office/drawing/2014/main" id="{19D8B9AA-FBB8-4320-B731-75F48F456FAB}"/>
              </a:ext>
            </a:extLst>
          </p:cNvPr>
          <p:cNvSpPr>
            <a:spLocks xmlns:a="http://schemas.openxmlformats.org/drawingml/2006/main" noGrp="1"/>
          </p:cNvSpPr>
          <p:nvPr/>
        </p:nvSpPr>
        <p:spPr>
          <a:xfrm xmlns:a="http://schemas.openxmlformats.org/drawingml/2006/main">
            <a:off x="7886700" y="1952625"/>
            <a:ext cx="1666875" cy="2190750"/>
          </a:xfrm>
          <a:prstGeom xmlns:a="http://schemas.openxmlformats.org/drawingml/2006/main" prst="roundRect">
            <a:avLst>
              <a:gd name="adj" fmla="val 8000"/>
            </a:avLst>
          </a:prstGeom>
          <a:solidFill xmlns:a="http://schemas.openxmlformats.org/drawingml/2006/main">
            <a:srgbClr val="000000">
              <a:alpha val="0"/>
            </a:srgbClr>
          </a:solidFill>
          <a:ln xmlns:a="http://schemas.openxmlformats.org/drawingml/2006/main" w="9525">
            <a:solidFill>
              <a:srgbClr val="9CB5D5"/>
            </a:solidFill>
            <a:prstDash val="solid"/>
          </a:ln>
        </p:spPr>
      </p:sp>
      <p:sp>
        <p:nvSpPr>
          <p:cNvPr id="79" name="">
            <a:extLst xmlns:a="http://schemas.openxmlformats.org/drawingml/2006/main">
              <a:ext uri="{FF2B5EF4-FFF2-40B4-BE49-F238E27FC236}">
                <a16:creationId xmlns:a16="http://schemas.microsoft.com/office/drawing/2014/main" id="{51BDDF48-D89D-41EC-93BE-8EAFD88E737A}"/>
              </a:ext>
            </a:extLst>
          </p:cNvPr>
          <p:cNvSpPr>
            <a:spLocks xmlns:a="http://schemas.openxmlformats.org/drawingml/2006/main" noGrp="1"/>
          </p:cNvSpPr>
          <p:nvPr/>
        </p:nvSpPr>
        <p:spPr>
          <a:xfrm xmlns:a="http://schemas.openxmlformats.org/drawingml/2006/main">
            <a:off x="8039100" y="2133600"/>
            <a:ext cx="1362075" cy="266700"/>
          </a:xfrm>
          <a:prstGeom xmlns:a="http://schemas.openxmlformats.org/drawingml/2006/main" prst="rect">
            <a:avLst/>
          </a:prstGeom>
        </p:spPr>
        <p:txBody>
          <a:bodyPr xmlns:a="http://schemas.openxmlformats.org/drawingml/2006/main" lIns="38100" tIns="19050" rIns="38100" bIns="19050" anchor="ctr">
            <a:normAutofit fontScale="100000"/>
          </a:bodyPr>
          <a:lstStyle xmlns:a="http://schemas.openxmlformats.org/drawingml/2006/main"/>
          <a:p xmlns:a="http://schemas.openxmlformats.org/drawingml/2006/main">
            <a:pPr algn="l">
              <a:buNone/>
              <a:defRPr sz="1350" b="1">
                <a:solidFill>
                  <a:srgbClr val="344054"/>
                </a:solidFill>
                <a:latin typeface="Helvetica Neue"/>
                <a:ea typeface="Helvetica Neue"/>
                <a:cs typeface="Helvetica Neue"/>
              </a:defRPr>
            </a:pPr>
            <a:r>
              <a:rPr sz="1350" b="1">
                <a:solidFill>
                  <a:srgbClr val="344054"/>
                </a:solidFill>
                <a:latin typeface="Helvetica Neue"/>
                <a:ea typeface="Helvetica Neue"/>
                <a:cs typeface="Helvetica Neue"/>
              </a:rPr>
              <a:t>Build brief</a:t>
            </a:r>
          </a:p>
        </p:txBody>
      </p:sp>
      <p:sp>
        <p:nvSpPr>
          <p:cNvPr id="80" name="">
            <a:extLst xmlns:a="http://schemas.openxmlformats.org/drawingml/2006/main">
              <a:ext uri="{FF2B5EF4-FFF2-40B4-BE49-F238E27FC236}">
                <a16:creationId xmlns:a16="http://schemas.microsoft.com/office/drawing/2014/main" id="{F845698F-CB86-4AEE-AD81-65F6E539E320}"/>
              </a:ext>
            </a:extLst>
          </p:cNvPr>
          <p:cNvSpPr>
            <a:spLocks xmlns:a="http://schemas.openxmlformats.org/drawingml/2006/main" noGrp="1"/>
          </p:cNvSpPr>
          <p:nvPr/>
        </p:nvSpPr>
        <p:spPr>
          <a:xfrm xmlns:a="http://schemas.openxmlformats.org/drawingml/2006/main">
            <a:off x="8039100" y="2514600"/>
            <a:ext cx="1362075" cy="1447800"/>
          </a:xfrm>
          <a:prstGeom xmlns:a="http://schemas.openxmlformats.org/drawingml/2006/main" prst="rect">
            <a:avLst/>
          </a:prstGeom>
        </p:spPr>
        <p:txBody>
          <a:bodyPr xmlns:a="http://schemas.openxmlformats.org/drawingml/2006/main" lIns="38100" tIns="19050" rIns="38100" bIns="19050" anchor="t">
            <a:normAutofit fontScale="100000"/>
          </a:bodyPr>
          <a:lstStyle xmlns:a="http://schemas.openxmlformats.org/drawingml/2006/main"/>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gpt-5.6-sol</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Responses API</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Selected sources</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Strict checks</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Save or fallback</a:t>
            </a:r>
          </a:p>
        </p:txBody>
      </p:sp>
      <p:cxnSp>
        <p:nvCxnSpPr>
          <p:cNvPr id="1110" name=""/>
          <p:cNvCxnSpPr>
            <a:stCxn xmlns:a="http://schemas.openxmlformats.org/drawingml/2006/main" id="14" idx="3"/>
            <a:endCxn xmlns:a="http://schemas.openxmlformats.org/drawingml/2006/main" id="78" idx="1"/>
          </p:cNvCxnSpPr>
          <p:nvPr/>
        </p:nvCxnSpPr>
        <p:spPr>
          <a:xfrm xmlns:a="http://schemas.openxmlformats.org/drawingml/2006/main">
            <a:off x="7696200" y="3048000"/>
            <a:ext cx="190500" cy="0"/>
          </a:xfrm>
          <a:prstGeom xmlns:a="http://schemas.openxmlformats.org/drawingml/2006/main" prst="straightConnector1">
            <a:avLst/>
          </a:prstGeom>
          <a:ln xmlns:a="http://schemas.openxmlformats.org/drawingml/2006/main" w="19050">
            <a:solidFill>
              <a:srgbClr val="5D7FB4"/>
            </a:solidFill>
            <a:prstDash val="solid"/>
            <a:tailEnd type="arrow" w="sm" len="sm"/>
          </a:ln>
        </p:spPr>
      </p:cxnSp>
      <p:cxnSp>
        <p:nvCxnSpPr>
          <p:cNvPr id="1111" name=""/>
          <p:cNvCxnSpPr>
            <a:stCxn xmlns:a="http://schemas.openxmlformats.org/drawingml/2006/main" id="78" idx="3"/>
            <a:endCxn xmlns:a="http://schemas.openxmlformats.org/drawingml/2006/main" id="17" idx="1"/>
          </p:cNvCxnSpPr>
          <p:nvPr/>
        </p:nvCxnSpPr>
        <p:spPr>
          <a:xfrm xmlns:a="http://schemas.openxmlformats.org/drawingml/2006/main">
            <a:off x="9553575" y="3048000"/>
            <a:ext cx="190500" cy="0"/>
          </a:xfrm>
          <a:prstGeom xmlns:a="http://schemas.openxmlformats.org/drawingml/2006/main" prst="straightConnector1">
            <a:avLst/>
          </a:prstGeom>
          <a:ln xmlns:a="http://schemas.openxmlformats.org/drawingml/2006/main" w="19050">
            <a:solidFill>
              <a:srgbClr val="5D7FB4"/>
            </a:solidFill>
            <a:prstDash val="solid"/>
            <a:tailEnd type="arrow" w="sm" len="sm"/>
          </a:ln>
        </p:spPr>
      </p:cxnSp>
      <p:sp>
        <p:nvSpPr>
          <p:cNvPr id="83" name="">
            <a:extLst xmlns:a="http://schemas.openxmlformats.org/drawingml/2006/main">
              <a:ext uri="{FF2B5EF4-FFF2-40B4-BE49-F238E27FC236}">
                <a16:creationId xmlns:a16="http://schemas.microsoft.com/office/drawing/2014/main" id="{992E4A4C-71BB-4B03-9841-87FC93E819CD}"/>
              </a:ext>
            </a:extLst>
          </p:cNvPr>
          <p:cNvSpPr>
            <a:spLocks xmlns:a="http://schemas.openxmlformats.org/drawingml/2006/main" noGrp="1"/>
          </p:cNvSpPr>
          <p:nvPr/>
        </p:nvSpPr>
        <p:spPr>
          <a:xfrm xmlns:a="http://schemas.openxmlformats.org/drawingml/2006/main">
            <a:off x="590550" y="5105400"/>
            <a:ext cx="10534650" cy="609600"/>
          </a:xfrm>
          <a:prstGeom xmlns:a="http://schemas.openxmlformats.org/drawingml/2006/main" prst="roundRect">
            <a:avLst>
              <a:gd name="adj" fmla="val 15625"/>
            </a:avLst>
          </a:prstGeom>
          <a:solidFill xmlns:a="http://schemas.openxmlformats.org/drawingml/2006/main">
            <a:srgbClr val="000000">
              <a:alpha val="0"/>
            </a:srgbClr>
          </a:solidFill>
          <a:ln xmlns:a="http://schemas.openxmlformats.org/drawingml/2006/main" w="9525">
            <a:solidFill>
              <a:srgbClr val="5D7FB4"/>
            </a:solidFill>
            <a:prstDash val="dash"/>
          </a:ln>
        </p:spPr>
      </p:sp>
      <p:pic>
        <p:nvPicPr>
          <p:cNvPr id="1113" name=""/>
          <p:cNvPicPr>
            <a:picLocks xmlns:a="http://schemas.openxmlformats.org/drawingml/2006/main" noChangeAspect="1"/>
          </p:cNvPicPr>
          <p:nvPr/>
        </p:nvPicPr>
        <p:blipFill>
          <a:blip xmlns:r="http://schemas.openxmlformats.org/officeDocument/2006/relationships" xmlns:a="http://schemas.openxmlformats.org/drawingml/2006/main" r:embed="R904c850d77fb4b7e"/>
          <a:stretch xmlns:a="http://schemas.openxmlformats.org/drawingml/2006/main"/>
        </p:blipFill>
        <p:spPr>
          <a:xfrm xmlns:a="http://schemas.openxmlformats.org/drawingml/2006/main">
            <a:off x="439341" y="1476375"/>
            <a:ext cx="11084719" cy="4667250"/>
          </a:xfrm>
          <a:prstGeom xmlns:a="http://schemas.openxmlformats.org/drawingml/2006/main" prst="rect">
            <a:avLst/>
          </a:prstGeom>
        </p:spPr>
      </p:pic>
    </p:spTree>
    <p:extLst>
      <p:ext uri="{BB962C8B-B14F-4D97-AF65-F5344CB8AC3E}">
        <p14:creationId xmlns:p14="http://schemas.microsoft.com/office/powerpoint/2010/main" val="1629625627"/>
      </p:ext>
    </p:extLst>
  </p:cSld>
</p:sld>
</file>

<file path=ppt/slides/slide5.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11B61CF6-96B9-4010-86E0-F685F3D94FCB}"/>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2550" b="1">
                <a:solidFill>
                  <a:srgbClr val="101828"/>
                </a:solidFill>
                <a:latin typeface="Helvetica Neue"/>
                <a:ea typeface="Helvetica Neue"/>
                <a:cs typeface="Helvetica Neue"/>
              </a:rPr>
              <a:t>Why does this stack fit V1?</a:t>
            </a:r>
          </a:p>
        </p:txBody>
      </p:sp>
      <p:sp>
        <p:nvSpPr>
          <p:cNvPr id="2" name="">
            <a:extLst xmlns:a="http://schemas.openxmlformats.org/drawingml/2006/main">
              <a:ext uri="{FF2B5EF4-FFF2-40B4-BE49-F238E27FC236}">
                <a16:creationId xmlns:a16="http://schemas.microsoft.com/office/drawing/2014/main" id="{7D9C5C2F-6C9D-4161-8CD3-13E090AC468D}"/>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9600F930-A327-4D42-B3AC-B4690BAC588C}"/>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05</a:t>
            </a:r>
          </a:p>
        </p:txBody>
      </p:sp>
      <p:sp>
        <p:nvSpPr>
          <p:cNvPr id="4" name="">
            <a:extLst xmlns:a="http://schemas.openxmlformats.org/drawingml/2006/main">
              <a:ext uri="{FF2B5EF4-FFF2-40B4-BE49-F238E27FC236}">
                <a16:creationId xmlns:a16="http://schemas.microsoft.com/office/drawing/2014/main" id="{8FE6BFC8-F410-4A84-9798-3C4E13160A16}"/>
              </a:ext>
            </a:extLst>
          </p:cNvPr>
          <p:cNvSpPr>
            <a:spLocks xmlns:a="http://schemas.openxmlformats.org/drawingml/2006/main" noGrp="1"/>
          </p:cNvSpPr>
          <p:nvPr/>
        </p:nvSpPr>
        <p:spPr>
          <a:xfrm xmlns:a="http://schemas.openxmlformats.org/drawingml/2006/main">
            <a:off x="457200" y="146685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TECHNOLOGY</a:t>
            </a:r>
          </a:p>
        </p:txBody>
      </p:sp>
      <p:sp>
        <p:nvSpPr>
          <p:cNvPr id="5" name="">
            <a:extLst xmlns:a="http://schemas.openxmlformats.org/drawingml/2006/main">
              <a:ext uri="{FF2B5EF4-FFF2-40B4-BE49-F238E27FC236}">
                <a16:creationId xmlns:a16="http://schemas.microsoft.com/office/drawing/2014/main" id="{7F4CD62E-8C04-4F26-9606-CF238E6B5EFC}"/>
              </a:ext>
            </a:extLst>
          </p:cNvPr>
          <p:cNvSpPr>
            <a:spLocks xmlns:a="http://schemas.openxmlformats.org/drawingml/2006/main" noGrp="1"/>
          </p:cNvSpPr>
          <p:nvPr/>
        </p:nvSpPr>
        <p:spPr>
          <a:xfrm xmlns:a="http://schemas.openxmlformats.org/drawingml/2006/main">
            <a:off x="3333750" y="1466850"/>
            <a:ext cx="7981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WHY IT FITS V1 AND THE TRADE-OFF</a:t>
            </a:r>
          </a:p>
        </p:txBody>
      </p:sp>
      <p:sp>
        <p:nvSpPr>
          <p:cNvPr id="7" name="">
            <a:extLst xmlns:a="http://schemas.openxmlformats.org/drawingml/2006/main">
              <a:ext uri="{FF2B5EF4-FFF2-40B4-BE49-F238E27FC236}">
                <a16:creationId xmlns:a16="http://schemas.microsoft.com/office/drawing/2014/main" id="{7B495C59-B79D-4705-8DC0-ABF561EA71FE}"/>
              </a:ext>
            </a:extLst>
          </p:cNvPr>
          <p:cNvSpPr>
            <a:spLocks xmlns:a="http://schemas.openxmlformats.org/drawingml/2006/main" noGrp="1"/>
          </p:cNvSpPr>
          <p:nvPr/>
        </p:nvSpPr>
        <p:spPr>
          <a:xfrm xmlns:a="http://schemas.openxmlformats.org/drawingml/2006/main">
            <a:off x="457200" y="1809750"/>
            <a:ext cx="10858500" cy="876300"/>
          </a:xfrm>
          <a:prstGeom xmlns:a="http://schemas.openxmlformats.org/drawingml/2006/main" prst="roundRect">
            <a:avLst>
              <a:gd name="adj" fmla="val 13043"/>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EC69FB3E-B8A8-4D49-ACC4-AD76F61A27CC}"/>
              </a:ext>
            </a:extLst>
          </p:cNvPr>
          <p:cNvSpPr>
            <a:spLocks xmlns:a="http://schemas.openxmlformats.org/drawingml/2006/main" noGrp="1"/>
          </p:cNvSpPr>
          <p:nvPr/>
        </p:nvSpPr>
        <p:spPr>
          <a:xfrm xmlns:a="http://schemas.openxmlformats.org/drawingml/2006/main">
            <a:off x="628650" y="19716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Next.js, React, TypeScript, and Shadcn</a:t>
            </a:r>
          </a:p>
        </p:txBody>
      </p:sp>
      <p:sp>
        <p:nvSpPr>
          <p:cNvPr id="9" name="">
            <a:extLst xmlns:a="http://schemas.openxmlformats.org/drawingml/2006/main">
              <a:ext uri="{FF2B5EF4-FFF2-40B4-BE49-F238E27FC236}">
                <a16:creationId xmlns:a16="http://schemas.microsoft.com/office/drawing/2014/main" id="{E307D8A2-A73D-48D0-83AA-5127647BCBD8}"/>
              </a:ext>
            </a:extLst>
          </p:cNvPr>
          <p:cNvSpPr>
            <a:spLocks xmlns:a="http://schemas.openxmlformats.org/drawingml/2006/main" noGrp="1"/>
          </p:cNvSpPr>
          <p:nvPr/>
        </p:nvSpPr>
        <p:spPr>
          <a:xfrm xmlns:a="http://schemas.openxmlformats.org/drawingml/2006/main">
            <a:off x="3333750" y="1971675"/>
            <a:ext cx="77343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app serves the interface and API routes. Trade-off: the web and service layers do not scale separately.</a:t>
            </a:r>
          </a:p>
        </p:txBody>
      </p:sp>
      <p:sp>
        <p:nvSpPr>
          <p:cNvPr id="11" name="">
            <a:extLst xmlns:a="http://schemas.openxmlformats.org/drawingml/2006/main">
              <a:ext uri="{FF2B5EF4-FFF2-40B4-BE49-F238E27FC236}">
                <a16:creationId xmlns:a16="http://schemas.microsoft.com/office/drawing/2014/main" id="{38DE38FC-42AC-41E0-A6D8-61A4AA3E9D2B}"/>
              </a:ext>
            </a:extLst>
          </p:cNvPr>
          <p:cNvSpPr>
            <a:spLocks xmlns:a="http://schemas.openxmlformats.org/drawingml/2006/main" noGrp="1"/>
          </p:cNvSpPr>
          <p:nvPr/>
        </p:nvSpPr>
        <p:spPr>
          <a:xfrm xmlns:a="http://schemas.openxmlformats.org/drawingml/2006/main">
            <a:off x="457200" y="2838450"/>
            <a:ext cx="10858500" cy="876300"/>
          </a:xfrm>
          <a:prstGeom xmlns:a="http://schemas.openxmlformats.org/drawingml/2006/main" prst="roundRect">
            <a:avLst>
              <a:gd name="adj" fmla="val 13043"/>
            </a:avLst>
          </a:prstGeom>
          <a:solidFill xmlns:a="http://schemas.openxmlformats.org/drawingml/2006/main">
            <a:srgbClr val="F2F4F7"/>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142B5CD3-C553-481E-9C26-C13B5B4631BC}"/>
              </a:ext>
            </a:extLst>
          </p:cNvPr>
          <p:cNvSpPr>
            <a:spLocks xmlns:a="http://schemas.openxmlformats.org/drawingml/2006/main" noGrp="1"/>
          </p:cNvSpPr>
          <p:nvPr/>
        </p:nvSpPr>
        <p:spPr>
          <a:xfrm xmlns:a="http://schemas.openxmlformats.org/drawingml/2006/main">
            <a:off x="628650" y="30003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PostgreSQL 17 and pgvector</a:t>
            </a:r>
          </a:p>
        </p:txBody>
      </p:sp>
      <p:sp>
        <p:nvSpPr>
          <p:cNvPr id="13" name="">
            <a:extLst xmlns:a="http://schemas.openxmlformats.org/drawingml/2006/main">
              <a:ext uri="{FF2B5EF4-FFF2-40B4-BE49-F238E27FC236}">
                <a16:creationId xmlns:a16="http://schemas.microsoft.com/office/drawing/2014/main" id="{396A0E06-95B2-41D7-B971-71C0C0FF5E81}"/>
              </a:ext>
            </a:extLst>
          </p:cNvPr>
          <p:cNvSpPr>
            <a:spLocks xmlns:a="http://schemas.openxmlformats.org/drawingml/2006/main" noGrp="1"/>
          </p:cNvSpPr>
          <p:nvPr/>
        </p:nvSpPr>
        <p:spPr>
          <a:xfrm xmlns:a="http://schemas.openxmlformats.org/drawingml/2006/main">
            <a:off x="3333750" y="3000375"/>
            <a:ext cx="77343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database stores facts, source text, and embeddings. Trade-off: a larger system can need separate search and file storage.</a:t>
            </a:r>
          </a:p>
        </p:txBody>
      </p:sp>
      <p:sp>
        <p:nvSpPr>
          <p:cNvPr id="15" name="">
            <a:extLst xmlns:a="http://schemas.openxmlformats.org/drawingml/2006/main">
              <a:ext uri="{FF2B5EF4-FFF2-40B4-BE49-F238E27FC236}">
                <a16:creationId xmlns:a16="http://schemas.microsoft.com/office/drawing/2014/main" id="{AEEC5BFB-FF21-41F2-9BF1-F8473C9BF235}"/>
              </a:ext>
            </a:extLst>
          </p:cNvPr>
          <p:cNvSpPr>
            <a:spLocks xmlns:a="http://schemas.openxmlformats.org/drawingml/2006/main" noGrp="1"/>
          </p:cNvSpPr>
          <p:nvPr/>
        </p:nvSpPr>
        <p:spPr>
          <a:xfrm xmlns:a="http://schemas.openxmlformats.org/drawingml/2006/main">
            <a:off x="457200" y="3867150"/>
            <a:ext cx="10858500" cy="876300"/>
          </a:xfrm>
          <a:prstGeom xmlns:a="http://schemas.openxmlformats.org/drawingml/2006/main" prst="roundRect">
            <a:avLst>
              <a:gd name="adj" fmla="val 13043"/>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ACE4786C-2CF3-4F87-A674-4A90F5B229EC}"/>
              </a:ext>
            </a:extLst>
          </p:cNvPr>
          <p:cNvSpPr>
            <a:spLocks xmlns:a="http://schemas.openxmlformats.org/drawingml/2006/main" noGrp="1"/>
          </p:cNvSpPr>
          <p:nvPr/>
        </p:nvSpPr>
        <p:spPr>
          <a:xfrm xmlns:a="http://schemas.openxmlformats.org/drawingml/2006/main">
            <a:off x="628650" y="40290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File adapters and local Docker</a:t>
            </a:r>
          </a:p>
        </p:txBody>
      </p:sp>
      <p:sp>
        <p:nvSpPr>
          <p:cNvPr id="17" name="">
            <a:extLst xmlns:a="http://schemas.openxmlformats.org/drawingml/2006/main">
              <a:ext uri="{FF2B5EF4-FFF2-40B4-BE49-F238E27FC236}">
                <a16:creationId xmlns:a16="http://schemas.microsoft.com/office/drawing/2014/main" id="{8743BD4F-5E47-4AC2-BD68-A72C07569491}"/>
              </a:ext>
            </a:extLst>
          </p:cNvPr>
          <p:cNvSpPr>
            <a:spLocks xmlns:a="http://schemas.openxmlformats.org/drawingml/2006/main" noGrp="1"/>
          </p:cNvSpPr>
          <p:nvPr/>
        </p:nvSpPr>
        <p:spPr>
          <a:xfrm xmlns:a="http://schemas.openxmlformats.org/drawingml/2006/main">
            <a:off x="3333750" y="4029075"/>
            <a:ext cx="77343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Files make the demo repeatable without live access. Trade-off: new data needs a manual import.</a:t>
            </a:r>
          </a:p>
        </p:txBody>
      </p:sp>
      <p:sp>
        <p:nvSpPr>
          <p:cNvPr id="19" name="">
            <a:extLst xmlns:a="http://schemas.openxmlformats.org/drawingml/2006/main">
              <a:ext uri="{FF2B5EF4-FFF2-40B4-BE49-F238E27FC236}">
                <a16:creationId xmlns:a16="http://schemas.microsoft.com/office/drawing/2014/main" id="{C245F6B4-29EE-4FAF-8CED-C8CB5D03FD20}"/>
              </a:ext>
            </a:extLst>
          </p:cNvPr>
          <p:cNvSpPr>
            <a:spLocks xmlns:a="http://schemas.openxmlformats.org/drawingml/2006/main" noGrp="1"/>
          </p:cNvSpPr>
          <p:nvPr/>
        </p:nvSpPr>
        <p:spPr>
          <a:xfrm xmlns:a="http://schemas.openxmlformats.org/drawingml/2006/main">
            <a:off x="457200" y="4895850"/>
            <a:ext cx="10858500" cy="876300"/>
          </a:xfrm>
          <a:prstGeom xmlns:a="http://schemas.openxmlformats.org/drawingml/2006/main" prst="roundRect">
            <a:avLst>
              <a:gd name="adj" fmla="val 13043"/>
            </a:avLst>
          </a:prstGeom>
          <a:solidFill xmlns:a="http://schemas.openxmlformats.org/drawingml/2006/main">
            <a:srgbClr val="F2F4F7"/>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0D3A7A48-84E5-4A16-8618-B5949755C8FD}"/>
              </a:ext>
            </a:extLst>
          </p:cNvPr>
          <p:cNvSpPr>
            <a:spLocks xmlns:a="http://schemas.openxmlformats.org/drawingml/2006/main" noGrp="1"/>
          </p:cNvSpPr>
          <p:nvPr/>
        </p:nvSpPr>
        <p:spPr>
          <a:xfrm xmlns:a="http://schemas.openxmlformats.org/drawingml/2006/main">
            <a:off x="628650" y="50577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OpenAI (LLM)</a:t>
            </a:r>
          </a:p>
        </p:txBody>
      </p:sp>
      <p:sp>
        <p:nvSpPr>
          <p:cNvPr id="21" name="">
            <a:extLst xmlns:a="http://schemas.openxmlformats.org/drawingml/2006/main">
              <a:ext uri="{FF2B5EF4-FFF2-40B4-BE49-F238E27FC236}">
                <a16:creationId xmlns:a16="http://schemas.microsoft.com/office/drawing/2014/main" id="{73604F0C-EF44-422B-9768-10F27E619077}"/>
              </a:ext>
            </a:extLst>
          </p:cNvPr>
          <p:cNvSpPr>
            <a:spLocks xmlns:a="http://schemas.openxmlformats.org/drawingml/2006/main" noGrp="1"/>
          </p:cNvSpPr>
          <p:nvPr/>
        </p:nvSpPr>
        <p:spPr>
          <a:xfrm xmlns:a="http://schemas.openxmlformats.org/drawingml/2006/main">
            <a:off x="3333750" y="5057775"/>
            <a:ext cx="77343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Embeddings find evidence. gpt-5.6-sol writes the brief. Trade-off: model cost and failure require checks and a local backup.</a:t>
            </a:r>
          </a:p>
        </p:txBody>
      </p:sp>
    </p:spTree>
    <p:extLst>
      <p:ext uri="{BB962C8B-B14F-4D97-AF65-F5344CB8AC3E}">
        <p14:creationId xmlns:p14="http://schemas.microsoft.com/office/powerpoint/2010/main" val="436145467"/>
      </p:ext>
    </p:extLst>
  </p:cSld>
</p:sld>
</file>

<file path=ppt/slides/slide6.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DCB3F631-F107-449F-8532-F0F6CF09ED9C}"/>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is good enough to ship as production V1?</a:t>
            </a:r>
          </a:p>
        </p:txBody>
      </p:sp>
      <p:sp>
        <p:nvSpPr>
          <p:cNvPr id="2" name="">
            <a:extLst xmlns:a="http://schemas.openxmlformats.org/drawingml/2006/main">
              <a:ext uri="{FF2B5EF4-FFF2-40B4-BE49-F238E27FC236}">
                <a16:creationId xmlns:a16="http://schemas.microsoft.com/office/drawing/2014/main" id="{FA2C5372-4CF1-4AE4-A3CD-4E138F754CA8}"/>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4839D6B0-80AA-4FCC-9C2D-6D215827FBA5}"/>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06</a:t>
            </a:r>
          </a:p>
        </p:txBody>
      </p:sp>
      <p:sp>
        <p:nvSpPr>
          <p:cNvPr id="4" name="">
            <a:extLst xmlns:a="http://schemas.openxmlformats.org/drawingml/2006/main">
              <a:ext uri="{FF2B5EF4-FFF2-40B4-BE49-F238E27FC236}">
                <a16:creationId xmlns:a16="http://schemas.microsoft.com/office/drawing/2014/main" id="{82E64302-6EE1-4371-AB23-0D77F5FE7F75}"/>
              </a:ext>
            </a:extLst>
          </p:cNvPr>
          <p:cNvSpPr>
            <a:spLocks xmlns:a="http://schemas.openxmlformats.org/drawingml/2006/main" noGrp="1"/>
          </p:cNvSpPr>
          <p:nvPr/>
        </p:nvSpPr>
        <p:spPr>
          <a:xfrm xmlns:a="http://schemas.openxmlformats.org/drawingml/2006/main">
            <a:off x="457200" y="1466850"/>
            <a:ext cx="10858500" cy="952500"/>
          </a:xfrm>
          <a:prstGeom xmlns:a="http://schemas.openxmlformats.org/drawingml/2006/main" prst="roundRect">
            <a:avLst>
              <a:gd name="adj" fmla="val 16000"/>
            </a:avLst>
          </a:prstGeom>
          <a:solidFill xmlns:a="http://schemas.openxmlformats.org/drawingml/2006/main">
            <a:srgbClr val="E8F0FB"/>
          </a:solidFill>
          <a:ln xmlns:a="http://schemas.openxmlformats.org/drawingml/2006/main" w="9525">
            <a:solidFill>
              <a:srgbClr val="9CB5D5"/>
            </a:solidFill>
            <a:prstDash val="solid"/>
          </a:ln>
        </p:spPr>
      </p:sp>
      <p:sp>
        <p:nvSpPr>
          <p:cNvPr id="5" name="">
            <a:extLst xmlns:a="http://schemas.openxmlformats.org/drawingml/2006/main">
              <a:ext uri="{FF2B5EF4-FFF2-40B4-BE49-F238E27FC236}">
                <a16:creationId xmlns:a16="http://schemas.microsoft.com/office/drawing/2014/main" id="{4A1BEC42-0504-4404-8738-11D6F8F404B8}"/>
              </a:ext>
            </a:extLst>
          </p:cNvPr>
          <p:cNvSpPr>
            <a:spLocks xmlns:a="http://schemas.openxmlformats.org/drawingml/2006/main" noGrp="1"/>
          </p:cNvSpPr>
          <p:nvPr/>
        </p:nvSpPr>
        <p:spPr>
          <a:xfrm xmlns:a="http://schemas.openxmlformats.org/drawingml/2006/main">
            <a:off x="685800" y="1657350"/>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1275" b="1">
                <a:solidFill>
                  <a:srgbClr val="315F9F"/>
                </a:solidFill>
                <a:latin typeface="Helvetica Neue"/>
                <a:ea typeface="Helvetica Neue"/>
                <a:cs typeface="Helvetica Neue"/>
              </a:rPr>
              <a:t>V1 TARGET · CONTROLLED INTERNAL PILOT</a:t>
            </a:r>
          </a:p>
        </p:txBody>
      </p:sp>
      <p:sp>
        <p:nvSpPr>
          <p:cNvPr id="6" name="">
            <a:extLst xmlns:a="http://schemas.openxmlformats.org/drawingml/2006/main">
              <a:ext uri="{FF2B5EF4-FFF2-40B4-BE49-F238E27FC236}">
                <a16:creationId xmlns:a16="http://schemas.microsoft.com/office/drawing/2014/main" id="{58AABA6B-7522-4752-984B-13A58F66327C}"/>
              </a:ext>
            </a:extLst>
          </p:cNvPr>
          <p:cNvSpPr>
            <a:spLocks xmlns:a="http://schemas.openxmlformats.org/drawingml/2006/main" noGrp="1"/>
          </p:cNvSpPr>
          <p:nvPr/>
        </p:nvSpPr>
        <p:spPr>
          <a:xfrm xmlns:a="http://schemas.openxmlformats.org/drawingml/2006/main">
            <a:off x="685800" y="1952625"/>
            <a:ext cx="1009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Move the proof of concept to approved data, access rules, monitored imports, and a named review owner.</a:t>
            </a:r>
          </a:p>
        </p:txBody>
      </p:sp>
      <p:sp>
        <p:nvSpPr>
          <p:cNvPr id="7" name="">
            <a:extLst xmlns:a="http://schemas.openxmlformats.org/drawingml/2006/main">
              <a:ext uri="{FF2B5EF4-FFF2-40B4-BE49-F238E27FC236}">
                <a16:creationId xmlns:a16="http://schemas.microsoft.com/office/drawing/2014/main" id="{B2253D5B-CB83-4217-B157-E169C1C86900}"/>
              </a:ext>
            </a:extLst>
          </p:cNvPr>
          <p:cNvSpPr>
            <a:spLocks xmlns:a="http://schemas.openxmlformats.org/drawingml/2006/main" noGrp="1"/>
          </p:cNvSpPr>
          <p:nvPr/>
        </p:nvSpPr>
        <p:spPr>
          <a:xfrm xmlns:a="http://schemas.openxmlformats.org/drawingml/2006/main">
            <a:off x="45720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9B98B8DF-CD87-4BEC-BD37-808E72CD6957}"/>
              </a:ext>
            </a:extLst>
          </p:cNvPr>
          <p:cNvSpPr>
            <a:spLocks xmlns:a="http://schemas.openxmlformats.org/drawingml/2006/main" noGrp="1"/>
          </p:cNvSpPr>
          <p:nvPr/>
        </p:nvSpPr>
        <p:spPr>
          <a:xfrm xmlns:a="http://schemas.openxmlformats.org/drawingml/2006/main">
            <a:off x="66675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CORE USER STORIES</a:t>
            </a:r>
          </a:p>
        </p:txBody>
      </p:sp>
      <p:sp>
        <p:nvSpPr>
          <p:cNvPr id="9" name="">
            <a:extLst xmlns:a="http://schemas.openxmlformats.org/drawingml/2006/main">
              <a:ext uri="{FF2B5EF4-FFF2-40B4-BE49-F238E27FC236}">
                <a16:creationId xmlns:a16="http://schemas.microsoft.com/office/drawing/2014/main" id="{CCEE06AE-D800-407A-A0B0-2475AB3FC0AF}"/>
              </a:ext>
            </a:extLst>
          </p:cNvPr>
          <p:cNvSpPr>
            <a:spLocks xmlns:a="http://schemas.openxmlformats.org/drawingml/2006/main" noGrp="1"/>
          </p:cNvSpPr>
          <p:nvPr/>
        </p:nvSpPr>
        <p:spPr>
          <a:xfrm xmlns:a="http://schemas.openxmlformats.org/drawingml/2006/main">
            <a:off x="66675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4 jobs</a:t>
            </a:r>
          </a:p>
        </p:txBody>
      </p:sp>
      <p:sp>
        <p:nvSpPr>
          <p:cNvPr id="10" name="">
            <a:extLst xmlns:a="http://schemas.openxmlformats.org/drawingml/2006/main">
              <a:ext uri="{FF2B5EF4-FFF2-40B4-BE49-F238E27FC236}">
                <a16:creationId xmlns:a16="http://schemas.microsoft.com/office/drawing/2014/main" id="{032B57AF-1BAF-46D8-8B4E-B24061CB2A26}"/>
              </a:ext>
            </a:extLst>
          </p:cNvPr>
          <p:cNvSpPr>
            <a:spLocks xmlns:a="http://schemas.openxmlformats.org/drawingml/2006/main" noGrp="1"/>
          </p:cNvSpPr>
          <p:nvPr/>
        </p:nvSpPr>
        <p:spPr>
          <a:xfrm xmlns:a="http://schemas.openxmlformats.org/drawingml/2006/main">
            <a:off x="66675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Get brief · check fact
See gaps · send feedback</a:t>
            </a:r>
          </a:p>
        </p:txBody>
      </p:sp>
      <p:sp>
        <p:nvSpPr>
          <p:cNvPr id="11" name="">
            <a:extLst xmlns:a="http://schemas.openxmlformats.org/drawingml/2006/main">
              <a:ext uri="{FF2B5EF4-FFF2-40B4-BE49-F238E27FC236}">
                <a16:creationId xmlns:a16="http://schemas.microsoft.com/office/drawing/2014/main" id="{C54EE160-B2FE-4724-B4DB-29B4F6C94ED8}"/>
              </a:ext>
            </a:extLst>
          </p:cNvPr>
          <p:cNvSpPr>
            <a:spLocks xmlns:a="http://schemas.openxmlformats.org/drawingml/2006/main" noGrp="1"/>
          </p:cNvSpPr>
          <p:nvPr/>
        </p:nvSpPr>
        <p:spPr>
          <a:xfrm xmlns:a="http://schemas.openxmlformats.org/drawingml/2006/main">
            <a:off x="321945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E103A2B5-5C9B-4684-88A5-D7E54E104F02}"/>
              </a:ext>
            </a:extLst>
          </p:cNvPr>
          <p:cNvSpPr>
            <a:spLocks xmlns:a="http://schemas.openxmlformats.org/drawingml/2006/main" noGrp="1"/>
          </p:cNvSpPr>
          <p:nvPr/>
        </p:nvSpPr>
        <p:spPr>
          <a:xfrm xmlns:a="http://schemas.openxmlformats.org/drawingml/2006/main">
            <a:off x="342900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ACCEPTANCE</a:t>
            </a:r>
          </a:p>
        </p:txBody>
      </p:sp>
      <p:sp>
        <p:nvSpPr>
          <p:cNvPr id="13" name="">
            <a:extLst xmlns:a="http://schemas.openxmlformats.org/drawingml/2006/main">
              <a:ext uri="{FF2B5EF4-FFF2-40B4-BE49-F238E27FC236}">
                <a16:creationId xmlns:a16="http://schemas.microsoft.com/office/drawing/2014/main" id="{9FCDF1D5-5421-492D-BFC5-2AC7138E96FF}"/>
              </a:ext>
            </a:extLst>
          </p:cNvPr>
          <p:cNvSpPr>
            <a:spLocks xmlns:a="http://schemas.openxmlformats.org/drawingml/2006/main" noGrp="1"/>
          </p:cNvSpPr>
          <p:nvPr/>
        </p:nvSpPr>
        <p:spPr>
          <a:xfrm xmlns:a="http://schemas.openxmlformats.org/drawingml/2006/main">
            <a:off x="342900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2850" b="1">
                <a:solidFill>
                  <a:srgbClr val="101828"/>
                </a:solidFill>
                <a:latin typeface="Helvetica Neue"/>
                <a:ea typeface="Helvetica Neue"/>
                <a:cs typeface="Helvetica Neue"/>
              </a:rPr>
              <a:t>Pass</a:t>
            </a:r>
          </a:p>
        </p:txBody>
      </p:sp>
      <p:sp>
        <p:nvSpPr>
          <p:cNvPr id="14" name="">
            <a:extLst xmlns:a="http://schemas.openxmlformats.org/drawingml/2006/main">
              <a:ext uri="{FF2B5EF4-FFF2-40B4-BE49-F238E27FC236}">
                <a16:creationId xmlns:a16="http://schemas.microsoft.com/office/drawing/2014/main" id="{96F3C4E3-ACED-4D21-A3E1-834E7E3DD175}"/>
              </a:ext>
            </a:extLst>
          </p:cNvPr>
          <p:cNvSpPr>
            <a:spLocks xmlns:a="http://schemas.openxmlformats.org/drawingml/2006/main" noGrp="1"/>
          </p:cNvSpPr>
          <p:nvPr/>
        </p:nvSpPr>
        <p:spPr>
          <a:xfrm xmlns:a="http://schemas.openxmlformats.org/drawingml/2006/main">
            <a:off x="342900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16"/>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Source and date · one company
New data changes brief</a:t>
            </a:r>
          </a:p>
        </p:txBody>
      </p:sp>
      <p:sp>
        <p:nvSpPr>
          <p:cNvPr id="15" name="">
            <a:extLst xmlns:a="http://schemas.openxmlformats.org/drawingml/2006/main">
              <a:ext uri="{FF2B5EF4-FFF2-40B4-BE49-F238E27FC236}">
                <a16:creationId xmlns:a16="http://schemas.microsoft.com/office/drawing/2014/main" id="{A7E65777-4F36-4020-AF7C-22F413271467}"/>
              </a:ext>
            </a:extLst>
          </p:cNvPr>
          <p:cNvSpPr>
            <a:spLocks xmlns:a="http://schemas.openxmlformats.org/drawingml/2006/main" noGrp="1"/>
          </p:cNvSpPr>
          <p:nvPr/>
        </p:nvSpPr>
        <p:spPr>
          <a:xfrm xmlns:a="http://schemas.openxmlformats.org/drawingml/2006/main">
            <a:off x="598170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468EA405-4A26-4F28-9A03-279E84257E69}"/>
              </a:ext>
            </a:extLst>
          </p:cNvPr>
          <p:cNvSpPr>
            <a:spLocks xmlns:a="http://schemas.openxmlformats.org/drawingml/2006/main" noGrp="1"/>
          </p:cNvSpPr>
          <p:nvPr/>
        </p:nvSpPr>
        <p:spPr>
          <a:xfrm xmlns:a="http://schemas.openxmlformats.org/drawingml/2006/main">
            <a:off x="619125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KEY PERFORMANCE INDICATORS</a:t>
            </a:r>
          </a:p>
        </p:txBody>
      </p:sp>
      <p:sp>
        <p:nvSpPr>
          <p:cNvPr id="17" name="">
            <a:extLst xmlns:a="http://schemas.openxmlformats.org/drawingml/2006/main">
              <a:ext uri="{FF2B5EF4-FFF2-40B4-BE49-F238E27FC236}">
                <a16:creationId xmlns:a16="http://schemas.microsoft.com/office/drawing/2014/main" id="{D8BE85FE-503D-42CD-9E11-C9853F789DE1}"/>
              </a:ext>
            </a:extLst>
          </p:cNvPr>
          <p:cNvSpPr>
            <a:spLocks xmlns:a="http://schemas.openxmlformats.org/drawingml/2006/main" noGrp="1"/>
          </p:cNvSpPr>
          <p:nvPr/>
        </p:nvSpPr>
        <p:spPr>
          <a:xfrm xmlns:a="http://schemas.openxmlformats.org/drawingml/2006/main">
            <a:off x="619125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4 gates</a:t>
            </a:r>
          </a:p>
        </p:txBody>
      </p:sp>
      <p:sp>
        <p:nvSpPr>
          <p:cNvPr id="18" name="">
            <a:extLst xmlns:a="http://schemas.openxmlformats.org/drawingml/2006/main">
              <a:ext uri="{FF2B5EF4-FFF2-40B4-BE49-F238E27FC236}">
                <a16:creationId xmlns:a16="http://schemas.microsoft.com/office/drawing/2014/main" id="{8B3D565A-3552-4FDC-9339-4D2454B4C0FA}"/>
              </a:ext>
            </a:extLst>
          </p:cNvPr>
          <p:cNvSpPr>
            <a:spLocks xmlns:a="http://schemas.openxmlformats.org/drawingml/2006/main" noGrp="1"/>
          </p:cNvSpPr>
          <p:nvPr/>
        </p:nvSpPr>
        <p:spPr>
          <a:xfrm xmlns:a="http://schemas.openxmlformats.org/drawingml/2006/main">
            <a:off x="619125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809"/>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≤30 sec · all key facts sourced
0 wrong-company facts · ≥4/5</a:t>
            </a:r>
          </a:p>
        </p:txBody>
      </p:sp>
      <p:sp>
        <p:nvSpPr>
          <p:cNvPr id="19" name="">
            <a:extLst xmlns:a="http://schemas.openxmlformats.org/drawingml/2006/main">
              <a:ext uri="{FF2B5EF4-FFF2-40B4-BE49-F238E27FC236}">
                <a16:creationId xmlns:a16="http://schemas.microsoft.com/office/drawing/2014/main" id="{21909835-C000-476D-BE4E-86B6A009FC7F}"/>
              </a:ext>
            </a:extLst>
          </p:cNvPr>
          <p:cNvSpPr>
            <a:spLocks xmlns:a="http://schemas.openxmlformats.org/drawingml/2006/main" noGrp="1"/>
          </p:cNvSpPr>
          <p:nvPr/>
        </p:nvSpPr>
        <p:spPr>
          <a:xfrm xmlns:a="http://schemas.openxmlformats.org/drawingml/2006/main">
            <a:off x="874395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14D12D1C-71C7-4D5E-841E-35CE6D175B78}"/>
              </a:ext>
            </a:extLst>
          </p:cNvPr>
          <p:cNvSpPr>
            <a:spLocks xmlns:a="http://schemas.openxmlformats.org/drawingml/2006/main" noGrp="1"/>
          </p:cNvSpPr>
          <p:nvPr/>
        </p:nvSpPr>
        <p:spPr>
          <a:xfrm xmlns:a="http://schemas.openxmlformats.org/drawingml/2006/main">
            <a:off x="895350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PROOF OF CONCEPT TO V1</a:t>
            </a:r>
          </a:p>
        </p:txBody>
      </p:sp>
      <p:sp>
        <p:nvSpPr>
          <p:cNvPr id="21" name="">
            <a:extLst xmlns:a="http://schemas.openxmlformats.org/drawingml/2006/main">
              <a:ext uri="{FF2B5EF4-FFF2-40B4-BE49-F238E27FC236}">
                <a16:creationId xmlns:a16="http://schemas.microsoft.com/office/drawing/2014/main" id="{F686A3A3-BAF9-4CEC-BA6B-8E7459E7CB1A}"/>
              </a:ext>
            </a:extLst>
          </p:cNvPr>
          <p:cNvSpPr>
            <a:spLocks xmlns:a="http://schemas.openxmlformats.org/drawingml/2006/main" noGrp="1"/>
          </p:cNvSpPr>
          <p:nvPr/>
        </p:nvSpPr>
        <p:spPr>
          <a:xfrm xmlns:a="http://schemas.openxmlformats.org/drawingml/2006/main">
            <a:off x="895350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Pilot</a:t>
            </a:r>
          </a:p>
        </p:txBody>
      </p:sp>
      <p:sp>
        <p:nvSpPr>
          <p:cNvPr id="22" name="">
            <a:extLst xmlns:a="http://schemas.openxmlformats.org/drawingml/2006/main">
              <a:ext uri="{FF2B5EF4-FFF2-40B4-BE49-F238E27FC236}">
                <a16:creationId xmlns:a16="http://schemas.microsoft.com/office/drawing/2014/main" id="{98A790D2-D307-426F-AFF6-4F296FCAF988}"/>
              </a:ext>
            </a:extLst>
          </p:cNvPr>
          <p:cNvSpPr>
            <a:spLocks xmlns:a="http://schemas.openxmlformats.org/drawingml/2006/main" noGrp="1"/>
          </p:cNvSpPr>
          <p:nvPr/>
        </p:nvSpPr>
        <p:spPr>
          <a:xfrm xmlns:a="http://schemas.openxmlformats.org/drawingml/2006/main">
            <a:off x="895350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2497"/>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Approved connector · access rules
Import log · review owner</a:t>
            </a:r>
          </a:p>
        </p:txBody>
      </p:sp>
      <p:sp>
        <p:nvSpPr>
          <p:cNvPr id="23" name="">
            <a:extLst xmlns:a="http://schemas.openxmlformats.org/drawingml/2006/main">
              <a:ext uri="{FF2B5EF4-FFF2-40B4-BE49-F238E27FC236}">
                <a16:creationId xmlns:a16="http://schemas.microsoft.com/office/drawing/2014/main" id="{25EC7D7C-6E01-4D17-AA83-D2DB3D6F5810}"/>
              </a:ext>
            </a:extLst>
          </p:cNvPr>
          <p:cNvSpPr>
            <a:spLocks xmlns:a="http://schemas.openxmlformats.org/drawingml/2006/main" noGrp="1"/>
          </p:cNvSpPr>
          <p:nvPr/>
        </p:nvSpPr>
        <p:spPr>
          <a:xfrm xmlns:a="http://schemas.openxmlformats.org/drawingml/2006/main">
            <a:off x="457200" y="5219700"/>
            <a:ext cx="1085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1">
                <a:solidFill>
                  <a:srgbClr val="344054"/>
                </a:solidFill>
                <a:latin typeface="Helvetica Neue"/>
                <a:ea typeface="Helvetica Neue"/>
                <a:cs typeface="Helvetica Neue"/>
              </a:defRPr>
            </a:pPr>
            <a:r>
              <a:rPr sz="1350" b="1">
                <a:solidFill>
                  <a:srgbClr val="344054"/>
                </a:solidFill>
                <a:latin typeface="Helvetica Neue"/>
                <a:ea typeface="Helvetica Neue"/>
                <a:cs typeface="Helvetica Neue"/>
              </a:rPr>
              <a:t>Core journey: get a brief · check a fact · see uncertainty · send feedback</a:t>
            </a:r>
          </a:p>
        </p:txBody>
      </p:sp>
      <p:sp>
        <p:nvSpPr>
          <p:cNvPr id="24" name="">
            <a:extLst xmlns:a="http://schemas.openxmlformats.org/drawingml/2006/main">
              <a:ext uri="{FF2B5EF4-FFF2-40B4-BE49-F238E27FC236}">
                <a16:creationId xmlns:a16="http://schemas.microsoft.com/office/drawing/2014/main" id="{4C39101A-94C4-48DC-82B6-88D1BEEA99D4}"/>
              </a:ext>
            </a:extLst>
          </p:cNvPr>
          <p:cNvSpPr>
            <a:spLocks xmlns:a="http://schemas.openxmlformats.org/drawingml/2006/main" noGrp="1"/>
          </p:cNvSpPr>
          <p:nvPr/>
        </p:nvSpPr>
        <p:spPr>
          <a:xfrm xmlns:a="http://schemas.openxmlformats.org/drawingml/2006/main">
            <a:off x="457200" y="5638800"/>
            <a:ext cx="1085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1275" b="1">
                <a:solidFill>
                  <a:srgbClr val="315F9F"/>
                </a:solidFill>
                <a:latin typeface="Helvetica Neue"/>
                <a:ea typeface="Helvetica Neue"/>
                <a:cs typeface="Helvetica Neue"/>
              </a:rPr>
              <a:t>Good enough: all checks pass, the 250-company test meets 30 seconds, and the AIVC principal rates usefulness at least 4 out of 5.</a:t>
            </a:r>
          </a:p>
        </p:txBody>
      </p:sp>
    </p:spTree>
    <p:extLst>
      <p:ext uri="{BB962C8B-B14F-4D97-AF65-F5344CB8AC3E}">
        <p14:creationId xmlns:p14="http://schemas.microsoft.com/office/powerpoint/2010/main" val="1483308295"/>
      </p:ext>
    </p:extLst>
  </p:cSld>
</p:sld>
</file>

<file path=ppt/slides/slide7.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B48A21C7-CE03-4BC4-898F-2976E47ACF7A}"/>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7554"/>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How would two people reach an internal pilot in eight weeks?</a:t>
            </a:r>
          </a:p>
        </p:txBody>
      </p:sp>
      <p:sp>
        <p:nvSpPr>
          <p:cNvPr id="2" name="">
            <a:extLst xmlns:a="http://schemas.openxmlformats.org/drawingml/2006/main">
              <a:ext uri="{FF2B5EF4-FFF2-40B4-BE49-F238E27FC236}">
                <a16:creationId xmlns:a16="http://schemas.microsoft.com/office/drawing/2014/main" id="{09B70858-4A35-41AC-BA4E-97385B0D613C}"/>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6932D16F-3E93-49C8-A083-E6763E45CD17}"/>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07</a:t>
            </a:r>
          </a:p>
        </p:txBody>
      </p:sp>
      <p:sp>
        <p:nvSpPr>
          <p:cNvPr id="4" name="">
            <a:extLst xmlns:a="http://schemas.openxmlformats.org/drawingml/2006/main">
              <a:ext uri="{FF2B5EF4-FFF2-40B4-BE49-F238E27FC236}">
                <a16:creationId xmlns:a16="http://schemas.microsoft.com/office/drawing/2014/main" id="{F6AA8900-8D83-489E-AEA5-4DF6BA250739}"/>
              </a:ext>
            </a:extLst>
          </p:cNvPr>
          <p:cNvSpPr>
            <a:spLocks xmlns:a="http://schemas.openxmlformats.org/drawingml/2006/main" noGrp="1"/>
          </p:cNvSpPr>
          <p:nvPr/>
        </p:nvSpPr>
        <p:spPr>
          <a:xfrm xmlns:a="http://schemas.openxmlformats.org/drawingml/2006/main">
            <a:off x="1057275" y="2324100"/>
            <a:ext cx="9001125" cy="0"/>
          </a:xfrm>
          <a:prstGeom xmlns:a="http://schemas.openxmlformats.org/drawingml/2006/main" prst="line">
            <a:avLst/>
          </a:prstGeom>
          <a:noFill xmlns:a="http://schemas.openxmlformats.org/drawingml/2006/main"/>
          <a:ln xmlns:a="http://schemas.openxmlformats.org/drawingml/2006/main" w="28575">
            <a:solidFill>
              <a:srgbClr val="9CB5D5"/>
            </a:solidFill>
            <a:prstDash val="solid"/>
          </a:ln>
        </p:spPr>
      </p:sp>
      <p:sp>
        <p:nvSpPr>
          <p:cNvPr id="5" name="">
            <a:extLst xmlns:a="http://schemas.openxmlformats.org/drawingml/2006/main">
              <a:ext uri="{FF2B5EF4-FFF2-40B4-BE49-F238E27FC236}">
                <a16:creationId xmlns:a16="http://schemas.microsoft.com/office/drawing/2014/main" id="{20A0FB16-277A-415B-B0A6-8E73C2815796}"/>
              </a:ext>
            </a:extLst>
          </p:cNvPr>
          <p:cNvSpPr>
            <a:spLocks xmlns:a="http://schemas.openxmlformats.org/drawingml/2006/main" noGrp="1"/>
          </p:cNvSpPr>
          <p:nvPr/>
        </p:nvSpPr>
        <p:spPr>
          <a:xfrm xmlns:a="http://schemas.openxmlformats.org/drawingml/2006/main">
            <a:off x="1476375"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6" name="">
            <a:extLst xmlns:a="http://schemas.openxmlformats.org/drawingml/2006/main">
              <a:ext uri="{FF2B5EF4-FFF2-40B4-BE49-F238E27FC236}">
                <a16:creationId xmlns:a16="http://schemas.microsoft.com/office/drawing/2014/main" id="{03049BA2-9994-4F21-94A5-B41BE3149E4E}"/>
              </a:ext>
            </a:extLst>
          </p:cNvPr>
          <p:cNvSpPr>
            <a:spLocks xmlns:a="http://schemas.openxmlformats.org/drawingml/2006/main" noGrp="1"/>
          </p:cNvSpPr>
          <p:nvPr/>
        </p:nvSpPr>
        <p:spPr>
          <a:xfrm xmlns:a="http://schemas.openxmlformats.org/drawingml/2006/main">
            <a:off x="457200" y="2609850"/>
            <a:ext cx="2457450" cy="2476500"/>
          </a:xfrm>
          <a:prstGeom xmlns:a="http://schemas.openxmlformats.org/drawingml/2006/main" prst="roundRect">
            <a:avLst>
              <a:gd name="adj" fmla="val 6202"/>
            </a:avLst>
          </a:prstGeom>
          <a:solidFill xmlns:a="http://schemas.openxmlformats.org/drawingml/2006/main">
            <a:srgbClr val="FFFFFF"/>
          </a:solidFill>
          <a:ln xmlns:a="http://schemas.openxmlformats.org/drawingml/2006/main" w="9525">
            <a:solidFill>
              <a:srgbClr val="D0D5DD"/>
            </a:solidFill>
            <a:prstDash val="solid"/>
          </a:ln>
        </p:spPr>
      </p:sp>
      <p:sp>
        <p:nvSpPr>
          <p:cNvPr id="7" name="">
            <a:extLst xmlns:a="http://schemas.openxmlformats.org/drawingml/2006/main">
              <a:ext uri="{FF2B5EF4-FFF2-40B4-BE49-F238E27FC236}">
                <a16:creationId xmlns:a16="http://schemas.microsoft.com/office/drawing/2014/main" id="{1F65D154-8701-4349-9AFF-7DA254E7C5CA}"/>
              </a:ext>
            </a:extLst>
          </p:cNvPr>
          <p:cNvSpPr>
            <a:spLocks xmlns:a="http://schemas.openxmlformats.org/drawingml/2006/main" noGrp="1"/>
          </p:cNvSpPr>
          <p:nvPr/>
        </p:nvSpPr>
        <p:spPr>
          <a:xfrm xmlns:a="http://schemas.openxmlformats.org/drawingml/2006/main">
            <a:off x="666750"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111"/>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900" b="1">
                <a:solidFill>
                  <a:srgbClr val="315F9F"/>
                </a:solidFill>
                <a:latin typeface="Helvetica Neue"/>
                <a:ea typeface="Helvetica Neue"/>
                <a:cs typeface="Helvetica Neue"/>
              </a:rPr>
              <a:t>PROPOSED · WEEKS 1–2</a:t>
            </a:r>
          </a:p>
        </p:txBody>
      </p:sp>
      <p:sp>
        <p:nvSpPr>
          <p:cNvPr id="8" name="">
            <a:extLst xmlns:a="http://schemas.openxmlformats.org/drawingml/2006/main">
              <a:ext uri="{FF2B5EF4-FFF2-40B4-BE49-F238E27FC236}">
                <a16:creationId xmlns:a16="http://schemas.microsoft.com/office/drawing/2014/main" id="{C64C3219-E26B-4090-B4AC-9A1D699133EC}"/>
              </a:ext>
            </a:extLst>
          </p:cNvPr>
          <p:cNvSpPr>
            <a:spLocks xmlns:a="http://schemas.openxmlformats.org/drawingml/2006/main" noGrp="1"/>
          </p:cNvSpPr>
          <p:nvPr/>
        </p:nvSpPr>
        <p:spPr>
          <a:xfrm xmlns:a="http://schemas.openxmlformats.org/drawingml/2006/main">
            <a:off x="666750"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Build one source-to-brief path</a:t>
            </a:r>
          </a:p>
        </p:txBody>
      </p:sp>
      <p:sp>
        <p:nvSpPr>
          <p:cNvPr id="9" name="">
            <a:extLst xmlns:a="http://schemas.openxmlformats.org/drawingml/2006/main">
              <a:ext uri="{FF2B5EF4-FFF2-40B4-BE49-F238E27FC236}">
                <a16:creationId xmlns:a16="http://schemas.microsoft.com/office/drawing/2014/main" id="{EF101CF2-9E15-45BA-BEE2-9A4742BA8580}"/>
              </a:ext>
            </a:extLst>
          </p:cNvPr>
          <p:cNvSpPr>
            <a:spLocks xmlns:a="http://schemas.openxmlformats.org/drawingml/2006/main" noGrp="1"/>
          </p:cNvSpPr>
          <p:nvPr/>
        </p:nvSpPr>
        <p:spPr>
          <a:xfrm xmlns:a="http://schemas.openxmlformats.org/drawingml/2006/main">
            <a:off x="666750"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Reference answers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Source contract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One-company slice</a:t>
            </a:r>
          </a:p>
        </p:txBody>
      </p:sp>
      <p:sp>
        <p:nvSpPr>
          <p:cNvPr id="10" name="">
            <a:extLst xmlns:a="http://schemas.openxmlformats.org/drawingml/2006/main">
              <a:ext uri="{FF2B5EF4-FFF2-40B4-BE49-F238E27FC236}">
                <a16:creationId xmlns:a16="http://schemas.microsoft.com/office/drawing/2014/main" id="{7AB3725A-8499-4B9F-902D-1547D90E1C54}"/>
              </a:ext>
            </a:extLst>
          </p:cNvPr>
          <p:cNvSpPr>
            <a:spLocks xmlns:a="http://schemas.openxmlformats.org/drawingml/2006/main" noGrp="1"/>
          </p:cNvSpPr>
          <p:nvPr/>
        </p:nvSpPr>
        <p:spPr>
          <a:xfrm xmlns:a="http://schemas.openxmlformats.org/drawingml/2006/main">
            <a:off x="4210050"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1" name="">
            <a:extLst xmlns:a="http://schemas.openxmlformats.org/drawingml/2006/main">
              <a:ext uri="{FF2B5EF4-FFF2-40B4-BE49-F238E27FC236}">
                <a16:creationId xmlns:a16="http://schemas.microsoft.com/office/drawing/2014/main" id="{913AFA8F-4649-4DC7-8F2E-34007EF14B85}"/>
              </a:ext>
            </a:extLst>
          </p:cNvPr>
          <p:cNvSpPr>
            <a:spLocks xmlns:a="http://schemas.openxmlformats.org/drawingml/2006/main" noGrp="1"/>
          </p:cNvSpPr>
          <p:nvPr/>
        </p:nvSpPr>
        <p:spPr>
          <a:xfrm xmlns:a="http://schemas.openxmlformats.org/drawingml/2006/main">
            <a:off x="3190875" y="2609850"/>
            <a:ext cx="2457450" cy="2476500"/>
          </a:xfrm>
          <a:prstGeom xmlns:a="http://schemas.openxmlformats.org/drawingml/2006/main" prst="roundRect">
            <a:avLst>
              <a:gd name="adj" fmla="val 6202"/>
            </a:avLst>
          </a:prstGeom>
          <a:solidFill xmlns:a="http://schemas.openxmlformats.org/drawingml/2006/main">
            <a:srgbClr val="E8F0FB"/>
          </a:solidFill>
          <a:ln xmlns:a="http://schemas.openxmlformats.org/drawingml/2006/main" w="9525">
            <a:solidFill>
              <a:srgbClr val="9CB5D5"/>
            </a:solidFill>
            <a:prstDash val="solid"/>
          </a:ln>
        </p:spPr>
      </p:sp>
      <p:sp>
        <p:nvSpPr>
          <p:cNvPr id="12" name="">
            <a:extLst xmlns:a="http://schemas.openxmlformats.org/drawingml/2006/main">
              <a:ext uri="{FF2B5EF4-FFF2-40B4-BE49-F238E27FC236}">
                <a16:creationId xmlns:a16="http://schemas.microsoft.com/office/drawing/2014/main" id="{FA8820BD-E9D8-4EE0-91EF-A42C6781D2EC}"/>
              </a:ext>
            </a:extLst>
          </p:cNvPr>
          <p:cNvSpPr>
            <a:spLocks xmlns:a="http://schemas.openxmlformats.org/drawingml/2006/main" noGrp="1"/>
          </p:cNvSpPr>
          <p:nvPr/>
        </p:nvSpPr>
        <p:spPr>
          <a:xfrm xmlns:a="http://schemas.openxmlformats.org/drawingml/2006/main">
            <a:off x="3400425"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WEEKS 3–4</a:t>
            </a:r>
          </a:p>
        </p:txBody>
      </p:sp>
      <p:sp>
        <p:nvSpPr>
          <p:cNvPr id="13" name="">
            <a:extLst xmlns:a="http://schemas.openxmlformats.org/drawingml/2006/main">
              <a:ext uri="{FF2B5EF4-FFF2-40B4-BE49-F238E27FC236}">
                <a16:creationId xmlns:a16="http://schemas.microsoft.com/office/drawing/2014/main" id="{D25C1FD4-F4A1-44A7-A1AC-BFCA9E9B513A}"/>
              </a:ext>
            </a:extLst>
          </p:cNvPr>
          <p:cNvSpPr>
            <a:spLocks xmlns:a="http://schemas.openxmlformats.org/drawingml/2006/main" noGrp="1"/>
          </p:cNvSpPr>
          <p:nvPr/>
        </p:nvSpPr>
        <p:spPr>
          <a:xfrm xmlns:a="http://schemas.openxmlformats.org/drawingml/2006/main">
            <a:off x="3400425"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Connect one approved source</a:t>
            </a:r>
          </a:p>
        </p:txBody>
      </p:sp>
      <p:sp>
        <p:nvSpPr>
          <p:cNvPr id="14" name="">
            <a:extLst xmlns:a="http://schemas.openxmlformats.org/drawingml/2006/main">
              <a:ext uri="{FF2B5EF4-FFF2-40B4-BE49-F238E27FC236}">
                <a16:creationId xmlns:a16="http://schemas.microsoft.com/office/drawing/2014/main" id="{D6F8C5E2-CF81-455B-A842-DB2C25910D2D}"/>
              </a:ext>
            </a:extLst>
          </p:cNvPr>
          <p:cNvSpPr>
            <a:spLocks xmlns:a="http://schemas.openxmlformats.org/drawingml/2006/main" noGrp="1"/>
          </p:cNvSpPr>
          <p:nvPr/>
        </p:nvSpPr>
        <p:spPr>
          <a:xfrm xmlns:a="http://schemas.openxmlformats.org/drawingml/2006/main">
            <a:off x="3400425"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Read-only connector</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Incremental import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Company mapping check</a:t>
            </a:r>
          </a:p>
        </p:txBody>
      </p:sp>
      <p:sp>
        <p:nvSpPr>
          <p:cNvPr id="15" name="">
            <a:extLst xmlns:a="http://schemas.openxmlformats.org/drawingml/2006/main">
              <a:ext uri="{FF2B5EF4-FFF2-40B4-BE49-F238E27FC236}">
                <a16:creationId xmlns:a16="http://schemas.microsoft.com/office/drawing/2014/main" id="{008777A7-B3A0-4F97-B3F1-99FA5E7A7BC0}"/>
              </a:ext>
            </a:extLst>
          </p:cNvPr>
          <p:cNvSpPr>
            <a:spLocks xmlns:a="http://schemas.openxmlformats.org/drawingml/2006/main" noGrp="1"/>
          </p:cNvSpPr>
          <p:nvPr/>
        </p:nvSpPr>
        <p:spPr>
          <a:xfrm xmlns:a="http://schemas.openxmlformats.org/drawingml/2006/main">
            <a:off x="6943725"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6" name="">
            <a:extLst xmlns:a="http://schemas.openxmlformats.org/drawingml/2006/main">
              <a:ext uri="{FF2B5EF4-FFF2-40B4-BE49-F238E27FC236}">
                <a16:creationId xmlns:a16="http://schemas.microsoft.com/office/drawing/2014/main" id="{85A70862-469D-415E-AC13-2BF4C28F4C7B}"/>
              </a:ext>
            </a:extLst>
          </p:cNvPr>
          <p:cNvSpPr>
            <a:spLocks xmlns:a="http://schemas.openxmlformats.org/drawingml/2006/main" noGrp="1"/>
          </p:cNvSpPr>
          <p:nvPr/>
        </p:nvSpPr>
        <p:spPr>
          <a:xfrm xmlns:a="http://schemas.openxmlformats.org/drawingml/2006/main">
            <a:off x="5924550" y="2609850"/>
            <a:ext cx="2457450" cy="2476500"/>
          </a:xfrm>
          <a:prstGeom xmlns:a="http://schemas.openxmlformats.org/drawingml/2006/main" prst="roundRect">
            <a:avLst>
              <a:gd name="adj" fmla="val 6202"/>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2F40EFA4-B3E1-48E9-B048-F8D6BD7FAC88}"/>
              </a:ext>
            </a:extLst>
          </p:cNvPr>
          <p:cNvSpPr>
            <a:spLocks xmlns:a="http://schemas.openxmlformats.org/drawingml/2006/main" noGrp="1"/>
          </p:cNvSpPr>
          <p:nvPr/>
        </p:nvSpPr>
        <p:spPr>
          <a:xfrm xmlns:a="http://schemas.openxmlformats.org/drawingml/2006/main">
            <a:off x="6134100"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WEEKS 5–6</a:t>
            </a:r>
          </a:p>
        </p:txBody>
      </p:sp>
      <p:sp>
        <p:nvSpPr>
          <p:cNvPr id="18" name="">
            <a:extLst xmlns:a="http://schemas.openxmlformats.org/drawingml/2006/main">
              <a:ext uri="{FF2B5EF4-FFF2-40B4-BE49-F238E27FC236}">
                <a16:creationId xmlns:a16="http://schemas.microsoft.com/office/drawing/2014/main" id="{F0D4F2DF-06EE-4F15-A3C6-C8D3A96833D5}"/>
              </a:ext>
            </a:extLst>
          </p:cNvPr>
          <p:cNvSpPr>
            <a:spLocks xmlns:a="http://schemas.openxmlformats.org/drawingml/2006/main" noGrp="1"/>
          </p:cNvSpPr>
          <p:nvPr/>
        </p:nvSpPr>
        <p:spPr>
          <a:xfrm xmlns:a="http://schemas.openxmlformats.org/drawingml/2006/main">
            <a:off x="6134100"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4820"/>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Test retrieval and access</a:t>
            </a:r>
          </a:p>
        </p:txBody>
      </p:sp>
      <p:sp>
        <p:nvSpPr>
          <p:cNvPr id="19" name="">
            <a:extLst xmlns:a="http://schemas.openxmlformats.org/drawingml/2006/main">
              <a:ext uri="{FF2B5EF4-FFF2-40B4-BE49-F238E27FC236}">
                <a16:creationId xmlns:a16="http://schemas.microsoft.com/office/drawing/2014/main" id="{C5BE0EB4-D171-46D5-AE72-9983A065A3F5}"/>
              </a:ext>
            </a:extLst>
          </p:cNvPr>
          <p:cNvSpPr>
            <a:spLocks xmlns:a="http://schemas.openxmlformats.org/drawingml/2006/main" noGrp="1"/>
          </p:cNvSpPr>
          <p:nvPr/>
        </p:nvSpPr>
        <p:spPr>
          <a:xfrm xmlns:a="http://schemas.openxmlformats.org/drawingml/2006/main">
            <a:off x="6134100"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Access checks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Evaluated retrieval</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Generation and fallback evaluation</a:t>
            </a:r>
          </a:p>
        </p:txBody>
      </p:sp>
      <p:sp>
        <p:nvSpPr>
          <p:cNvPr id="20" name="">
            <a:extLst xmlns:a="http://schemas.openxmlformats.org/drawingml/2006/main">
              <a:ext uri="{FF2B5EF4-FFF2-40B4-BE49-F238E27FC236}">
                <a16:creationId xmlns:a16="http://schemas.microsoft.com/office/drawing/2014/main" id="{1A32A016-7301-49CD-B90A-7D57F4D0D685}"/>
              </a:ext>
            </a:extLst>
          </p:cNvPr>
          <p:cNvSpPr>
            <a:spLocks xmlns:a="http://schemas.openxmlformats.org/drawingml/2006/main" noGrp="1"/>
          </p:cNvSpPr>
          <p:nvPr/>
        </p:nvSpPr>
        <p:spPr>
          <a:xfrm xmlns:a="http://schemas.openxmlformats.org/drawingml/2006/main">
            <a:off x="9677400"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21" name="">
            <a:extLst xmlns:a="http://schemas.openxmlformats.org/drawingml/2006/main">
              <a:ext uri="{FF2B5EF4-FFF2-40B4-BE49-F238E27FC236}">
                <a16:creationId xmlns:a16="http://schemas.microsoft.com/office/drawing/2014/main" id="{99FCB468-F74B-4357-9A52-E37407197048}"/>
              </a:ext>
            </a:extLst>
          </p:cNvPr>
          <p:cNvSpPr>
            <a:spLocks xmlns:a="http://schemas.openxmlformats.org/drawingml/2006/main" noGrp="1"/>
          </p:cNvSpPr>
          <p:nvPr/>
        </p:nvSpPr>
        <p:spPr>
          <a:xfrm xmlns:a="http://schemas.openxmlformats.org/drawingml/2006/main">
            <a:off x="8658225" y="2609850"/>
            <a:ext cx="2457450" cy="2476500"/>
          </a:xfrm>
          <a:prstGeom xmlns:a="http://schemas.openxmlformats.org/drawingml/2006/main" prst="roundRect">
            <a:avLst>
              <a:gd name="adj" fmla="val 6202"/>
            </a:avLst>
          </a:prstGeom>
          <a:solidFill xmlns:a="http://schemas.openxmlformats.org/drawingml/2006/main">
            <a:srgbClr val="E8F0FB"/>
          </a:solidFill>
          <a:ln xmlns:a="http://schemas.openxmlformats.org/drawingml/2006/main" w="9525">
            <a:solidFill>
              <a:srgbClr val="9CB5D5"/>
            </a:solidFill>
            <a:prstDash val="solid"/>
          </a:ln>
        </p:spPr>
      </p:sp>
      <p:sp>
        <p:nvSpPr>
          <p:cNvPr id="22" name="">
            <a:extLst xmlns:a="http://schemas.openxmlformats.org/drawingml/2006/main">
              <a:ext uri="{FF2B5EF4-FFF2-40B4-BE49-F238E27FC236}">
                <a16:creationId xmlns:a16="http://schemas.microsoft.com/office/drawing/2014/main" id="{6E06FC1C-4C98-4854-B230-8BE2949563A6}"/>
              </a:ext>
            </a:extLst>
          </p:cNvPr>
          <p:cNvSpPr>
            <a:spLocks xmlns:a="http://schemas.openxmlformats.org/drawingml/2006/main" noGrp="1"/>
          </p:cNvSpPr>
          <p:nvPr/>
        </p:nvSpPr>
        <p:spPr>
          <a:xfrm xmlns:a="http://schemas.openxmlformats.org/drawingml/2006/main">
            <a:off x="8867775"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WEEKS 7–8</a:t>
            </a:r>
          </a:p>
        </p:txBody>
      </p:sp>
      <p:sp>
        <p:nvSpPr>
          <p:cNvPr id="23" name="">
            <a:extLst xmlns:a="http://schemas.openxmlformats.org/drawingml/2006/main">
              <a:ext uri="{FF2B5EF4-FFF2-40B4-BE49-F238E27FC236}">
                <a16:creationId xmlns:a16="http://schemas.microsoft.com/office/drawing/2014/main" id="{3F5B3583-FB90-4EDE-95F5-3AE6193A1599}"/>
              </a:ext>
            </a:extLst>
          </p:cNvPr>
          <p:cNvSpPr>
            <a:spLocks xmlns:a="http://schemas.openxmlformats.org/drawingml/2006/main" noGrp="1"/>
          </p:cNvSpPr>
          <p:nvPr/>
        </p:nvSpPr>
        <p:spPr>
          <a:xfrm xmlns:a="http://schemas.openxmlformats.org/drawingml/2006/main">
            <a:off x="8867775"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Run the pilot and scale test</a:t>
            </a:r>
          </a:p>
        </p:txBody>
      </p:sp>
      <p:sp>
        <p:nvSpPr>
          <p:cNvPr id="24" name="">
            <a:extLst xmlns:a="http://schemas.openxmlformats.org/drawingml/2006/main">
              <a:ext uri="{FF2B5EF4-FFF2-40B4-BE49-F238E27FC236}">
                <a16:creationId xmlns:a16="http://schemas.microsoft.com/office/drawing/2014/main" id="{2A76C785-0332-4439-89D8-4C92564AB60F}"/>
              </a:ext>
            </a:extLst>
          </p:cNvPr>
          <p:cNvSpPr>
            <a:spLocks xmlns:a="http://schemas.openxmlformats.org/drawingml/2006/main" noGrp="1"/>
          </p:cNvSpPr>
          <p:nvPr/>
        </p:nvSpPr>
        <p:spPr>
          <a:xfrm xmlns:a="http://schemas.openxmlformats.org/drawingml/2006/main">
            <a:off x="8867775"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Reconciliation</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Monitoring</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250-company test and principal pilot</a:t>
            </a:r>
          </a:p>
        </p:txBody>
      </p:sp>
      <p:sp>
        <p:nvSpPr>
          <p:cNvPr id="25" name="">
            <a:extLst xmlns:a="http://schemas.openxmlformats.org/drawingml/2006/main">
              <a:ext uri="{FF2B5EF4-FFF2-40B4-BE49-F238E27FC236}">
                <a16:creationId xmlns:a16="http://schemas.microsoft.com/office/drawing/2014/main" id="{8FD243BD-D1D8-4D5E-9080-89BCC3F63E9D}"/>
              </a:ext>
            </a:extLst>
          </p:cNvPr>
          <p:cNvSpPr>
            <a:spLocks xmlns:a="http://schemas.openxmlformats.org/drawingml/2006/main" noGrp="1"/>
          </p:cNvSpPr>
          <p:nvPr/>
        </p:nvSpPr>
        <p:spPr>
          <a:xfrm xmlns:a="http://schemas.openxmlformats.org/drawingml/2006/main">
            <a:off x="457200" y="5391150"/>
            <a:ext cx="10858500" cy="628650"/>
          </a:xfrm>
          <a:prstGeom xmlns:a="http://schemas.openxmlformats.org/drawingml/2006/main" prst="roundRect">
            <a:avLst>
              <a:gd name="adj" fmla="val 21212"/>
            </a:avLst>
          </a:prstGeom>
          <a:solidFill xmlns:a="http://schemas.openxmlformats.org/drawingml/2006/main">
            <a:srgbClr val="F2F4F7"/>
          </a:solidFill>
          <a:ln xmlns:a="http://schemas.openxmlformats.org/drawingml/2006/main" w="9525">
            <a:solidFill>
              <a:srgbClr val="D0D5DD"/>
            </a:solidFill>
            <a:prstDash val="solid"/>
          </a:ln>
        </p:spPr>
      </p:sp>
      <p:sp>
        <p:nvSpPr>
          <p:cNvPr id="26" name="">
            <a:extLst xmlns:a="http://schemas.openxmlformats.org/drawingml/2006/main">
              <a:ext uri="{FF2B5EF4-FFF2-40B4-BE49-F238E27FC236}">
                <a16:creationId xmlns:a16="http://schemas.microsoft.com/office/drawing/2014/main" id="{6DBF2437-14B5-4A46-9FC0-D460E78897FD}"/>
              </a:ext>
            </a:extLst>
          </p:cNvPr>
          <p:cNvSpPr>
            <a:spLocks xmlns:a="http://schemas.openxmlformats.org/drawingml/2006/main" noGrp="1"/>
          </p:cNvSpPr>
          <p:nvPr/>
        </p:nvSpPr>
        <p:spPr>
          <a:xfrm xmlns:a="http://schemas.openxmlformats.org/drawingml/2006/main">
            <a:off x="666750" y="55816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101828"/>
                </a:solidFill>
                <a:latin typeface="Helvetica Neue"/>
                <a:ea typeface="Helvetica Neue"/>
                <a:cs typeface="Helvetica Neue"/>
              </a:defRPr>
            </a:pPr>
            <a:r>
              <a:rPr sz="1200" b="1">
                <a:solidFill>
                  <a:srgbClr val="101828"/>
                </a:solidFill>
                <a:latin typeface="Helvetica Neue"/>
                <a:ea typeface="Helvetica Neue"/>
                <a:cs typeface="Helvetica Neue"/>
              </a:rPr>
              <a:t>PERSON 1 · Product and application</a:t>
            </a:r>
          </a:p>
        </p:txBody>
      </p:sp>
      <p:sp>
        <p:nvSpPr>
          <p:cNvPr id="27" name="">
            <a:extLst xmlns:a="http://schemas.openxmlformats.org/drawingml/2006/main">
              <a:ext uri="{FF2B5EF4-FFF2-40B4-BE49-F238E27FC236}">
                <a16:creationId xmlns:a16="http://schemas.microsoft.com/office/drawing/2014/main" id="{918CF25F-52C6-4E33-BCCB-F49769B2D014}"/>
              </a:ext>
            </a:extLst>
          </p:cNvPr>
          <p:cNvSpPr>
            <a:spLocks xmlns:a="http://schemas.openxmlformats.org/drawingml/2006/main" noGrp="1"/>
          </p:cNvSpPr>
          <p:nvPr/>
        </p:nvSpPr>
        <p:spPr>
          <a:xfrm xmlns:a="http://schemas.openxmlformats.org/drawingml/2006/main">
            <a:off x="4476750" y="5581650"/>
            <a:ext cx="3238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101828"/>
                </a:solidFill>
                <a:latin typeface="Helvetica Neue"/>
                <a:ea typeface="Helvetica Neue"/>
                <a:cs typeface="Helvetica Neue"/>
              </a:defRPr>
            </a:pPr>
            <a:r>
              <a:rPr sz="1200" b="1">
                <a:solidFill>
                  <a:srgbClr val="101828"/>
                </a:solidFill>
                <a:latin typeface="Helvetica Neue"/>
                <a:ea typeface="Helvetica Neue"/>
                <a:cs typeface="Helvetica Neue"/>
              </a:rPr>
              <a:t>PERSON 2 · Data and platform</a:t>
            </a:r>
          </a:p>
        </p:txBody>
      </p:sp>
      <p:sp>
        <p:nvSpPr>
          <p:cNvPr id="28" name="">
            <a:extLst xmlns:a="http://schemas.openxmlformats.org/drawingml/2006/main">
              <a:ext uri="{FF2B5EF4-FFF2-40B4-BE49-F238E27FC236}">
                <a16:creationId xmlns:a16="http://schemas.microsoft.com/office/drawing/2014/main" id="{DB910F2C-EF3B-4B5A-AC88-78FDB08FE0C6}"/>
              </a:ext>
            </a:extLst>
          </p:cNvPr>
          <p:cNvSpPr>
            <a:spLocks xmlns:a="http://schemas.openxmlformats.org/drawingml/2006/main" noGrp="1"/>
          </p:cNvSpPr>
          <p:nvPr/>
        </p:nvSpPr>
        <p:spPr>
          <a:xfrm xmlns:a="http://schemas.openxmlformats.org/drawingml/2006/main">
            <a:off x="7953375" y="558165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315F9F"/>
                </a:solidFill>
                <a:latin typeface="Helvetica Neue"/>
                <a:ea typeface="Helvetica Neue"/>
                <a:cs typeface="Helvetica Neue"/>
              </a:defRPr>
            </a:pPr>
            <a:r>
              <a:rPr sz="1200" b="1">
                <a:solidFill>
                  <a:srgbClr val="315F9F"/>
                </a:solidFill>
                <a:latin typeface="Helvetica Neue"/>
                <a:ea typeface="Helvetica Neue"/>
                <a:cs typeface="Helvetica Neue"/>
              </a:rPr>
              <a:t>SHARED · Source contract and evaluation set</a:t>
            </a:r>
          </a:p>
        </p:txBody>
      </p:sp>
    </p:spTree>
    <p:extLst>
      <p:ext uri="{BB962C8B-B14F-4D97-AF65-F5344CB8AC3E}">
        <p14:creationId xmlns:p14="http://schemas.microsoft.com/office/powerpoint/2010/main" val="1276192043"/>
      </p:ext>
    </p:extLst>
  </p:cSld>
</p:sld>
</file>

<file path=ppt/slides/slide8.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47D7DB73-AD97-4C88-8C7A-A4A75DE3DDCC}"/>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do I de-risk first, and what changes with more time?</a:t>
            </a:r>
          </a:p>
        </p:txBody>
      </p:sp>
      <p:sp>
        <p:nvSpPr>
          <p:cNvPr id="2" name="">
            <a:extLst xmlns:a="http://schemas.openxmlformats.org/drawingml/2006/main">
              <a:ext uri="{FF2B5EF4-FFF2-40B4-BE49-F238E27FC236}">
                <a16:creationId xmlns:a16="http://schemas.microsoft.com/office/drawing/2014/main" id="{1148B56E-B5D3-40D5-84C7-3298B3E762FB}"/>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AB2D00DE-0653-4BEF-8506-56714A0FA028}"/>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08</a:t>
            </a:r>
          </a:p>
        </p:txBody>
      </p:sp>
      <p:sp>
        <p:nvSpPr>
          <p:cNvPr id="4" name="">
            <a:extLst xmlns:a="http://schemas.openxmlformats.org/drawingml/2006/main">
              <a:ext uri="{FF2B5EF4-FFF2-40B4-BE49-F238E27FC236}">
                <a16:creationId xmlns:a16="http://schemas.microsoft.com/office/drawing/2014/main" id="{84CA3562-EE1C-4D17-9AF1-23A0716F7861}"/>
              </a:ext>
            </a:extLst>
          </p:cNvPr>
          <p:cNvSpPr>
            <a:spLocks xmlns:a="http://schemas.openxmlformats.org/drawingml/2006/main" noGrp="1"/>
          </p:cNvSpPr>
          <p:nvPr/>
        </p:nvSpPr>
        <p:spPr>
          <a:xfrm xmlns:a="http://schemas.openxmlformats.org/drawingml/2006/main">
            <a:off x="457200" y="1504950"/>
            <a:ext cx="9906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2184"/>
          </a:bodyPr>
          <a:lstStyle xmlns:a="http://schemas.openxmlformats.org/drawingml/2006/main"/>
          <a:p xmlns:a="http://schemas.openxmlformats.org/drawingml/2006/main">
            <a:pPr algn="l">
              <a:buNone/>
              <a:defRPr sz="2550" b="1">
                <a:solidFill>
                  <a:srgbClr val="315F9F"/>
                </a:solidFill>
                <a:latin typeface="Helvetica Neue"/>
                <a:ea typeface="Helvetica Neue"/>
                <a:cs typeface="Helvetica Neue"/>
              </a:defRPr>
            </a:pPr>
            <a:r>
              <a:rPr sz="2550" b="1">
                <a:solidFill>
                  <a:srgbClr val="315F9F"/>
                </a:solidFill>
                <a:latin typeface="Helvetica Neue"/>
                <a:ea typeface="Helvetica Neue"/>
                <a:cs typeface="Helvetica Neue"/>
              </a:rPr>
              <a:t>First risk: retrieve the right evidence and show when the answer is uncertain.</a:t>
            </a:r>
          </a:p>
        </p:txBody>
      </p:sp>
      <p:sp>
        <p:nvSpPr>
          <p:cNvPr id="5" name="">
            <a:extLst xmlns:a="http://schemas.openxmlformats.org/drawingml/2006/main">
              <a:ext uri="{FF2B5EF4-FFF2-40B4-BE49-F238E27FC236}">
                <a16:creationId xmlns:a16="http://schemas.microsoft.com/office/drawing/2014/main" id="{5562A5C6-60ED-4181-9E47-254F83779A64}"/>
              </a:ext>
            </a:extLst>
          </p:cNvPr>
          <p:cNvSpPr>
            <a:spLocks xmlns:a="http://schemas.openxmlformats.org/drawingml/2006/main" noGrp="1"/>
          </p:cNvSpPr>
          <p:nvPr/>
        </p:nvSpPr>
        <p:spPr>
          <a:xfrm xmlns:a="http://schemas.openxmlformats.org/drawingml/2006/main">
            <a:off x="457200" y="2400300"/>
            <a:ext cx="3333750" cy="2800350"/>
          </a:xfrm>
          <a:prstGeom xmlns:a="http://schemas.openxmlformats.org/drawingml/2006/main" prst="roundRect">
            <a:avLst>
              <a:gd name="adj" fmla="val 6122"/>
            </a:avLst>
          </a:prstGeom>
          <a:solidFill xmlns:a="http://schemas.openxmlformats.org/drawingml/2006/main">
            <a:srgbClr val="FFFFFF"/>
          </a:solidFill>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E612701B-CF09-4277-9DC9-F0E56890F11C}"/>
              </a:ext>
            </a:extLst>
          </p:cNvPr>
          <p:cNvSpPr>
            <a:spLocks xmlns:a="http://schemas.openxmlformats.org/drawingml/2006/main" noGrp="1"/>
          </p:cNvSpPr>
          <p:nvPr/>
        </p:nvSpPr>
        <p:spPr>
          <a:xfrm xmlns:a="http://schemas.openxmlformats.org/drawingml/2006/main">
            <a:off x="685800" y="26479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FIRST PROTOTYPE</a:t>
            </a:r>
          </a:p>
        </p:txBody>
      </p:sp>
      <p:sp>
        <p:nvSpPr>
          <p:cNvPr id="7" name="">
            <a:extLst xmlns:a="http://schemas.openxmlformats.org/drawingml/2006/main">
              <a:ext uri="{FF2B5EF4-FFF2-40B4-BE49-F238E27FC236}">
                <a16:creationId xmlns:a16="http://schemas.microsoft.com/office/drawing/2014/main" id="{B233DDE3-C518-45BB-AFC1-EC711ACC02AE}"/>
              </a:ext>
            </a:extLst>
          </p:cNvPr>
          <p:cNvSpPr>
            <a:spLocks xmlns:a="http://schemas.openxmlformats.org/drawingml/2006/main" noGrp="1"/>
          </p:cNvSpPr>
          <p:nvPr/>
        </p:nvSpPr>
        <p:spPr>
          <a:xfrm xmlns:a="http://schemas.openxmlformats.org/drawingml/2006/main">
            <a:off x="685800" y="30480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435"/>
          </a:bodyPr>
          <a:lstStyle xmlns:a="http://schemas.openxmlformats.org/drawingml/2006/main"/>
          <a:p xmlns:a="http://schemas.openxmlformats.org/drawingml/2006/main">
            <a:pPr algn="l">
              <a:buNone/>
              <a:defRPr sz="1725"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One company and one real source</a:t>
            </a:r>
          </a:p>
        </p:txBody>
      </p:sp>
      <p:sp>
        <p:nvSpPr>
          <p:cNvPr id="8" name="">
            <a:extLst xmlns:a="http://schemas.openxmlformats.org/drawingml/2006/main">
              <a:ext uri="{FF2B5EF4-FFF2-40B4-BE49-F238E27FC236}">
                <a16:creationId xmlns:a16="http://schemas.microsoft.com/office/drawing/2014/main" id="{A9A47721-2CAB-45CC-A0B0-A2173E47E46B}"/>
              </a:ext>
            </a:extLst>
          </p:cNvPr>
          <p:cNvSpPr>
            <a:spLocks xmlns:a="http://schemas.openxmlformats.org/drawingml/2006/main" noGrp="1"/>
          </p:cNvSpPr>
          <p:nvPr/>
        </p:nvSpPr>
        <p:spPr>
          <a:xfrm xmlns:a="http://schemas.openxmlformats.org/drawingml/2006/main">
            <a:off x="685800" y="3762375"/>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current fact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true conflict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missing fact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changed source record</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Reference answers</a:t>
            </a:r>
          </a:p>
        </p:txBody>
      </p:sp>
      <p:sp>
        <p:nvSpPr>
          <p:cNvPr id="9" name="">
            <a:extLst xmlns:a="http://schemas.openxmlformats.org/drawingml/2006/main">
              <a:ext uri="{FF2B5EF4-FFF2-40B4-BE49-F238E27FC236}">
                <a16:creationId xmlns:a16="http://schemas.microsoft.com/office/drawing/2014/main" id="{9A2149D0-122E-4662-9C67-860C2D3353C0}"/>
              </a:ext>
            </a:extLst>
          </p:cNvPr>
          <p:cNvSpPr>
            <a:spLocks xmlns:a="http://schemas.openxmlformats.org/drawingml/2006/main" noGrp="1"/>
          </p:cNvSpPr>
          <p:nvPr/>
        </p:nvSpPr>
        <p:spPr>
          <a:xfrm xmlns:a="http://schemas.openxmlformats.org/drawingml/2006/main">
            <a:off x="4095750" y="2400300"/>
            <a:ext cx="3333750" cy="2800350"/>
          </a:xfrm>
          <a:prstGeom xmlns:a="http://schemas.openxmlformats.org/drawingml/2006/main" prst="roundRect">
            <a:avLst>
              <a:gd name="adj" fmla="val 6122"/>
            </a:avLst>
          </a:prstGeom>
          <a:solidFill xmlns:a="http://schemas.openxmlformats.org/drawingml/2006/main">
            <a:srgbClr val="F2F4F7"/>
          </a:solidFill>
          <a:ln xmlns:a="http://schemas.openxmlformats.org/drawingml/2006/main" w="9525">
            <a:solidFill>
              <a:srgbClr val="D0D5DD"/>
            </a:solidFill>
            <a:prstDash val="solid"/>
          </a:ln>
        </p:spPr>
      </p:sp>
      <p:sp>
        <p:nvSpPr>
          <p:cNvPr id="10" name="">
            <a:extLst xmlns:a="http://schemas.openxmlformats.org/drawingml/2006/main">
              <a:ext uri="{FF2B5EF4-FFF2-40B4-BE49-F238E27FC236}">
                <a16:creationId xmlns:a16="http://schemas.microsoft.com/office/drawing/2014/main" id="{3B17A513-9371-40C5-979E-A976BA6D2B28}"/>
              </a:ext>
            </a:extLst>
          </p:cNvPr>
          <p:cNvSpPr>
            <a:spLocks xmlns:a="http://schemas.openxmlformats.org/drawingml/2006/main" noGrp="1"/>
          </p:cNvSpPr>
          <p:nvPr/>
        </p:nvSpPr>
        <p:spPr>
          <a:xfrm xmlns:a="http://schemas.openxmlformats.org/drawingml/2006/main">
            <a:off x="4324350" y="26479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CRITICAL DEPENDENCIES</a:t>
            </a:r>
          </a:p>
        </p:txBody>
      </p:sp>
      <p:sp>
        <p:nvSpPr>
          <p:cNvPr id="11" name="">
            <a:extLst xmlns:a="http://schemas.openxmlformats.org/drawingml/2006/main">
              <a:ext uri="{FF2B5EF4-FFF2-40B4-BE49-F238E27FC236}">
                <a16:creationId xmlns:a16="http://schemas.microsoft.com/office/drawing/2014/main" id="{EAEF692C-81C5-4F80-BEF7-B65ABE382A68}"/>
              </a:ext>
            </a:extLst>
          </p:cNvPr>
          <p:cNvSpPr>
            <a:spLocks xmlns:a="http://schemas.openxmlformats.org/drawingml/2006/main" noGrp="1"/>
          </p:cNvSpPr>
          <p:nvPr/>
        </p:nvSpPr>
        <p:spPr>
          <a:xfrm xmlns:a="http://schemas.openxmlformats.org/drawingml/2006/main">
            <a:off x="4324350" y="30480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Access and ownership</a:t>
            </a:r>
          </a:p>
        </p:txBody>
      </p:sp>
      <p:sp>
        <p:nvSpPr>
          <p:cNvPr id="12" name="">
            <a:extLst xmlns:a="http://schemas.openxmlformats.org/drawingml/2006/main">
              <a:ext uri="{FF2B5EF4-FFF2-40B4-BE49-F238E27FC236}">
                <a16:creationId xmlns:a16="http://schemas.microsoft.com/office/drawing/2014/main" id="{16E21101-5479-4093-B7A3-67DC3D3F5AE8}"/>
              </a:ext>
            </a:extLst>
          </p:cNvPr>
          <p:cNvSpPr>
            <a:spLocks xmlns:a="http://schemas.openxmlformats.org/drawingml/2006/main" noGrp="1"/>
          </p:cNvSpPr>
          <p:nvPr/>
        </p:nvSpPr>
        <p:spPr>
          <a:xfrm xmlns:a="http://schemas.openxmlformats.org/drawingml/2006/main">
            <a:off x="4324350" y="3762375"/>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464"/>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Source owners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API access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Canonical company IDs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Access and retention rules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Model policy</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Principal review</a:t>
            </a:r>
          </a:p>
        </p:txBody>
      </p:sp>
      <p:sp>
        <p:nvSpPr>
          <p:cNvPr id="13" name="">
            <a:extLst xmlns:a="http://schemas.openxmlformats.org/drawingml/2006/main">
              <a:ext uri="{FF2B5EF4-FFF2-40B4-BE49-F238E27FC236}">
                <a16:creationId xmlns:a16="http://schemas.microsoft.com/office/drawing/2014/main" id="{C58C9AB4-4295-4DBC-8C8F-775BFAD2D383}"/>
              </a:ext>
            </a:extLst>
          </p:cNvPr>
          <p:cNvSpPr>
            <a:spLocks xmlns:a="http://schemas.openxmlformats.org/drawingml/2006/main" noGrp="1"/>
          </p:cNvSpPr>
          <p:nvPr/>
        </p:nvSpPr>
        <p:spPr>
          <a:xfrm xmlns:a="http://schemas.openxmlformats.org/drawingml/2006/main">
            <a:off x="7734300" y="2400300"/>
            <a:ext cx="3333750" cy="2800350"/>
          </a:xfrm>
          <a:prstGeom xmlns:a="http://schemas.openxmlformats.org/drawingml/2006/main" prst="roundRect">
            <a:avLst>
              <a:gd name="adj" fmla="val 6122"/>
            </a:avLst>
          </a:prstGeom>
          <a:solidFill xmlns:a="http://schemas.openxmlformats.org/drawingml/2006/main">
            <a:srgbClr val="E8F0FB"/>
          </a:solidFill>
          <a:ln xmlns:a="http://schemas.openxmlformats.org/drawingml/2006/main" w="9525">
            <a:solidFill>
              <a:srgbClr val="9CB5D5"/>
            </a:solidFill>
            <a:prstDash val="solid"/>
          </a:ln>
        </p:spPr>
      </p:sp>
      <p:sp>
        <p:nvSpPr>
          <p:cNvPr id="14" name="">
            <a:extLst xmlns:a="http://schemas.openxmlformats.org/drawingml/2006/main">
              <a:ext uri="{FF2B5EF4-FFF2-40B4-BE49-F238E27FC236}">
                <a16:creationId xmlns:a16="http://schemas.microsoft.com/office/drawing/2014/main" id="{9AAB8465-872C-4C3C-AD42-A1827E2443DA}"/>
              </a:ext>
            </a:extLst>
          </p:cNvPr>
          <p:cNvSpPr>
            <a:spLocks xmlns:a="http://schemas.openxmlformats.org/drawingml/2006/main" noGrp="1"/>
          </p:cNvSpPr>
          <p:nvPr/>
        </p:nvSpPr>
        <p:spPr>
          <a:xfrm xmlns:a="http://schemas.openxmlformats.org/drawingml/2006/main">
            <a:off x="7962900" y="26479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WITH MORE TIME</a:t>
            </a:r>
          </a:p>
        </p:txBody>
      </p:sp>
      <p:sp>
        <p:nvSpPr>
          <p:cNvPr id="15" name="">
            <a:extLst xmlns:a="http://schemas.openxmlformats.org/drawingml/2006/main">
              <a:ext uri="{FF2B5EF4-FFF2-40B4-BE49-F238E27FC236}">
                <a16:creationId xmlns:a16="http://schemas.microsoft.com/office/drawing/2014/main" id="{F20FEF94-1E54-482B-BA81-CD1C7288DD19}"/>
              </a:ext>
            </a:extLst>
          </p:cNvPr>
          <p:cNvSpPr>
            <a:spLocks xmlns:a="http://schemas.openxmlformats.org/drawingml/2006/main" noGrp="1"/>
          </p:cNvSpPr>
          <p:nvPr/>
        </p:nvSpPr>
        <p:spPr>
          <a:xfrm xmlns:a="http://schemas.openxmlformats.org/drawingml/2006/main">
            <a:off x="7962900" y="30480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Generalize and operate</a:t>
            </a:r>
          </a:p>
        </p:txBody>
      </p:sp>
      <p:sp>
        <p:nvSpPr>
          <p:cNvPr id="16" name="">
            <a:extLst xmlns:a="http://schemas.openxmlformats.org/drawingml/2006/main">
              <a:ext uri="{FF2B5EF4-FFF2-40B4-BE49-F238E27FC236}">
                <a16:creationId xmlns:a16="http://schemas.microsoft.com/office/drawing/2014/main" id="{57A04CC8-E1F2-4C4B-A6C1-119A2988EF63}"/>
              </a:ext>
            </a:extLst>
          </p:cNvPr>
          <p:cNvSpPr>
            <a:spLocks xmlns:a="http://schemas.openxmlformats.org/drawingml/2006/main" noGrp="1"/>
          </p:cNvSpPr>
          <p:nvPr/>
        </p:nvSpPr>
        <p:spPr>
          <a:xfrm xmlns:a="http://schemas.openxmlformats.org/drawingml/2006/main">
            <a:off x="7962900" y="3762375"/>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Connectors and reconciliation</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Access-aware retrieval</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Retrieval and generation evaluation</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Reviewer workflow and monitoring</a:t>
            </a:r>
          </a:p>
        </p:txBody>
      </p:sp>
      <p:sp>
        <p:nvSpPr>
          <p:cNvPr id="17" name="">
            <a:extLst xmlns:a="http://schemas.openxmlformats.org/drawingml/2006/main">
              <a:ext uri="{FF2B5EF4-FFF2-40B4-BE49-F238E27FC236}">
                <a16:creationId xmlns:a16="http://schemas.microsoft.com/office/drawing/2014/main" id="{8BBED693-7757-48A5-974E-73B0F60C6B41}"/>
              </a:ext>
            </a:extLst>
          </p:cNvPr>
          <p:cNvSpPr>
            <a:spLocks xmlns:a="http://schemas.openxmlformats.org/drawingml/2006/main" noGrp="1"/>
          </p:cNvSpPr>
          <p:nvPr/>
        </p:nvSpPr>
        <p:spPr>
          <a:xfrm xmlns:a="http://schemas.openxmlformats.org/drawingml/2006/main">
            <a:off x="457200" y="5514975"/>
            <a:ext cx="10858500" cy="533400"/>
          </a:xfrm>
          <a:prstGeom xmlns:a="http://schemas.openxmlformats.org/drawingml/2006/main" prst="roundRect">
            <a:avLst>
              <a:gd name="adj" fmla="val 25000"/>
            </a:avLst>
          </a:prstGeom>
          <a:solidFill xmlns:a="http://schemas.openxmlformats.org/drawingml/2006/main">
            <a:srgbClr val="101828"/>
          </a:solidFill>
          <a:ln xmlns:a="http://schemas.openxmlformats.org/drawingml/2006/main" w="9525">
            <a:solidFill>
              <a:srgbClr val="101828"/>
            </a:solidFill>
            <a:prstDash val="solid"/>
          </a:ln>
        </p:spPr>
      </p:sp>
      <p:sp>
        <p:nvSpPr>
          <p:cNvPr id="18" name="">
            <a:extLst xmlns:a="http://schemas.openxmlformats.org/drawingml/2006/main">
              <a:ext uri="{FF2B5EF4-FFF2-40B4-BE49-F238E27FC236}">
                <a16:creationId xmlns:a16="http://schemas.microsoft.com/office/drawing/2014/main" id="{87390179-8675-41A8-B68B-4764A48D41FE}"/>
              </a:ext>
            </a:extLst>
          </p:cNvPr>
          <p:cNvSpPr>
            <a:spLocks xmlns:a="http://schemas.openxmlformats.org/drawingml/2006/main" noGrp="1"/>
          </p:cNvSpPr>
          <p:nvPr/>
        </p:nvSpPr>
        <p:spPr>
          <a:xfrm xmlns:a="http://schemas.openxmlformats.org/drawingml/2006/main">
            <a:off x="685800" y="5676900"/>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1905"/>
          </a:bodyPr>
          <a:lstStyle xmlns:a="http://schemas.openxmlformats.org/drawingml/2006/main"/>
          <a:p xmlns:a="http://schemas.openxmlformats.org/drawingml/2006/main">
            <a:pPr algn="l">
              <a:buNone/>
              <a:defRPr sz="1050" b="1">
                <a:solidFill>
                  <a:srgbClr val="9CB5D5"/>
                </a:solidFill>
                <a:latin typeface="Helvetica Neue"/>
                <a:ea typeface="Helvetica Neue"/>
                <a:cs typeface="Helvetica Neue"/>
              </a:defRPr>
            </a:pPr>
            <a:r>
              <a:rPr sz="1050" b="1">
                <a:solidFill>
                  <a:srgbClr val="9CB5D5"/>
                </a:solidFill>
                <a:latin typeface="Helvetica Neue"/>
                <a:ea typeface="Helvetica Neue"/>
                <a:cs typeface="Helvetica Neue"/>
              </a:rPr>
              <a:t>NEXT DECISION</a:t>
            </a:r>
          </a:p>
        </p:txBody>
      </p:sp>
      <p:sp>
        <p:nvSpPr>
          <p:cNvPr id="19" name="">
            <a:extLst xmlns:a="http://schemas.openxmlformats.org/drawingml/2006/main">
              <a:ext uri="{FF2B5EF4-FFF2-40B4-BE49-F238E27FC236}">
                <a16:creationId xmlns:a16="http://schemas.microsoft.com/office/drawing/2014/main" id="{37CB83B3-D284-4081-B799-9D7848AC112B}"/>
              </a:ext>
            </a:extLst>
          </p:cNvPr>
          <p:cNvSpPr>
            <a:spLocks xmlns:a="http://schemas.openxmlformats.org/drawingml/2006/main" noGrp="1"/>
          </p:cNvSpPr>
          <p:nvPr/>
        </p:nvSpPr>
        <p:spPr>
          <a:xfrm xmlns:a="http://schemas.openxmlformats.org/drawingml/2006/main">
            <a:off x="2190750" y="5638800"/>
            <a:ext cx="876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350" b="1">
                <a:solidFill>
                  <a:srgbClr val="FFFFFF"/>
                </a:solidFill>
                <a:latin typeface="Helvetica Neue"/>
                <a:ea typeface="Helvetica Neue"/>
                <a:cs typeface="Helvetica Neue"/>
              </a:defRPr>
            </a:pPr>
            <a:r>
              <a:rPr sz="1350" b="1">
                <a:solidFill>
                  <a:srgbClr val="FFFFFF"/>
                </a:solidFill>
                <a:latin typeface="Helvetica Neue"/>
                <a:ea typeface="Helvetica Neue"/>
                <a:cs typeface="Helvetica Neue"/>
              </a:rPr>
              <a:t>Approve one source-to-brief pilot after source owners, access owners, and the AIVC principal confirm the test set.</a:t>
            </a:r>
          </a:p>
        </p:txBody>
      </p:sp>
    </p:spTree>
    <p:extLst>
      <p:ext uri="{BB962C8B-B14F-4D97-AF65-F5344CB8AC3E}">
        <p14:creationId xmlns:p14="http://schemas.microsoft.com/office/powerpoint/2010/main" val="151547627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2026-09-01T01:28:10.1470000Z</dcterms:created>
  <dcterms:modified xsi:type="dcterms:W3CDTF">2026-09-01T01:28:10.1470000Z</dcterms:modified>
</coreProperties>
</file>