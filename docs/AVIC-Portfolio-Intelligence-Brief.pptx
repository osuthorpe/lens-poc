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6037867d04787" /><Relationship Type="http://schemas.openxmlformats.org/officeDocument/2006/relationships/extended-properties" Target="/docProps/app.xml" Id="R6336c93d5eb04dcc" /><Relationship Type="http://schemas.openxmlformats.org/officeDocument/2006/relationships/officeDocument" Target="/ppt/presentation.xml" Id="R2bfc671c649040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d1c00270864074"/>
  </p:sldMasterIdLst>
  <p:notesMasterIdLst>
    <p:notesMasterId xmlns:r="http://schemas.openxmlformats.org/officeDocument/2006/relationships" r:id="Rb41e15aecf3b47a5"/>
  </p:notesMasterIdLst>
  <p:sldIdLst>
    <p:sldId xmlns:r="http://schemas.openxmlformats.org/officeDocument/2006/relationships" id="256" r:id="R709c4b86b03a4d09"/>
    <p:sldId xmlns:r="http://schemas.openxmlformats.org/officeDocument/2006/relationships" id="257" r:id="R8a97d40202dd4e89"/>
    <p:sldId xmlns:r="http://schemas.openxmlformats.org/officeDocument/2006/relationships" id="258" r:id="R8dff0df85d1941bf"/>
    <p:sldId xmlns:r="http://schemas.openxmlformats.org/officeDocument/2006/relationships" id="259" r:id="Rb922d9b1bc5f4301"/>
    <p:sldId xmlns:r="http://schemas.openxmlformats.org/officeDocument/2006/relationships" id="260" r:id="R60024e40a31d4500"/>
    <p:sldId xmlns:r="http://schemas.openxmlformats.org/officeDocument/2006/relationships" id="261" r:id="Rd7d04292aa4f48e3"/>
    <p:sldId xmlns:r="http://schemas.openxmlformats.org/officeDocument/2006/relationships" id="262" r:id="Rcda1facd48ad42df"/>
    <p:sldId xmlns:r="http://schemas.openxmlformats.org/officeDocument/2006/relationships" id="263" r:id="Rfd68b6713e7c4fcc"/>
    <p:sldId xmlns:r="http://schemas.openxmlformats.org/officeDocument/2006/relationships" id="264" r:id="Ra9a8cdc358a94746"/>
    <p:sldId xmlns:r="http://schemas.openxmlformats.org/officeDocument/2006/relationships" id="265" r:id="Re21d22a82b9d407d"/>
    <p:sldId xmlns:r="http://schemas.openxmlformats.org/officeDocument/2006/relationships" id="266" r:id="R52438ce36d914fa7"/>
    <p:sldId xmlns:r="http://schemas.openxmlformats.org/officeDocument/2006/relationships" id="267" r:id="R60c05813965247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4bb675cf804971" /><Relationship Type="http://schemas.openxmlformats.org/officeDocument/2006/relationships/slideMaster" Target="/ppt/slideMasters/slideMaster1.xml" Id="Rafd1c00270864074" /><Relationship Type="http://schemas.openxmlformats.org/officeDocument/2006/relationships/notesMaster" Target="/ppt/notesMasters/notesMaster1.xml" Id="Rb41e15aecf3b47a5" /><Relationship Type="http://schemas.openxmlformats.org/officeDocument/2006/relationships/presProps" Target="/ppt/presProps.xml" Id="R2017c55c45a74c8c" /><Relationship Type="http://schemas.openxmlformats.org/officeDocument/2006/relationships/tableStyles" Target="/ppt/tableStyles.xml" Id="R77be3bbff0b9449b" /><Relationship Type="http://schemas.openxmlformats.org/officeDocument/2006/relationships/slide" Target="/ppt/slides/slide1.xml" Id="R709c4b86b03a4d09" /><Relationship Type="http://schemas.openxmlformats.org/officeDocument/2006/relationships/slide" Target="/ppt/slides/slide2.xml" Id="R8a97d40202dd4e89" /><Relationship Type="http://schemas.openxmlformats.org/officeDocument/2006/relationships/slide" Target="/ppt/slides/slide3.xml" Id="R8dff0df85d1941bf" /><Relationship Type="http://schemas.openxmlformats.org/officeDocument/2006/relationships/slide" Target="/ppt/slides/slide4.xml" Id="Rb922d9b1bc5f4301" /><Relationship Type="http://schemas.openxmlformats.org/officeDocument/2006/relationships/slide" Target="/ppt/slides/slide5.xml" Id="R60024e40a31d4500" /><Relationship Type="http://schemas.openxmlformats.org/officeDocument/2006/relationships/slide" Target="/ppt/slides/slide6.xml" Id="Rd7d04292aa4f48e3" /><Relationship Type="http://schemas.openxmlformats.org/officeDocument/2006/relationships/slide" Target="/ppt/slides/slide7.xml" Id="Rcda1facd48ad42df" /><Relationship Type="http://schemas.openxmlformats.org/officeDocument/2006/relationships/slide" Target="/ppt/slides/slide8.xml" Id="Rfd68b6713e7c4fcc" /><Relationship Type="http://schemas.openxmlformats.org/officeDocument/2006/relationships/slide" Target="/ppt/slides/slide9.xml" Id="Ra9a8cdc358a94746" /><Relationship Type="http://schemas.openxmlformats.org/officeDocument/2006/relationships/slide" Target="/ppt/slides/slide10.xml" Id="Re21d22a82b9d407d" /><Relationship Type="http://schemas.openxmlformats.org/officeDocument/2006/relationships/slide" Target="/ppt/slides/slide11.xml" Id="R52438ce36d914fa7" /><Relationship Type="http://schemas.openxmlformats.org/officeDocument/2006/relationships/slide" Target="/ppt/slides/slide12.xml" Id="R60c05813965247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82016415704e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42889ac3a84c31" /><Relationship Type="http://schemas.openxmlformats.org/officeDocument/2006/relationships/notesMaster" Target="/ppt/notesMasters/notesMaster1.xml" Id="R6c58b8bbdce543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f00d62edb14374" /><Relationship Type="http://schemas.openxmlformats.org/officeDocument/2006/relationships/notesMaster" Target="/ppt/notesMasters/notesMaster1.xml" Id="Re7d6c06a5f1647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6acb640e5e4594" /><Relationship Type="http://schemas.openxmlformats.org/officeDocument/2006/relationships/notesMaster" Target="/ppt/notesMasters/notesMaster1.xml" Id="R35e601d255184b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21fa8de17245c4" /><Relationship Type="http://schemas.openxmlformats.org/officeDocument/2006/relationships/notesMaster" Target="/ppt/notesMasters/notesMaster1.xml" Id="Rddd6ab80079a41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99abe7c124460a" /><Relationship Type="http://schemas.openxmlformats.org/officeDocument/2006/relationships/notesMaster" Target="/ppt/notesMasters/notesMaster1.xml" Id="Rd15fc0a6264742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5b9c23aff34085" /><Relationship Type="http://schemas.openxmlformats.org/officeDocument/2006/relationships/notesMaster" Target="/ppt/notesMasters/notesMaster1.xml" Id="R625b04a4ab9741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798ca877b54c8e" /><Relationship Type="http://schemas.openxmlformats.org/officeDocument/2006/relationships/notesMaster" Target="/ppt/notesMasters/notesMaster1.xml" Id="R4457c2441a35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0a28c3c9974240" /><Relationship Type="http://schemas.openxmlformats.org/officeDocument/2006/relationships/notesMaster" Target="/ppt/notesMasters/notesMaster1.xml" Id="Rddfaab833aee4b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d99555d5ab42bf" /><Relationship Type="http://schemas.openxmlformats.org/officeDocument/2006/relationships/notesMaster" Target="/ppt/notesMasters/notesMaster1.xml" Id="Rc35ba74da6204d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ab9c18a7d8495d" /><Relationship Type="http://schemas.openxmlformats.org/officeDocument/2006/relationships/notesMaster" Target="/ppt/notesMasters/notesMaster1.xml" Id="R39f5629ddf8340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45954f679d4de9" /><Relationship Type="http://schemas.openxmlformats.org/officeDocument/2006/relationships/notesMaster" Target="/ppt/notesMasters/notesMaster1.xml" Id="Re187e1c50ab348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8cd1d84dbf4c8f" /><Relationship Type="http://schemas.openxmlformats.org/officeDocument/2006/relationships/notesMaster" Target="/ppt/notesMasters/notesMaster1.xml" Id="R12cb91ca961d43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/Users/alexthorpe/Downloads/1bd01501-76bc-441d-95c1-4eaf849a0507.pdf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90-minute value is a problem assumption from the brief. It is not a measured result.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/Users/alexthorpe/Downloads/1bd01501-76bc-441d-95c1-4eaf849a0507.pdf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/private/tmp/avic-deck/product-overview.png</a:t>
            </a:r>
          </a:p>
          <a:p xmlns:a="http://schemas.openxmlformats.org/drawingml/2006/main">
            <a:r>
              <a:t>- /Users/alexthorpe/Documents/GitHub/AVIC/app/page.tsx</a:t>
            </a:r>
          </a:p>
          <a:p xmlns:a="http://schemas.openxmlformats.org/drawingml/2006/main">
            <a:r>
              <a:t>- /Users/alexthorpe/Documents/GitHub/AVIC/components/feedback-dialog.tsx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audit result: 32 tests passed and all 17 V1 checks passed. The 1–10 ms result covers local retrieval, brief construction, and citation validation.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/Users/alexthorpe/Documents/GitHub/AVIC/demo_data/manifest.json</a:t>
            </a:r>
          </a:p>
          <a:p xmlns:a="http://schemas.openxmlformats.org/drawingml/2006/main">
            <a:r>
              <a:t>- /Users/alexthorpe/Documents/GitHub/AVIC/scripts/verify-v1.ts</a:t>
            </a:r>
          </a:p>
          <a:p xmlns:a="http://schemas.openxmlformats.org/drawingml/2006/main">
            <a:r>
              <a:t>- /Users/alexthorpe/Documents/GitHub/AVIC/README.md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- /Users/alexthorpe/Documents/GitHub/AVIC/app/api/briefs/route.ts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/Users/alexthorpe/Documents/GitHub/AVIC/lib/ingestion.ts</a:t>
            </a:r>
          </a:p>
          <a:p xmlns:a="http://schemas.openxmlformats.org/drawingml/2006/main">
            <a:r>
              <a:t>- /Users/alexthorpe/Documents/GitHub/AVIC/db/schema.sql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/Users/alexthorpe/Documents/GitHub/AVIC/lib/retrieval.ts</a:t>
            </a:r>
          </a:p>
          <a:p xmlns:a="http://schemas.openxmlformats.org/drawingml/2006/main">
            <a:r>
              <a:t>- /Users/alexthorpe/Documents/GitHub/AVIC/lib/brief.ts</a:t>
            </a:r>
          </a:p>
          <a:p xmlns:a="http://schemas.openxmlformats.org/drawingml/2006/main">
            <a:r>
              <a:t>- /Users/alexthorpe/Documents/GitHub/AVIC/lib/evidence-detail.ts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/Users/alexthorpe/Documents/GitHub/AVIC/package.json</a:t>
            </a:r>
          </a:p>
          <a:p xmlns:a="http://schemas.openxmlformats.org/drawingml/2006/main">
            <a:r>
              <a:t>- /Users/alexthorpe/Documents/GitHub/AVIC/components.json</a:t>
            </a:r>
          </a:p>
          <a:p xmlns:a="http://schemas.openxmlformats.org/drawingml/2006/main">
            <a:r>
              <a:t>- /Users/alexthorpe/Documents/GitHub/AVIC/docker-compose.yml</a:t>
            </a:r>
          </a:p>
          <a:p xmlns:a="http://schemas.openxmlformats.org/drawingml/2006/main">
            <a:r>
              <a:t>- /Users/alexthorpe/Documents/GitHub/AVIC/lib/ingestion.ts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4-out-of-5 usefulness value is a target. The current repository does not contain a measured user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- /Users/alexthorpe/Downloads/1bd01501-76bc-441d-95c1-4eaf849a0507.pdf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/Users/alexthorpe/Documents/GitHub/AVIC/README.md</a:t>
            </a:r>
          </a:p>
          <a:p xmlns:a="http://schemas.openxmlformats.org/drawingml/2006/main">
            <a:r>
              <a:t>- /Users/alexthorpe/Documents/GitHub/AVIC/lib/ingestion.ts</a:t>
            </a:r>
          </a:p>
          <a:p xmlns:a="http://schemas.openxmlformats.org/drawingml/2006/main">
            <a:r>
              <a:t>- /Users/alexthorpe/Documents/GitHub/AVIC/lib/brief.ts</a:t>
            </a:r>
          </a:p>
          <a:p xmlns:a="http://schemas.openxmlformats.org/drawingml/2006/main">
            <a:r>
              <a:t>- /Users/alexthorpe/Documents/GitHub/AVIC/lib/retrieval.ts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/Users/alexthorpe/Downloads/1bd01501-76bc-441d-95c1-4eaf849a0507.pdf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/Users/alexthorpe/Downloads/1bd01501-76bc-441d-95c1-4eaf849a0507.pdf</a:t>
            </a:r>
          </a:p>
          <a:p xmlns:a="http://schemas.openxmlformats.org/drawingml/2006/main">
            <a:r>
              <a:t>- /Users/alexthorpe/Documents/GitHub/AVIC/docs/architecture.md</a:t>
            </a:r>
          </a:p>
          <a:p xmlns:a="http://schemas.openxmlformats.org/drawingml/2006/main">
            <a:r>
              <a:t>- /Users/alexthorpe/Documents/GitHub/AVIC/docs/prd-v1.md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f00dd12fba48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7f30bd91eb454c" /><Relationship Type="http://schemas.openxmlformats.org/officeDocument/2006/relationships/slideLayout" Target="/ppt/slideLayouts/slideLayout1.xml" Id="R60193b7934e447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193b7934e447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8ac43e6ba4bf8" /><Relationship Type="http://schemas.openxmlformats.org/officeDocument/2006/relationships/notesSlide" Target="/ppt/notesSlides/notesSlide1.xml" Id="R768e551a592a40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1533e1a294c9c" /><Relationship Type="http://schemas.openxmlformats.org/officeDocument/2006/relationships/notesSlide" Target="/ppt/notesSlides/notesSlide2.xml" Id="R2cc45aceebed48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b0d5002e24541" /><Relationship Type="http://schemas.openxmlformats.org/officeDocument/2006/relationships/image" Target="/ppt/media/image.jpeg" Id="R38398885d86349e0" /><Relationship Type="http://schemas.openxmlformats.org/officeDocument/2006/relationships/notesSlide" Target="/ppt/notesSlides/notesSlide3.xml" Id="R0e812d09ca1a46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720e2c29445f1" /><Relationship Type="http://schemas.openxmlformats.org/officeDocument/2006/relationships/notesSlide" Target="/ppt/notesSlides/notesSlide4.xml" Id="R5e305c4840e2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ea6eee4a241cf" /><Relationship Type="http://schemas.openxmlformats.org/officeDocument/2006/relationships/notesSlide" Target="/ppt/notesSlides/notesSlide5.xml" Id="Rfd4fbf10229a4a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b609139f8499c" /><Relationship Type="http://schemas.openxmlformats.org/officeDocument/2006/relationships/notesSlide" Target="/ppt/notesSlides/notesSlide6.xml" Id="Rb2cedf6be77740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2306fd9354ddd" /><Relationship Type="http://schemas.openxmlformats.org/officeDocument/2006/relationships/notesSlide" Target="/ppt/notesSlides/notesSlide7.xml" Id="Rd24fc78aed3349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59168ab094980" /><Relationship Type="http://schemas.openxmlformats.org/officeDocument/2006/relationships/notesSlide" Target="/ppt/notesSlides/notesSlide8.xml" Id="R0c4d93a6bfbd4c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a52dd2ff84b8f" /><Relationship Type="http://schemas.openxmlformats.org/officeDocument/2006/relationships/notesSlide" Target="/ppt/notesSlides/notesSlide9.xml" Id="R90cfdccfe5e64c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792acd2eb4bf1" /><Relationship Type="http://schemas.openxmlformats.org/officeDocument/2006/relationships/notesSlide" Target="/ppt/notesSlides/notesSlide10.xml" Id="R2639d66037604c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a4e9fb38e4744" /><Relationship Type="http://schemas.openxmlformats.org/officeDocument/2006/relationships/notesSlide" Target="/ppt/notesSlides/notesSlide11.xml" Id="R957c2dca976542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5409f06ac4a84" /><Relationship Type="http://schemas.openxmlformats.org/officeDocument/2006/relationships/notesSlide" Target="/ppt/notesSlides/notesSlide12.xml" Id="Rdba78f57f9d645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D1145-7B96-46D8-A68A-0CBA18A7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8150"/>
            <a:ext cx="2857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E115D-EF2A-4F10-AB7C-5AE00E31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"/>
            <a:ext cx="2628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WORKING V1 · PRODUCTION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B49EE-4D40-41E7-A8F1-C2E8C4E1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28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AIVC Portfolio</a:t>
            </a:r>
          </a:p>
          <a:p xmlns:a="http://schemas.openxmlformats.org/drawingml/2006/main">
            <a:pPr algn="l"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Intelligence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41661-5E1A-4F92-ADD3-F4CFD927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957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An evidence-backed company brief in 30 seconds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2645B-87CB-4B29-92D6-00F25144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577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B971D-6B6E-42B3-96FB-E8FE4C8A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Working prototype, technical choices, and controlled pilot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76C5E-3CD4-4748-AEF7-31A1D2F8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62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31 AUG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1299B-C5FE-4207-A40C-B9127CBC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722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AVIC</a:t>
            </a:r>
          </a:p>
        </p:txBody>
      </p:sp>
    </p:spTree>
    <p:extLst>
      <p:ext uri="{BB962C8B-B14F-4D97-AF65-F5344CB8AC3E}">
        <p14:creationId xmlns:p14="http://schemas.microsoft.com/office/powerpoint/2010/main" val="6145799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65EB2-113E-4627-87F2-A71ECC3D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RC spends 90 minutes collecting and checking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579A2-9FB9-4372-9154-19087DC3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7AA71-D3C2-4C98-AFAC-E5412A1A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F48F3-450F-4130-95CF-94099BB7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The problem is search and verification, not a lack of information.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F95D8-6C94-47AD-A1EB-CF294B2A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CRM records, meeting notes, Slack, filings, and news can contain different dates and values.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417FF-1C78-4630-A7F8-6EC28C54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50B1F-A28C-4568-A076-E5A6E093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B5CB9-5258-49AF-98CB-CA7024CC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250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B3E8C-2A1E-4CB1-A446-D1C965CC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companies in 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53B9A-8BFE-4CFB-BD23-363424E0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About 50 portfolio + 200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C5EA8-248C-47B4-958B-AE6E9115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D683D5-383D-4FAC-92FD-68867DED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FB4"/>
          </a:solidFill>
          <a:ln xmlns:a="http://schemas.openxmlformats.org/drawingml/2006/main" w="9525">
            <a:solidFill>
              <a:srgbClr val="5D7FB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25FB5-141F-4754-8532-8F42CEAA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90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042B3-963F-43BD-8B6B-A49D7461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manual preparation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3F715-1736-4DA9-A1CF-98E50CB5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Problem estimate; not a measured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AC155-9844-4BC8-896D-32BD0744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3381375" cy="2247900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D61F2-45C3-47D8-AC88-3F1E32DC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76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B5D5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6A76D-4C90-42DF-A6F2-17737BFE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0520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≤30 sec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E1318-319E-46BC-A315-D16FC242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19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brief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691C0-D6AA-43D5-ADB0-F23290AE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Current facts, risks, questions, and sources</a:t>
            </a:r>
          </a:p>
        </p:txBody>
      </p:sp>
    </p:spTree>
    <p:extLst>
      <p:ext uri="{BB962C8B-B14F-4D97-AF65-F5344CB8AC3E}">
        <p14:creationId xmlns:p14="http://schemas.microsoft.com/office/powerpoint/2010/main" val="1491271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341753-F432-4FAC-905F-6BC9A330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RC moves from brief to source without leaving the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E18DA-23DC-4F91-B843-5482207C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A8E7A-FCA5-488D-941A-99A21086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ABDBA-8C6F-43CE-B795-FCAE7207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One view supports the full preparation job.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1D578-EC77-455D-8411-25930D85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0"/>
            <a:ext cx="3429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12385-E2AC-4E4A-8AE9-C0083C26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257425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9EA74-BB95-4276-B9A6-114E2E4A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81225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Select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5DDC6-3FD4-4355-B84F-85B98D1D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765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Choose a portfolio or pipeline company.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E1A84-9DC8-4EC3-BD84-249D08D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3429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7440BB-A5A8-41C6-9175-6A1410B7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114675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C0B0E-D29C-45B9-BEB5-0D7F57B2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38475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780DA-7896-4A5A-88B2-8B9F8E3A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Read Key facts, Risks, and Questions.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0D830-C080-4CD6-BFA1-2EE115C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3429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4062D-56DE-44CE-8D5D-310725AF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971925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726DA-1060-40F1-96BE-56094C5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95725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Drill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A7F37-E813-48A3-97AB-7EDCB235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Open values, evidence, dates, and the original record.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ECADF-5901-445D-82B7-8174C7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3429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C54E17-A905-4324-9C22-3D025DBF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829175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EF4C6-311E-45C9-8B5A-A1303E1B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52975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Correct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88DCF-B844-4248-82AC-B846044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Send Good, Bad, or Wrong feedback.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BF0D0-9C7B-40B0-B1DE-EEED270A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67250" cy="4572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98885d86349e0"/>
          <a:srcRect xmlns:a="http://schemas.openxmlformats.org/drawingml/2006/main" l="0" t="2743" r="0" b="27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562100"/>
            <a:ext cx="4400550" cy="4305300"/>
          </a:xfrm>
          <a:prstGeom xmlns:a="http://schemas.openxmlformats.org/drawingml/2006/main" prst="roundRect">
            <a:avLst>
              <a:gd name="adj" fmla="val 3097"/>
            </a:avLst>
          </a:prstGeom>
        </p:spPr>
      </p:pic>
    </p:spTree>
    <p:extLst>
      <p:ext uri="{BB962C8B-B14F-4D97-AF65-F5344CB8AC3E}">
        <p14:creationId xmlns:p14="http://schemas.microsoft.com/office/powerpoint/2010/main" val="1674415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E38232-A601-4B33-99ED-19B54747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The working V1 proves the full evidence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82D18-9423-4C8C-AF4D-EA6D1329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7D0EB-B896-497B-BED0-F0C1C550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AD644-55F4-4DAD-96B3-DC6C170A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023AE-B558-4188-A8C4-2414A5FE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771CD-5CDF-4F6B-8D87-1929665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curated companies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25352-7D58-4731-93B8-9020F1AB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2 portfolio + 8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99601-794F-4030-A1A7-8FC7D141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EEEBF-ED4F-4DB0-B74E-485AC67C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7C502-96F0-4528-9AA9-9508C99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C854F-FB4F-485B-A83F-10B17B8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CRM, meeting, Slack, and news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A07DD-7C4B-4BA8-9FD7-C902B861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624D3-AE3A-442B-8B1A-64819C6A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59/59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0C9FC-2AC7-416A-A2AE-55B2A384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chunks with vectors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DA876-54C8-4B79-98D6-E924FCC1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One 1,536-value vector per chunk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410BE-6050-42D8-9D7C-717BCC63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00200"/>
            <a:ext cx="2571750" cy="171450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8C5DF-6CF6-48B8-B277-34D4DC67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2880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32 + 17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36AE3F-D1C4-4D0D-A35F-DFF5F7BF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95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passing checks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3273F-9072-42DE-948B-4BE81786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765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Tests + V1 database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96C22-8CC4-42C1-AE87-E04618B6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108585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642584-EDEF-43BF-99E6-5BF978F0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Verified in the current checkout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19A00-4C98-4488-A084-4206A387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A3D507-5D5C-4554-892E-A568CD05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910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C3477F-C2B0-47D9-9B9A-0E325FC4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434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All 10 companies return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C2EE5B-BD3B-4F9C-8687-99BBB16A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291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Each company passes the 30-second condition.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31F99B-19F7-481F-8767-3BE4ABAF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AD4C-E725-46B0-A148-5CC6F791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3910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74E3D3-7DB7-4D0F-B262-FDAFC9F5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4533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Conflict, stale, missing, and unverified states 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F0259-EF9B-41A4-8B53-D27D1B39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291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checks cover the main evidence states.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E642AA-8B13-4653-9E09-F49AFB9E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Local core path: 1–10 ms per company in verification. This is not a production end-to-end result.</a:t>
            </a:r>
          </a:p>
        </p:txBody>
      </p:sp>
    </p:spTree>
    <p:extLst>
      <p:ext uri="{BB962C8B-B14F-4D97-AF65-F5344CB8AC3E}">
        <p14:creationId xmlns:p14="http://schemas.microsoft.com/office/powerpoint/2010/main" val="217603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2F984-D246-4734-ACC5-293D4457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The request path stays local, fast, and auditable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72B95-C544-452F-900E-C90D7963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1F526-7CB2-473C-9BE1-2AE0B22D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82B3C-046E-4EBA-9746-C6BF4E4A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import path runs before RC asks for a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BC366-29EC-4070-AC66-0FCDB728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18097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96949-8B92-4E3C-91C5-474DF992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88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Sources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4C1A9-C4CA-4106-BB48-C633031F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90825"/>
            <a:ext cx="1466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Meeting notes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Slack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News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E64AD3-688E-46AF-8FEB-BB70208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18097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F445C-96EF-491A-BCF7-2AC277A0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288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Import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1BAB3-F830-46F0-A2E9-DA18B80B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90825"/>
            <a:ext cx="1466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Normalize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Checksum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Chunk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2C6CD-12D3-4383-95F2-A8382D43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66950"/>
            <a:ext cx="209550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71975-15C3-4667-BC34-D9B4464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428875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PostgreSQL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FC93D-2600-460B-AAC8-580EFD4F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90825"/>
            <a:ext cx="1752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Raw records + facts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Text chunks + vectors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Briefs +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8EC61-0E23-44B6-8EAF-0255EFCE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66950"/>
            <a:ext cx="18097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7E6E0-B411-44BD-92AA-7F5DF655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288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Brief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B4D61-4907-4A5F-BE30-2C31008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90825"/>
            <a:ext cx="1466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Company filter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Hybrid rank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Build + validate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9349B-FC80-44F0-8C6F-18040F8C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66950"/>
            <a:ext cx="18097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14EADC-1D14-41C1-86E1-E97BD739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288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Investor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8C108C-FA6E-42B8-8F1A-D28D9488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90825"/>
            <a:ext cx="1466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Key facts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Risks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Questions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cxnSp>
        <p:nvCxnSpPr>
          <p:cNvPr id="47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66950" y="30765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457700" y="30765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34200" y="30765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124950" y="30765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1FFB58-BB8E-471E-98CB-49CBA54C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108585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00A8E-F14E-4A01-8264-2EC18B75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Audit and feedback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4171B3-C020-4C48-902A-199C6AB2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339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Saved request · ranked evidence · source scores · result · duration · stable brief ID · user feedback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9C767-43D9-4311-B764-33EAAB1F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Production replaces file adapters and local intelligence. The standard record and evidence contract stays.</a:t>
            </a:r>
          </a:p>
        </p:txBody>
      </p:sp>
    </p:spTree>
    <p:extLst>
      <p:ext uri="{BB962C8B-B14F-4D97-AF65-F5344CB8AC3E}">
        <p14:creationId xmlns:p14="http://schemas.microsoft.com/office/powerpoint/2010/main" val="16296256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7B3EEB-D638-4724-AAF7-119C489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Import once, preserve every record, and normalize the rest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05ED1-D51F-46D6-86F2-64D21DC0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9AC04-D709-4811-8011-6CBF5DDB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84428-21BF-430B-AB26-3A6B26D5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Four file adapters use one standard source record.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AB9F0-C69D-4A69-808D-6EF2BA8C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5690E-0B75-4171-92B6-19446C21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574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BEFDC-1AD1-482F-BA2B-A1477C59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288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Validate the source format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004A4-470B-427C-9F30-0D40843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8914F-BE10-4304-B4E7-B45DA4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24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DA04E-E782-4241-A00D-8BDB6C17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7813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E2949-2E8A-485A-BB75-2DF646A1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527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Assign one known company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2708-9950-446C-9ADA-FBD2E6F5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011EC-1C83-4C78-B335-F8C9491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B03D7-4FFF-4222-8023-4B9CA2C3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052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8125C-7399-406D-BC38-0734C61B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766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Keep the original record and 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61669-D96D-4F99-AAE4-AE64D61F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95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9D8FE-F79D-4F30-8530-3ED39A96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2449E-1384-407C-AC51-A2662CEB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291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C1E8-153D-4E33-BBE6-7D81EB56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005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Normalize text and calculate a checksum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CB409B-36D1-4D07-8523-93405C75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CB5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1AFB4-3CC6-4EF1-99E3-CA083899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B717AD-6170-4CFF-BB81-8BC5838D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953000"/>
            <a:ext cx="133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DAAB14-613C-43B8-BDF1-18A66C09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244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Create facts, chunks, and local vectors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B2134-0E03-439A-A505-DE179D4F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66900"/>
            <a:ext cx="2571750" cy="3429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B4CBE1-89EE-44EE-983C-A975997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955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29143-C486-4B9C-992D-E9D30EFD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43125"/>
            <a:ext cx="1238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STRUCTURED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DCA77A-5E0E-43A6-BB0A-56BF2DE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95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7F2038-5230-4C6D-B7BE-2F1B21A0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62890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Companies and relationships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A1E6A-DDE2-4B51-9CA3-BB60038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209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9C2D3B-3862-47DC-8DCC-CDD999C3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4325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Facts, values, and 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82ED8D-B68B-44E4-87AC-903197BE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107E3-D67A-4E88-B122-31CFD386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5760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Access and verification data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FA7323-BC67-4C89-AEB0-3B13FB5C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352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59E530-E8A2-41EA-8346-C57BFB7E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86250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Brief runs and feedback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8F0A80-4D98-430F-966E-9CC4CF36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66900"/>
            <a:ext cx="2647950" cy="3429000"/>
          </a:xfrm>
          <a:prstGeom xmlns:a="http://schemas.openxmlformats.org/drawingml/2006/main" prst="roundRect">
            <a:avLst>
              <a:gd name="adj" fmla="val 6475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168A5B-B590-44D1-B806-F5F395BC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2E3F51-1461-462E-A2C6-5F8626BC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43125"/>
            <a:ext cx="1485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UNSTRUCTURED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02E35D-8EB6-40A1-908B-46F01167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955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C4359B-11DC-4514-982F-3577788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289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Raw JSON and Markdown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A29960-54C0-4E28-8FBC-E7E6FFDF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99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02A8CE-DF25-4A6F-A9FC-D7D0911E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Standard source 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8CF7C7-3CD4-4558-BDC0-52F948A4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242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BE4148-2E18-44CF-B9F2-A708B72C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57600"/>
            <a:ext cx="1981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Text chunks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64477A-E7B2-485F-B991-59280566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386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169384-31B1-4D6C-A1AB-F5694A39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7195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1,536-value local vectors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7D4F15-8AAA-4EBF-AFFB-776DC5EA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524500"/>
            <a:ext cx="5457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One store reduces V1 operations. Repeated imports update changed records and do not create duplicates.</a:t>
            </a:r>
          </a:p>
        </p:txBody>
      </p:sp>
    </p:spTree>
    <p:extLst>
      <p:ext uri="{BB962C8B-B14F-4D97-AF65-F5344CB8AC3E}">
        <p14:creationId xmlns:p14="http://schemas.microsoft.com/office/powerpoint/2010/main" val="11819738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B507DB-8CD7-43CA-AF84-401CDAD0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Company isolation comes before evidence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A7E82-BED4-4D5B-A311-0E86E2F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46247-13EC-46D6-81CE-457BD83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CACC8-F2C1-411F-97A9-DA439288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system filters first. It ranks only records for the selected company.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4A572-86CD-4E7B-91AF-F52BC05A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3B3A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6E833-E2EA-4DC2-9D44-6C233F92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rPr>
              <a:t>HARD COMPANY FILTER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3C146-5687-495D-B6D4-270B5F4B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7167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Then rank up to 30 evidence 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D67A4-A694-49BA-BDC9-40B6EEEF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71750"/>
            <a:ext cx="412623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E8CC8-CCA6-49D6-97DA-BBF21F28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52725"/>
            <a:ext cx="385953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38% text match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32024-CCDE-4A69-A872-D68433E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430" y="2571750"/>
            <a:ext cx="347472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FB4"/>
          </a:solidFill>
          <a:ln xmlns:a="http://schemas.openxmlformats.org/drawingml/2006/main" w="9525">
            <a:solidFill>
              <a:srgbClr val="5D7FB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438B9-9529-4C62-90D6-A01B05E1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6780" y="2752725"/>
            <a:ext cx="320802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32% vector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AD332-FB8A-45D8-AF79-C4D38169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71750"/>
            <a:ext cx="217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B5D5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263050-9BD4-42ED-8548-7DCC515D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5272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20% source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91DBA-8369-4772-B211-7CBCCCC6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71750"/>
            <a:ext cx="1085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6DCE5"/>
          </a:solidFill>
          <a:ln xmlns:a="http://schemas.openxmlformats.org/drawingml/2006/main" w="9525">
            <a:solidFill>
              <a:srgbClr val="D6DC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ABA78-9495-4518-B9AE-D0BB774A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5272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10% 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2BEB2-81A1-4327-BE0F-2D74CA69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3238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8094B-8C55-4063-8D3E-235A3971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14775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1 · Retrieve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1117F-06AB-4930-9793-34F42BB7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76725"/>
            <a:ext cx="2895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Full-text search + local vector similarity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7DBAE-E5B4-49D8-99C6-9C5094A3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32385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341F07-5F50-4A06-BE49-9E1DEA5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914775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2 · 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B76A0-10C0-4C72-B936-2FEC9E21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76725"/>
            <a:ext cx="2895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Key facts, Risks, and Questions from returned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9AE88-C67A-42F1-9052-14B09CE3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28194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D596B8-64D7-45EE-AD73-5E2E2B7F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14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3 · Check and save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B08F32-E59B-419A-9536-8E9418BA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76725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Citation check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Isolation check</a:t>
            </a:r>
          </a:p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Audit record</a:t>
            </a:r>
          </a:p>
        </p:txBody>
      </p:sp>
      <p:cxnSp>
        <p:nvCxnSpPr>
          <p:cNvPr id="53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95700" y="4467225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715250" y="4467225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D7FB4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C6DBDE-9250-4AA7-B2D3-2956A643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Evidence states: Confirmed · Values differ · Not confirmed · Update needed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5DB09F-6ADD-408F-B1D4-C5857C90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762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An earlier record stays in Evidence when a newer current value exists.</a:t>
            </a:r>
          </a:p>
        </p:txBody>
      </p:sp>
    </p:spTree>
    <p:extLst>
      <p:ext uri="{BB962C8B-B14F-4D97-AF65-F5344CB8AC3E}">
        <p14:creationId xmlns:p14="http://schemas.microsoft.com/office/powerpoint/2010/main" val="11141331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B61CF6-96B9-4010-86E0-F685F3D9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V1 trades model quality for control and repeatability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C5C2F-6C9D-4161-8CD3-13E090AC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0F930-A327-4D42-B3AC-B4690BAC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6BFC8-F410-4A84-9798-3C4E1316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CD62E-8C04-4F26-9606-CF238E6B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668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WHY IT FITS 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364E2-4CA2-464C-B7ED-DF6E42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66850"/>
            <a:ext cx="424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TRADE-OFF / NEXT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95C59-B79D-4705-8DC0-ABF561EA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9FB3E-B8A8-4D49-ACC4-AD76F61A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Next.js + React + TypeScript + Shadcn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7D8A2-A73D-48D0-83AA-5127647B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716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team can build the interface and server routes quickly.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435AE-0B0F-4977-9819-786E47BD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716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Separate services only when scale or ownership requires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DE38FC-42AC-41E0-A6D8-61A4AA3E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84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2B5CD3-C553-481E-9C26-C13B5B46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PostgreSQL 17 + pgvector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A0E06-95B2-41D7-B971-71C0C0FF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03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store holds facts, text, vectors, audit data, and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F879C1-6960-4435-8103-05F80DC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Test exact vector search with a generated 250-company dataset.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C5BFB-FF21-41F2-9BF1-F8473C9B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671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4786C-2CF3-4F87-A674-4A90F5B2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290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File adapters + local Docker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3BD4F-5E47-4AC2-BD68-A72C0756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290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The demo is repeatable and source data stays local.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3B12CA-0085-4447-849D-DEE811EB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290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 live updates, identity, permission sync, or managed operations.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5F6B4-29EE-4FAF-8CED-C8CB5D03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10858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3A7A48-84E5-4A16-8618-B5949755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577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Local hash vectors + rule-based briefs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604F0C-EF44-422B-9768-10F27E61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Results are controlled, repeatable, and easy to verify.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DA721-F40D-4B55-AC96-2E48A46C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577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Lower semantic quality. The current brief is not AI-generated.</a:t>
            </a:r>
          </a:p>
        </p:txBody>
      </p:sp>
    </p:spTree>
    <p:extLst>
      <p:ext uri="{BB962C8B-B14F-4D97-AF65-F5344CB8AC3E}">
        <p14:creationId xmlns:p14="http://schemas.microsoft.com/office/powerpoint/2010/main" val="4361454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B3F631-F107-449F-8532-F0F6CF09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 controlled pilot has four release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C5372-4CF1-4AE4-A3CD-4E138F75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9D6B0-80AA-4FCC-9C2D-6D215827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64302-6EE1-4371-AB23-0D77F5FE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0858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BEC42-0504-4404-8738-11D6F8F4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RC before a company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ABA6B-7522-4752-984B-13A58F66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His information is old and spread across systems. AVIC finds the current facts, risks, and questions so RC can use his time for judgment.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53D5B-CB83-4217-B157-E169C1C8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8B8DF-CD87-4BEC-BD37-808E72CD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SPEED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E06AE-D800-407A-A0B0-2475AB3F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≤30 sec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B57AF-1BAF-46D8-8B4E-B24061CB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Brief ready for each demo company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EE160-B2FE-4724-B4DB-29B4F6C9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3A2B5-5C9B-4684-88A5-D7E54E1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GROUNDING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DF1D5-5421-492D-BFC5-2AC7138E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3C4E3-ACED-4D21-A3E1-834E7E3D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Important facts have a source and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65777-4F36-4020-AF7C-22F41327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EA405-4A26-4F28-9A03-279E8425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ISOLATION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E85FE-503D-42CD-9E11-C9853F78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D565A-3552-4FDC-9339-4D2454B4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Evidence records from another company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909835-C000-476D-BE4E-86B6A009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571750" cy="2038350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D12D1C-71C7-4D5E-841E-35CE6D17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USEFULNESS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6A3A3-BAF9-4CEC-BA6B-8E7459E7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718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≥4/5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790D2-D307-426F-AFF6-4F296FCA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433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RC preparation score; target not yet measured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C7D7C-6E01-4D17-AA83-D2DB3D6F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Core stories: understand the current state · check each fact · prepare the next questions · report errors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9101A-94C4-48DC-82B6-88D1BEEA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388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Good enough to ship means a controlled internal pilot with approved sources. It does not mean a production release.</a:t>
            </a:r>
          </a:p>
        </p:txBody>
      </p:sp>
    </p:spTree>
    <p:extLst>
      <p:ext uri="{BB962C8B-B14F-4D97-AF65-F5344CB8AC3E}">
        <p14:creationId xmlns:p14="http://schemas.microsoft.com/office/powerpoint/2010/main" val="14833082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0E6CAA-500E-48FE-9B53-5F49A30A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The working system and the demo substitutes are explicit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5C2A4-B64B-4D22-95C8-408BF13E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F9FAF-5706-4922-868C-E24C4C57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A96E9-6F50-4414-A07D-C76C7C79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5219700" cy="43434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9C1BE-B33B-46AA-942D-A837CDBD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A0D09-9F63-4B9A-84FC-C3CD0BD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200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WORKS 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3C278-8683-4E98-84E7-96A510C3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B9381-0A59-414C-BEEB-8E714A7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955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FE6B0-320C-417E-8A1A-87941976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Interface and API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51185-F006-48A4-A1C8-28FF6BD7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2B173-A7EC-4AE9-BA73-C0E5AFE0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EC2F2-A405-4817-AF78-149C32AB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527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E349C-8886-4F72-895A-080D4170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051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PostgreSQL schema and file import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08AEA-2316-4C8A-A666-4AA15386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908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21680-B99C-4BF6-845E-85CB22E4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5CE81-A386-4156-8944-6514F223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B7FFD-012D-4084-9042-F42B6A45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623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Checksum-based updates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911C2-60EA-4D64-ADFB-9C0D32EA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374E0-12CE-473D-B264-DF803B1B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8644C-357A-42C4-A9E2-8D942C67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72E48-41BE-48B1-9388-CD31E3C9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Company-scoped hybrid retrieval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B4B12-A52A-4E4C-BAA9-3BAC2F5D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052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741759-6443-44CC-A10F-B9074382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907E69-39BA-4CC1-8FD2-4E5B52C5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243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B2F385-472E-4D2F-AC6E-4CBF8A7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767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Evidence and source drill-down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A0DB9C-186C-4B5C-A333-E8E63245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624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8FE40C-07C3-4860-AFAD-62721E67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0D9B71-DFC8-477C-9D82-9CA578FF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815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6354B8-5995-4C82-B3CC-540234CD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Saved brief and evidence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9B6427-62E0-482F-97D3-63254171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275246-0B5E-4F0B-B242-D7609D78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9DFC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41D126-2EA4-4C3D-9014-D4D23225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38725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47A59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9CFD4E-A3DD-411F-AA46-D2AC09D3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91100"/>
            <a:ext cx="4152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Good, Bad, and Wrong feedback capture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CE7EB0-3F29-4D3F-B156-2B90B615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76850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56AC8E-7EBB-4E1C-AAA4-F25E6FA6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85900"/>
            <a:ext cx="5410200" cy="43434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036B47-CE47-4FF4-A4D9-7A84C31F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1450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F4C78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2960AD-1486-4714-AECB-C71207E1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62125"/>
            <a:ext cx="1581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rPr>
              <a:t>DEMO SUBSTITUTE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8CDEE8-CD3F-4DBF-BC1C-80E64C71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8399F3-F9ED-4555-80C8-6CDC3A2A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955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10 fictional companies and static source files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A9FCAC-8F3D-418D-B6A1-F89B906A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19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9A3839-1695-415E-ADAD-3FC055C1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527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Local PostgreSQL in Docker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BA962C-B23C-46F0-B890-7AF5E8CC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76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36D5C5-691D-46F0-83CE-BA6B9D8F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99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Hard-coded demo access data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9A0E37-CACC-4EFD-836F-5AF091EE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354110-2FB3-4544-9BF4-14A3A73C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671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Word-hash vectors, not model embeddings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4CB06D-F6A2-46FA-B243-DA73C237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C9D8ED-30F2-4E3E-AD9B-AB4BC101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243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Rule-based brief text, not an external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355BF9-C88B-4D73-8354-02EE9009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48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E33EBE-F4FC-4200-BE63-29A8041F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815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Fixed demo date for repeatable recency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23388CF-7281-4DF1-A442-E2A94DB7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4708"/>
          </a:solidFill>
          <a:ln xmlns:a="http://schemas.openxmlformats.org/drawingml/2006/main" w="9525">
            <a:solidFill>
              <a:srgbClr val="B5470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EC6469-660B-4EB7-877D-E5FB3002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38725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No connectors, identity, or reviewer interface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2FCDB2-CCE1-4F3F-81ED-1CB32DC4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149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B54708"/>
                </a:solidFill>
                <a:latin typeface="Helvetica Neue"/>
                <a:ea typeface="Helvetica Neue"/>
                <a:cs typeface="Helvetica Neue"/>
              </a:rPr>
              <a:t>The app does not use the local OpenAI key.</a:t>
            </a:r>
          </a:p>
        </p:txBody>
      </p:sp>
    </p:spTree>
    <p:extLst>
      <p:ext uri="{BB962C8B-B14F-4D97-AF65-F5344CB8AC3E}">
        <p14:creationId xmlns:p14="http://schemas.microsoft.com/office/powerpoint/2010/main" val="266507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8A21C7-CE03-4BC4-898F-2976E47A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Two people can prepare a controlled pilot in eight weeks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70858-4A35-41AC-BA4E-97385B0D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2D16F-3E93-49C8-A083-E6763E45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A8900-8D83-489E-AEA5-4DF6BA25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24100"/>
            <a:ext cx="900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CB5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0FB16-277A-415B-B0A6-8E73C281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49BA2-9994-4F21-94A5-B41BE314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5D154-8701-4349-9AFF-7DA254E7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1–2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C3219-E26B-4090-B4AC-9A1D6991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Trust slice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01CF2-9E15-45BA-BEE2-9A4742BA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Reference questions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contract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One-company thin slice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3725A-8499-4B9F-902D-1547D90E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AFA8F-4649-4DC7-8F2E-34007EF1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8820BD-E9D8-4EE0-91EF-A42C6781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3–4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C1FD4-F4A1-44A7-A1AC-BFCA9E9B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Real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8C5E2-CF81-455B-A842-DB2C2591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read-only connector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Incremental import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Mapping +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777A7-B3A0-4F97-B3F1-99FA5E7A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70862-469D-415E-AC13-2BF4C28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0EFA4-B3E1-48E9-B048-F8D6BD7F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5–6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4F2DF-06EE-4F15-A3C6-C8D3A968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Approved intelligence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E0EB4-D171-46D5-AE72-9983A065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Embeddings + grounded text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Freshness + conflicts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Feedback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2A016-7301-49CD-B90A-7D57F4D0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717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F9F"/>
          </a:solidFill>
          <a:ln xmlns:a="http://schemas.openxmlformats.org/drawingml/2006/main" w="9525">
            <a:solidFill>
              <a:srgbClr val="315F9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CB468-F74B-4357-9A52-E3740719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609850"/>
            <a:ext cx="2457450" cy="2476500"/>
          </a:xfrm>
          <a:prstGeom xmlns:a="http://schemas.openxmlformats.org/drawingml/2006/main" prst="roundRect">
            <a:avLst>
              <a:gd name="adj" fmla="val 620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6FC1C-4C98-4854-B230-8BE29495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838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WEEKS 7–8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B3583-FB90-4EDE-95F5-3AE6193A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209925"/>
            <a:ext cx="2038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Controlled pilot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6C785-0332-4439-89D8-4C92564A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876675"/>
            <a:ext cx="2038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Identity + access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Reconciliation + monitoring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250-company test + RC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D243BD-D1D8-4D5E-9080-89BCC3F6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1150"/>
            <a:ext cx="10858500" cy="628650"/>
          </a:xfrm>
          <a:prstGeom xmlns:a="http://schemas.openxmlformats.org/drawingml/2006/main" prst="roundRect">
            <a:avLst>
              <a:gd name="adj" fmla="val 2121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BF2437-14B5-4A46-9FC0-D460E78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1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PERSON 1 · Product + full stack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8CF25F-52C6-4E33-BCCB-F49769B2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81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PERSON 2 · Data + platform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910F2C-EF3B-4B5A-AC88-78FDB08F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5816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SHARED · Data contract + evaluation set</a:t>
            </a:r>
          </a:p>
        </p:txBody>
      </p:sp>
    </p:spTree>
    <p:extLst>
      <p:ext uri="{BB962C8B-B14F-4D97-AF65-F5344CB8AC3E}">
        <p14:creationId xmlns:p14="http://schemas.microsoft.com/office/powerpoint/2010/main" val="1276192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D7DB73-AD97-4C88-8C7A-A4A75DE3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Evidence quality is the first risk to remove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8B56E-B5D3-40D5-84C7-3298B3E7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D00DE-0653-4BEF-8506-56714A0F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579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A3562-EE1C-4D17-9AF1-23A0716F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Prove evidence quality before model quality.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2A5C6-60ED-4181-9E47-254F8377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2701B-CF09-4277-9DC9-F0E56890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FIRST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3DDE3-C518-45BB-AFC1-EC711ACC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One company, four states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47721-2CAB-45CC-A0B0-A2173E4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current fact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true conflict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missing fact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One changed source record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149D0-122E-4662-9C67-860C2D33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7A513-9371-40C5-979E-A976BA6D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CRITICAL DEPENDENCIES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F692C-81C5-4F80-BEF7-B65ABE38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Owners and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21101-5479-4093-B7A3-67DC3D3F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Source access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Canonical company IDs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Access policy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Approved model and data rules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RC reference answers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8C9AB4-4295-4DBC-8C8F-775BFAD2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00300"/>
            <a:ext cx="3333750" cy="28003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9CB5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B8465-872C-4C3C-AD42-A1827E24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15F9F"/>
                </a:solidFill>
                <a:latin typeface="Helvetica Neue"/>
                <a:ea typeface="Helvetica Neue"/>
                <a:cs typeface="Helvetica Neue"/>
              </a:rPr>
              <a:t>WITH MORE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FEF94-1E54-482B-BA81-CD1C7288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48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828"/>
                </a:solidFill>
                <a:latin typeface="Helvetica Neue"/>
                <a:ea typeface="Helvetica Neue"/>
                <a:cs typeface="Helvetica Neue"/>
              </a:rPr>
              <a:t>Generalize and operate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04CC8-E1F2-4C4B-A6C1-119A2988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Live connectors + permission sync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Semantic embeddings + grounded generation</a:t>
            </a:r>
          </a:p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344054"/>
                </a:solidFill>
                <a:latin typeface="Helvetica Neue"/>
                <a:ea typeface="Helvetica Neue"/>
                <a:cs typeface="Helvetica Neue"/>
              </a:rPr>
              <a:t>Reviewer console + monitoring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BED693-7757-48A5-974E-73B0F60C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0858500" cy="533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390179-8675-41A8-B68B-4764A48D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CB5D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9CB5D5"/>
                </a:solidFill>
                <a:latin typeface="Helvetica Neue"/>
                <a:ea typeface="Helvetica Neue"/>
                <a:cs typeface="Helvetica Neue"/>
              </a:rPr>
              <a:t>NEXT 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B83B3-D284-4081-B799-9D7848AC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Approve a controlled pilot after the source and data-control owners confirm these dependencies.</a:t>
            </a:r>
          </a:p>
        </p:txBody>
      </p:sp>
    </p:spTree>
    <p:extLst>
      <p:ext uri="{BB962C8B-B14F-4D97-AF65-F5344CB8AC3E}">
        <p14:creationId xmlns:p14="http://schemas.microsoft.com/office/powerpoint/2010/main" val="15154762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2026-08-31T21:20:20.4170000Z</dcterms:created>
  <dcterms:modified xsi:type="dcterms:W3CDTF">2026-08-31T21:20:20.4170000Z</dcterms:modified>
</coreProperties>
</file>