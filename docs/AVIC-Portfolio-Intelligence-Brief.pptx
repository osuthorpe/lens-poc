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ff581b84f984ab4" /><Relationship Type="http://schemas.openxmlformats.org/officeDocument/2006/relationships/extended-properties" Target="/docProps/app.xml" Id="Rf82e53ce17d24f65" /><Relationship Type="http://schemas.openxmlformats.org/officeDocument/2006/relationships/officeDocument" Target="/ppt/presentation.xml" Id="R3287797faa8b4494" /></Relationships>
</file>

<file path=ppt/presentation.xml><?xml version="1.0" encoding="utf-8"?>
<p:presentation xmlns:p="http://schemas.openxmlformats.org/presentationml/2006/main">
  <p:sldMasterIdLst>
    <p:sldMasterId xmlns:r="http://schemas.openxmlformats.org/officeDocument/2006/relationships" id="2147483648" r:id="Rf8664cfa9aad4b85"/>
  </p:sldMasterIdLst>
  <p:notesMasterIdLst>
    <p:notesMasterId xmlns:r="http://schemas.openxmlformats.org/officeDocument/2006/relationships" r:id="R0af5c5aacdd34d8c"/>
  </p:notesMasterIdLst>
  <p:sldIdLst>
    <p:sldId xmlns:r="http://schemas.openxmlformats.org/officeDocument/2006/relationships" id="256" r:id="Rfe8b4bc17bd0425b"/>
    <p:sldId xmlns:r="http://schemas.openxmlformats.org/officeDocument/2006/relationships" id="257" r:id="Raf9da5428d2d402e"/>
    <p:sldId xmlns:r="http://schemas.openxmlformats.org/officeDocument/2006/relationships" id="258" r:id="R8fc4459a462d40bb"/>
    <p:sldId xmlns:r="http://schemas.openxmlformats.org/officeDocument/2006/relationships" id="259" r:id="Ra335ae017a714b32"/>
    <p:sldId xmlns:r="http://schemas.openxmlformats.org/officeDocument/2006/relationships" id="260" r:id="Rc798104fba1a4e62"/>
    <p:sldId xmlns:r="http://schemas.openxmlformats.org/officeDocument/2006/relationships" id="261" r:id="R391bf680a3a84735"/>
    <p:sldId xmlns:r="http://schemas.openxmlformats.org/officeDocument/2006/relationships" id="262" r:id="R57c0ae83fdcc4c31"/>
    <p:sldId xmlns:r="http://schemas.openxmlformats.org/officeDocument/2006/relationships" id="263" r:id="Ra575bd47b8444fd4"/>
    <p:sldId xmlns:r="http://schemas.openxmlformats.org/officeDocument/2006/relationships" id="264" r:id="Rd1a5110b3e924e2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3f3ae48220e4fba" /><Relationship Type="http://schemas.openxmlformats.org/officeDocument/2006/relationships/slideMaster" Target="/ppt/slideMasters/slideMaster1.xml" Id="Rf8664cfa9aad4b85" /><Relationship Type="http://schemas.openxmlformats.org/officeDocument/2006/relationships/notesMaster" Target="/ppt/notesMasters/notesMaster1.xml" Id="R0af5c5aacdd34d8c" /><Relationship Type="http://schemas.openxmlformats.org/officeDocument/2006/relationships/presProps" Target="/ppt/presProps.xml" Id="R3003f69a7b6d4343" /><Relationship Type="http://schemas.openxmlformats.org/officeDocument/2006/relationships/tableStyles" Target="/ppt/tableStyles.xml" Id="R95e38e170ee847a0" /><Relationship Type="http://schemas.openxmlformats.org/officeDocument/2006/relationships/slide" Target="/ppt/slides/slide1.xml" Id="Rfe8b4bc17bd0425b" /><Relationship Type="http://schemas.openxmlformats.org/officeDocument/2006/relationships/slide" Target="/ppt/slides/slide2.xml" Id="Raf9da5428d2d402e" /><Relationship Type="http://schemas.openxmlformats.org/officeDocument/2006/relationships/slide" Target="/ppt/slides/slide3.xml" Id="R8fc4459a462d40bb" /><Relationship Type="http://schemas.openxmlformats.org/officeDocument/2006/relationships/slide" Target="/ppt/slides/slide4.xml" Id="Ra335ae017a714b32" /><Relationship Type="http://schemas.openxmlformats.org/officeDocument/2006/relationships/slide" Target="/ppt/slides/slide5.xml" Id="Rc798104fba1a4e62" /><Relationship Type="http://schemas.openxmlformats.org/officeDocument/2006/relationships/slide" Target="/ppt/slides/slide6.xml" Id="R391bf680a3a84735" /><Relationship Type="http://schemas.openxmlformats.org/officeDocument/2006/relationships/slide" Target="/ppt/slides/slide7.xml" Id="R57c0ae83fdcc4c31" /><Relationship Type="http://schemas.openxmlformats.org/officeDocument/2006/relationships/slide" Target="/ppt/slides/slide8.xml" Id="Ra575bd47b8444fd4" /><Relationship Type="http://schemas.openxmlformats.org/officeDocument/2006/relationships/slide" Target="/ppt/slides/slide9.xml" Id="Rd1a5110b3e924e2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49b3fc801046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353a3bddf44281" /><Relationship Type="http://schemas.openxmlformats.org/officeDocument/2006/relationships/notesMaster" Target="/ppt/notesMasters/notesMaster1.xml" Id="R177c0b0ea65944e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6122d4c300a448d" /><Relationship Type="http://schemas.openxmlformats.org/officeDocument/2006/relationships/notesMaster" Target="/ppt/notesMasters/notesMaster1.xml" Id="R7fb5bfcec1f04321" /></Relationships>
</file>

<file path=ppt/notesSlides/_rels/notesSlide3.xml.rels>&#65279;<?xml version="1.0" encoding="utf-8"?><Relationships xmlns="http://schemas.openxmlformats.org/package/2006/relationships"><Relationship Type="http://schemas.openxmlformats.org/officeDocument/2006/relationships/slide" Target="/ppt/slides/slide3.xml" Id="R1844fa0cdd3a4dcf" /><Relationship Type="http://schemas.openxmlformats.org/officeDocument/2006/relationships/notesMaster" Target="/ppt/notesMasters/notesMaster1.xml" Id="R115f9983b92d46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f11651fafae4d18" /><Relationship Type="http://schemas.openxmlformats.org/officeDocument/2006/relationships/notesMaster" Target="/ppt/notesMasters/notesMaster1.xml" Id="R02bd7af37555461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fc20f5a6b0e462c" /><Relationship Type="http://schemas.openxmlformats.org/officeDocument/2006/relationships/notesMaster" Target="/ppt/notesMasters/notesMaster1.xml" Id="R419742b07e4d4ca2" /></Relationships>
</file>

<file path=ppt/notesSlides/_rels/notesSlide6.xml.rels>&#65279;<?xml version="1.0" encoding="utf-8"?><Relationships xmlns="http://schemas.openxmlformats.org/package/2006/relationships"><Relationship Type="http://schemas.openxmlformats.org/officeDocument/2006/relationships/slide" Target="/ppt/slides/slide6.xml" Id="Raa96e471e8db4859" /><Relationship Type="http://schemas.openxmlformats.org/officeDocument/2006/relationships/notesMaster" Target="/ppt/notesMasters/notesMaster1.xml" Id="R9acf2e09a32340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841ce63c8741442e" /><Relationship Type="http://schemas.openxmlformats.org/officeDocument/2006/relationships/notesMaster" Target="/ppt/notesMasters/notesMaster1.xml" Id="Rcda57fc92ab449af" /></Relationships>
</file>

<file path=ppt/notesSlides/_rels/notesSlide8.xml.rels>&#65279;<?xml version="1.0" encoding="utf-8"?><Relationships xmlns="http://schemas.openxmlformats.org/package/2006/relationships"><Relationship Type="http://schemas.openxmlformats.org/officeDocument/2006/relationships/slide" Target="/ppt/slides/slide8.xml" Id="R096f00c1b8e340ed" /><Relationship Type="http://schemas.openxmlformats.org/officeDocument/2006/relationships/notesMaster" Target="/ppt/notesMasters/notesMaster1.xml" Id="Rb7cbc99572414c2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0b75a8728d84337" /><Relationship Type="http://schemas.openxmlformats.org/officeDocument/2006/relationships/notesMaster" Target="/ppt/notesMasters/notesMaster1.xml" Id="R86c58eb4605c4f8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keeps the source record, calculates checksums, creates chunks, and sends fictional normalized chunk text to the OpenAI Embeddings API. PostgreSQL stores the returned embeddings. A brief request creates one query embedding. SQL filters by company and ranks up to 30 source records. The server sends only the selected company metadata and retrieved evidence to gpt-5.6-sol through the Responses API. It requests a strict schema with low reasoning effort, no tools, and no response storage. A 27-second model timeout and a 29-second request budget have no automatic retry. The server checks source IDs, company isolation, exact source quotes, typed values, qualitative support, source status, and investment safety. It saves the brief, generation mode, model data, and source ranks. If generation fails a check or exceeds the budget, local rules create a source-supported fallback. The app does not call a source system during a brief request. V1 does not watch a folder or Slack. To add a demo record, add it in a supported format, run the import route or the data import command, and select Refresh Brief. The importer reuses unchanged embeddings and embeds only new or changed chunks. A Slack thread must be added to the Slack JSON file with a known company ID.</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uses one Next.js application for the interface and API routes. This choice keeps the V1 deployment small. Separate web and service deployments can become useful when traffic or ownership grows. PostgreSQL and pgvector store structured facts, source text, and embeddings in one database. This choice keeps transactions and company filters together. A larger system can move source files to object storage and move search to a separate service. File adapters make the demo repeatable without live access. Production needs approved read-only connectors and incremental imports. OpenAI provides embeddings and brief generation. The server uses strict checks, timeouts, a local backup, and saved audit data. These controls reduce model risk. The trade-off is model cost, response time, and provider dependence. The active embedding model is text-embedding-3-large. The active brief model is gpt-5.6-sol through the Responses API.</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/Users/alexthorpe/Documents/GitHub/AVIC/docs/architecture.md</a:t>
            </a:r>
          </a:p>
          <a:p xmlns:a="http://schemas.openxmlformats.org/drawingml/2006/main">
            <a:r>
              <a:t>- /Users/alexthorpe/Documents/GitHub/AVIC/docs/prd-v1.md</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/Users/alexthorpe/Documents/GitHub/AVIC/lib/retrieval.ts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working prototype proves the source-to-brief path. The production target keeps the same boundaries and replaces demo parts in stages. Approved read-only connectors send CRM, meeting, Slack, filing, and news records to an import queue. The queue validates each record, maps it to one company, normalizes the content, and records its import state. PostgreSQL stores company data, structured facts, access rules, and audit data. Object storage keeps original files and large source content. The vector search layer stores embeddings or reads them from the database. The retrieval service filters by company and access before it ranks evidence. OpenAI writes the brief from selected evidence only. The server checks source IDs, direct quotes, numbers, conflicts, and investment safety. The interface shows the brief, source detail, data age, and review status. Monitoring tracks import failures, data age, response time, model quality, and cost. This design adds safety and scale. It also adds connector work, access control, operating cost, and more services to support.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/Users/alexthorpe/Documents/GitHub/AVIC/docs/architecture.md</a:t>
            </a:r>
          </a:p>
          <a:p xmlns:a="http://schemas.openxmlformats.org/drawingml/2006/main">
            <a:r>
              <a:t>- /Users/alexthorpe/Documents/GitHub/AVIC/docs/prd-v1.md</a:t>
            </a:r>
          </a:p>
          <a:p xmlns:a="http://schemas.openxmlformats.org/drawingml/2006/main">
            <a:r>
              <a:t>- /Users/alexthorpe/Documents/GitHub/AVIC/app/page.tsx</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1b14657d91d4f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5e2aaade28348bb" /><Relationship Type="http://schemas.openxmlformats.org/officeDocument/2006/relationships/slideLayout" Target="/ppt/slideLayouts/slideLayout1.xml" Id="R827eb58dbfce460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7eb58dbfce460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8ae39889441436c" /><Relationship Type="http://schemas.openxmlformats.org/officeDocument/2006/relationships/notesSlide" Target="/ppt/notesSlides/notesSlide1.xml" Id="R748bf2a275cd4d2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c691e87d7d94643" /><Relationship Type="http://schemas.openxmlformats.org/officeDocument/2006/relationships/notesSlide" Target="/ppt/notesSlides/notesSlide2.xml" Id="R7cbe7f001d124c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ee00a4659d8477c" /><Relationship Type="http://schemas.openxmlformats.org/officeDocument/2006/relationships/image" Target="/ppt/media/image.jpeg" Id="R593f8c9aadf84b82" /><Relationship Type="http://schemas.openxmlformats.org/officeDocument/2006/relationships/notesSlide" Target="/ppt/notesSlides/notesSlide3.xml" Id="R49bf9fdcd6f048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e41d16da6284e90" /><Relationship Type="http://schemas.openxmlformats.org/officeDocument/2006/relationships/image" Target="/ppt/media/image.png" Id="R58d00b625f764b2b" /><Relationship Type="http://schemas.openxmlformats.org/officeDocument/2006/relationships/notesSlide" Target="/ppt/notesSlides/notesSlide4.xml" Id="Re8fc28512a9c48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f24e33c89ea40de" /><Relationship Type="http://schemas.openxmlformats.org/officeDocument/2006/relationships/notesSlide" Target="/ppt/notesSlides/notesSlide5.xml" Id="R861d26c0c92943f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61468233ad64822" /><Relationship Type="http://schemas.openxmlformats.org/officeDocument/2006/relationships/notesSlide" Target="/ppt/notesSlides/notesSlide6.xml" Id="Rced21f24852346b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930755fcfb44025" /><Relationship Type="http://schemas.openxmlformats.org/officeDocument/2006/relationships/notesSlide" Target="/ppt/notesSlides/notesSlide7.xml" Id="Rb1b7b5137f9c4d3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f062d3290d8460b" /><Relationship Type="http://schemas.openxmlformats.org/officeDocument/2006/relationships/notesSlide" Target="/ppt/notesSlides/notesSlide8.xml" Id="Rfbe8f911d11c4b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848c38c1cb34ab2" /><Relationship Type="http://schemas.openxmlformats.org/officeDocument/2006/relationships/notesSlide" Target="/ppt/notesSlides/notesSlide9.xml" Id="Re5f2e4a701fe4b4e"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593f8c9aadf84b82"/>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reads new or changed demo records. Refresh Brief retrieves them and writes a new brief. There is no live source watcher.</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1021"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022"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023"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024"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1036"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1037"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1039" name=""/>
          <p:cNvPicPr>
            <a:picLocks xmlns:a="http://schemas.openxmlformats.org/drawingml/2006/main" noChangeAspect="1"/>
          </p:cNvPicPr>
          <p:nvPr/>
        </p:nvPicPr>
        <p:blipFill>
          <a:blip xmlns:r="http://schemas.openxmlformats.org/officeDocument/2006/relationships" xmlns:a="http://schemas.openxmlformats.org/drawingml/2006/main" r:embed="R58d00b625f764b2b"/>
          <a:stretch xmlns:a="http://schemas.openxmlformats.org/drawingml/2006/main"/>
        </p:blipFill>
        <p:spPr>
          <a:xfrm xmlns:a="http://schemas.openxmlformats.org/drawingml/2006/main">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Why does this stack fit V1?</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WHY IT FITS V1 AND THE TRADE-OFF</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app serves the interface and API routes. Trade-off: the web and service layers do not scale separately.</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database stores facts, source text, and embeddings. Trade-off: a larger system can need separate search and file storage.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Files make the demo repeatable without live access. Trade-off: new data needs a manual import.</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OpenAI (LLM)</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Embeddings find evidence. gpt-5.6-sol writes the brief. Trade-off: model cost and failure require checks and a local backup.</a:t>
            </a:r>
          </a:p>
        </p:txBody>
      </p:sp>
    </p:spTree>
    <p:extLst>
      <p:ext uri="{BB962C8B-B14F-4D97-AF65-F5344CB8AC3E}">
        <p14:creationId xmlns:p14="http://schemas.microsoft.com/office/powerpoint/2010/main" val="43614546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changes from the prototype to production?</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PROTOTYPE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manual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OpenAI embeddings and repeat-import control</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retrieval and gpt-5.6-sol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Strict schema, citations, and source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Local fallback and saved brief audit</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PRODUCTION TARGET</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8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Approved connectors read CRM, meeting, Slack, filing, and news records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 queue validates, normalizes, and tracks each import</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826"/>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PostgreSQL stores facts and access rules; object storage keeps files</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Vector search and company filters select evidence</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21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writes the brief; server checks sources, numbers, and conflicts</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965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interface shows the brief, source detail, and review status</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 tracks data age, quality, cost, and response time</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4102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Trade-off: More control improves safety and scale, but adds cost and operating work.</a:t>
            </a:r>
          </a:p>
        </p:txBody>
      </p:sp>
    </p:spTree>
    <p:extLst>
      <p:ext uri="{BB962C8B-B14F-4D97-AF65-F5344CB8AC3E}">
        <p14:creationId xmlns:p14="http://schemas.microsoft.com/office/powerpoint/2010/main" val="26650751"/>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An AIVC principal prepares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2026-09-01T01:17:26.9080000Z</dcterms:created>
  <dcterms:modified xsi:type="dcterms:W3CDTF">2026-09-01T01:17:26.9080000Z</dcterms:modified>
</coreProperties>
</file>