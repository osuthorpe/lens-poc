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93436136d44fbe" /><Relationship Type="http://schemas.openxmlformats.org/officeDocument/2006/relationships/extended-properties" Target="/docProps/app.xml" Id="R9c884c8680254224" /><Relationship Type="http://schemas.openxmlformats.org/officeDocument/2006/relationships/officeDocument" Target="/ppt/presentation.xml" Id="R44642993314d41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7d0e8be4b3455e"/>
  </p:sldMasterIdLst>
  <p:notesMasterIdLst>
    <p:notesMasterId xmlns:r="http://schemas.openxmlformats.org/officeDocument/2006/relationships" r:id="R28aa200bd4154883"/>
  </p:notesMasterIdLst>
  <p:sldIdLst>
    <p:sldId xmlns:r="http://schemas.openxmlformats.org/officeDocument/2006/relationships" id="256" r:id="R3f33761b4403475f"/>
    <p:sldId xmlns:r="http://schemas.openxmlformats.org/officeDocument/2006/relationships" id="257" r:id="R778035856a374fc5"/>
    <p:sldId xmlns:r="http://schemas.openxmlformats.org/officeDocument/2006/relationships" id="258" r:id="Rf654728e28da4e52"/>
    <p:sldId xmlns:r="http://schemas.openxmlformats.org/officeDocument/2006/relationships" id="259" r:id="R9d1a6c586785497b"/>
    <p:sldId xmlns:r="http://schemas.openxmlformats.org/officeDocument/2006/relationships" id="260" r:id="Rc95b1a8c03374898"/>
    <p:sldId xmlns:r="http://schemas.openxmlformats.org/officeDocument/2006/relationships" id="261" r:id="R1ad9330891d149ed"/>
    <p:sldId xmlns:r="http://schemas.openxmlformats.org/officeDocument/2006/relationships" id="262" r:id="Re9e9ccf1c63f42e0"/>
    <p:sldId xmlns:r="http://schemas.openxmlformats.org/officeDocument/2006/relationships" id="263" r:id="R506a4b733fea4efa"/>
    <p:sldId xmlns:r="http://schemas.openxmlformats.org/officeDocument/2006/relationships" id="264" r:id="R1f5ede5f6ad44826"/>
    <p:sldId xmlns:r="http://schemas.openxmlformats.org/officeDocument/2006/relationships" id="265" r:id="R70bd9aee6bd048ae"/>
    <p:sldId xmlns:r="http://schemas.openxmlformats.org/officeDocument/2006/relationships" id="266" r:id="R2ac825dae39b471c"/>
    <p:sldId xmlns:r="http://schemas.openxmlformats.org/officeDocument/2006/relationships" id="267" r:id="R245794c459b644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53a210fcbe4da1" /><Relationship Type="http://schemas.openxmlformats.org/officeDocument/2006/relationships/slideMaster" Target="/ppt/slideMasters/slideMaster1.xml" Id="Ra77d0e8be4b3455e" /><Relationship Type="http://schemas.openxmlformats.org/officeDocument/2006/relationships/notesMaster" Target="/ppt/notesMasters/notesMaster1.xml" Id="R28aa200bd4154883" /><Relationship Type="http://schemas.openxmlformats.org/officeDocument/2006/relationships/presProps" Target="/ppt/presProps.xml" Id="R4dcb6a2b3ec84bdb" /><Relationship Type="http://schemas.openxmlformats.org/officeDocument/2006/relationships/tableStyles" Target="/ppt/tableStyles.xml" Id="Reeab429170e9492f" /><Relationship Type="http://schemas.openxmlformats.org/officeDocument/2006/relationships/slide" Target="/ppt/slides/slide1.xml" Id="R3f33761b4403475f" /><Relationship Type="http://schemas.openxmlformats.org/officeDocument/2006/relationships/slide" Target="/ppt/slides/slide2.xml" Id="R778035856a374fc5" /><Relationship Type="http://schemas.openxmlformats.org/officeDocument/2006/relationships/slide" Target="/ppt/slides/slide3.xml" Id="Rf654728e28da4e52" /><Relationship Type="http://schemas.openxmlformats.org/officeDocument/2006/relationships/slide" Target="/ppt/slides/slide4.xml" Id="R9d1a6c586785497b" /><Relationship Type="http://schemas.openxmlformats.org/officeDocument/2006/relationships/slide" Target="/ppt/slides/slide5.xml" Id="Rc95b1a8c03374898" /><Relationship Type="http://schemas.openxmlformats.org/officeDocument/2006/relationships/slide" Target="/ppt/slides/slide6.xml" Id="R1ad9330891d149ed" /><Relationship Type="http://schemas.openxmlformats.org/officeDocument/2006/relationships/slide" Target="/ppt/slides/slide7.xml" Id="Re9e9ccf1c63f42e0" /><Relationship Type="http://schemas.openxmlformats.org/officeDocument/2006/relationships/slide" Target="/ppt/slides/slide8.xml" Id="R506a4b733fea4efa" /><Relationship Type="http://schemas.openxmlformats.org/officeDocument/2006/relationships/slide" Target="/ppt/slides/slide9.xml" Id="R1f5ede5f6ad44826" /><Relationship Type="http://schemas.openxmlformats.org/officeDocument/2006/relationships/slide" Target="/ppt/slides/slide10.xml" Id="R70bd9aee6bd048ae" /><Relationship Type="http://schemas.openxmlformats.org/officeDocument/2006/relationships/slide" Target="/ppt/slides/slide11.xml" Id="R2ac825dae39b471c" /><Relationship Type="http://schemas.openxmlformats.org/officeDocument/2006/relationships/slide" Target="/ppt/slides/slide12.xml" Id="R245794c459b644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572e182d7244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e6bf5f9be3405c" /><Relationship Type="http://schemas.openxmlformats.org/officeDocument/2006/relationships/notesMaster" Target="/ppt/notesMasters/notesMaster1.xml" Id="Rb6b561620cdf40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274a47f94a430d" /><Relationship Type="http://schemas.openxmlformats.org/officeDocument/2006/relationships/notesMaster" Target="/ppt/notesMasters/notesMaster1.xml" Id="Rfc623117119049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416410e3e04867" /><Relationship Type="http://schemas.openxmlformats.org/officeDocument/2006/relationships/notesMaster" Target="/ppt/notesMasters/notesMaster1.xml" Id="R3256bb48890f4f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7a5e8cadb64c76" /><Relationship Type="http://schemas.openxmlformats.org/officeDocument/2006/relationships/notesMaster" Target="/ppt/notesMasters/notesMaster1.xml" Id="R393b1b2949d44a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835b1f3efd4244" /><Relationship Type="http://schemas.openxmlformats.org/officeDocument/2006/relationships/notesMaster" Target="/ppt/notesMasters/notesMaster1.xml" Id="R19f41aca2e3548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2a389b9ffe44b9" /><Relationship Type="http://schemas.openxmlformats.org/officeDocument/2006/relationships/notesMaster" Target="/ppt/notesMasters/notesMaster1.xml" Id="Re5251bf79d9543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2afa7126184329" /><Relationship Type="http://schemas.openxmlformats.org/officeDocument/2006/relationships/notesMaster" Target="/ppt/notesMasters/notesMaster1.xml" Id="Redf9dae286d844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a2a32bcdd24d9b" /><Relationship Type="http://schemas.openxmlformats.org/officeDocument/2006/relationships/notesMaster" Target="/ppt/notesMasters/notesMaster1.xml" Id="R0f3601e867234e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e7a314145b4dfc" /><Relationship Type="http://schemas.openxmlformats.org/officeDocument/2006/relationships/notesMaster" Target="/ppt/notesMasters/notesMaster1.xml" Id="R0578cce0683f41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76a164cbdf4420" /><Relationship Type="http://schemas.openxmlformats.org/officeDocument/2006/relationships/notesMaster" Target="/ppt/notesMasters/notesMaster1.xml" Id="R2d4dac7cc48344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ea81a3e71245bd" /><Relationship Type="http://schemas.openxmlformats.org/officeDocument/2006/relationships/notesMaster" Target="/ppt/notesMasters/notesMaster1.xml" Id="R3a00cfe0bd1346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8de6e19b2a4f67" /><Relationship Type="http://schemas.openxmlformats.org/officeDocument/2006/relationships/notesMaster" Target="/ppt/notesMasters/notesMaster1.xml" Id="R3d88ab2ce2fa40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answer: AVIC is a working local prototype that builds a company brief from imported evidence. Production freshness and access control are not part of this build.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- /Users/alexthorpe/Documents/GitHub/AVIC/README.md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brief defines the intended user and company universe. The 90-minute value is a scenario estimate. The 30-second value is the product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desktop flow. RC selects a company, scans the brief, opens the evidence and original source, and sends feedback without changing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/Users/alexthorpe/Documents/GitHub/AVIC/app/page.tsx</a:t>
            </a:r>
          </a:p>
          <a:p xmlns:a="http://schemas.openxmlformats.org/drawingml/2006/main">
            <a:r>
              <a:t>- /private/tmp/avic-deck-wide-main.png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checkout has 10 curated companies, 59 source records, 59 local vectors, 32 application tests, and 17 database checks. The source-reference checks validate IDs and company scope. They do not prove semantic entailment.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/Users/alexthorpe/Documents/GitHub/AVIC/scripts/verify-v1.ts</a:t>
            </a:r>
          </a:p>
          <a:p xmlns:a="http://schemas.openxmlformats.org/drawingml/2006/main">
            <a:r>
              <a:t>- /Users/alexthorpe/Documents/GitHub/AVIC/demo_data/manifest.json</a:t>
            </a:r>
          </a:p>
          <a:p xmlns:a="http://schemas.openxmlformats.org/drawingml/2006/main">
            <a:r>
              <a:t>- /Users/alexthorpe/Documents/GitHub/AVIC/tests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diagram from left to right. Import finishes before a request. The request reads the local evidence store and never waits for a source system. Solid nodes are in the prototype. The dashed callout lists production additions.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- /Users/alexthorpe/Documents/GitHub/AVIC/lib/ingestion.ts</a:t>
            </a:r>
          </a:p>
          <a:p xmlns:a="http://schemas.openxmlformats.org/drawingml/2006/main">
            <a:r>
              <a:t>- /Users/alexthorpe/Documents/GitHub/AVIC/lib/retrieval.ts</a:t>
            </a:r>
          </a:p>
          <a:p xmlns:a="http://schemas.openxmlformats.org/drawingml/2006/main">
            <a:r>
              <a:t>- /Users/alexthorpe/Documents/GitHub/AVIC/lib/brief.ts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importer maps every record to a known company, keeps the original content, calculates a checksum, and creates structured facts plus search chunks. PostgreSQL keeps both structured and unstructured evidence. Public filings are a planned source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/Users/alexthorpe/Documents/GitHub/AVIC/lib/ingestion.ts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- /Users/alexthorpe/Documents/GitHub/AVIC/demo_data/manifest.json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hard company filter runs before ranking. The 38/32/20/10 weights are initial hand-set heuristics and are not calibrated. Source checks confirm valid IDs and company isolation. They do not prove that every statement is semantically entailed by its source.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/Users/alexthorpe/Documents/GitHub/AVIC/lib/retrieval.ts</a:t>
            </a:r>
          </a:p>
          <a:p xmlns:a="http://schemas.openxmlformats.org/drawingml/2006/main">
            <a:r>
              <a:t>- /Users/alexthorpe/Documents/GitHub/AVIC/lib/brief.ts</a:t>
            </a:r>
          </a:p>
          <a:p xmlns:a="http://schemas.openxmlformats.org/drawingml/2006/main">
            <a:r>
              <a:t>- /Users/alexthorpe/Documents/GitHub/AVIC/scripts/verify-v1.ts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V1 stack favors one codebase, one evidence store, and repeatable local behavior. The main trade-offs are no live freshness, no access enforcement, and limited semantic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/Users/alexthorpe/Documents/GitHub/AVIC/README.md</a:t>
            </a:r>
          </a:p>
          <a:p xmlns:a="http://schemas.openxmlformats.org/drawingml/2006/main">
            <a:r>
              <a:t>- /Users/alexthorpe/Documents/GitHub/AVIC/package.json</a:t>
            </a:r>
          </a:p>
          <a:p xmlns:a="http://schemas.openxmlformats.org/drawingml/2006/main">
            <a:r>
              <a:t>- /Users/alexthorpe/Documents/GitHub/AVIC/docker-compose.yml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V1 acceptance criteria, not current production service levels. The 4 out of 5 usefulness score is a pilot target and has not been measured.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- /Users/alexthorpe/Documents/GitHub/AVIC/scripts/verify-v1.ts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defines the demo boundary. The interface, database, file import, retrieval, source drill-down, saved evidence, and feedback capture are implemented. Live connectors, public filings, identity, source access enforcement, schedules, webhooks, and the reviewer interface are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/Users/alexthorpe/Documents/GitHub/AVIC/README.md</a:t>
            </a:r>
          </a:p>
          <a:p xmlns:a="http://schemas.openxmlformats.org/drawingml/2006/main">
            <a:r>
              <a:t>- /Users/alexthorpe/Documents/GitHub/AVIC/app</a:t>
            </a:r>
          </a:p>
          <a:p xmlns:a="http://schemas.openxmlformats.org/drawingml/2006/main">
            <a:r>
              <a:t>- /Users/alexthorpe/Documents/GitHub/AVIC/lib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- /Users/alexthorpe/Documents/GitHub/AVIC/demo_data/manifest.json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proposed plan for two people. The 250-company test appears in weeks 7 and 8 because it has not been run. The plan depends on source access, company IDs, access rules, and RC review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risk is evidence retrieval, not model choice. The next slice should use one approved source and a small reference answer set. The decision is whether to approve that source-to-brief pilot after the named owners confirm access and evaluation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/Users/alexthorpe/Documents/GitHub/AVIC/docs/AIVC_Technical_Challenge_Task_4.2.pdf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- /Users/alexthorpe/Documents/GitHub/AVIC/lib/retrieval.ts</a:t>
            </a:r>
          </a:p>
          <a:p xmlns:a="http://schemas.openxmlformats.org/drawingml/2006/main">
            <a:r>
              <a:t>- /Users/alexthorpe/Documents/GitHub/AVIC/scripts/verify-v1.ts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4a414e4fc41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ce11013c664e6f" /><Relationship Type="http://schemas.openxmlformats.org/officeDocument/2006/relationships/slideLayout" Target="/ppt/slideLayouts/slideLayout1.xml" Id="R8ab26cdb8c8643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b26cdb8c8643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624adceb34116" /><Relationship Type="http://schemas.openxmlformats.org/officeDocument/2006/relationships/notesSlide" Target="/ppt/notesSlides/notesSlide1.xml" Id="R175a754ba4ea4b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f5bfd2ec2417a" /><Relationship Type="http://schemas.openxmlformats.org/officeDocument/2006/relationships/notesSlide" Target="/ppt/notesSlides/notesSlide2.xml" Id="Rb23ab842ec5442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c4bbd22b4cde" /><Relationship Type="http://schemas.openxmlformats.org/officeDocument/2006/relationships/image" Target="/ppt/media/image.jpeg" Id="R82aac3e88b4640c6" /><Relationship Type="http://schemas.openxmlformats.org/officeDocument/2006/relationships/notesSlide" Target="/ppt/notesSlides/notesSlide3.xml" Id="R079915bf49ef4b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895311feb439d" /><Relationship Type="http://schemas.openxmlformats.org/officeDocument/2006/relationships/notesSlide" Target="/ppt/notesSlides/notesSlide4.xml" Id="R07e66b5b6c2844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e6775b3be42c0" /><Relationship Type="http://schemas.openxmlformats.org/officeDocument/2006/relationships/notesSlide" Target="/ppt/notesSlides/notesSlide5.xml" Id="R1917a2b923bb44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4d039c9e84fd8" /><Relationship Type="http://schemas.openxmlformats.org/officeDocument/2006/relationships/notesSlide" Target="/ppt/notesSlides/notesSlide6.xml" Id="R379c21d9d3a849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7acf7815e4f1c" /><Relationship Type="http://schemas.openxmlformats.org/officeDocument/2006/relationships/notesSlide" Target="/ppt/notesSlides/notesSlide7.xml" Id="R283b56df819f46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19b51dda34e7a" /><Relationship Type="http://schemas.openxmlformats.org/officeDocument/2006/relationships/notesSlide" Target="/ppt/notesSlides/notesSlide8.xml" Id="Rc9352c28b40b42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50fb3821f48a5" /><Relationship Type="http://schemas.openxmlformats.org/officeDocument/2006/relationships/notesSlide" Target="/ppt/notesSlides/notesSlide9.xml" Id="R2a5fc7d9c9d24c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19a662b704620" /><Relationship Type="http://schemas.openxmlformats.org/officeDocument/2006/relationships/notesSlide" Target="/ppt/notesSlides/notesSlide10.xml" Id="R652f080052be45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acf9823d445eb" /><Relationship Type="http://schemas.openxmlformats.org/officeDocument/2006/relationships/notesSlide" Target="/ppt/notesSlides/notesSlide11.xml" Id="R6a545d7ec46447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1e1a011ba431d" /><Relationship Type="http://schemas.openxmlformats.org/officeDocument/2006/relationships/notesSlide" Target="/ppt/notesSlides/notesSlide12.xml" Id="Rae0d20dcbee94f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D1145-7B96-46D8-A68A-0CBA18A7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8150"/>
            <a:ext cx="2857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E115D-EF2A-4F10-AB7C-5AE00E31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"/>
            <a:ext cx="2628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WORKING LOCAL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B49EE-4D40-41E7-A8F1-C2E8C4E1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28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AVIC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Portfolio intelligence for AIVC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41661-5E1A-4F92-ADD3-F4CFD927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Company briefs from imported evidence in 30 seconds or less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2645B-87CB-4B29-92D6-00F25144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577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B971D-6B6E-42B3-96FB-E8FE4C8A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Technical challenge · Product, architecture, and pilot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76C5E-3CD4-4748-AEF7-31A1D2F8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62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31 AUG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1299B-C5FE-4207-A40C-B9127CBC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722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AVIC</a:t>
            </a:r>
          </a:p>
        </p:txBody>
      </p:sp>
    </p:spTree>
    <p:extLst>
      <p:ext uri="{BB962C8B-B14F-4D97-AF65-F5344CB8AC3E}">
        <p14:creationId xmlns:p14="http://schemas.microsoft.com/office/powerpoint/2010/main" val="6145799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65EB2-113E-4627-87F2-A71ECC3D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job is AVIC replacing?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579A2-9FB9-4372-9154-19087DC3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7AA71-D3C2-4C98-AFAC-E5412A1A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F48F3-450F-4130-95CF-94099BB7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RC prepares for discussions across about 50 portfolio companies and 200 pipeline companies.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F95D8-6C94-47AD-A1EB-CF294B2A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facts are spread across CRM records, meeting notes, Slack, filings, and news. RC must find the latest value, check the source, and see what is missing.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417FF-1C78-4630-A7F8-6EC28C54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50B1F-A28C-4568-A076-E5A6E093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B5CB9-5258-49AF-98CB-CA7024CC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74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≈250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B3E8C-2A1E-4CB1-A446-D1C965CC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companies in 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53B9A-8BFE-4CFB-BD23-363424E0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About 50 portfolio + 200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C5EA8-248C-47B4-958B-AE6E9115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D683D5-383D-4FAC-92FD-68867DED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FB4"/>
          </a:solidFill>
          <a:ln xmlns:a="http://schemas.openxmlformats.org/drawingml/2006/main" w="9525">
            <a:solidFill>
              <a:srgbClr val="5D7FB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25FB5-141F-4754-8532-8F42CEAA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74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90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042B3-963F-43BD-8B6B-A49D7461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manual preparation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3F715-1736-4DA9-A1CF-98E50CB5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Scenario estimate; not a measured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AC155-9844-4BC8-896D-32BD0744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D61F2-45C3-47D8-AC88-3F1E32DC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B5D5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6A76D-4C90-42DF-A6F2-17737BFE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74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≤30 sec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E1318-319E-46BC-A315-D16FC242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brief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691C0-D6AA-43D5-ADB0-F23290AE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AVIC organizes evidence. RC keeps the investment judgment.</a:t>
            </a:r>
          </a:p>
        </p:txBody>
      </p:sp>
    </p:spTree>
    <p:extLst>
      <p:ext uri="{BB962C8B-B14F-4D97-AF65-F5344CB8AC3E}">
        <p14:creationId xmlns:p14="http://schemas.microsoft.com/office/powerpoint/2010/main" val="1491271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41753-F432-4FAC-905F-6BC9A330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does the working prototype let RC do?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E18DA-23DC-4F91-B843-5482207C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A8E7A-FCA5-488D-941A-99A21086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ABDBA-8C6F-43CE-B795-FCAE7207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The brief, evidence, original source, and feedback stay in one 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1D578-EC77-455D-8411-25930D85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12385-E2AC-4E4A-8AE9-C0083C26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00250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9EA74-BB95-4276-B9A6-114E2E4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Select company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5DDC6-3FD4-4355-B84F-85B98D1D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47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Choose a portfolio or pipeline company.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E1A84-9DC8-4EC3-BD84-249D08D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432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440BB-A5A8-41C6-9175-6A1410B7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90850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C0B0E-D29C-45B9-BEB5-0D7F57B2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33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Scan the brief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780DA-7896-4A5A-88B2-8B9F8E3A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38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Read Key facts, Risks, and Questions.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0D830-C080-4CD6-BFA1-2EE115C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9338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4062D-56DE-44CE-8D5D-310725AF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81450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726DA-1060-40F1-96BE-56094C5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24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Open the source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A7F37-E813-48A3-97AB-7EDCB235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29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See values, dates, evidence, and the original record.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ECADF-5901-445D-82B7-8174C7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244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54E17-A905-4324-9C22-3D025DBF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972050"/>
            <a:ext cx="114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EF4C6-311E-45C9-8B5A-A1303E1B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14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Send feedback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88DCF-B844-4248-82AC-B846044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197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Mark content Good, Bad, or Wrong.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BF0D0-9C7B-40B0-B1DE-EEED270A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7620000" cy="428625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ac3e88b4640c6"/>
          <a:stretch xmlns:a="http://schemas.openxmlformats.org/drawingml/2006/main"/>
        </p:blipFill>
        <p:spPr>
          <a:xfrm xmlns:a="http://schemas.openxmlformats.org/drawingml/2006/main">
            <a:off x="595993" y="1924050"/>
            <a:ext cx="7342414" cy="4057650"/>
          </a:xfrm>
          <a:prstGeom xmlns:a="http://schemas.openxmlformats.org/drawingml/2006/main" prst="roundRect">
            <a:avLst>
              <a:gd name="adj" fmla="val 2817"/>
            </a:avLst>
          </a:prstGeom>
        </p:spPr>
      </p:pic>
    </p:spTree>
    <p:extLst>
      <p:ext uri="{BB962C8B-B14F-4D97-AF65-F5344CB8AC3E}">
        <p14:creationId xmlns:p14="http://schemas.microsoft.com/office/powerpoint/2010/main" val="1674415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E38232-A601-4B33-99ED-19B54747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works today, and how did I test it?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82D18-9423-4C8C-AF4D-EA6D1329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7D0EB-B896-497B-BED0-F0C1C550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AD644-55F4-4DAD-96B3-DC6C170A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023AE-B558-4188-A8C4-2414A5FE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771CD-5CDF-4F6B-8D87-1929665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curated companies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25352-7D58-4731-93B8-9020F1AB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2 portfolio and 8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99601-794F-4030-A1A7-8FC7D141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EEEBF-ED4F-4DB0-B74E-485AC67C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7C502-96F0-4528-9AA9-9508C99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C854F-FB4F-485B-A83F-10B17B8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CRM, meeting, Slack, and news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A07DD-7C4B-4BA8-9FD7-C902B861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624D3-AE3A-442B-8B1A-64819C6A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59/59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0C9FC-2AC7-416A-A2AE-55B2A384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9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chunks with local vectors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DA876-54C8-4B79-98D6-E924FCC1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One word-hash vector per chunk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410BE-6050-42D8-9D7C-717BCC63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8C5DF-6CF6-48B8-B277-34D4DC67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49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36AE3F-D1C4-4D0D-A35F-DFF5F7BF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passing checks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3273F-9072-42DE-948B-4BE81786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84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32 app tests and 17 database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96C22-8CC4-42C1-AE87-E04618B6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108585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642584-EDEF-43BF-99E6-5BF978F0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the current local checks confirm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19A00-4C98-4488-A084-4206A387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3D507-5D5C-4554-892E-A568CD05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910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C3477F-C2B0-47D9-9B9A-0E325FC4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434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All 10 companies return a local brief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C2EE5B-BD3B-4F9C-8687-99BBB16A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291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Each result is under 30 seconds in the current check.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31F99B-19F7-481F-8767-3BE4ABAF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AD4C-E725-46B0-A148-5CC6F791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3910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74E3D3-7DB7-4D0F-B262-FDAFC9F5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4533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Source IDs are valid and company-scoped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F0259-EF9B-41A4-8B53-D27D1B39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291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4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demo covers conflict, earlier value, unverified claim, and missing data.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E642AA-8B13-4653-9E09-F49AFB9E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Current local results on the curated dataset. They are not production benchmarks.</a:t>
            </a:r>
          </a:p>
        </p:txBody>
      </p:sp>
    </p:spTree>
    <p:extLst>
      <p:ext uri="{BB962C8B-B14F-4D97-AF65-F5344CB8AC3E}">
        <p14:creationId xmlns:p14="http://schemas.microsoft.com/office/powerpoint/2010/main" val="217603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2F984-D246-4734-ACC5-293D4457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How does the system work end to end?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72B95-C544-452F-900E-C90D7963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1F526-7CB2-473C-9BE1-2AE0B22D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82B3C-046E-4EBA-9746-C6BF4E4A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Evidence is prepared before the request. The request path never calls a source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BC366-29EC-4070-AC66-0FCDB728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1666875" cy="21907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96949-8B92-4E3C-91C5-474DF992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Sources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4C1A9-C4CA-4106-BB48-C633031F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3620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Meetings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Slack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News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Company filings: future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E64AD3-688E-46AF-8FEB-BB70208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952625"/>
            <a:ext cx="1666875" cy="21907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F445C-96EF-491A-BCF7-2AC277A0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3360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Import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1BAB3-F830-46F0-A2E9-DA18B80B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514600"/>
            <a:ext cx="13620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File readers in V1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Map company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Keep original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Checksum + chunk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2C6CD-12D3-4383-95F2-A8382D43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52625"/>
            <a:ext cx="1666875" cy="21907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5D7FB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71975-15C3-4667-BC34-D9B4464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3360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Evidence store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FC93D-2600-460B-AAC8-580EFD4F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14600"/>
            <a:ext cx="13620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PostgreSQL and pgvector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Companies, facts, dates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Originals, chunks, vectors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Saved runs and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8EC61-0E23-44B6-8EAF-0255EFCE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952625"/>
            <a:ext cx="1666875" cy="21907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7E6E0-B411-44BD-92AA-7F5DF655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3360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Retrieve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B4D61-4907-4A5F-BE30-2C31008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514600"/>
            <a:ext cx="13620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Hard company filter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Full-text and word-hash 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Initial rank by match, quality, and recency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9349B-FC80-44F0-8C6F-18040F8C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952625"/>
            <a:ext cx="1666875" cy="21907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14EADC-1D14-41C1-86E1-E97BD739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13360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Investor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8C108C-FA6E-42B8-8F1A-D28D9488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514600"/>
            <a:ext cx="13620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Portfolio and pipeline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Brief in 30 seconds or less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Open evidence and source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Feedback</a:t>
            </a:r>
          </a:p>
        </p:txBody>
      </p:sp>
      <p:cxnSp>
        <p:nvCxnSpPr>
          <p:cNvPr id="103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124075" y="30480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104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981450" y="30480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105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838825" y="30480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106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696200" y="3048000"/>
            <a:ext cx="2047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1FFB58-BB8E-471E-98CB-49CBA54C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10858500" cy="16192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00A8E-F14E-4A01-8264-2EC18B75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CONTROLS THAT STAY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4171B3-C020-4C48-902A-199C6AB2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101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integrity · company filter before rank · source references · saved evidence · feedback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9C767-43D9-4311-B764-33EAAB1F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0248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PRODUCTION ADDS    Authenticated connectors · source access rules · schedules · reconciliation · approved embeddings and model service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76761DC-591F-4BA5-87BF-202A2CAA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5381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1  PREPARE EVIDENCE · BEFORE REQUEST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5B8472-F0A9-4DC3-B8D5-E6104426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504950"/>
            <a:ext cx="5381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2  BUILD COMPANY BRIEF · ON REQUEST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4449F1B-2B10-45DE-9D09-31B025BC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90700"/>
            <a:ext cx="538162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A399CA2-473B-4773-B305-27FBBE0F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538162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9D8B9AA-FBB8-4320-B731-75F48F45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52625"/>
            <a:ext cx="1666875" cy="2190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1BDDF48-D89D-41EC-93BE-8EAFD88E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13620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Build brief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845698F-CB86-4AEE-AD81-65F6E539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14600"/>
            <a:ext cx="1362075" cy="144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Key facts</a:t>
            </a:r>
          </a:p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Risks</a:t>
            </a:r>
          </a:p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Questions</a:t>
            </a:r>
          </a:p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Check source IDs</a:t>
            </a:r>
          </a:p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Check company isolation</a:t>
            </a:r>
          </a:p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Save evidence set</a:t>
            </a:r>
          </a:p>
        </p:txBody>
      </p:sp>
      <p:cxnSp>
        <p:nvCxnSpPr>
          <p:cNvPr id="118" name=""/>
          <p:cNvCxnSpPr>
            <a:stCxn xmlns:a="http://schemas.openxmlformats.org/drawingml/2006/main" id="14" idx="3"/>
            <a:endCxn xmlns:a="http://schemas.openxmlformats.org/drawingml/2006/main" id="78" idx="1"/>
          </p:cNvCxnSpPr>
          <p:nvPr/>
        </p:nvCxnSpPr>
        <p:spPr>
          <a:xfrm xmlns:a="http://schemas.openxmlformats.org/drawingml/2006/main">
            <a:off x="7696200" y="30480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arrow" w="sm" len="sm"/>
          </a:ln>
        </p:spPr>
      </p:cxnSp>
      <p:cxnSp>
        <p:nvCxnSpPr>
          <p:cNvPr id="119" name=""/>
          <p:cNvCxnSpPr>
            <a:stCxn xmlns:a="http://schemas.openxmlformats.org/drawingml/2006/main" id="78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553575" y="30480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arrow" w="sm" len="sm"/>
          </a:ln>
        </p:spPr>
      </p:cxn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92E4A4C-71BB-4B03-9841-87FC93E8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53465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D7FB4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6296256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7B3EEB-D638-4724-AAF7-119C489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How do source records become searchable evidence?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05ED1-D51F-46D6-86F2-64D21DC0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9AC04-D709-4811-8011-6CBF5DDB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84428-21BF-430B-AB26-3A6B26D5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V1 uses file adapters. Public filings are a target source, but the prototype has no filing adapter.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AB9F0-C69D-4A69-808D-6EF2BA8C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5690E-0B75-4171-92B6-19446C21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574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BEFDC-1AD1-482F-BA2B-A1477C59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288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Read and validate one source 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004A4-470B-427C-9F30-0D40843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8914F-BE10-4304-B4E7-B45DA4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24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DA04E-E782-4241-A00D-8BDB6C17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7813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E2949-2E8A-485A-BB75-2DF646A1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527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Assign a known company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2708-9950-446C-9ADA-FBD2E6F5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011EC-1C83-4C78-B335-F8C9491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B03D7-4FFF-4222-8023-4B9CA2C3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052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8125C-7399-406D-BC38-0734C61B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766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Keep the original content, dates, and source location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61669-D96D-4F99-AAE4-AE64D61F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95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9D8FE-F79D-4F30-8530-3ED39A96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2449E-1384-407C-AC51-A2662CEB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291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C1E8-153D-4E33-BBE6-7D81EB56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005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Normalize the text and calculate a checksum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CB409B-36D1-4D07-8523-93405C75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1AFB4-3CC6-4EF1-99E3-CA083899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B717AD-6170-4CFF-BB81-8BC5838D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9530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DAAB14-613C-43B8-BDF1-18A66C09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244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Create facts, chunks, search text, and local vectors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B2134-0E03-439A-A505-DE179D4F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66900"/>
            <a:ext cx="2571750" cy="3429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B4CBE1-89EE-44EE-983C-A975997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955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29143-C486-4B9C-992D-E9D30EFD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43125"/>
            <a:ext cx="1238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STRUCTURED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DCA77A-5E0E-43A6-BB0A-56BF2DE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95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7F2038-5230-4C6D-B7BE-2F1B21A0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2890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Companies and relationships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A1E6A-DDE2-4B51-9CA3-BB60038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209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9C2D3B-3862-47DC-8DCC-CDD999C3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4325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7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Facts, values, and 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82ED8D-B68B-44E4-87AC-903197BE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107E3-D67A-4E88-B122-31CFD386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5760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identity and verification data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FA7323-BC67-4C89-AEB0-3B13FB5C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352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59E530-E8A2-41EA-8346-C57BFB7E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8625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Brief runs and feedback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8F0A80-4D98-430F-966E-9CC4CF36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66900"/>
            <a:ext cx="2647950" cy="3429000"/>
          </a:xfrm>
          <a:prstGeom xmlns:a="http://schemas.openxmlformats.org/drawingml/2006/main" prst="roundRect">
            <a:avLst>
              <a:gd name="adj" fmla="val 6475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168A5B-B590-44D1-B806-F5F395BC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2E3F51-1461-462E-A2C6-5F8626BC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43125"/>
            <a:ext cx="1485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UNSTRUCTURED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02E35D-8EB6-40A1-908B-46F01167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95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C4359B-11DC-4514-982F-3577788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289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1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Original JSON and Markdown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A29960-54C0-4E28-8FBC-E7E6FFDF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9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02A8CE-DF25-4A6F-A9FC-D7D0911E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Normalized source 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8CF7C7-3CD4-4558-BDC0-52F948A4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BE4148-2E18-44CF-B9F2-A708B72C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57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6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Text chunks and search 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64477A-E7B2-485F-B991-59280566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38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169384-31B1-4D6C-A1AB-F5694A39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7195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Local word-hash vectors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7D4F15-8AAA-4EBF-AFFB-776DC5EA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524500"/>
            <a:ext cx="5457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Checksums update changed records and avoid duplicates. Production also needs authenticated connectors, incremental import, deletion handling, schedules, and access rules.</a:t>
            </a:r>
          </a:p>
        </p:txBody>
      </p:sp>
    </p:spTree>
    <p:extLst>
      <p:ext uri="{BB962C8B-B14F-4D97-AF65-F5344CB8AC3E}">
        <p14:creationId xmlns:p14="http://schemas.microsoft.com/office/powerpoint/2010/main" val="11819738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B507DB-8CD7-43CA-AF84-401CDAD0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How does retrieval become a brief?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A7E82-BED4-4D5B-A311-0E86E2F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46247-13EC-46D6-81CE-457BD83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CACC8-F2C1-411F-97A9-DA439288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company filter runs first. The system ranks only evidence for the selected company.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4A572-86CD-4E7B-91AF-F52BC05A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3B3A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6E833-E2EA-4DC2-9D44-6C233F92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rPr>
              <a:t>1  HARD COMPANY FILTER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3C146-5687-495D-B6D4-270B5F4B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716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2  Rank up to 30 records with initial heuristics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D67A4-A694-49BA-BDC9-40B6EEEF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71750"/>
            <a:ext cx="412623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E8CC8-CCA6-49D6-97DA-BBF21F28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52725"/>
            <a:ext cx="385953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38% text match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32024-CCDE-4A69-A872-D68433E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430" y="2571750"/>
            <a:ext cx="347472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FB4"/>
          </a:solidFill>
          <a:ln xmlns:a="http://schemas.openxmlformats.org/drawingml/2006/main" w="9525">
            <a:solidFill>
              <a:srgbClr val="5D7FB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438B9-9529-4C62-90D6-A01B05E1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6780" y="2752725"/>
            <a:ext cx="320802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32% word-hash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AD332-FB8A-45D8-AF79-C4D38169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71750"/>
            <a:ext cx="217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B5D5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63050-9BD4-42ED-8548-7DCC515D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5272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20% source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91DBA-8369-4772-B211-7CBCCCC6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71750"/>
            <a:ext cx="1085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6DCE5"/>
          </a:solidFill>
          <a:ln xmlns:a="http://schemas.openxmlformats.org/drawingml/2006/main" w="9525">
            <a:solidFill>
              <a:srgbClr val="D6DC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ABA78-9495-4518-B9AE-D0BB774A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5272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4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10% recency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2BEB2-81A1-4327-BE0F-2D74CA69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3238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8094B-8C55-4063-8D3E-235A3971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14775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3 · Retrieve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1117F-06AB-4930-9793-34F42BB7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76725"/>
            <a:ext cx="2895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Full-text search and word-hash similarity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7DBAE-E5B4-49D8-99C6-9C5094A3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3238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341F07-5F50-4A06-BE49-9E1DEA5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14775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4 · 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B76A0-10C0-4C72-B936-2FEC9E21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76725"/>
            <a:ext cx="2895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Rule-based Key facts, Risks, and Questions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9AE88-C67A-42F1-9052-14B09CE3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28194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D596B8-64D7-45EE-AD73-5E2E2B7F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14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5 · Check and save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B08F32-E59B-419A-9536-8E9418BA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767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Valid source IDs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Company isolation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Saved evidence set</a:t>
            </a:r>
          </a:p>
        </p:txBody>
      </p:sp>
      <p:cxnSp>
        <p:nvCxnSpPr>
          <p:cNvPr id="105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95700" y="4467225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106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715250" y="4467225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C6DBDE-9250-4AA7-B2D3-2956A643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brief can show: Confirmed · Values differ · Not confirmed · Update needed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5DB09F-6ADD-408F-B1D4-C5857C90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current path uses initial weights and rule-based text. It does not use an external model.</a:t>
            </a:r>
          </a:p>
        </p:txBody>
      </p:sp>
    </p:spTree>
    <p:extLst>
      <p:ext uri="{BB962C8B-B14F-4D97-AF65-F5344CB8AC3E}">
        <p14:creationId xmlns:p14="http://schemas.microsoft.com/office/powerpoint/2010/main" val="11141331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B61CF6-96B9-4010-86E0-F685F3D9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Why did I choose this stack?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C5C2F-6C9D-4161-8CD3-13E090AC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0F930-A327-4D42-B3AC-B4690BAC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6BFC8-F410-4A84-9798-3C4E1316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CD62E-8C04-4F26-9606-CF238E6B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668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REASON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364E2-4CA2-464C-B7ED-DF6E42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66850"/>
            <a:ext cx="424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TRADE-OFF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95C59-B79D-4705-8DC0-ABF561EA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9FB3E-B8A8-4D49-ACC4-AD76F61A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Next.js, React, TypeScript, and Shadcn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7D8A2-A73D-48D0-83AA-5127647B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716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codebase supports the interface and server routes.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435AE-0B0F-4977-9819-786E47BD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716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Service separation is limited until scale or ownership requires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DE38FC-42AC-41E0-A6D8-61A4AA3E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84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2B5CD3-C553-481E-9C26-C13B5B46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PostgreSQL 17 and pgvector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A0E06-95B2-41D7-B971-71C0C0FF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03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store holds facts, evidence text, vectors, audit data, and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879C1-6960-4435-8103-05F80DC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Exact search has not been tested on the full 250-company scope.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C5BFB-FF21-41F2-9BF1-F8473C9B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671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4786C-2CF3-4F87-A674-4A90F5B2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290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File adapters and local Docker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3BD4F-5E47-4AC2-BD68-A72C0756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290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demo is repeatable and does not need source credentials.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3B12CA-0085-4447-849D-DEE811EB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290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There is no live freshness, access enforcement, or managed operation.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5F6B4-29EE-4FAF-8CED-C8CB5D03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3A7A48-84E5-4A16-8618-B5949755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577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Word-hash vectors and rule-based briefs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604F0C-EF44-422B-9768-10F27E61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result is repeatable and easy to inspect and test.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DA721-F40D-4B55-AC96-2E48A46C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577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Language and semantic quality are limited. No source data goes to an external model.</a:t>
            </a:r>
          </a:p>
        </p:txBody>
      </p:sp>
    </p:spTree>
    <p:extLst>
      <p:ext uri="{BB962C8B-B14F-4D97-AF65-F5344CB8AC3E}">
        <p14:creationId xmlns:p14="http://schemas.microsoft.com/office/powerpoint/2010/main" val="4361454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B3F631-F107-449F-8532-F0F6CF09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must V1 do, and what is good enough to ship?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C5372-4CF1-4AE4-A3CD-4E138F75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9D6B0-80AA-4FCC-9C2D-6D215827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64302-6EE1-4371-AB23-0D77F5FE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0858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BEC42-0504-4404-8738-11D6F8F4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RC is preparing for a company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ABA6B-7522-4752-984B-13A58F66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His information is spread across several systems. He needs current evidence before he uses his judgment.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53D5B-CB83-4217-B157-E169C1C8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8B8DF-CD87-4BEC-BD37-808E72CD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SPEED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E06AE-D800-407A-A0B0-2475AB3F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08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≤30 sec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B57AF-1BAF-46D8-8B4E-B24061CB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Brief target for each company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EE160-B2FE-4724-B4DB-29B4F6C9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3A2B5-5C9B-4684-88A5-D7E54E1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SOURCE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DF1D5-5421-492D-BFC5-2AC7138E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Required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3C4E3-ACED-4D21-A3E1-834E7E3D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Source, date, excerpt, and original record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65777-4F36-4020-AF7C-22F41327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EA405-4A26-4F28-9A03-279E8425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ISOLATION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E85FE-503D-42CD-9E11-C9853F78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08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D565A-3552-4FDC-9339-4D2454B4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Records from another company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909835-C000-476D-BE4E-86B6A009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D12D1C-71C7-4D5E-841E-35CE6D17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USEFULNESS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6A3A3-BAF9-4CEC-BA6B-8E7459E7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08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≥4/5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790D2-D307-426F-AFF6-4F296FCA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Pilot target; not measured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C7D7C-6E01-4D17-AA83-D2DB3D6F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Core stories: get a brief · understand the company · check a statement · report a problem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9101A-94C4-48DC-82B6-88D1BEEA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388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Good enough means a small internal pilot with approved sources, a reference set, validated source access, and a feedback owner.</a:t>
            </a:r>
          </a:p>
        </p:txBody>
      </p:sp>
    </p:spTree>
    <p:extLst>
      <p:ext uri="{BB962C8B-B14F-4D97-AF65-F5344CB8AC3E}">
        <p14:creationId xmlns:p14="http://schemas.microsoft.com/office/powerpoint/2010/main" val="14833082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0E6CAA-500E-48FE-9B53-5F49A30A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is real, and what is simulated?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5C2A4-B64B-4D22-95C8-408BF13E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F9FAF-5706-4922-868C-E24C4C57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A96E9-6F50-4414-A07D-C76C7C79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5219700" cy="43434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9C1BE-B33B-46AA-942D-A837CDBD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A0D09-9F63-4B9A-84FC-C3CD0BD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200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REAL TODAY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3C278-8683-4E98-84E7-96A510C3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B9381-0A59-414C-BEEB-8E714A7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955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FE6B0-320C-417E-8A1A-87941976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Interface and API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51185-F006-48A4-A1C8-28FF6BD7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2B173-A7EC-4AE9-BA73-C0E5AFE0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EC2F2-A405-4817-AF78-149C32AB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527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E349C-8886-4F72-895A-080D4170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051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PostgreSQL schema and file import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08AEA-2316-4C8A-A666-4AA15386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908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21680-B99C-4BF6-845E-85CB22E4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5CE81-A386-4156-8944-6514F223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B7FFD-012D-4084-9042-F42B6A45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623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Checksum-based record updates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911C2-60EA-4D64-ADFB-9C0D32EA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374E0-12CE-473D-B264-DF803B1B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8644C-357A-42C4-A9E2-8D942C67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72E48-41BE-48B1-9388-CD31E3C9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Company-scoped retrieval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B4B12-A52A-4E4C-BAA9-3BAC2F5D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052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41759-6443-44CC-A10F-B9074382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907E69-39BA-4CC1-8FD2-4E5B52C5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243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B2F385-472E-4D2F-AC6E-4CBF8A7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767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Evidence and original-source drill-down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A0DB9C-186C-4B5C-A333-E8E63245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624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8FE40C-07C3-4860-AFAD-62721E67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0D9B71-DFC8-477C-9D82-9CA578FF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815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6354B8-5995-4C82-B3CC-540234CD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Saved brief runs and evidence sets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9B6427-62E0-482F-97D3-63254171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275246-0B5E-4F0B-B242-D7609D78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41D126-2EA4-4C3D-9014-D4D23225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387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9CFD4E-A3DD-411F-AA46-D2AC09D3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911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Good, Bad, and Wrong feedback capture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CE7EB0-3F29-4D3F-B156-2B90B615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768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56AC8E-7EBB-4E1C-AAA4-F25E6FA6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85900"/>
            <a:ext cx="5410200" cy="43434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036B47-CE47-4FF4-A4D9-7A84C31F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1450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4C78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2960AD-1486-4714-AECB-C71207E1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62125"/>
            <a:ext cx="1581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rPr>
              <a:t>SIMULATED OR ABSENT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8CDEE8-CD3F-4DBF-BC1C-80E64C71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8399F3-F9ED-4555-80C8-6CDC3A2A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955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10 fictional companies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A9FCAC-8F3D-418D-B6A1-F89B906A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19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9A3839-1695-415E-ADAD-3FC055C1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527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5 tailored brief templates and 5 generic briefs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BA962C-B23C-46F0-B890-7AF5E8CC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76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36D5C5-691D-46F0-83CE-BA6B9D8F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99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Static files, local PostgreSQL, and a fixed date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9A0E37-CACC-4EFD-836F-5AF091EE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354110-2FB3-4544-9BF4-14A3A73C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671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Word-hash vectors, not model embeddings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4CB06D-F6A2-46FA-B243-DA73C237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C9D8ED-30F2-4E3E-AD9B-AB4BC101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243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Rule-based brief text; no external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355BF9-C88B-4D73-8354-02EE9009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48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E33EBE-F4FC-4200-BE63-29A8041F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815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 live connectors or public-filings adapter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23388CF-7281-4DF1-A442-E2A94DB7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EC6469-660B-4EB7-877D-E5FB3002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387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 sign-in, access rules, schedule, webhook, or reviewer screen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2FCDB2-CCE1-4F3F-81ED-1CB32DC4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149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rPr>
              <a:t>The local OpenAI API key is not used.</a:t>
            </a:r>
          </a:p>
        </p:txBody>
      </p:sp>
    </p:spTree>
    <p:extLst>
      <p:ext uri="{BB962C8B-B14F-4D97-AF65-F5344CB8AC3E}">
        <p14:creationId xmlns:p14="http://schemas.microsoft.com/office/powerpoint/2010/main" val="266507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8A21C7-CE03-4BC4-898F-2976E47A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554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How would two people reach an internal pilot in eight weeks?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70858-4A35-41AC-BA4E-97385B0D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2D16F-3E93-49C8-A083-E6763E45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A8900-8D83-489E-AEA5-4DF6BA25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24100"/>
            <a:ext cx="900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CB5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0FB16-277A-415B-B0A6-8E73C281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49BA2-9994-4F21-94A5-B41BE314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5D154-8701-4349-9AFF-7DA254E7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PROPOSED · WEEKS 1–2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C3219-E26B-4090-B4AC-9A1D6991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9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Build one source-to-brief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01CF2-9E15-45BA-BEE2-9A4742BA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Reference answers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One-company slice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3725A-8499-4B9F-902D-1547D90E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AFA8F-4649-4DC7-8F2E-34007EF1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8820BD-E9D8-4EE0-91EF-A42C6781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3–4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C1FD4-F4A1-44A7-A1AC-BFCA9E9B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9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Connect one approved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8C5E2-CF81-455B-A842-DB2C2591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Read-only connector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Incremental import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Company mapping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777A7-B3A0-4F97-B3F1-99FA5E7A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70862-469D-415E-AC13-2BF4C28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0EFA4-B3E1-48E9-B048-F8D6BD7F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5–6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4F2DF-06EE-4F15-A3C6-C8D3A968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2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Test retrieval and access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E0EB4-D171-46D5-AE72-9983A065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Access checks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Evaluated retrieval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Grounded generation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2A016-7301-49CD-B90A-7D57F4D0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CB468-F74B-4357-9A52-E3740719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6FC1C-4C98-4854-B230-8BE29495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7–8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B3583-FB90-4EDE-95F5-3AE6193A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9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Run the pilot and scale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6C785-0332-4439-89D8-4C92564A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Reconciliation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Monitoring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250-company test and RC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D243BD-D1D8-4D5E-9080-89BCC3F6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1150"/>
            <a:ext cx="1085850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BF2437-14B5-4A46-9FC0-D460E78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1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PERSON 1 · Product and application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8CF25F-52C6-4E33-BCCB-F49769B2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81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PERSON 2 · Data and platform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910F2C-EF3B-4B5A-AC88-78FDB08F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5816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SHARED · Source contract and evaluation set</a:t>
            </a:r>
          </a:p>
        </p:txBody>
      </p:sp>
    </p:spTree>
    <p:extLst>
      <p:ext uri="{BB962C8B-B14F-4D97-AF65-F5344CB8AC3E}">
        <p14:creationId xmlns:p14="http://schemas.microsoft.com/office/powerpoint/2010/main" val="1276192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D7DB73-AD97-4C88-8C7A-A4A75DE3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What do I de-risk first, and what changes with more time?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8B56E-B5D3-40D5-84C7-3298B3E7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D00DE-0653-4BEF-8506-56714A0F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A3562-EE1C-4D17-9AF1-23A0716F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184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First risk: retrieve the right evidence and show when the answer is uncertain.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2A5C6-60ED-4181-9E47-254F8377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2701B-CF09-4277-9DC9-F0E56890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FIRST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3DDE3-C518-45BB-AFC1-EC711ACC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43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One company and one real 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47721-2CAB-45CC-A0B0-A2173E4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current fact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true conflict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missing fact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changed source record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Reference answers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149D0-122E-4662-9C67-860C2D33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7A513-9371-40C5-979E-A976BA6D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CRITICAL DEPENDENCIES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F692C-81C5-4F80-BEF7-B65ABE38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Access and ownership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21101-5479-4093-B7A3-67DC3D3F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46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owners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API access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Canonical company IDs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Access and retention rules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Model policy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RC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8C9AB4-4295-4DBC-8C8F-775BFAD2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B8465-872C-4C3C-AD42-A1827E24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WITH MORE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FEF94-1E54-482B-BA81-CD1C7288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Generalize and operate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04CC8-E1F2-4C4B-A6C1-119A2988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Connectors and reconciliation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Access-aware retrieval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Evaluated embeddings and grounded generation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Reviewer workflow and monitoring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BED693-7757-48A5-974E-73B0F60C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0858500" cy="533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390179-8675-41A8-B68B-4764A48D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CB5D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9CB5D5"/>
                </a:solidFill>
                <a:latin typeface="Helvetica Neue"/>
                <a:ea typeface="Helvetica Neue"/>
                <a:cs typeface="Helvetica Neue"/>
              </a:rPr>
              <a:t>NEXT 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B83B3-D284-4081-B799-9D7848AC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Approve one source-to-brief pilot after source owners, access owners, and RC confirm the test set.</a:t>
            </a:r>
          </a:p>
        </p:txBody>
      </p:sp>
    </p:spTree>
    <p:extLst>
      <p:ext uri="{BB962C8B-B14F-4D97-AF65-F5344CB8AC3E}">
        <p14:creationId xmlns:p14="http://schemas.microsoft.com/office/powerpoint/2010/main" val="15154762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2026-08-31T21:53:56.1940000Z</dcterms:created>
  <dcterms:modified xsi:type="dcterms:W3CDTF">2026-08-31T21:53:56.1940000Z</dcterms:modified>
</coreProperties>
</file>