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be8fcd928a4c1a" /><Relationship Type="http://schemas.openxmlformats.org/officeDocument/2006/relationships/extended-properties" Target="/docProps/app.xml" Id="R36a6d5646967467e" /><Relationship Type="http://schemas.openxmlformats.org/officeDocument/2006/relationships/officeDocument" Target="/ppt/presentation.xml" Id="R33795196c3414000" /></Relationships>
</file>

<file path=ppt/presentation.xml><?xml version="1.0" encoding="utf-8"?>
<p:presentation xmlns:p="http://schemas.openxmlformats.org/presentationml/2006/main">
  <p:sldMasterIdLst>
    <p:sldMasterId xmlns:r="http://schemas.openxmlformats.org/officeDocument/2006/relationships" id="2147483648" r:id="Ra4b68706b25d430c"/>
  </p:sldMasterIdLst>
  <p:notesMasterIdLst>
    <p:notesMasterId xmlns:r="http://schemas.openxmlformats.org/officeDocument/2006/relationships" r:id="R849142d5623147aa"/>
  </p:notesMasterIdLst>
  <p:sldIdLst>
    <p:sldId xmlns:r="http://schemas.openxmlformats.org/officeDocument/2006/relationships" id="256" r:id="Red968a23d1b24551"/>
    <p:sldId xmlns:r="http://schemas.openxmlformats.org/officeDocument/2006/relationships" id="257" r:id="R28fa0716d57d44e5"/>
    <p:sldId xmlns:r="http://schemas.openxmlformats.org/officeDocument/2006/relationships" id="258" r:id="Rb3f1969c618c4a46"/>
    <p:sldId xmlns:r="http://schemas.openxmlformats.org/officeDocument/2006/relationships" id="259" r:id="R279c5c04734f49c5"/>
    <p:sldId xmlns:r="http://schemas.openxmlformats.org/officeDocument/2006/relationships" id="260" r:id="Ra185b53320af49da"/>
    <p:sldId xmlns:r="http://schemas.openxmlformats.org/officeDocument/2006/relationships" id="261" r:id="Rd6521e4cd0f144d1"/>
    <p:sldId xmlns:r="http://schemas.openxmlformats.org/officeDocument/2006/relationships" id="262" r:id="Rff746d26334c4c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5b8a97be5c4448" /><Relationship Type="http://schemas.openxmlformats.org/officeDocument/2006/relationships/slideMaster" Target="/ppt/slideMasters/slideMaster1.xml" Id="Ra4b68706b25d430c" /><Relationship Type="http://schemas.openxmlformats.org/officeDocument/2006/relationships/notesMaster" Target="/ppt/notesMasters/notesMaster1.xml" Id="R849142d5623147aa" /><Relationship Type="http://schemas.openxmlformats.org/officeDocument/2006/relationships/presProps" Target="/ppt/presProps.xml" Id="R0e182d6a93cb43ea" /><Relationship Type="http://schemas.openxmlformats.org/officeDocument/2006/relationships/tableStyles" Target="/ppt/tableStyles.xml" Id="Re6e50d09915f4044" /><Relationship Type="http://schemas.openxmlformats.org/officeDocument/2006/relationships/slide" Target="/ppt/slides/slide1.xml" Id="Red968a23d1b24551" /><Relationship Type="http://schemas.openxmlformats.org/officeDocument/2006/relationships/slide" Target="/ppt/slides/slide2.xml" Id="R28fa0716d57d44e5" /><Relationship Type="http://schemas.openxmlformats.org/officeDocument/2006/relationships/slide" Target="/ppt/slides/slide3.xml" Id="Rb3f1969c618c4a46" /><Relationship Type="http://schemas.openxmlformats.org/officeDocument/2006/relationships/slide" Target="/ppt/slides/slide4.xml" Id="R279c5c04734f49c5" /><Relationship Type="http://schemas.openxmlformats.org/officeDocument/2006/relationships/slide" Target="/ppt/slides/slide5.xml" Id="Ra185b53320af49da" /><Relationship Type="http://schemas.openxmlformats.org/officeDocument/2006/relationships/slide" Target="/ppt/slides/slide6.xml" Id="Rd6521e4cd0f144d1" /><Relationship Type="http://schemas.openxmlformats.org/officeDocument/2006/relationships/slide" Target="/ppt/slides/slide7.xml" Id="Rff746d26334c4c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1be84740cf46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fa3bd93db84fdb" /><Relationship Type="http://schemas.openxmlformats.org/officeDocument/2006/relationships/notesMaster" Target="/ppt/notesMasters/notesMaster1.xml" Id="R4df0a507d0cc40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67004311bb4d1b" /><Relationship Type="http://schemas.openxmlformats.org/officeDocument/2006/relationships/notesMaster" Target="/ppt/notesMasters/notesMaster1.xml" Id="R6679871a850347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9fc558034b400e" /><Relationship Type="http://schemas.openxmlformats.org/officeDocument/2006/relationships/notesMaster" Target="/ppt/notesMasters/notesMaster1.xml" Id="Rf71c6b4e15ad42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aa7d762d5b433e" /><Relationship Type="http://schemas.openxmlformats.org/officeDocument/2006/relationships/notesMaster" Target="/ppt/notesMasters/notesMaster1.xml" Id="R772a0fef63b745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7b471ff1484c19" /><Relationship Type="http://schemas.openxmlformats.org/officeDocument/2006/relationships/notesMaster" Target="/ppt/notesMasters/notesMaster1.xml" Id="Rbdbd99ba04cd4d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74e8e645495e46ad" /><Relationship Type="http://schemas.openxmlformats.org/officeDocument/2006/relationships/notesMaster" Target="/ppt/notesMasters/notesMaster1.xml" Id="R31ef6d568e4748e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702e1a6afa840f4" /><Relationship Type="http://schemas.openxmlformats.org/officeDocument/2006/relationships/notesMaster" Target="/ppt/notesMasters/notesMaster1.xml" Id="R159f8b2488864d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current desktop and mobile interface. The AIVC principal can select a company, scan the brief, open evidence, inspect the original source, refresh the brief, and send feedback on either screen size. The screenshots are current captures from the running Lens application.</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/Users/alexthorpe/Documents/ChatGPT/AIVC/_deck_responsive_screenshot.GnRh2f/lens-desktop.png</a:t>
            </a:r>
          </a:p>
          <a:p xmlns:a="http://schemas.openxmlformats.org/drawingml/2006/main">
            <a:r>
              <a:t>- /Users/alexthorpe/Documents/ChatGPT/AIVC/_deck_responsive_screenshot.GnRh2f/lens-mobile.png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Lens has three paths. First, import prepares evidence before use. It reads the fictional CRM, meeting, Slack, and news files. It validates each record, maps the company ID, creates chunks, requests embeddings, and stores the records and vectors in PostgreSQL with pgvector. Second, the open path is fast. When the principal opens Lens or selects a company, the app loads the latest saved brief. This path does not run retrieval or call a model. If the company has no saved brief, the app prepares the first one. Third, Refresh brief builds a new brief. Retrieval applies a hard company filter and ranks up to 30 records by full-text match, vector similarity, source quality, and date. The app sends only the selected evidence to gpt-5.6-sol through the OpenAI Responses API. The server checks source IDs, company isolation, direct quotes, values, source status, and investment safety. It saves the new brief and audit data. If generation fails a check or exceeds the time budget, local rules create a source-supported fallback. Import is separate from brief use. Lens does not watch a folder or Slack. To add a demo record, add it in a supported format, run import, and then select Refresh brief.</a:t>
            </a:r>
          </a:p>
          <a:p xmlns:a="http://schemas.openxmlformats.org/drawingml/2006/main">
            <a:r>
              <a:t/>
            </a:r>
          </a:p>
          <a:p xmlns:a="http://schemas.openxmlformats.org/drawingml/2006/main">
            <a:r>
              <a:t>[Sources]</a:t>
            </a:r>
          </a:p>
          <a:p xmlns:a="http://schemas.openxmlformats.org/drawingml/2006/main">
            <a:r>
              <a:t>- /Users/alexthorpe/Documents/GitHub/AVIC/README.md</a:t>
            </a:r>
          </a:p>
          <a:p xmlns:a="http://schemas.openxmlformats.org/drawingml/2006/main">
            <a:r>
              <a:t>- /Users/alexthorpe/Documents/GitHub/AVIC/docs/architecture.md</a:t>
            </a:r>
          </a:p>
          <a:p xmlns:a="http://schemas.openxmlformats.org/drawingml/2006/main">
            <a:r>
              <a:t>- /Users/alexthorpe/Documents/GitHub/AVIC/app/page.tsx</a:t>
            </a:r>
          </a:p>
          <a:p xmlns:a="http://schemas.openxmlformats.org/drawingml/2006/main">
            <a:r>
              <a:t>- /Users/alexthorpe/Documents/GitHub/AVIC/app/api/briefs/route.ts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uses one Next.js application for the interface and API routes. This choice keeps the V1 deployment small. Separate web and service deployments can become useful when traffic or ownership grows. PostgreSQL and pgvector store structured facts, source text, and embeddings in one database. This choice keeps transactions and company filters together. A larger system can move source files to object storage and move search to a separate service. File adapters make the demo repeatable without live access. Production needs approved read-only connectors and incremental imports. OpenAI provides embeddings and brief generation. The server uses strict checks, timeouts, a local backup, and saved audit data. These controls reduce model risk. The trade-off is model cost, response time, and provider dependence. The active embedding model is text-embedding-3-large. The active brief model is gpt-5.6-sol through the Responses API.</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/Users/alexthorpe/Documents/GitHub/AVIC/lib/retrieval.ts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983e8626fa4a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dbae1ea32b4069" /><Relationship Type="http://schemas.openxmlformats.org/officeDocument/2006/relationships/slideLayout" Target="/ppt/slideLayouts/slideLayout1.xml" Id="Rdc9bdcfa90d442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9bdcfa90d442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54376118fa446a7" /><Relationship Type="http://schemas.openxmlformats.org/officeDocument/2006/relationships/notesSlide" Target="/ppt/notesSlides/notesSlide1.xml" Id="Rdfa3b24c0eba45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738ba93514d404f" /><Relationship Type="http://schemas.openxmlformats.org/officeDocument/2006/relationships/notesSlide" Target="/ppt/notesSlides/notesSlide2.xml" Id="Rfbb46c0da24e4b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a341953406c45af" /><Relationship Type="http://schemas.openxmlformats.org/officeDocument/2006/relationships/image" Target="/ppt/media/image.png" Id="R5431079252754729" /><Relationship Type="http://schemas.openxmlformats.org/officeDocument/2006/relationships/notesSlide" Target="/ppt/notesSlides/notesSlide3.xml" Id="Rcdcf4ec66ce44a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3ccd24c40d04ccb" /><Relationship Type="http://schemas.openxmlformats.org/officeDocument/2006/relationships/image" Target="/ppt/media/image2.png" Id="R54b85a7ace574071" /><Relationship Type="http://schemas.openxmlformats.org/officeDocument/2006/relationships/notesSlide" Target="/ppt/notesSlides/notesSlide4.xml" Id="Rc3706ce5753643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7174a689bac47e6" /><Relationship Type="http://schemas.openxmlformats.org/officeDocument/2006/relationships/notesSlide" Target="/ppt/notesSlides/notesSlide5.xml" Id="R269329e0018448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bfb2832cbcd4cae" /><Relationship Type="http://schemas.openxmlformats.org/officeDocument/2006/relationships/notesSlide" Target="/ppt/notesSlides/notesSlide6.xml" Id="Rf8ad4d2f6b7c43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83bee28e6eb4c4d" /><Relationship Type="http://schemas.openxmlformats.org/officeDocument/2006/relationships/notesSlide" Target="/ppt/notesSlides/notesSlide7.xml" Id="Rb8003baf33214e1e"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same brief and evidence flow works on desktop and mobile.</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5431079252754729"/>
          <a:stretch xmlns:a="http://schemas.openxmlformats.org/drawingml/2006/main"/>
        </p:blipFill>
        <p:spPr>
          <a:xfrm xmlns:a="http://schemas.openxmlformats.org/drawingml/2006/main" flipH="0" flipV="0">
            <a:off x="595993" y="1924050"/>
            <a:ext cx="7342414" cy="4057650"/>
          </a:xfrm>
          <a:prstGeom xmlns:a="http://schemas.openxmlformats.org/drawingml/2006/main" prst="roundRect">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prepares evidence. Open loads the saved brief. Refresh retrieves evidence and builds a new brief.</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1317"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318"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319"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320"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1332"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1333"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1335" name=""/>
          <p:cNvPicPr>
            <a:picLocks xmlns:a="http://schemas.openxmlformats.org/drawingml/2006/main" noChangeAspect="1"/>
          </p:cNvPicPr>
          <p:nvPr/>
        </p:nvPicPr>
        <p:blipFill>
          <a:blip xmlns:r="http://schemas.openxmlformats.org/officeDocument/2006/relationships" xmlns:a="http://schemas.openxmlformats.org/drawingml/2006/main" r:embed="R54b85a7ace574071"/>
          <a:stretch xmlns:a="http://schemas.openxmlformats.org/drawingml/2006/main"/>
        </p:blipFill>
        <p:spPr>
          <a:xfrm xmlns:a="http://schemas.openxmlformats.org/drawingml/2006/main" flipH="0" flipV="0">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Why does this stack fit V1?</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 AND THE TRADE-OFF</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app serves the interface and API routes. Trade-off: the web and service layers do not scale separately.</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database stores facts, source text, and embeddings. Trade-off: a larger system can need separate search and file storage.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Files make the demo repeatable without live access. Trade-off: new data needs a manual import.</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find evidence. gpt-5.6-sol writes the brief. Trade-off: model cost and failure require checks and a local backup.</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2026-09-01T02:19:15.6040000Z</dcterms:created>
  <dcterms:modified xsi:type="dcterms:W3CDTF">2026-09-01T02:19:15.6040000Z</dcterms:modified>
</coreProperties>
</file>