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64cadafeecd4a6b" /><Relationship Type="http://schemas.openxmlformats.org/officeDocument/2006/relationships/extended-properties" Target="/docProps/app.xml" Id="Ra32d7b7a3c604a06" /><Relationship Type="http://schemas.openxmlformats.org/officeDocument/2006/relationships/officeDocument" Target="/ppt/presentation.xml" Id="Rb67a4b7d3cb9406b" /></Relationships>
</file>

<file path=ppt/presentation.xml><?xml version="1.0" encoding="utf-8"?>
<p:presentation xmlns:p="http://schemas.openxmlformats.org/presentationml/2006/main">
  <p:sldMasterIdLst>
    <p:sldMasterId xmlns:r="http://schemas.openxmlformats.org/officeDocument/2006/relationships" id="2147483648" r:id="R28e7d875e78a450e"/>
  </p:sldMasterIdLst>
  <p:notesMasterIdLst>
    <p:notesMasterId xmlns:r="http://schemas.openxmlformats.org/officeDocument/2006/relationships" r:id="Rc51ddf0d83754fd7"/>
  </p:notesMasterIdLst>
  <p:sldIdLst>
    <p:sldId xmlns:r="http://schemas.openxmlformats.org/officeDocument/2006/relationships" id="256" r:id="R80df3a4af3804efe"/>
    <p:sldId xmlns:r="http://schemas.openxmlformats.org/officeDocument/2006/relationships" id="257" r:id="Rc085733bffde4451"/>
    <p:sldId xmlns:r="http://schemas.openxmlformats.org/officeDocument/2006/relationships" id="258" r:id="R0e4dc282173b4bca"/>
    <p:sldId xmlns:r="http://schemas.openxmlformats.org/officeDocument/2006/relationships" id="259" r:id="Rfebbaed3e18649f6"/>
    <p:sldId xmlns:r="http://schemas.openxmlformats.org/officeDocument/2006/relationships" id="260" r:id="R5aaaf61f02414940"/>
    <p:sldId xmlns:r="http://schemas.openxmlformats.org/officeDocument/2006/relationships" id="261" r:id="Rd8f4bbc746ad40c0"/>
    <p:sldId xmlns:r="http://schemas.openxmlformats.org/officeDocument/2006/relationships" id="262" r:id="R07d035118cae4aa9"/>
    <p:sldId xmlns:r="http://schemas.openxmlformats.org/officeDocument/2006/relationships" id="263" r:id="Rb0fd2217f5b944b1"/>
    <p:sldId xmlns:r="http://schemas.openxmlformats.org/officeDocument/2006/relationships" id="264" r:id="R90dcd2d281cf4823"/>
    <p:sldId xmlns:r="http://schemas.openxmlformats.org/officeDocument/2006/relationships" id="265" r:id="Rb3997c55670741d6"/>
    <p:sldId xmlns:r="http://schemas.openxmlformats.org/officeDocument/2006/relationships" id="266" r:id="R0a06857624b34db2"/>
    <p:sldId xmlns:r="http://schemas.openxmlformats.org/officeDocument/2006/relationships" id="267" r:id="R2d5aa8a29f8b4d52"/>
    <p:sldId xmlns:r="http://schemas.openxmlformats.org/officeDocument/2006/relationships" id="268" r:id="Rc05ab1eed37c4a5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b622f85046141e8" /><Relationship Type="http://schemas.openxmlformats.org/officeDocument/2006/relationships/slideMaster" Target="/ppt/slideMasters/slideMaster1.xml" Id="R28e7d875e78a450e" /><Relationship Type="http://schemas.openxmlformats.org/officeDocument/2006/relationships/notesMaster" Target="/ppt/notesMasters/notesMaster1.xml" Id="Rc51ddf0d83754fd7" /><Relationship Type="http://schemas.openxmlformats.org/officeDocument/2006/relationships/presProps" Target="/ppt/presProps.xml" Id="R640c683aa6014062" /><Relationship Type="http://schemas.openxmlformats.org/officeDocument/2006/relationships/tableStyles" Target="/ppt/tableStyles.xml" Id="R81794c7ca5ae4536" /><Relationship Type="http://schemas.openxmlformats.org/officeDocument/2006/relationships/slide" Target="/ppt/slides/slide1.xml" Id="R80df3a4af3804efe" /><Relationship Type="http://schemas.openxmlformats.org/officeDocument/2006/relationships/slide" Target="/ppt/slides/slide2.xml" Id="Rc085733bffde4451" /><Relationship Type="http://schemas.openxmlformats.org/officeDocument/2006/relationships/slide" Target="/ppt/slides/slide3.xml" Id="R0e4dc282173b4bca" /><Relationship Type="http://schemas.openxmlformats.org/officeDocument/2006/relationships/slide" Target="/ppt/slides/slide4.xml" Id="Rfebbaed3e18649f6" /><Relationship Type="http://schemas.openxmlformats.org/officeDocument/2006/relationships/slide" Target="/ppt/slides/slide5.xml" Id="R5aaaf61f02414940" /><Relationship Type="http://schemas.openxmlformats.org/officeDocument/2006/relationships/slide" Target="/ppt/slides/slide6.xml" Id="Rd8f4bbc746ad40c0" /><Relationship Type="http://schemas.openxmlformats.org/officeDocument/2006/relationships/slide" Target="/ppt/slides/slide7.xml" Id="R07d035118cae4aa9" /><Relationship Type="http://schemas.openxmlformats.org/officeDocument/2006/relationships/slide" Target="/ppt/slides/slide8.xml" Id="Rb0fd2217f5b944b1" /><Relationship Type="http://schemas.openxmlformats.org/officeDocument/2006/relationships/slide" Target="/ppt/slides/slide9.xml" Id="R90dcd2d281cf4823" /><Relationship Type="http://schemas.openxmlformats.org/officeDocument/2006/relationships/slide" Target="/ppt/slides/slide10.xml" Id="Rb3997c55670741d6" /><Relationship Type="http://schemas.openxmlformats.org/officeDocument/2006/relationships/slide" Target="/ppt/slides/slide11.xml" Id="R0a06857624b34db2" /><Relationship Type="http://schemas.openxmlformats.org/officeDocument/2006/relationships/slide" Target="/ppt/slides/slide12.xml" Id="R2d5aa8a29f8b4d52" /><Relationship Type="http://schemas.openxmlformats.org/officeDocument/2006/relationships/slide" Target="/ppt/slides/slide13.xml" Id="Rc05ab1eed37c4a5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56271777d91425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3abdb24920d4b5a" /><Relationship Type="http://schemas.openxmlformats.org/officeDocument/2006/relationships/notesMaster" Target="/ppt/notesMasters/notesMaster1.xml" Id="R4ce0c89623fc434d" /></Relationships>
</file>

<file path=ppt/notesSlides/_rels/notesSlide2.xml.rels>&#65279;<?xml version="1.0" encoding="utf-8"?><Relationships xmlns="http://schemas.openxmlformats.org/package/2006/relationships"><Relationship Type="http://schemas.openxmlformats.org/officeDocument/2006/relationships/slide" Target="/ppt/slides/slide2.xml" Id="Rbcf7c05f73894eed" /><Relationship Type="http://schemas.openxmlformats.org/officeDocument/2006/relationships/notesMaster" Target="/ppt/notesMasters/notesMaster1.xml" Id="R3df7f28904514829" /></Relationships>
</file>

<file path=ppt/notesSlides/_rels/notesSlide3.xml.rels>&#65279;<?xml version="1.0" encoding="utf-8"?><Relationships xmlns="http://schemas.openxmlformats.org/package/2006/relationships"><Relationship Type="http://schemas.openxmlformats.org/officeDocument/2006/relationships/slide" Target="/ppt/slides/slide3.xml" Id="Re4b9f8fed84c4955" /><Relationship Type="http://schemas.openxmlformats.org/officeDocument/2006/relationships/notesMaster" Target="/ppt/notesMasters/notesMaster1.xml" Id="R454ef92996bc45e1" /></Relationships>
</file>

<file path=ppt/notesSlides/_rels/notesSlide4.xml.rels>&#65279;<?xml version="1.0" encoding="utf-8"?><Relationships xmlns="http://schemas.openxmlformats.org/package/2006/relationships"><Relationship Type="http://schemas.openxmlformats.org/officeDocument/2006/relationships/slide" Target="/ppt/slides/slide4.xml" Id="R78dbba5bbaf447e7" /><Relationship Type="http://schemas.openxmlformats.org/officeDocument/2006/relationships/notesMaster" Target="/ppt/notesMasters/notesMaster1.xml" Id="R4e31588d1fbf4101" /></Relationships>
</file>

<file path=ppt/notesSlides/_rels/notesSlide5.xml.rels>&#65279;<?xml version="1.0" encoding="utf-8"?><Relationships xmlns="http://schemas.openxmlformats.org/package/2006/relationships"><Relationship Type="http://schemas.openxmlformats.org/officeDocument/2006/relationships/slide" Target="/ppt/slides/slide5.xml" Id="Re7adc76cef5a4e35" /><Relationship Type="http://schemas.openxmlformats.org/officeDocument/2006/relationships/notesMaster" Target="/ppt/notesMasters/notesMaster1.xml" Id="Rc373d3fd2d35459c" /></Relationships>
</file>

<file path=ppt/notesSlides/_rels/notesSlide6.xml.rels>&#65279;<?xml version="1.0" encoding="utf-8"?><Relationships xmlns="http://schemas.openxmlformats.org/package/2006/relationships"><Relationship Type="http://schemas.openxmlformats.org/officeDocument/2006/relationships/slide" Target="/ppt/slides/slide6.xml" Id="Rfb34c3ff2f784d7e" /><Relationship Type="http://schemas.openxmlformats.org/officeDocument/2006/relationships/notesMaster" Target="/ppt/notesMasters/notesMaster1.xml" Id="R6404c959873545ea" /></Relationships>
</file>

<file path=ppt/notesSlides/_rels/notesSlide7.xml.rels>&#65279;<?xml version="1.0" encoding="utf-8"?><Relationships xmlns="http://schemas.openxmlformats.org/package/2006/relationships"><Relationship Type="http://schemas.openxmlformats.org/officeDocument/2006/relationships/slide" Target="/ppt/slides/slide7.xml" Id="Rddfc6a3f05924ebf" /><Relationship Type="http://schemas.openxmlformats.org/officeDocument/2006/relationships/notesMaster" Target="/ppt/notesMasters/notesMaster1.xml" Id="Re2135b6541354d74" /></Relationships>
</file>

<file path=ppt/notesSlides/_rels/notesSlide8.xml.rels>&#65279;<?xml version="1.0" encoding="utf-8"?><Relationships xmlns="http://schemas.openxmlformats.org/package/2006/relationships"><Relationship Type="http://schemas.openxmlformats.org/officeDocument/2006/relationships/slide" Target="/ppt/slides/slide8.xml" Id="Re930c045fad64296" /><Relationship Type="http://schemas.openxmlformats.org/officeDocument/2006/relationships/notesMaster" Target="/ppt/notesMasters/notesMaster1.xml" Id="R51e7a8f755704123" /></Relationships>
</file>

<file path=ppt/notesSlides/_rels/notesSlide9.xml.rels>&#65279;<?xml version="1.0" encoding="utf-8"?><Relationships xmlns="http://schemas.openxmlformats.org/package/2006/relationships"><Relationship Type="http://schemas.openxmlformats.org/officeDocument/2006/relationships/slide" Target="/ppt/slides/slide9.xml" Id="R8db995e1718344a7" /><Relationship Type="http://schemas.openxmlformats.org/officeDocument/2006/relationships/notesMaster" Target="/ppt/notesMasters/notesMaster1.xml" Id="R755354b1052f433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8798046f6374806" /><Relationship Type="http://schemas.openxmlformats.org/officeDocument/2006/relationships/notesMaster" Target="/ppt/notesMasters/notesMaster1.xml" Id="Rf22e483ee14442b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e9461356bd54b40" /><Relationship Type="http://schemas.openxmlformats.org/officeDocument/2006/relationships/notesMaster" Target="/ppt/notesMasters/notesMaster1.xml" Id="Rceda98edc996479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97f6aeef9cf493e" /><Relationship Type="http://schemas.openxmlformats.org/officeDocument/2006/relationships/notesMaster" Target="/ppt/notesMasters/notesMaster1.xml" Id="R03222d35051c469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c56b91097a44f13" /><Relationship Type="http://schemas.openxmlformats.org/officeDocument/2006/relationships/notesMaster" Target="/ppt/notesMasters/notesMaster1.xml" Id="Reb187cc43bf94f9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answer: AVIC is a working local prototype that builds a company brief from imported evidence. Production freshness and access control are not part of this build.</a:t>
            </a:r>
          </a:p>
          <a:p xmlns:a="http://schemas.openxmlformats.org/drawingml/2006/main">
            <a:r>
              <a:t/>
            </a:r>
          </a:p>
          <a:p xmlns:a="http://schemas.openxmlformats.org/drawingml/2006/main">
            <a:r>
              <a:t>[Sources]</a:t>
            </a:r>
          </a:p>
          <a:p xmlns:a="http://schemas.openxmlformats.org/drawingml/2006/main">
            <a:r>
              <a:t>- /Users/alexthorpe/Documents/GitHub/AVIC/docs/AIVC_Technical_Challenge_Task_4.2.pdf</a:t>
            </a:r>
          </a:p>
          <a:p xmlns:a="http://schemas.openxmlformats.org/drawingml/2006/main">
            <a:r>
              <a:t>- /Users/alexthorpe/Documents/GitHub/AVIC/docs/prd-v1.md</a:t>
            </a:r>
          </a:p>
          <a:p xmlns:a="http://schemas.openxmlformats.org/drawingml/2006/main">
            <a:r>
              <a:t>- /Users/alexthorpe/Documents/GitHub/AVIC/README.md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brief defines the intended user and company universe. The 90-minute value is a scenario estimate. The 30-second value is the product target.</a:t>
            </a:r>
          </a:p>
          <a:p xmlns:a="http://schemas.openxmlformats.org/drawingml/2006/main">
            <a:r>
              <a:t/>
            </a:r>
          </a:p>
          <a:p xmlns:a="http://schemas.openxmlformats.org/drawingml/2006/main">
            <a:r>
              <a:t>[Sources]</a:t>
            </a:r>
          </a:p>
          <a:p xmlns:a="http://schemas.openxmlformats.org/drawingml/2006/main">
            <a:r>
              <a:t>- /Users/alexthorpe/Documents/GitHub/AVIC/docs/AIVC_Technical_Challenge_Task_4.2.pdf</a:t>
            </a:r>
          </a:p>
          <a:p xmlns:a="http://schemas.openxmlformats.org/drawingml/2006/main">
            <a:r>
              <a:t>- /Users/alexthorpe/Documents/GitHub/AVIC/docs/prd-v1.md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desktop flow. The AIVC principal selects a company, scans the brief, opens the evidence and original source, and sends feedback without changing context.</a:t>
            </a:r>
          </a:p>
          <a:p xmlns:a="http://schemas.openxmlformats.org/drawingml/2006/main">
            <a:r>
              <a:t/>
            </a:r>
          </a:p>
          <a:p xmlns:a="http://schemas.openxmlformats.org/drawingml/2006/main">
            <a:r>
              <a:t>[Sources]</a:t>
            </a:r>
          </a:p>
          <a:p xmlns:a="http://schemas.openxmlformats.org/drawingml/2006/main">
            <a:r>
              <a:t>- /Users/alexthorpe/Documents/GitHub/AVIC/docs/AIVC_Technical_Challenge_Task_4.2.pdf</a:t>
            </a:r>
          </a:p>
          <a:p xmlns:a="http://schemas.openxmlformats.org/drawingml/2006/main">
            <a:r>
              <a:t>- /Users/alexthorpe/Documents/GitHub/AVIC/app/page.tsx</a:t>
            </a:r>
          </a:p>
          <a:p xmlns:a="http://schemas.openxmlformats.org/drawingml/2006/main">
            <a:r>
              <a:t>- /private/tmp/avic-deck-wide-main.png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working prototype is an internal company-intelligence interface. It uses 10 fictional companies and 59 fictional source records. Two companies represent the portfolio. Eight companies represent the pipeline. The app imports static CRM, meeting, Slack, and news files. It creates OpenAI embeddings, stores evidence in PostgreSQL, retrieves evidence for one company, and uses gpt-5.6-sol to create a source-supported brief. The principal can open the evidence and original record for each statement and can send feedback. The prototype has no live connectors and gives no investment recommendation.</a:t>
            </a:r>
          </a:p>
          <a:p xmlns:a="http://schemas.openxmlformats.org/drawingml/2006/main">
            <a:r>
              <a:t/>
            </a:r>
          </a:p>
          <a:p xmlns:a="http://schemas.openxmlformats.org/drawingml/2006/main">
            <a:r>
              <a:t>[Sources]</a:t>
            </a:r>
          </a:p>
          <a:p xmlns:a="http://schemas.openxmlformats.org/drawingml/2006/main">
            <a:r>
              <a:t>- /Users/alexthorpe/Documents/GitHub/AVIC/scripts/verify-embeddings.ts</a:t>
            </a:r>
          </a:p>
          <a:p xmlns:a="http://schemas.openxmlformats.org/drawingml/2006/main">
            <a:r>
              <a:t>- /Users/alexthorpe/Documents/GitHub/AVIC/scripts/verify-v1.ts</a:t>
            </a:r>
          </a:p>
          <a:p xmlns:a="http://schemas.openxmlformats.org/drawingml/2006/main">
            <a:r>
              <a:t>- /Users/alexthorpe/Documents/GitHub/AVIC/scripts/verify-generation.ts</a:t>
            </a:r>
          </a:p>
          <a:p xmlns:a="http://schemas.openxmlformats.org/drawingml/2006/main">
            <a:r>
              <a:t>- /Users/alexthorpe/Documents/GitHub/AVIC/tests</a:t>
            </a:r>
          </a:p>
          <a:p xmlns:a="http://schemas.openxmlformats.org/drawingml/2006/main">
            <a:r>
              <a:t>- /Users/alexthorpe/Documents/GitHub/AVIC/db/schema.sql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file import validates each company ID, keeps the source record, calculates checksums, creates chunks, and sends fictional normalized chunk text to the OpenAI Embeddings API. PostgreSQL stores the returned embeddings. A brief request creates one query embedding. SQL filters by company and ranks up to 30 source records. The server sends only the selected company metadata and retrieved evidence to gpt-5.6-sol through the Responses API. It requests a strict schema with low reasoning effort, no tools, and no response storage. A 27-second model timeout and a 29-second request budget have no automatic retry. The server checks source IDs, company isolation, exact source quotes, typed values, qualitative support, source status, and investment safety. It saves the brief, generation mode, model data, and source ranks. If generation fails a check or exceeds the budget, local rules create a source-supported fallback. The app does not call a source system during a brief request.</a:t>
            </a:r>
          </a:p>
          <a:p xmlns:a="http://schemas.openxmlformats.org/drawingml/2006/main">
            <a:r>
              <a:t/>
            </a:r>
          </a:p>
          <a:p xmlns:a="http://schemas.openxmlformats.org/drawingml/2006/main">
            <a:r>
              <a:t>[Sources]</a:t>
            </a:r>
          </a:p>
          <a:p xmlns:a="http://schemas.openxmlformats.org/drawingml/2006/main">
            <a:r>
              <a:t>- /Users/alexthorpe/Documents/GitHub/AVIC/lib/embeddings.ts</a:t>
            </a:r>
          </a:p>
          <a:p xmlns:a="http://schemas.openxmlformats.org/drawingml/2006/main">
            <a:r>
              <a:t>- /Users/alexthorpe/Documents/GitHub/AVIC/lib/ingestion.ts</a:t>
            </a:r>
          </a:p>
          <a:p xmlns:a="http://schemas.openxmlformats.org/drawingml/2006/main">
            <a:r>
              <a:t>- /Users/alexthorpe/Documents/GitHub/AVIC/lib/retrieval.ts</a:t>
            </a:r>
          </a:p>
          <a:p xmlns:a="http://schemas.openxmlformats.org/drawingml/2006/main">
            <a:r>
              <a:t>- /Users/alexthorpe/Documents/GitHub/AVIC/lib/brief-generation.ts</a:t>
            </a:r>
          </a:p>
          <a:p xmlns:a="http://schemas.openxmlformats.org/drawingml/2006/main">
            <a:r>
              <a:t>- /Users/alexthorpe/Documents/GitHub/AVIC/lib/brief.ts</a:t>
            </a:r>
          </a:p>
          <a:p xmlns:a="http://schemas.openxmlformats.org/drawingml/2006/main">
            <a:r>
              <a:t>- /Users/alexthorpe/Documents/GitHub/AVIC/app/api/briefs/route.ts</a:t>
            </a:r>
          </a:p>
          <a:p xmlns:a="http://schemas.openxmlformats.org/drawingml/2006/main">
            <a:r>
              <a:t>- /Users/alexthorpe/Documents/GitHub/AVIC/db/schema.sql</a:t>
            </a:r>
          </a:p>
          <a:p xmlns:a="http://schemas.openxmlformats.org/drawingml/2006/main">
            <a:r>
              <a:t>- https://developers.openai.com/api/docs/models/gpt-5.6-sol</a:t>
            </a:r>
          </a:p>
          <a:p xmlns:a="http://schemas.openxmlformats.org/drawingml/2006/main">
            <a:r>
              <a:t>- https://developers.openai.com/api/reference/cli/resources/responses/methods/create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importer maps every record to one known company. It keeps the original content and calculates a checksum. It creates structured facts and search chunks. It sends only fictional normalized chunk text to the OpenAI Embeddings API. It stores the model, dimension, input checksum, and creation time with each embedding. A repeat import does not request an embedding when this fingerprint is current. Public filings are a planned source only.</a:t>
            </a:r>
          </a:p>
          <a:p xmlns:a="http://schemas.openxmlformats.org/drawingml/2006/main">
            <a:r>
              <a:t/>
            </a:r>
          </a:p>
          <a:p xmlns:a="http://schemas.openxmlformats.org/drawingml/2006/main">
            <a:r>
              <a:t>[Sources]</a:t>
            </a:r>
          </a:p>
          <a:p xmlns:a="http://schemas.openxmlformats.org/drawingml/2006/main">
            <a:r>
              <a:t>- /Users/alexthorpe/Documents/GitHub/AVIC/lib/embeddings.ts</a:t>
            </a:r>
          </a:p>
          <a:p xmlns:a="http://schemas.openxmlformats.org/drawingml/2006/main">
            <a:r>
              <a:t>- /Users/alexthorpe/Documents/GitHub/AVIC/lib/ingestion.ts</a:t>
            </a:r>
          </a:p>
          <a:p xmlns:a="http://schemas.openxmlformats.org/drawingml/2006/main">
            <a:r>
              <a:t>- /Users/alexthorpe/Documents/GitHub/AVIC/db/schema.sql</a:t>
            </a:r>
          </a:p>
          <a:p xmlns:a="http://schemas.openxmlformats.org/drawingml/2006/main">
            <a:r>
              <a:t>- /Users/alexthorpe/Documents/GitHub/AVIC/demo_data/manifest.json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request contains only a company ID. The server uses one fixed retrieval query. OpenAI creates the query embedding. SQL filters records and chunks by the selected company before scoring. The score is 38 percent full-text rank, 32 percent embedding similarity, 20 percent source quality, and 10 percent recency. The query returns up to 30 source records. The server sends selected evidence to gpt-5.6-sol through the Responses API. It checks the strict result before it saves the brief. Local rules create the fallback only when the generated result is late, invalid, or unavailable.</a:t>
            </a:r>
          </a:p>
          <a:p xmlns:a="http://schemas.openxmlformats.org/drawingml/2006/main">
            <a:r>
              <a:t/>
            </a:r>
          </a:p>
          <a:p xmlns:a="http://schemas.openxmlformats.org/drawingml/2006/main">
            <a:r>
              <a:t>[Sources]</a:t>
            </a:r>
          </a:p>
          <a:p xmlns:a="http://schemas.openxmlformats.org/drawingml/2006/main">
            <a:r>
              <a:t>- /Users/alexthorpe/Documents/GitHub/AVIC/lib/embeddings.ts</a:t>
            </a:r>
          </a:p>
          <a:p xmlns:a="http://schemas.openxmlformats.org/drawingml/2006/main">
            <a:r>
              <a:t>- /Users/alexthorpe/Documents/GitHub/AVIC/lib/retrieval.ts</a:t>
            </a:r>
          </a:p>
          <a:p xmlns:a="http://schemas.openxmlformats.org/drawingml/2006/main">
            <a:r>
              <a:t>- /Users/alexthorpe/Documents/GitHub/AVIC/lib/brief-generation.ts</a:t>
            </a:r>
          </a:p>
          <a:p xmlns:a="http://schemas.openxmlformats.org/drawingml/2006/main">
            <a:r>
              <a:t>- /Users/alexthorpe/Documents/GitHub/AVIC/lib/brief.ts</a:t>
            </a:r>
          </a:p>
          <a:p xmlns:a="http://schemas.openxmlformats.org/drawingml/2006/main">
            <a:r>
              <a:t>- /Users/alexthorpe/Documents/GitHub/AVIC/app/api/briefs/route.ts</a:t>
            </a:r>
          </a:p>
          <a:p xmlns:a="http://schemas.openxmlformats.org/drawingml/2006/main">
            <a:r>
              <a:t>- https://developers.openai.com/api/docs/models/gpt-5.6-sol</a:t>
            </a:r>
          </a:p>
          <a:p xmlns:a="http://schemas.openxmlformats.org/drawingml/2006/main">
            <a:r>
              <a:t>- https://developers.openai.com/api/reference/cli/resources/responses/methods/create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active retrieval model is text-embedding-3-large with 1,536 dimensions. The active brief model is gpt-5.6-sol through the Responses API. The app uses low reasoning effort. In the measured demo checks, low effort produced two valid briefs in 15.4 and 20.9 seconds. Medium effort was slower and sometimes exceeded the test timeout. Keep low effort until a reviewed evaluation shows a useful quality gain.</a:t>
            </a:r>
          </a:p>
          <a:p xmlns:a="http://schemas.openxmlformats.org/drawingml/2006/main">
            <a:r>
              <a:t/>
            </a:r>
          </a:p>
          <a:p xmlns:a="http://schemas.openxmlformats.org/drawingml/2006/main">
            <a:r>
              <a:t>[Sources]</a:t>
            </a:r>
          </a:p>
          <a:p xmlns:a="http://schemas.openxmlformats.org/drawingml/2006/main">
            <a:r>
              <a:t>- /Users/alexthorpe/Documents/GitHub/AVIC/package.json</a:t>
            </a:r>
          </a:p>
          <a:p xmlns:a="http://schemas.openxmlformats.org/drawingml/2006/main">
            <a:r>
              <a:t>- /Users/alexthorpe/Documents/GitHub/AVIC/lib/embeddings.ts</a:t>
            </a:r>
          </a:p>
          <a:p xmlns:a="http://schemas.openxmlformats.org/drawingml/2006/main">
            <a:r>
              <a:t>- /Users/alexthorpe/Documents/GitHub/AVIC/lib/brief-generation.ts</a:t>
            </a:r>
          </a:p>
          <a:p xmlns:a="http://schemas.openxmlformats.org/drawingml/2006/main">
            <a:r>
              <a:t>- /Users/alexthorpe/Documents/GitHub/AVIC/scripts/verify-generation.ts</a:t>
            </a:r>
          </a:p>
          <a:p xmlns:a="http://schemas.openxmlformats.org/drawingml/2006/main">
            <a:r>
              <a:t>- /Users/alexthorpe/Documents/GitHub/AVIC/db/schema.sql</a:t>
            </a:r>
          </a:p>
          <a:p xmlns:a="http://schemas.openxmlformats.org/drawingml/2006/main">
            <a:r>
              <a:t>- https://developers.openai.com/api/docs/models/text-embedding-3-large</a:t>
            </a:r>
          </a:p>
          <a:p xmlns:a="http://schemas.openxmlformats.org/drawingml/2006/main">
            <a:r>
              <a:t>- https://developers.openai.com/api/docs/models/gpt-5.6-sol</a:t>
            </a:r>
          </a:p>
          <a:p xmlns:a="http://schemas.openxmlformats.org/drawingml/2006/main">
            <a:r>
              <a:t>- https://developers.openai.com/api/docs/guides/latest-model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checkout has 69 passing app tests. The 22 live checks include 19 V1 database checks, one embedding check, and two source-supported generation checks. VectorForge took 15.4 seconds. Kestrel Health took 20.9 seconds. Both generated briefs kept citations and the required conflict or unverified state. The local check covers all 10 fictional companies. It does not use the generation model. Use two checks for each evaluation type. Retrieval checks that a must-find source is in the first 30 results and that no result belongs to another company. Grounding checks that each claim cites retrieved evidence and that each numeric value appears in a cited source. Product evaluation measures response time and usefulness for the AIVC principal. Operations evaluation checks that invalid generated output uses the fallback and that a changed source changes the next brief. Run the same set after each retrieval, prompt, model, schema, or source-rule change.</a:t>
            </a:r>
          </a:p>
          <a:p xmlns:a="http://schemas.openxmlformats.org/drawingml/2006/main">
            <a:r>
              <a:t/>
            </a:r>
          </a:p>
          <a:p xmlns:a="http://schemas.openxmlformats.org/drawingml/2006/main">
            <a:r>
              <a:t/>
            </a:r>
          </a:p>
          <a:p xmlns:a="http://schemas.openxmlformats.org/drawingml/2006/main">
            <a:r>
              <a:t>[Sources]</a:t>
            </a:r>
          </a:p>
          <a:p xmlns:a="http://schemas.openxmlformats.org/drawingml/2006/main">
            <a:r>
              <a:t>- /Users/alexthorpe/Documents/GitHub/AVIC/docs/prd-v1.md</a:t>
            </a:r>
          </a:p>
          <a:p xmlns:a="http://schemas.openxmlformats.org/drawingml/2006/main">
            <a:r>
              <a:t>- /Users/alexthorpe/Documents/GitHub/AVIC/lib/retrieval.ts</a:t>
            </a:r>
          </a:p>
          <a:p xmlns:a="http://schemas.openxmlformats.org/drawingml/2006/main">
            <a:r>
              <a:t>- /Users/alexthorpe/Documents/GitHub/AVIC/lib/brief-generation.ts</a:t>
            </a:r>
          </a:p>
          <a:p xmlns:a="http://schemas.openxmlformats.org/drawingml/2006/main">
            <a:r>
              <a:t>- /Users/alexthorpe/Documents/GitHub/AVIC/lib/brief.ts</a:t>
            </a:r>
          </a:p>
          <a:p xmlns:a="http://schemas.openxmlformats.org/drawingml/2006/main">
            <a:r>
              <a:t>- /Users/alexthorpe/Documents/GitHub/AVIC/lib/ingestion.ts</a:t>
            </a:r>
          </a:p>
          <a:p xmlns:a="http://schemas.openxmlformats.org/drawingml/2006/main">
            <a:r>
              <a:t>- /Users/alexthorpe/Documents/GitHub/AVIC/scripts/verify-v1.ts</a:t>
            </a:r>
          </a:p>
          <a:p xmlns:a="http://schemas.openxmlformats.org/drawingml/2006/main">
            <a:r>
              <a:t>- /Users/alexthorpe/Documents/GitHub/AVIC/scripts/verify-generation.ts</a:t>
            </a:r>
          </a:p>
          <a:p xmlns:a="http://schemas.openxmlformats.org/drawingml/2006/main">
            <a:r>
              <a:t>- /Users/alexthorpe/Documents/GitHub/AVIC/tests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V1 acceptance criteria, not current production service levels. The 4 out of 5 usefulness score is a pilot target and has not been measured.</a:t>
            </a:r>
          </a:p>
          <a:p xmlns:a="http://schemas.openxmlformats.org/drawingml/2006/main">
            <a:r>
              <a:t/>
            </a:r>
          </a:p>
          <a:p xmlns:a="http://schemas.openxmlformats.org/drawingml/2006/main">
            <a:r>
              <a:t>[Sources]</a:t>
            </a:r>
          </a:p>
          <a:p xmlns:a="http://schemas.openxmlformats.org/drawingml/2006/main">
            <a:r>
              <a:t>- /Users/alexthorpe/Documents/GitHub/AVIC/docs/AIVC_Technical_Challenge_Task_4.2.pdf</a:t>
            </a:r>
          </a:p>
          <a:p xmlns:a="http://schemas.openxmlformats.org/drawingml/2006/main">
            <a:r>
              <a:t>- /Users/alexthorpe/Documents/GitHub/AVIC/docs/prd-v1.md</a:t>
            </a:r>
          </a:p>
          <a:p xmlns:a="http://schemas.openxmlformats.org/drawingml/2006/main">
            <a:r>
              <a:t>- /Users/alexthorpe/Documents/GitHub/AVIC/scripts/verify-v1.ts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defines the current boundary. The app implements the interface, API routes, file import, PostgreSQL storage, OpenAI embeddings, company-scoped retrieval, source-supported generation with gpt-5.6-sol, strict checks, source drill-down, local fallback, saved generation audit data, and feedback capture. It uses 10 fictional companies, static source files, a local database, and a fixed reference date. The OpenAI request contains selected fictional text only. It excludes raw JSON, source locators, access metadata, and records for unrelated companies. Live connectors, public filings, sign-in, source access enforcement, schedules, webhooks, and a reviewer screen are not active.</a:t>
            </a:r>
          </a:p>
          <a:p xmlns:a="http://schemas.openxmlformats.org/drawingml/2006/main">
            <a:r>
              <a:t/>
            </a:r>
          </a:p>
          <a:p xmlns:a="http://schemas.openxmlformats.org/drawingml/2006/main">
            <a:r>
              <a:t>[Sources]</a:t>
            </a:r>
          </a:p>
          <a:p xmlns:a="http://schemas.openxmlformats.org/drawingml/2006/main">
            <a:r>
              <a:t>- /Users/alexthorpe/Documents/GitHub/AVIC/app/page.tsx</a:t>
            </a:r>
          </a:p>
          <a:p xmlns:a="http://schemas.openxmlformats.org/drawingml/2006/main">
            <a:r>
              <a:t>- /Users/alexthorpe/Documents/GitHub/AVIC/lib/embeddings.ts</a:t>
            </a:r>
          </a:p>
          <a:p xmlns:a="http://schemas.openxmlformats.org/drawingml/2006/main">
            <a:r>
              <a:t>- /Users/alexthorpe/Documents/GitHub/AVIC/lib/ingestion.ts</a:t>
            </a:r>
          </a:p>
          <a:p xmlns:a="http://schemas.openxmlformats.org/drawingml/2006/main">
            <a:r>
              <a:t>- /Users/alexthorpe/Documents/GitHub/AVIC/lib/retrieval.ts</a:t>
            </a:r>
          </a:p>
          <a:p xmlns:a="http://schemas.openxmlformats.org/drawingml/2006/main">
            <a:r>
              <a:t>- /Users/alexthorpe/Documents/GitHub/AVIC/lib/brief-generation.ts</a:t>
            </a:r>
          </a:p>
          <a:p xmlns:a="http://schemas.openxmlformats.org/drawingml/2006/main">
            <a:r>
              <a:t>- /Users/alexthorpe/Documents/GitHub/AVIC/lib/brief.ts</a:t>
            </a:r>
          </a:p>
          <a:p xmlns:a="http://schemas.openxmlformats.org/drawingml/2006/main">
            <a:r>
              <a:t>- /Users/alexthorpe/Documents/GitHub/AVIC/db/schema.sql</a:t>
            </a:r>
          </a:p>
          <a:p xmlns:a="http://schemas.openxmlformats.org/drawingml/2006/main">
            <a:r>
              <a:t>- https://developers.openai.com/api/docs/models/text-embedding-3-large</a:t>
            </a:r>
          </a:p>
          <a:p xmlns:a="http://schemas.openxmlformats.org/drawingml/2006/main">
            <a:r>
              <a:t>- https://developers.openai.com/api/docs/models/gpt-5.6-sol</a:t>
            </a:r>
          </a:p>
          <a:p xmlns:a="http://schemas.openxmlformats.org/drawingml/2006/main">
            <a:r>
              <a:t>- https://developers.openai.com/api/reference/cli/resources/responses/methods/create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plan for two people. The 250-company test appears in weeks 7 and 8 because it has not been run. Weeks 5 and 6 include retrieval evaluation and generation-and-fallback evaluation. The plan depends on source access, company IDs, access rules, and review time from the AIVC principal.</a:t>
            </a:r>
          </a:p>
          <a:p xmlns:a="http://schemas.openxmlformats.org/drawingml/2006/main">
            <a:r>
              <a:t/>
            </a:r>
          </a:p>
          <a:p xmlns:a="http://schemas.openxmlformats.org/drawingml/2006/main">
            <a:r>
              <a:t/>
            </a:r>
          </a:p>
          <a:p xmlns:a="http://schemas.openxmlformats.org/drawingml/2006/main">
            <a:r>
              <a:t>[Sources]</a:t>
            </a:r>
          </a:p>
          <a:p xmlns:a="http://schemas.openxmlformats.org/drawingml/2006/main">
            <a:r>
              <a:t>- /Users/alexthorpe/Documents/GitHub/AVIC/docs/AIVC_Technical_Challenge_Task_4.2.pdf</a:t>
            </a:r>
          </a:p>
          <a:p xmlns:a="http://schemas.openxmlformats.org/drawingml/2006/main">
            <a:r>
              <a:t>- /Users/alexthorpe/Documents/GitHub/AVIC/docs/prd-v1.md</a:t>
            </a:r>
          </a:p>
          <a:p xmlns:a="http://schemas.openxmlformats.org/drawingml/2006/main">
            <a:r>
              <a:t>- /Users/alexthorpe/Documents/GitHub/AVIC/docs/architecture.md</a:t>
            </a:r>
          </a:p>
          <a:p xmlns:a="http://schemas.openxmlformats.org/drawingml/2006/main">
            <a:r>
              <a:t>- /Users/alexthorpe/Documents/GitHub/AVIC/scripts/verify-generation.ts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risk is evidence retrieval, not model choice. The next slice should use one approved source and a small reference answer set. With more time, evaluate both retrieval and source-supported generation, then add the reviewer workflow and monitoring. The decision is whether to approve that source-to-brief pilot after the named owners confirm access and evaluation conditions.</a:t>
            </a:r>
          </a:p>
          <a:p xmlns:a="http://schemas.openxmlformats.org/drawingml/2006/main">
            <a:r>
              <a:t/>
            </a:r>
          </a:p>
          <a:p xmlns:a="http://schemas.openxmlformats.org/drawingml/2006/main">
            <a:r>
              <a:t>[Sources]</a:t>
            </a:r>
          </a:p>
          <a:p xmlns:a="http://schemas.openxmlformats.org/drawingml/2006/main">
            <a:r>
              <a:t>- /Users/alexthorpe/Documents/GitHub/AVIC/docs/AIVC_Technical_Challenge_Task_4.2.pdf</a:t>
            </a:r>
          </a:p>
          <a:p xmlns:a="http://schemas.openxmlformats.org/drawingml/2006/main">
            <a:r>
              <a:t>- /Users/alexthorpe/Documents/GitHub/AVIC/docs/prd-v1.md</a:t>
            </a:r>
          </a:p>
          <a:p xmlns:a="http://schemas.openxmlformats.org/drawingml/2006/main">
            <a:r>
              <a:t>- /Users/alexthorpe/Documents/GitHub/AVIC/docs/architecture.md</a:t>
            </a:r>
          </a:p>
          <a:p xmlns:a="http://schemas.openxmlformats.org/drawingml/2006/main">
            <a:r>
              <a:t>- /Users/alexthorpe/Documents/GitHub/AVIC/lib/retrieval.ts</a:t>
            </a:r>
          </a:p>
          <a:p xmlns:a="http://schemas.openxmlformats.org/drawingml/2006/main">
            <a:r>
              <a:t>- /Users/alexthorpe/Documents/GitHub/AVIC/lib/brief-generation.ts</a:t>
            </a:r>
          </a:p>
          <a:p xmlns:a="http://schemas.openxmlformats.org/drawingml/2006/main">
            <a:r>
              <a:t>- /Users/alexthorpe/Documents/GitHub/AVIC/scripts/verify-v1.ts</a:t>
            </a:r>
          </a:p>
          <a:p xmlns:a="http://schemas.openxmlformats.org/drawingml/2006/main">
            <a:r>
              <a:t>- /Users/alexthorpe/Documents/GitHub/AVIC/scripts/verify-generation.ts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784ddacae454fe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5a38c843ec742da" /><Relationship Type="http://schemas.openxmlformats.org/officeDocument/2006/relationships/slideLayout" Target="/ppt/slideLayouts/slideLayout1.xml" Id="R694b0c3947ac426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94b0c3947ac426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f6e56b3516e4c6e" /><Relationship Type="http://schemas.openxmlformats.org/officeDocument/2006/relationships/notesSlide" Target="/ppt/notesSlides/notesSlide1.xml" Id="R5011e522da5f47f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63a5f60fee1415c" /><Relationship Type="http://schemas.openxmlformats.org/officeDocument/2006/relationships/notesSlide" Target="/ppt/notesSlides/notesSlide2.xml" Id="R1e44023be639413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b48bdb6cc0d44fc" /><Relationship Type="http://schemas.openxmlformats.org/officeDocument/2006/relationships/image" Target="/ppt/media/image.jpeg" Id="R2ebf4d9526ec427f" /><Relationship Type="http://schemas.openxmlformats.org/officeDocument/2006/relationships/notesSlide" Target="/ppt/notesSlides/notesSlide3.xml" Id="R63a37eeff5be47d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26a5a892d4b45c2" /><Relationship Type="http://schemas.openxmlformats.org/officeDocument/2006/relationships/notesSlide" Target="/ppt/notesSlides/notesSlide4.xml" Id="Rbba15af301e2491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33233d1c77f4042" /><Relationship Type="http://schemas.openxmlformats.org/officeDocument/2006/relationships/image" Target="/ppt/media/image.png" Id="R2daf070dfb6046b3" /><Relationship Type="http://schemas.openxmlformats.org/officeDocument/2006/relationships/notesSlide" Target="/ppt/notesSlides/notesSlide5.xml" Id="R3ac260dd1a2f45a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413cc08b5f9447c" /><Relationship Type="http://schemas.openxmlformats.org/officeDocument/2006/relationships/notesSlide" Target="/ppt/notesSlides/notesSlide6.xml" Id="Ra002eb1840fc4b9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10ee757d95d4901" /><Relationship Type="http://schemas.openxmlformats.org/officeDocument/2006/relationships/notesSlide" Target="/ppt/notesSlides/notesSlide7.xml" Id="R18bb308c1e7a430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e7d07c6186e4d74" /><Relationship Type="http://schemas.openxmlformats.org/officeDocument/2006/relationships/notesSlide" Target="/ppt/notesSlides/notesSlide8.xml" Id="Ra81ab30ca58d46a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38653525fb14120" /><Relationship Type="http://schemas.openxmlformats.org/officeDocument/2006/relationships/notesSlide" Target="/ppt/notesSlides/notesSlide9.xml" Id="R06daee159cce4a9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d22ae6eb64148c4" /><Relationship Type="http://schemas.openxmlformats.org/officeDocument/2006/relationships/notesSlide" Target="/ppt/notesSlides/notesSlide10.xml" Id="R5fce71404049427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8d59a3241da4af0" /><Relationship Type="http://schemas.openxmlformats.org/officeDocument/2006/relationships/notesSlide" Target="/ppt/notesSlides/notesSlide11.xml" Id="R14ee34996ebf420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478996497c24b49" /><Relationship Type="http://schemas.openxmlformats.org/officeDocument/2006/relationships/notesSlide" Target="/ppt/notesSlides/notesSlide12.xml" Id="R387f117e4cda4fc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f51a2b8aa0b4d7e" /><Relationship Type="http://schemas.openxmlformats.org/officeDocument/2006/relationships/notesSlide" Target="/ppt/notesSlides/notesSlide13.xml" Id="R2881d15732bd4739" /></Relationships>
</file>

<file path=ppt/slides/slide1.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5DD1145-7B96-46D8-A68A-0CBA18A7E141}"/>
              </a:ext>
            </a:extLst>
          </p:cNvPr>
          <p:cNvSpPr>
            <a:spLocks xmlns:a="http://schemas.openxmlformats.org/drawingml/2006/main" noGrp="1"/>
          </p:cNvSpPr>
          <p:nvPr/>
        </p:nvSpPr>
        <p:spPr>
          <a:xfrm xmlns:a="http://schemas.openxmlformats.org/drawingml/2006/main">
            <a:off x="457200" y="438150"/>
            <a:ext cx="2857500" cy="285750"/>
          </a:xfrm>
          <a:prstGeom xmlns:a="http://schemas.openxmlformats.org/drawingml/2006/main" prst="roundRect">
            <a:avLst>
              <a:gd name="adj" fmla="val 50000"/>
            </a:avLst>
          </a:prstGeom>
          <a:solidFill xmlns:a="http://schemas.openxmlformats.org/drawingml/2006/main">
            <a:srgbClr val="E8F0FB"/>
          </a:solidFill>
          <a:ln xmlns:a="http://schemas.openxmlformats.org/drawingml/2006/main" w="9525">
            <a:solidFill>
              <a:srgbClr val="9CB5D5"/>
            </a:solidFill>
            <a:prstDash val="solid"/>
          </a:ln>
        </p:spPr>
      </p:sp>
      <p:sp>
        <p:nvSpPr>
          <p:cNvPr id="2" name="">
            <a:extLst xmlns:a="http://schemas.openxmlformats.org/drawingml/2006/main">
              <a:ext uri="{FF2B5EF4-FFF2-40B4-BE49-F238E27FC236}">
                <a16:creationId xmlns:a16="http://schemas.microsoft.com/office/drawing/2014/main" id="{2FFE115D-EF2A-4F10-AB7C-5AE00E3147F6}"/>
              </a:ext>
            </a:extLst>
          </p:cNvPr>
          <p:cNvSpPr>
            <a:spLocks xmlns:a="http://schemas.openxmlformats.org/drawingml/2006/main" noGrp="1"/>
          </p:cNvSpPr>
          <p:nvPr/>
        </p:nvSpPr>
        <p:spPr>
          <a:xfrm xmlns:a="http://schemas.openxmlformats.org/drawingml/2006/main">
            <a:off x="571500" y="485775"/>
            <a:ext cx="26289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7857"/>
          </a:bodyPr>
          <a:lstStyle xmlns:a="http://schemas.openxmlformats.org/drawingml/2006/main"/>
          <a:p xmlns:a="http://schemas.openxmlformats.org/drawingml/2006/main">
            <a:pPr algn="l">
              <a:buNone/>
              <a:defRPr sz="1050" b="1">
                <a:solidFill>
                  <a:srgbClr val="315F9F"/>
                </a:solidFill>
                <a:latin typeface="Helvetica Neue"/>
                <a:ea typeface="Helvetica Neue"/>
                <a:cs typeface="Helvetica Neue"/>
              </a:defRPr>
            </a:pPr>
            <a:r>
              <a:rPr sz="1050" b="1">
                <a:solidFill>
                  <a:srgbClr val="315F9F"/>
                </a:solidFill>
                <a:latin typeface="Helvetica Neue"/>
                <a:ea typeface="Helvetica Neue"/>
                <a:cs typeface="Helvetica Neue"/>
              </a:rPr>
              <a:t>WORKING LOCAL PROTOTYPE</a:t>
            </a:r>
          </a:p>
        </p:txBody>
      </p:sp>
      <p:sp>
        <p:nvSpPr>
          <p:cNvPr id="3" name="">
            <a:extLst xmlns:a="http://schemas.openxmlformats.org/drawingml/2006/main">
              <a:ext uri="{FF2B5EF4-FFF2-40B4-BE49-F238E27FC236}">
                <a16:creationId xmlns:a16="http://schemas.microsoft.com/office/drawing/2014/main" id="{4B7B49EE-4D40-41E7-A8F1-C2E8C4E1DB9A}"/>
              </a:ext>
            </a:extLst>
          </p:cNvPr>
          <p:cNvSpPr>
            <a:spLocks xmlns:a="http://schemas.openxmlformats.org/drawingml/2006/main" noGrp="1"/>
          </p:cNvSpPr>
          <p:nvPr/>
        </p:nvSpPr>
        <p:spPr>
          <a:xfrm xmlns:a="http://schemas.openxmlformats.org/drawingml/2006/main">
            <a:off x="457200" y="1524000"/>
            <a:ext cx="8286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5100" b="1">
                <a:solidFill>
                  <a:srgbClr val="101828"/>
                </a:solidFill>
                <a:latin typeface="Helvetica Neue"/>
                <a:ea typeface="Helvetica Neue"/>
                <a:cs typeface="Helvetica Neue"/>
              </a:defRPr>
            </a:pPr>
            <a:r>
              <a:rPr sz="3450" b="1">
                <a:solidFill>
                  <a:srgbClr val="101828"/>
                </a:solidFill>
                <a:latin typeface="Helvetica Neue"/>
                <a:ea typeface="Helvetica Neue"/>
                <a:cs typeface="Helvetica Neue"/>
              </a:rPr>
              <a:t>AVIC</a:t>
            </a:r>
          </a:p>
          <a:p xmlns:a="http://schemas.openxmlformats.org/drawingml/2006/main">
            <a:pPr algn="l">
              <a:buNone/>
              <a:defRPr sz="5100" b="1">
                <a:solidFill>
                  <a:srgbClr val="101828"/>
                </a:solidFill>
                <a:latin typeface="Helvetica Neue"/>
                <a:ea typeface="Helvetica Neue"/>
                <a:cs typeface="Helvetica Neue"/>
              </a:defRPr>
            </a:pPr>
            <a:r>
              <a:rPr sz="3450" b="1">
                <a:solidFill>
                  <a:srgbClr val="101828"/>
                </a:solidFill>
                <a:latin typeface="Helvetica Neue"/>
                <a:ea typeface="Helvetica Neue"/>
                <a:cs typeface="Helvetica Neue"/>
              </a:rPr>
              <a:t>Portfolio intelligence for AIVC</a:t>
            </a:r>
          </a:p>
        </p:txBody>
      </p:sp>
      <p:sp>
        <p:nvSpPr>
          <p:cNvPr id="4" name="">
            <a:extLst xmlns:a="http://schemas.openxmlformats.org/drawingml/2006/main">
              <a:ext uri="{FF2B5EF4-FFF2-40B4-BE49-F238E27FC236}">
                <a16:creationId xmlns:a16="http://schemas.microsoft.com/office/drawing/2014/main" id="{A9B41661-5E1A-4F92-ADD3-F4CFD9277153}"/>
              </a:ext>
            </a:extLst>
          </p:cNvPr>
          <p:cNvSpPr>
            <a:spLocks xmlns:a="http://schemas.openxmlformats.org/drawingml/2006/main" noGrp="1"/>
          </p:cNvSpPr>
          <p:nvPr/>
        </p:nvSpPr>
        <p:spPr>
          <a:xfrm xmlns:a="http://schemas.openxmlformats.org/drawingml/2006/main">
            <a:off x="495300" y="3695700"/>
            <a:ext cx="723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83"/>
          </a:bodyPr>
          <a:lstStyle xmlns:a="http://schemas.openxmlformats.org/drawingml/2006/main"/>
          <a:p xmlns:a="http://schemas.openxmlformats.org/drawingml/2006/main">
            <a:pPr algn="l">
              <a:buNone/>
              <a:defRPr sz="2100" b="1">
                <a:solidFill>
                  <a:srgbClr val="315F9F"/>
                </a:solidFill>
                <a:latin typeface="Helvetica Neue"/>
                <a:ea typeface="Helvetica Neue"/>
                <a:cs typeface="Helvetica Neue"/>
              </a:defRPr>
            </a:pPr>
            <a:r>
              <a:rPr sz="2025" b="1">
                <a:solidFill>
                  <a:srgbClr val="315F9F"/>
                </a:solidFill>
                <a:latin typeface="Helvetica Neue"/>
                <a:ea typeface="Helvetica Neue"/>
                <a:cs typeface="Helvetica Neue"/>
              </a:rPr>
              <a:t>Company briefs from fictional evidence in 30 seconds or less</a:t>
            </a:r>
          </a:p>
        </p:txBody>
      </p:sp>
      <p:sp>
        <p:nvSpPr>
          <p:cNvPr id="5" name="">
            <a:extLst xmlns:a="http://schemas.openxmlformats.org/drawingml/2006/main">
              <a:ext uri="{FF2B5EF4-FFF2-40B4-BE49-F238E27FC236}">
                <a16:creationId xmlns:a16="http://schemas.microsoft.com/office/drawing/2014/main" id="{BE02645B-87CB-4B29-92D6-00F251442053}"/>
              </a:ext>
            </a:extLst>
          </p:cNvPr>
          <p:cNvSpPr>
            <a:spLocks xmlns:a="http://schemas.openxmlformats.org/drawingml/2006/main" noGrp="1"/>
          </p:cNvSpPr>
          <p:nvPr/>
        </p:nvSpPr>
        <p:spPr>
          <a:xfrm xmlns:a="http://schemas.openxmlformats.org/drawingml/2006/main">
            <a:off x="457200" y="4857750"/>
            <a:ext cx="108585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6" name="">
            <a:extLst xmlns:a="http://schemas.openxmlformats.org/drawingml/2006/main">
              <a:ext uri="{FF2B5EF4-FFF2-40B4-BE49-F238E27FC236}">
                <a16:creationId xmlns:a16="http://schemas.microsoft.com/office/drawing/2014/main" id="{8EEB971D-6B6E-42B3-96FB-E8FE4C8AD317}"/>
              </a:ext>
            </a:extLst>
          </p:cNvPr>
          <p:cNvSpPr>
            <a:spLocks xmlns:a="http://schemas.openxmlformats.org/drawingml/2006/main" noGrp="1"/>
          </p:cNvSpPr>
          <p:nvPr/>
        </p:nvSpPr>
        <p:spPr>
          <a:xfrm xmlns:a="http://schemas.openxmlformats.org/drawingml/2006/main">
            <a:off x="457200" y="5162550"/>
            <a:ext cx="7429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344054"/>
                </a:solidFill>
                <a:latin typeface="Helvetica Neue"/>
                <a:ea typeface="Helvetica Neue"/>
                <a:cs typeface="Helvetica Neue"/>
              </a:defRPr>
            </a:pPr>
            <a:r>
              <a:rPr sz="1425" b="0">
                <a:solidFill>
                  <a:srgbClr val="344054"/>
                </a:solidFill>
                <a:latin typeface="Helvetica Neue"/>
                <a:ea typeface="Helvetica Neue"/>
                <a:cs typeface="Helvetica Neue"/>
              </a:rPr>
              <a:t>Technical challenge · Product, architecture, and pilot plan</a:t>
            </a:r>
          </a:p>
        </p:txBody>
      </p:sp>
      <p:sp>
        <p:nvSpPr>
          <p:cNvPr id="7" name="">
            <a:extLst xmlns:a="http://schemas.openxmlformats.org/drawingml/2006/main">
              <a:ext uri="{FF2B5EF4-FFF2-40B4-BE49-F238E27FC236}">
                <a16:creationId xmlns:a16="http://schemas.microsoft.com/office/drawing/2014/main" id="{F6A76C5E-3CD4-4748-AEF7-31A1D2F83BAC}"/>
              </a:ext>
            </a:extLst>
          </p:cNvPr>
          <p:cNvSpPr>
            <a:spLocks xmlns:a="http://schemas.openxmlformats.org/drawingml/2006/main" noGrp="1"/>
          </p:cNvSpPr>
          <p:nvPr/>
        </p:nvSpPr>
        <p:spPr>
          <a:xfrm xmlns:a="http://schemas.openxmlformats.org/drawingml/2006/main">
            <a:off x="9525000" y="5162550"/>
            <a:ext cx="1790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r">
              <a:buNone/>
              <a:defRPr sz="1125" b="1">
                <a:solidFill>
                  <a:srgbClr val="667085"/>
                </a:solidFill>
                <a:latin typeface="Helvetica Neue"/>
                <a:ea typeface="Helvetica Neue"/>
                <a:cs typeface="Helvetica Neue"/>
              </a:defRPr>
            </a:pPr>
            <a:r>
              <a:rPr sz="1125" b="1">
                <a:solidFill>
                  <a:srgbClr val="667085"/>
                </a:solidFill>
                <a:latin typeface="Helvetica Neue"/>
                <a:ea typeface="Helvetica Neue"/>
                <a:cs typeface="Helvetica Neue"/>
              </a:rPr>
              <a:t>31 AUG 2026</a:t>
            </a:r>
          </a:p>
        </p:txBody>
      </p:sp>
      <p:sp>
        <p:nvSpPr>
          <p:cNvPr id="8" name="">
            <a:extLst xmlns:a="http://schemas.openxmlformats.org/drawingml/2006/main">
              <a:ext uri="{FF2B5EF4-FFF2-40B4-BE49-F238E27FC236}">
                <a16:creationId xmlns:a16="http://schemas.microsoft.com/office/drawing/2014/main" id="{E291299B-C5FE-4207-A40C-B9127CBC5E53}"/>
              </a:ext>
            </a:extLst>
          </p:cNvPr>
          <p:cNvSpPr>
            <a:spLocks xmlns:a="http://schemas.openxmlformats.org/drawingml/2006/main" noGrp="1"/>
          </p:cNvSpPr>
          <p:nvPr/>
        </p:nvSpPr>
        <p:spPr>
          <a:xfrm xmlns:a="http://schemas.openxmlformats.org/drawingml/2006/main">
            <a:off x="457200" y="617220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667085"/>
                </a:solidFill>
                <a:latin typeface="Helvetica Neue"/>
                <a:ea typeface="Helvetica Neue"/>
                <a:cs typeface="Helvetica Neue"/>
              </a:defRPr>
            </a:pPr>
            <a:r>
              <a:rPr sz="1125" b="1">
                <a:solidFill>
                  <a:srgbClr val="667085"/>
                </a:solidFill>
                <a:latin typeface="Helvetica Neue"/>
                <a:ea typeface="Helvetica Neue"/>
                <a:cs typeface="Helvetica Neue"/>
              </a:rPr>
              <a:t>AVIC</a:t>
            </a:r>
          </a:p>
        </p:txBody>
      </p:sp>
    </p:spTree>
    <p:extLst>
      <p:ext uri="{BB962C8B-B14F-4D97-AF65-F5344CB8AC3E}">
        <p14:creationId xmlns:p14="http://schemas.microsoft.com/office/powerpoint/2010/main" val="614579951"/>
      </p:ext>
    </p:extLst>
  </p:cSld>
</p:sld>
</file>

<file path=ppt/slides/slide2.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6C65EB2-113E-4627-87F2-A71ECC3D3678}"/>
              </a:ext>
            </a:extLst>
          </p:cNvPr>
          <p:cNvSpPr>
            <a:spLocks xmlns:a="http://schemas.openxmlformats.org/drawingml/2006/main" noGrp="1"/>
          </p:cNvSpPr>
          <p:nvPr/>
        </p:nvSpPr>
        <p:spPr>
          <a:xfrm xmlns:a="http://schemas.openxmlformats.org/drawingml/2006/main">
            <a:off x="457200" y="361950"/>
            <a:ext cx="1104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000" b="1">
                <a:solidFill>
                  <a:srgbClr val="101828"/>
                </a:solidFill>
                <a:latin typeface="Helvetica Neue"/>
                <a:ea typeface="Helvetica Neue"/>
                <a:cs typeface="Helvetica Neue"/>
              </a:defRPr>
            </a:pPr>
            <a:r>
              <a:rPr sz="3000" b="1">
                <a:solidFill>
                  <a:srgbClr val="101828"/>
                </a:solidFill>
                <a:latin typeface="Helvetica Neue"/>
                <a:ea typeface="Helvetica Neue"/>
                <a:cs typeface="Helvetica Neue"/>
              </a:rPr>
              <a:t>What job is AVIC replacing?</a:t>
            </a:r>
          </a:p>
        </p:txBody>
      </p:sp>
      <p:sp>
        <p:nvSpPr>
          <p:cNvPr id="2" name="">
            <a:extLst xmlns:a="http://schemas.openxmlformats.org/drawingml/2006/main">
              <a:ext uri="{FF2B5EF4-FFF2-40B4-BE49-F238E27FC236}">
                <a16:creationId xmlns:a16="http://schemas.microsoft.com/office/drawing/2014/main" id="{38E579A2-9FB9-4372-9154-19087DC39425}"/>
              </a:ext>
            </a:extLst>
          </p:cNvPr>
          <p:cNvSpPr>
            <a:spLocks xmlns:a="http://schemas.openxmlformats.org/drawingml/2006/main" noGrp="1"/>
          </p:cNvSpPr>
          <p:nvPr/>
        </p:nvSpPr>
        <p:spPr>
          <a:xfrm xmlns:a="http://schemas.openxmlformats.org/drawingml/2006/main">
            <a:off x="457200" y="6324600"/>
            <a:ext cx="108585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3" name="">
            <a:extLst xmlns:a="http://schemas.openxmlformats.org/drawingml/2006/main">
              <a:ext uri="{FF2B5EF4-FFF2-40B4-BE49-F238E27FC236}">
                <a16:creationId xmlns:a16="http://schemas.microsoft.com/office/drawing/2014/main" id="{1F77AA71-D3C2-4C98-AFAC-E5412A1AB528}"/>
              </a:ext>
            </a:extLst>
          </p:cNvPr>
          <p:cNvSpPr>
            <a:spLocks xmlns:a="http://schemas.openxmlformats.org/drawingml/2006/main" noGrp="1"/>
          </p:cNvSpPr>
          <p:nvPr/>
        </p:nvSpPr>
        <p:spPr>
          <a:xfrm xmlns:a="http://schemas.openxmlformats.org/drawingml/2006/main">
            <a:off x="10744200" y="645795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1">
                <a:solidFill>
                  <a:srgbClr val="667085"/>
                </a:solidFill>
                <a:latin typeface="Helvetica Neue"/>
                <a:ea typeface="Helvetica Neue"/>
                <a:cs typeface="Helvetica Neue"/>
              </a:defRPr>
            </a:pPr>
            <a:r>
              <a:rPr sz="975" b="1">
                <a:solidFill>
                  <a:srgbClr val="667085"/>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8DCF48F3-450F-4130-95CF-94099BB78493}"/>
              </a:ext>
            </a:extLst>
          </p:cNvPr>
          <p:cNvSpPr>
            <a:spLocks xmlns:a="http://schemas.openxmlformats.org/drawingml/2006/main" noGrp="1"/>
          </p:cNvSpPr>
          <p:nvPr/>
        </p:nvSpPr>
        <p:spPr>
          <a:xfrm xmlns:a="http://schemas.openxmlformats.org/drawingml/2006/main">
            <a:off x="457200" y="16002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933"/>
          </a:bodyPr>
          <a:lstStyle xmlns:a="http://schemas.openxmlformats.org/drawingml/2006/main"/>
          <a:p xmlns:a="http://schemas.openxmlformats.org/drawingml/2006/main">
            <a:pPr algn="l">
              <a:buNone/>
              <a:defRPr sz="2250" b="1">
                <a:solidFill>
                  <a:srgbClr val="101828"/>
                </a:solidFill>
                <a:latin typeface="Helvetica Neue"/>
                <a:ea typeface="Helvetica Neue"/>
                <a:cs typeface="Helvetica Neue"/>
              </a:defRPr>
            </a:pPr>
            <a:r>
              <a:rPr sz="1725" b="1">
                <a:solidFill>
                  <a:srgbClr val="101828"/>
                </a:solidFill>
                <a:latin typeface="Helvetica Neue"/>
                <a:ea typeface="Helvetica Neue"/>
                <a:cs typeface="Helvetica Neue"/>
              </a:rPr>
              <a:t>An AIVC principal prepares for discussions across about 50 portfolio companies and 200 pipeline companies.</a:t>
            </a:r>
          </a:p>
        </p:txBody>
      </p:sp>
      <p:sp>
        <p:nvSpPr>
          <p:cNvPr id="5" name="">
            <a:extLst xmlns:a="http://schemas.openxmlformats.org/drawingml/2006/main">
              <a:ext uri="{FF2B5EF4-FFF2-40B4-BE49-F238E27FC236}">
                <a16:creationId xmlns:a16="http://schemas.microsoft.com/office/drawing/2014/main" id="{248F95D8-6C94-47AD-A1EB-CF294B2AA4EB}"/>
              </a:ext>
            </a:extLst>
          </p:cNvPr>
          <p:cNvSpPr>
            <a:spLocks xmlns:a="http://schemas.openxmlformats.org/drawingml/2006/main" noGrp="1"/>
          </p:cNvSpPr>
          <p:nvPr/>
        </p:nvSpPr>
        <p:spPr>
          <a:xfrm xmlns:a="http://schemas.openxmlformats.org/drawingml/2006/main">
            <a:off x="457200" y="2238375"/>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889"/>
          </a:bodyPr>
          <a:lstStyle xmlns:a="http://schemas.openxmlformats.org/drawingml/2006/main"/>
          <a:p xmlns:a="http://schemas.openxmlformats.org/drawingml/2006/main">
            <a:pPr algn="l">
              <a:buNone/>
              <a:defRPr sz="1425" b="0">
                <a:solidFill>
                  <a:srgbClr val="667085"/>
                </a:solidFill>
                <a:latin typeface="Helvetica Neue"/>
                <a:ea typeface="Helvetica Neue"/>
                <a:cs typeface="Helvetica Neue"/>
              </a:defRPr>
            </a:pPr>
            <a:r>
              <a:rPr sz="1350" b="0">
                <a:solidFill>
                  <a:srgbClr val="667085"/>
                </a:solidFill>
                <a:latin typeface="Helvetica Neue"/>
                <a:ea typeface="Helvetica Neue"/>
                <a:cs typeface="Helvetica Neue"/>
              </a:rPr>
              <a:t>The facts are spread across CRM records, meeting notes, Slack, filings, and news. The AIVC principal must find the latest value, check the source, and see what is missing.</a:t>
            </a:r>
          </a:p>
        </p:txBody>
      </p:sp>
      <p:sp>
        <p:nvSpPr>
          <p:cNvPr id="6" name="">
            <a:extLst xmlns:a="http://schemas.openxmlformats.org/drawingml/2006/main">
              <a:ext uri="{FF2B5EF4-FFF2-40B4-BE49-F238E27FC236}">
                <a16:creationId xmlns:a16="http://schemas.microsoft.com/office/drawing/2014/main" id="{D90417FF-1C78-4630-A7F8-6EC28C547754}"/>
              </a:ext>
            </a:extLst>
          </p:cNvPr>
          <p:cNvSpPr>
            <a:spLocks xmlns:a="http://schemas.openxmlformats.org/drawingml/2006/main" noGrp="1"/>
          </p:cNvSpPr>
          <p:nvPr/>
        </p:nvSpPr>
        <p:spPr>
          <a:xfrm xmlns:a="http://schemas.openxmlformats.org/drawingml/2006/main">
            <a:off x="457200" y="3219450"/>
            <a:ext cx="3381375" cy="2247900"/>
          </a:xfrm>
          <a:prstGeom xmlns:a="http://schemas.openxmlformats.org/drawingml/2006/main" prst="roundRect">
            <a:avLst>
              <a:gd name="adj" fmla="val 7627"/>
            </a:avLst>
          </a:prstGeom>
          <a:solidFill xmlns:a="http://schemas.openxmlformats.org/drawingml/2006/main">
            <a:srgbClr val="FFFFFF"/>
          </a:solidFill>
          <a:ln xmlns:a="http://schemas.openxmlformats.org/drawingml/2006/main" w="9525">
            <a:solidFill>
              <a:srgbClr val="D0D5DD"/>
            </a:solidFill>
            <a:prstDash val="solid"/>
          </a:ln>
        </p:spPr>
      </p:sp>
      <p:sp>
        <p:nvSpPr>
          <p:cNvPr id="7" name="">
            <a:extLst xmlns:a="http://schemas.openxmlformats.org/drawingml/2006/main">
              <a:ext uri="{FF2B5EF4-FFF2-40B4-BE49-F238E27FC236}">
                <a16:creationId xmlns:a16="http://schemas.microsoft.com/office/drawing/2014/main" id="{F0950B1F-A28C-4568-A076-E5A6E0933D1B}"/>
              </a:ext>
            </a:extLst>
          </p:cNvPr>
          <p:cNvSpPr>
            <a:spLocks xmlns:a="http://schemas.openxmlformats.org/drawingml/2006/main" noGrp="1"/>
          </p:cNvSpPr>
          <p:nvPr/>
        </p:nvSpPr>
        <p:spPr>
          <a:xfrm xmlns:a="http://schemas.openxmlformats.org/drawingml/2006/main">
            <a:off x="457200" y="3219450"/>
            <a:ext cx="76200" cy="2247900"/>
          </a:xfrm>
          <a:prstGeom xmlns:a="http://schemas.openxmlformats.org/drawingml/2006/main" prst="rect">
            <a:avLst/>
          </a:prstGeom>
          <a:solidFill xmlns:a="http://schemas.openxmlformats.org/drawingml/2006/main">
            <a:srgbClr val="315F9F"/>
          </a:solidFill>
          <a:ln xmlns:a="http://schemas.openxmlformats.org/drawingml/2006/main" w="9525">
            <a:solidFill>
              <a:srgbClr val="315F9F"/>
            </a:solidFill>
            <a:prstDash val="solid"/>
          </a:ln>
        </p:spPr>
      </p:sp>
      <p:sp>
        <p:nvSpPr>
          <p:cNvPr id="8" name="">
            <a:extLst xmlns:a="http://schemas.openxmlformats.org/drawingml/2006/main">
              <a:ext uri="{FF2B5EF4-FFF2-40B4-BE49-F238E27FC236}">
                <a16:creationId xmlns:a16="http://schemas.microsoft.com/office/drawing/2014/main" id="{6E8B5CB9-5258-49AF-98CB-CA7024CCD3D5}"/>
              </a:ext>
            </a:extLst>
          </p:cNvPr>
          <p:cNvSpPr>
            <a:spLocks xmlns:a="http://schemas.openxmlformats.org/drawingml/2006/main" noGrp="1"/>
          </p:cNvSpPr>
          <p:nvPr/>
        </p:nvSpPr>
        <p:spPr>
          <a:xfrm xmlns:a="http://schemas.openxmlformats.org/drawingml/2006/main">
            <a:off x="742950" y="3505200"/>
            <a:ext cx="2857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274"/>
          </a:bodyPr>
          <a:lstStyle xmlns:a="http://schemas.openxmlformats.org/drawingml/2006/main"/>
          <a:p xmlns:a="http://schemas.openxmlformats.org/drawingml/2006/main">
            <a:pPr algn="l">
              <a:buNone/>
              <a:defRPr sz="5100" b="1">
                <a:solidFill>
                  <a:srgbClr val="101828"/>
                </a:solidFill>
                <a:latin typeface="Helvetica Neue"/>
                <a:ea typeface="Helvetica Neue"/>
                <a:cs typeface="Helvetica Neue"/>
              </a:defRPr>
            </a:pPr>
            <a:r>
              <a:rPr sz="5100" b="1">
                <a:solidFill>
                  <a:srgbClr val="101828"/>
                </a:solidFill>
                <a:latin typeface="Helvetica Neue"/>
                <a:ea typeface="Helvetica Neue"/>
                <a:cs typeface="Helvetica Neue"/>
              </a:rPr>
              <a:t>≈250</a:t>
            </a:r>
          </a:p>
        </p:txBody>
      </p:sp>
      <p:sp>
        <p:nvSpPr>
          <p:cNvPr id="9" name="">
            <a:extLst xmlns:a="http://schemas.openxmlformats.org/drawingml/2006/main">
              <a:ext uri="{FF2B5EF4-FFF2-40B4-BE49-F238E27FC236}">
                <a16:creationId xmlns:a16="http://schemas.microsoft.com/office/drawing/2014/main" id="{35DB3E8C-2A1E-4CB1-A446-D1C965CC3246}"/>
              </a:ext>
            </a:extLst>
          </p:cNvPr>
          <p:cNvSpPr>
            <a:spLocks xmlns:a="http://schemas.openxmlformats.org/drawingml/2006/main" noGrp="1"/>
          </p:cNvSpPr>
          <p:nvPr/>
        </p:nvSpPr>
        <p:spPr>
          <a:xfrm xmlns:a="http://schemas.openxmlformats.org/drawingml/2006/main">
            <a:off x="742950" y="44196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50" b="1">
                <a:solidFill>
                  <a:srgbClr val="344054"/>
                </a:solidFill>
                <a:latin typeface="Helvetica Neue"/>
                <a:ea typeface="Helvetica Neue"/>
                <a:cs typeface="Helvetica Neue"/>
              </a:defRPr>
            </a:pPr>
            <a:r>
              <a:rPr sz="1650" b="1">
                <a:solidFill>
                  <a:srgbClr val="344054"/>
                </a:solidFill>
                <a:latin typeface="Helvetica Neue"/>
                <a:ea typeface="Helvetica Neue"/>
                <a:cs typeface="Helvetica Neue"/>
              </a:rPr>
              <a:t>companies in scope</a:t>
            </a:r>
          </a:p>
        </p:txBody>
      </p:sp>
      <p:sp>
        <p:nvSpPr>
          <p:cNvPr id="10" name="">
            <a:extLst xmlns:a="http://schemas.openxmlformats.org/drawingml/2006/main">
              <a:ext uri="{FF2B5EF4-FFF2-40B4-BE49-F238E27FC236}">
                <a16:creationId xmlns:a16="http://schemas.microsoft.com/office/drawing/2014/main" id="{D5053B9A-8BFE-4CFB-BD23-363424E0793F}"/>
              </a:ext>
            </a:extLst>
          </p:cNvPr>
          <p:cNvSpPr>
            <a:spLocks xmlns:a="http://schemas.openxmlformats.org/drawingml/2006/main" noGrp="1"/>
          </p:cNvSpPr>
          <p:nvPr/>
        </p:nvSpPr>
        <p:spPr>
          <a:xfrm xmlns:a="http://schemas.openxmlformats.org/drawingml/2006/main">
            <a:off x="742950" y="49530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0">
                <a:solidFill>
                  <a:srgbClr val="667085"/>
                </a:solidFill>
                <a:latin typeface="Helvetica Neue"/>
                <a:ea typeface="Helvetica Neue"/>
                <a:cs typeface="Helvetica Neue"/>
              </a:defRPr>
            </a:pPr>
            <a:r>
              <a:rPr sz="1200" b="0">
                <a:solidFill>
                  <a:srgbClr val="667085"/>
                </a:solidFill>
                <a:latin typeface="Helvetica Neue"/>
                <a:ea typeface="Helvetica Neue"/>
                <a:cs typeface="Helvetica Neue"/>
              </a:rPr>
              <a:t>About 50 portfolio + 200 pipeline</a:t>
            </a:r>
          </a:p>
        </p:txBody>
      </p:sp>
      <p:sp>
        <p:nvSpPr>
          <p:cNvPr id="11" name="">
            <a:extLst xmlns:a="http://schemas.openxmlformats.org/drawingml/2006/main">
              <a:ext uri="{FF2B5EF4-FFF2-40B4-BE49-F238E27FC236}">
                <a16:creationId xmlns:a16="http://schemas.microsoft.com/office/drawing/2014/main" id="{56AC5EA8-248C-47B4-958B-AE6E911531FB}"/>
              </a:ext>
            </a:extLst>
          </p:cNvPr>
          <p:cNvSpPr>
            <a:spLocks xmlns:a="http://schemas.openxmlformats.org/drawingml/2006/main" noGrp="1"/>
          </p:cNvSpPr>
          <p:nvPr/>
        </p:nvSpPr>
        <p:spPr>
          <a:xfrm xmlns:a="http://schemas.openxmlformats.org/drawingml/2006/main">
            <a:off x="3933825" y="3219450"/>
            <a:ext cx="3381375" cy="2247900"/>
          </a:xfrm>
          <a:prstGeom xmlns:a="http://schemas.openxmlformats.org/drawingml/2006/main" prst="roundRect">
            <a:avLst>
              <a:gd name="adj" fmla="val 7627"/>
            </a:avLst>
          </a:prstGeom>
          <a:solidFill xmlns:a="http://schemas.openxmlformats.org/drawingml/2006/main">
            <a:srgbClr val="FFFFFF"/>
          </a:solidFill>
          <a:ln xmlns:a="http://schemas.openxmlformats.org/drawingml/2006/main" w="9525">
            <a:solidFill>
              <a:srgbClr val="D0D5DD"/>
            </a:solidFill>
            <a:prstDash val="solid"/>
          </a:ln>
        </p:spPr>
      </p:sp>
      <p:sp>
        <p:nvSpPr>
          <p:cNvPr id="12" name="">
            <a:extLst xmlns:a="http://schemas.openxmlformats.org/drawingml/2006/main">
              <a:ext uri="{FF2B5EF4-FFF2-40B4-BE49-F238E27FC236}">
                <a16:creationId xmlns:a16="http://schemas.microsoft.com/office/drawing/2014/main" id="{0DD683D5-383D-4FAC-92FD-68867DEDD7D7}"/>
              </a:ext>
            </a:extLst>
          </p:cNvPr>
          <p:cNvSpPr>
            <a:spLocks xmlns:a="http://schemas.openxmlformats.org/drawingml/2006/main" noGrp="1"/>
          </p:cNvSpPr>
          <p:nvPr/>
        </p:nvSpPr>
        <p:spPr>
          <a:xfrm xmlns:a="http://schemas.openxmlformats.org/drawingml/2006/main">
            <a:off x="3933825" y="3219450"/>
            <a:ext cx="76200" cy="2247900"/>
          </a:xfrm>
          <a:prstGeom xmlns:a="http://schemas.openxmlformats.org/drawingml/2006/main" prst="rect">
            <a:avLst/>
          </a:prstGeom>
          <a:solidFill xmlns:a="http://schemas.openxmlformats.org/drawingml/2006/main">
            <a:srgbClr val="5D7FB4"/>
          </a:solidFill>
          <a:ln xmlns:a="http://schemas.openxmlformats.org/drawingml/2006/main" w="9525">
            <a:solidFill>
              <a:srgbClr val="5D7FB4"/>
            </a:solidFill>
            <a:prstDash val="solid"/>
          </a:ln>
        </p:spPr>
      </p:sp>
      <p:sp>
        <p:nvSpPr>
          <p:cNvPr id="13" name="">
            <a:extLst xmlns:a="http://schemas.openxmlformats.org/drawingml/2006/main">
              <a:ext uri="{FF2B5EF4-FFF2-40B4-BE49-F238E27FC236}">
                <a16:creationId xmlns:a16="http://schemas.microsoft.com/office/drawing/2014/main" id="{2F025FB5-141F-4754-8532-8F42CEAA8B70}"/>
              </a:ext>
            </a:extLst>
          </p:cNvPr>
          <p:cNvSpPr>
            <a:spLocks xmlns:a="http://schemas.openxmlformats.org/drawingml/2006/main" noGrp="1"/>
          </p:cNvSpPr>
          <p:nvPr/>
        </p:nvSpPr>
        <p:spPr>
          <a:xfrm xmlns:a="http://schemas.openxmlformats.org/drawingml/2006/main">
            <a:off x="4219575" y="3505200"/>
            <a:ext cx="2857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274"/>
          </a:bodyPr>
          <a:lstStyle xmlns:a="http://schemas.openxmlformats.org/drawingml/2006/main"/>
          <a:p xmlns:a="http://schemas.openxmlformats.org/drawingml/2006/main">
            <a:pPr algn="l">
              <a:buNone/>
              <a:defRPr sz="5100" b="1">
                <a:solidFill>
                  <a:srgbClr val="101828"/>
                </a:solidFill>
                <a:latin typeface="Helvetica Neue"/>
                <a:ea typeface="Helvetica Neue"/>
                <a:cs typeface="Helvetica Neue"/>
              </a:defRPr>
            </a:pPr>
            <a:r>
              <a:rPr sz="5100" b="1">
                <a:solidFill>
                  <a:srgbClr val="101828"/>
                </a:solidFill>
                <a:latin typeface="Helvetica Neue"/>
                <a:ea typeface="Helvetica Neue"/>
                <a:cs typeface="Helvetica Neue"/>
              </a:rPr>
              <a:t>90 min</a:t>
            </a:r>
          </a:p>
        </p:txBody>
      </p:sp>
      <p:sp>
        <p:nvSpPr>
          <p:cNvPr id="14" name="">
            <a:extLst xmlns:a="http://schemas.openxmlformats.org/drawingml/2006/main">
              <a:ext uri="{FF2B5EF4-FFF2-40B4-BE49-F238E27FC236}">
                <a16:creationId xmlns:a16="http://schemas.microsoft.com/office/drawing/2014/main" id="{7DD042B3-963F-43BD-8B6B-A49D74611D41}"/>
              </a:ext>
            </a:extLst>
          </p:cNvPr>
          <p:cNvSpPr>
            <a:spLocks xmlns:a="http://schemas.openxmlformats.org/drawingml/2006/main" noGrp="1"/>
          </p:cNvSpPr>
          <p:nvPr/>
        </p:nvSpPr>
        <p:spPr>
          <a:xfrm xmlns:a="http://schemas.openxmlformats.org/drawingml/2006/main">
            <a:off x="4219575" y="44196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50" b="1">
                <a:solidFill>
                  <a:srgbClr val="344054"/>
                </a:solidFill>
                <a:latin typeface="Helvetica Neue"/>
                <a:ea typeface="Helvetica Neue"/>
                <a:cs typeface="Helvetica Neue"/>
              </a:defRPr>
            </a:pPr>
            <a:r>
              <a:rPr sz="1650" b="1">
                <a:solidFill>
                  <a:srgbClr val="344054"/>
                </a:solidFill>
                <a:latin typeface="Helvetica Neue"/>
                <a:ea typeface="Helvetica Neue"/>
                <a:cs typeface="Helvetica Neue"/>
              </a:rPr>
              <a:t>manual preparation</a:t>
            </a:r>
          </a:p>
        </p:txBody>
      </p:sp>
      <p:sp>
        <p:nvSpPr>
          <p:cNvPr id="15" name="">
            <a:extLst xmlns:a="http://schemas.openxmlformats.org/drawingml/2006/main">
              <a:ext uri="{FF2B5EF4-FFF2-40B4-BE49-F238E27FC236}">
                <a16:creationId xmlns:a16="http://schemas.microsoft.com/office/drawing/2014/main" id="{1353F715-1736-4DA9-A1CF-98E50CB58DCE}"/>
              </a:ext>
            </a:extLst>
          </p:cNvPr>
          <p:cNvSpPr>
            <a:spLocks xmlns:a="http://schemas.openxmlformats.org/drawingml/2006/main" noGrp="1"/>
          </p:cNvSpPr>
          <p:nvPr/>
        </p:nvSpPr>
        <p:spPr>
          <a:xfrm xmlns:a="http://schemas.openxmlformats.org/drawingml/2006/main">
            <a:off x="4219575" y="49530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22"/>
          </a:bodyPr>
          <a:lstStyle xmlns:a="http://schemas.openxmlformats.org/drawingml/2006/main"/>
          <a:p xmlns:a="http://schemas.openxmlformats.org/drawingml/2006/main">
            <a:pPr algn="l">
              <a:buNone/>
              <a:defRPr sz="1200" b="0">
                <a:solidFill>
                  <a:srgbClr val="667085"/>
                </a:solidFill>
                <a:latin typeface="Helvetica Neue"/>
                <a:ea typeface="Helvetica Neue"/>
                <a:cs typeface="Helvetica Neue"/>
              </a:defRPr>
            </a:pPr>
            <a:r>
              <a:rPr sz="1200" b="0">
                <a:solidFill>
                  <a:srgbClr val="667085"/>
                </a:solidFill>
                <a:latin typeface="Helvetica Neue"/>
                <a:ea typeface="Helvetica Neue"/>
                <a:cs typeface="Helvetica Neue"/>
              </a:rPr>
              <a:t>Scenario estimate; not a measured baseline</a:t>
            </a:r>
          </a:p>
        </p:txBody>
      </p:sp>
      <p:sp>
        <p:nvSpPr>
          <p:cNvPr id="16" name="">
            <a:extLst xmlns:a="http://schemas.openxmlformats.org/drawingml/2006/main">
              <a:ext uri="{FF2B5EF4-FFF2-40B4-BE49-F238E27FC236}">
                <a16:creationId xmlns:a16="http://schemas.microsoft.com/office/drawing/2014/main" id="{577AC155-9844-4BC8-896D-32BD07441E24}"/>
              </a:ext>
            </a:extLst>
          </p:cNvPr>
          <p:cNvSpPr>
            <a:spLocks xmlns:a="http://schemas.openxmlformats.org/drawingml/2006/main" noGrp="1"/>
          </p:cNvSpPr>
          <p:nvPr/>
        </p:nvSpPr>
        <p:spPr>
          <a:xfrm xmlns:a="http://schemas.openxmlformats.org/drawingml/2006/main">
            <a:off x="7410450" y="3219450"/>
            <a:ext cx="3381375" cy="2247900"/>
          </a:xfrm>
          <a:prstGeom xmlns:a="http://schemas.openxmlformats.org/drawingml/2006/main" prst="roundRect">
            <a:avLst>
              <a:gd name="adj" fmla="val 7627"/>
            </a:avLst>
          </a:prstGeom>
          <a:solidFill xmlns:a="http://schemas.openxmlformats.org/drawingml/2006/main">
            <a:srgbClr val="FFFFFF"/>
          </a:solidFill>
          <a:ln xmlns:a="http://schemas.openxmlformats.org/drawingml/2006/main" w="9525">
            <a:solidFill>
              <a:srgbClr val="D0D5DD"/>
            </a:solidFill>
            <a:prstDash val="solid"/>
          </a:ln>
        </p:spPr>
      </p:sp>
      <p:sp>
        <p:nvSpPr>
          <p:cNvPr id="17" name="">
            <a:extLst xmlns:a="http://schemas.openxmlformats.org/drawingml/2006/main">
              <a:ext uri="{FF2B5EF4-FFF2-40B4-BE49-F238E27FC236}">
                <a16:creationId xmlns:a16="http://schemas.microsoft.com/office/drawing/2014/main" id="{372D61F2-45C3-47D8-AC88-3F1E32DCFA11}"/>
              </a:ext>
            </a:extLst>
          </p:cNvPr>
          <p:cNvSpPr>
            <a:spLocks xmlns:a="http://schemas.openxmlformats.org/drawingml/2006/main" noGrp="1"/>
          </p:cNvSpPr>
          <p:nvPr/>
        </p:nvSpPr>
        <p:spPr>
          <a:xfrm xmlns:a="http://schemas.openxmlformats.org/drawingml/2006/main">
            <a:off x="7410450" y="3219450"/>
            <a:ext cx="76200" cy="2247900"/>
          </a:xfrm>
          <a:prstGeom xmlns:a="http://schemas.openxmlformats.org/drawingml/2006/main" prst="rect">
            <a:avLst/>
          </a:prstGeom>
          <a:solidFill xmlns:a="http://schemas.openxmlformats.org/drawingml/2006/main">
            <a:srgbClr val="9CB5D5"/>
          </a:solidFill>
          <a:ln xmlns:a="http://schemas.openxmlformats.org/drawingml/2006/main" w="9525">
            <a:solidFill>
              <a:srgbClr val="9CB5D5"/>
            </a:solidFill>
            <a:prstDash val="solid"/>
          </a:ln>
        </p:spPr>
      </p:sp>
      <p:sp>
        <p:nvSpPr>
          <p:cNvPr id="18" name="">
            <a:extLst xmlns:a="http://schemas.openxmlformats.org/drawingml/2006/main">
              <a:ext uri="{FF2B5EF4-FFF2-40B4-BE49-F238E27FC236}">
                <a16:creationId xmlns:a16="http://schemas.microsoft.com/office/drawing/2014/main" id="{C926A76D-4C90-42DF-A6F2-17737BFECFDE}"/>
              </a:ext>
            </a:extLst>
          </p:cNvPr>
          <p:cNvSpPr>
            <a:spLocks xmlns:a="http://schemas.openxmlformats.org/drawingml/2006/main" noGrp="1"/>
          </p:cNvSpPr>
          <p:nvPr/>
        </p:nvSpPr>
        <p:spPr>
          <a:xfrm xmlns:a="http://schemas.openxmlformats.org/drawingml/2006/main">
            <a:off x="7696200" y="3505200"/>
            <a:ext cx="2857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274"/>
          </a:bodyPr>
          <a:lstStyle xmlns:a="http://schemas.openxmlformats.org/drawingml/2006/main"/>
          <a:p xmlns:a="http://schemas.openxmlformats.org/drawingml/2006/main">
            <a:pPr algn="l">
              <a:buNone/>
              <a:defRPr sz="5100" b="1">
                <a:solidFill>
                  <a:srgbClr val="101828"/>
                </a:solidFill>
                <a:latin typeface="Helvetica Neue"/>
                <a:ea typeface="Helvetica Neue"/>
                <a:cs typeface="Helvetica Neue"/>
              </a:defRPr>
            </a:pPr>
            <a:r>
              <a:rPr sz="5100" b="1">
                <a:solidFill>
                  <a:srgbClr val="101828"/>
                </a:solidFill>
                <a:latin typeface="Helvetica Neue"/>
                <a:ea typeface="Helvetica Neue"/>
                <a:cs typeface="Helvetica Neue"/>
              </a:rPr>
              <a:t>≤30 sec</a:t>
            </a:r>
          </a:p>
        </p:txBody>
      </p:sp>
      <p:sp>
        <p:nvSpPr>
          <p:cNvPr id="19" name="">
            <a:extLst xmlns:a="http://schemas.openxmlformats.org/drawingml/2006/main">
              <a:ext uri="{FF2B5EF4-FFF2-40B4-BE49-F238E27FC236}">
                <a16:creationId xmlns:a16="http://schemas.microsoft.com/office/drawing/2014/main" id="{093E1318-319E-46BC-A315-D16FC24215E3}"/>
              </a:ext>
            </a:extLst>
          </p:cNvPr>
          <p:cNvSpPr>
            <a:spLocks xmlns:a="http://schemas.openxmlformats.org/drawingml/2006/main" noGrp="1"/>
          </p:cNvSpPr>
          <p:nvPr/>
        </p:nvSpPr>
        <p:spPr>
          <a:xfrm xmlns:a="http://schemas.openxmlformats.org/drawingml/2006/main">
            <a:off x="7696200" y="44196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50" b="1">
                <a:solidFill>
                  <a:srgbClr val="344054"/>
                </a:solidFill>
                <a:latin typeface="Helvetica Neue"/>
                <a:ea typeface="Helvetica Neue"/>
                <a:cs typeface="Helvetica Neue"/>
              </a:defRPr>
            </a:pPr>
            <a:r>
              <a:rPr sz="1650" b="1">
                <a:solidFill>
                  <a:srgbClr val="344054"/>
                </a:solidFill>
                <a:latin typeface="Helvetica Neue"/>
                <a:ea typeface="Helvetica Neue"/>
                <a:cs typeface="Helvetica Neue"/>
              </a:rPr>
              <a:t>brief target</a:t>
            </a:r>
          </a:p>
        </p:txBody>
      </p:sp>
      <p:sp>
        <p:nvSpPr>
          <p:cNvPr id="20" name="">
            <a:extLst xmlns:a="http://schemas.openxmlformats.org/drawingml/2006/main">
              <a:ext uri="{FF2B5EF4-FFF2-40B4-BE49-F238E27FC236}">
                <a16:creationId xmlns:a16="http://schemas.microsoft.com/office/drawing/2014/main" id="{4F8691C0-D6AA-43D5-ADB0-F23290AE504D}"/>
              </a:ext>
            </a:extLst>
          </p:cNvPr>
          <p:cNvSpPr>
            <a:spLocks xmlns:a="http://schemas.openxmlformats.org/drawingml/2006/main" noGrp="1"/>
          </p:cNvSpPr>
          <p:nvPr/>
        </p:nvSpPr>
        <p:spPr>
          <a:xfrm xmlns:a="http://schemas.openxmlformats.org/drawingml/2006/main">
            <a:off x="7696200" y="49530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167"/>
          </a:bodyPr>
          <a:lstStyle xmlns:a="http://schemas.openxmlformats.org/drawingml/2006/main"/>
          <a:p xmlns:a="http://schemas.openxmlformats.org/drawingml/2006/main">
            <a:pPr algn="l">
              <a:buNone/>
              <a:defRPr sz="1200" b="0">
                <a:solidFill>
                  <a:srgbClr val="667085"/>
                </a:solidFill>
                <a:latin typeface="Helvetica Neue"/>
                <a:ea typeface="Helvetica Neue"/>
                <a:cs typeface="Helvetica Neue"/>
              </a:defRPr>
            </a:pPr>
            <a:r>
              <a:rPr sz="1200" b="0">
                <a:solidFill>
                  <a:srgbClr val="667085"/>
                </a:solidFill>
                <a:latin typeface="Helvetica Neue"/>
                <a:ea typeface="Helvetica Neue"/>
                <a:cs typeface="Helvetica Neue"/>
              </a:rPr>
              <a:t>AVIC organizes evidence. The AIVC principal keeps the investment judgment.</a:t>
            </a:r>
          </a:p>
        </p:txBody>
      </p:sp>
    </p:spTree>
    <p:extLst>
      <p:ext uri="{BB962C8B-B14F-4D97-AF65-F5344CB8AC3E}">
        <p14:creationId xmlns:p14="http://schemas.microsoft.com/office/powerpoint/2010/main" val="1491271363"/>
      </p:ext>
    </p:extLst>
  </p:cSld>
</p:sld>
</file>

<file path=ppt/slides/slide3.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A341753-F432-4FAC-905F-6BC9A3308FE6}"/>
              </a:ext>
            </a:extLst>
          </p:cNvPr>
          <p:cNvSpPr>
            <a:spLocks xmlns:a="http://schemas.openxmlformats.org/drawingml/2006/main" noGrp="1"/>
          </p:cNvSpPr>
          <p:nvPr/>
        </p:nvSpPr>
        <p:spPr>
          <a:xfrm xmlns:a="http://schemas.openxmlformats.org/drawingml/2006/main">
            <a:off x="685800" y="361950"/>
            <a:ext cx="108204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000" b="1">
                <a:solidFill>
                  <a:srgbClr val="101828"/>
                </a:solidFill>
                <a:latin typeface="Helvetica Neue"/>
                <a:ea typeface="Helvetica Neue"/>
                <a:cs typeface="Helvetica Neue"/>
              </a:defRPr>
            </a:pPr>
            <a:r>
              <a:rPr sz="3000" b="1">
                <a:solidFill>
                  <a:srgbClr val="101828"/>
                </a:solidFill>
                <a:latin typeface="Helvetica Neue"/>
                <a:ea typeface="Helvetica Neue"/>
                <a:cs typeface="Helvetica Neue"/>
              </a:rPr>
              <a:t>What does the working prototype let an AIVC principal do?</a:t>
            </a:r>
          </a:p>
        </p:txBody>
      </p:sp>
      <p:sp>
        <p:nvSpPr>
          <p:cNvPr id="2" name="">
            <a:extLst xmlns:a="http://schemas.openxmlformats.org/drawingml/2006/main">
              <a:ext uri="{FF2B5EF4-FFF2-40B4-BE49-F238E27FC236}">
                <a16:creationId xmlns:a16="http://schemas.microsoft.com/office/drawing/2014/main" id="{15AE18DA-23DC-4F91-B843-5482207C12E5}"/>
              </a:ext>
            </a:extLst>
          </p:cNvPr>
          <p:cNvSpPr>
            <a:spLocks xmlns:a="http://schemas.openxmlformats.org/drawingml/2006/main" noGrp="1"/>
          </p:cNvSpPr>
          <p:nvPr/>
        </p:nvSpPr>
        <p:spPr>
          <a:xfrm xmlns:a="http://schemas.openxmlformats.org/drawingml/2006/main">
            <a:off x="457200" y="6324600"/>
            <a:ext cx="108585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3" name="">
            <a:extLst xmlns:a="http://schemas.openxmlformats.org/drawingml/2006/main">
              <a:ext uri="{FF2B5EF4-FFF2-40B4-BE49-F238E27FC236}">
                <a16:creationId xmlns:a16="http://schemas.microsoft.com/office/drawing/2014/main" id="{A0FA8E7A-FCA5-488D-941A-99A2108683DD}"/>
              </a:ext>
            </a:extLst>
          </p:cNvPr>
          <p:cNvSpPr>
            <a:spLocks xmlns:a="http://schemas.openxmlformats.org/drawingml/2006/main" noGrp="1"/>
          </p:cNvSpPr>
          <p:nvPr/>
        </p:nvSpPr>
        <p:spPr>
          <a:xfrm xmlns:a="http://schemas.openxmlformats.org/drawingml/2006/main">
            <a:off x="10744200" y="645795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1">
                <a:solidFill>
                  <a:srgbClr val="667085"/>
                </a:solidFill>
                <a:latin typeface="Helvetica Neue"/>
                <a:ea typeface="Helvetica Neue"/>
                <a:cs typeface="Helvetica Neue"/>
              </a:defRPr>
            </a:pPr>
            <a:r>
              <a:rPr sz="975" b="1">
                <a:solidFill>
                  <a:srgbClr val="667085"/>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EAAABDBA-8C6F-43CE-B795-FCAE72075F1A}"/>
              </a:ext>
            </a:extLst>
          </p:cNvPr>
          <p:cNvSpPr>
            <a:spLocks xmlns:a="http://schemas.openxmlformats.org/drawingml/2006/main" noGrp="1"/>
          </p:cNvSpPr>
          <p:nvPr/>
        </p:nvSpPr>
        <p:spPr>
          <a:xfrm xmlns:a="http://schemas.openxmlformats.org/drawingml/2006/main">
            <a:off x="457200" y="13335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025" b="1">
                <a:solidFill>
                  <a:srgbClr val="101828"/>
                </a:solidFill>
                <a:latin typeface="Helvetica Neue"/>
                <a:ea typeface="Helvetica Neue"/>
                <a:cs typeface="Helvetica Neue"/>
              </a:defRPr>
            </a:pPr>
            <a:r>
              <a:rPr sz="1425" b="1">
                <a:solidFill>
                  <a:srgbClr val="101828"/>
                </a:solidFill>
                <a:latin typeface="Helvetica Neue"/>
                <a:ea typeface="Helvetica Neue"/>
                <a:cs typeface="Helvetica Neue"/>
              </a:rPr>
              <a:t>The brief, evidence, original source, and feedback stay in one flow.</a:t>
            </a:r>
          </a:p>
        </p:txBody>
      </p:sp>
      <p:sp>
        <p:nvSpPr>
          <p:cNvPr id="5" name="">
            <a:extLst xmlns:a="http://schemas.openxmlformats.org/drawingml/2006/main">
              <a:ext uri="{FF2B5EF4-FFF2-40B4-BE49-F238E27FC236}">
                <a16:creationId xmlns:a16="http://schemas.microsoft.com/office/drawing/2014/main" id="{2171D578-EC77-455D-8411-25930D85BE63}"/>
              </a:ext>
            </a:extLst>
          </p:cNvPr>
          <p:cNvSpPr>
            <a:spLocks xmlns:a="http://schemas.openxmlformats.org/drawingml/2006/main" noGrp="1"/>
          </p:cNvSpPr>
          <p:nvPr/>
        </p:nvSpPr>
        <p:spPr>
          <a:xfrm xmlns:a="http://schemas.openxmlformats.org/drawingml/2006/main">
            <a:off x="8343900" y="1952625"/>
            <a:ext cx="304800" cy="304800"/>
          </a:xfrm>
          <a:prstGeom xmlns:a="http://schemas.openxmlformats.org/drawingml/2006/main" prst="roundRect">
            <a:avLst>
              <a:gd name="adj" fmla="val 50000"/>
            </a:avLst>
          </a:prstGeom>
          <a:solidFill xmlns:a="http://schemas.openxmlformats.org/drawingml/2006/main">
            <a:srgbClr val="315F9F"/>
          </a:solidFill>
          <a:ln xmlns:a="http://schemas.openxmlformats.org/drawingml/2006/main" w="9525">
            <a:solidFill>
              <a:srgbClr val="315F9F"/>
            </a:solidFill>
            <a:prstDash val="solid"/>
          </a:ln>
        </p:spPr>
      </p:sp>
      <p:sp>
        <p:nvSpPr>
          <p:cNvPr id="6" name="">
            <a:extLst xmlns:a="http://schemas.openxmlformats.org/drawingml/2006/main">
              <a:ext uri="{FF2B5EF4-FFF2-40B4-BE49-F238E27FC236}">
                <a16:creationId xmlns:a16="http://schemas.microsoft.com/office/drawing/2014/main" id="{78A12385-E2AC-4E4A-8AE9-C0083C26DB36}"/>
              </a:ext>
            </a:extLst>
          </p:cNvPr>
          <p:cNvSpPr>
            <a:spLocks xmlns:a="http://schemas.openxmlformats.org/drawingml/2006/main" noGrp="1"/>
          </p:cNvSpPr>
          <p:nvPr/>
        </p:nvSpPr>
        <p:spPr>
          <a:xfrm xmlns:a="http://schemas.openxmlformats.org/drawingml/2006/main">
            <a:off x="8439150" y="20002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
          </a:bodyPr>
          <a:lstStyle xmlns:a="http://schemas.openxmlformats.org/drawingml/2006/main"/>
          <a:p xmlns:a="http://schemas.openxmlformats.org/drawingml/2006/main">
            <a:pPr algn="ctr">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1</a:t>
            </a:r>
          </a:p>
        </p:txBody>
      </p:sp>
      <p:sp>
        <p:nvSpPr>
          <p:cNvPr id="7" name="">
            <a:extLst xmlns:a="http://schemas.openxmlformats.org/drawingml/2006/main">
              <a:ext uri="{FF2B5EF4-FFF2-40B4-BE49-F238E27FC236}">
                <a16:creationId xmlns:a16="http://schemas.microsoft.com/office/drawing/2014/main" id="{3CB9EA74-BB95-4276-B9A6-114E2E4AD345}"/>
              </a:ext>
            </a:extLst>
          </p:cNvPr>
          <p:cNvSpPr>
            <a:spLocks xmlns:a="http://schemas.openxmlformats.org/drawingml/2006/main" noGrp="1"/>
          </p:cNvSpPr>
          <p:nvPr/>
        </p:nvSpPr>
        <p:spPr>
          <a:xfrm xmlns:a="http://schemas.openxmlformats.org/drawingml/2006/main">
            <a:off x="8801100" y="19431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buNone/>
              <a:defRPr sz="1575" b="1">
                <a:solidFill>
                  <a:srgbClr val="101828"/>
                </a:solidFill>
                <a:latin typeface="Helvetica Neue"/>
                <a:ea typeface="Helvetica Neue"/>
                <a:cs typeface="Helvetica Neue"/>
              </a:defRPr>
            </a:pPr>
            <a:r>
              <a:rPr sz="1350" b="1">
                <a:solidFill>
                  <a:srgbClr val="101828"/>
                </a:solidFill>
                <a:latin typeface="Helvetica Neue"/>
                <a:ea typeface="Helvetica Neue"/>
                <a:cs typeface="Helvetica Neue"/>
              </a:rPr>
              <a:t>Select company</a:t>
            </a:r>
          </a:p>
        </p:txBody>
      </p:sp>
      <p:sp>
        <p:nvSpPr>
          <p:cNvPr id="8" name="">
            <a:extLst xmlns:a="http://schemas.openxmlformats.org/drawingml/2006/main">
              <a:ext uri="{FF2B5EF4-FFF2-40B4-BE49-F238E27FC236}">
                <a16:creationId xmlns:a16="http://schemas.microsoft.com/office/drawing/2014/main" id="{0FA5DDC6-3FD4-4355-B84F-85B98D1D52D3}"/>
              </a:ext>
            </a:extLst>
          </p:cNvPr>
          <p:cNvSpPr>
            <a:spLocks xmlns:a="http://schemas.openxmlformats.org/drawingml/2006/main" noGrp="1"/>
          </p:cNvSpPr>
          <p:nvPr/>
        </p:nvSpPr>
        <p:spPr>
          <a:xfrm xmlns:a="http://schemas.openxmlformats.org/drawingml/2006/main">
            <a:off x="8801100" y="2247900"/>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667085"/>
                </a:solidFill>
                <a:latin typeface="Helvetica Neue"/>
                <a:ea typeface="Helvetica Neue"/>
                <a:cs typeface="Helvetica Neue"/>
              </a:defRPr>
            </a:pPr>
            <a:r>
              <a:rPr sz="1125" b="0">
                <a:solidFill>
                  <a:srgbClr val="667085"/>
                </a:solidFill>
                <a:latin typeface="Helvetica Neue"/>
                <a:ea typeface="Helvetica Neue"/>
                <a:cs typeface="Helvetica Neue"/>
              </a:rPr>
              <a:t>Choose a portfolio or pipeline company.</a:t>
            </a:r>
          </a:p>
        </p:txBody>
      </p:sp>
      <p:sp>
        <p:nvSpPr>
          <p:cNvPr id="9" name="">
            <a:extLst xmlns:a="http://schemas.openxmlformats.org/drawingml/2006/main">
              <a:ext uri="{FF2B5EF4-FFF2-40B4-BE49-F238E27FC236}">
                <a16:creationId xmlns:a16="http://schemas.microsoft.com/office/drawing/2014/main" id="{838E1A84-9DC8-4EC3-BD84-249D08DD620D}"/>
              </a:ext>
            </a:extLst>
          </p:cNvPr>
          <p:cNvSpPr>
            <a:spLocks xmlns:a="http://schemas.openxmlformats.org/drawingml/2006/main" noGrp="1"/>
          </p:cNvSpPr>
          <p:nvPr/>
        </p:nvSpPr>
        <p:spPr>
          <a:xfrm xmlns:a="http://schemas.openxmlformats.org/drawingml/2006/main">
            <a:off x="8343900" y="2943225"/>
            <a:ext cx="304800" cy="304800"/>
          </a:xfrm>
          <a:prstGeom xmlns:a="http://schemas.openxmlformats.org/drawingml/2006/main" prst="roundRect">
            <a:avLst>
              <a:gd name="adj" fmla="val 50000"/>
            </a:avLst>
          </a:prstGeom>
          <a:solidFill xmlns:a="http://schemas.openxmlformats.org/drawingml/2006/main">
            <a:srgbClr val="315F9F"/>
          </a:solidFill>
          <a:ln xmlns:a="http://schemas.openxmlformats.org/drawingml/2006/main" w="9525">
            <a:solidFill>
              <a:srgbClr val="315F9F"/>
            </a:solidFill>
            <a:prstDash val="solid"/>
          </a:ln>
        </p:spPr>
      </p:sp>
      <p:sp>
        <p:nvSpPr>
          <p:cNvPr id="10" name="">
            <a:extLst xmlns:a="http://schemas.openxmlformats.org/drawingml/2006/main">
              <a:ext uri="{FF2B5EF4-FFF2-40B4-BE49-F238E27FC236}">
                <a16:creationId xmlns:a16="http://schemas.microsoft.com/office/drawing/2014/main" id="{327440BB-A5A8-41C6-9175-6A1410B7F248}"/>
              </a:ext>
            </a:extLst>
          </p:cNvPr>
          <p:cNvSpPr>
            <a:spLocks xmlns:a="http://schemas.openxmlformats.org/drawingml/2006/main" noGrp="1"/>
          </p:cNvSpPr>
          <p:nvPr/>
        </p:nvSpPr>
        <p:spPr>
          <a:xfrm xmlns:a="http://schemas.openxmlformats.org/drawingml/2006/main">
            <a:off x="8439150" y="29908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
          </a:bodyPr>
          <a:lstStyle xmlns:a="http://schemas.openxmlformats.org/drawingml/2006/main"/>
          <a:p xmlns:a="http://schemas.openxmlformats.org/drawingml/2006/main">
            <a:pPr algn="ctr">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2</a:t>
            </a:r>
          </a:p>
        </p:txBody>
      </p:sp>
      <p:sp>
        <p:nvSpPr>
          <p:cNvPr id="11" name="">
            <a:extLst xmlns:a="http://schemas.openxmlformats.org/drawingml/2006/main">
              <a:ext uri="{FF2B5EF4-FFF2-40B4-BE49-F238E27FC236}">
                <a16:creationId xmlns:a16="http://schemas.microsoft.com/office/drawing/2014/main" id="{216C0B0E-D29C-45B9-BEB5-0D7F57B23369}"/>
              </a:ext>
            </a:extLst>
          </p:cNvPr>
          <p:cNvSpPr>
            <a:spLocks xmlns:a="http://schemas.openxmlformats.org/drawingml/2006/main" noGrp="1"/>
          </p:cNvSpPr>
          <p:nvPr/>
        </p:nvSpPr>
        <p:spPr>
          <a:xfrm xmlns:a="http://schemas.openxmlformats.org/drawingml/2006/main">
            <a:off x="8801100" y="29337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buNone/>
              <a:defRPr sz="1575" b="1">
                <a:solidFill>
                  <a:srgbClr val="101828"/>
                </a:solidFill>
                <a:latin typeface="Helvetica Neue"/>
                <a:ea typeface="Helvetica Neue"/>
                <a:cs typeface="Helvetica Neue"/>
              </a:defRPr>
            </a:pPr>
            <a:r>
              <a:rPr sz="1350" b="1">
                <a:solidFill>
                  <a:srgbClr val="101828"/>
                </a:solidFill>
                <a:latin typeface="Helvetica Neue"/>
                <a:ea typeface="Helvetica Neue"/>
                <a:cs typeface="Helvetica Neue"/>
              </a:rPr>
              <a:t>Scan the brief</a:t>
            </a:r>
          </a:p>
        </p:txBody>
      </p:sp>
      <p:sp>
        <p:nvSpPr>
          <p:cNvPr id="12" name="">
            <a:extLst xmlns:a="http://schemas.openxmlformats.org/drawingml/2006/main">
              <a:ext uri="{FF2B5EF4-FFF2-40B4-BE49-F238E27FC236}">
                <a16:creationId xmlns:a16="http://schemas.microsoft.com/office/drawing/2014/main" id="{643780DA-7896-4A5A-88B2-8B9F8E3A55B5}"/>
              </a:ext>
            </a:extLst>
          </p:cNvPr>
          <p:cNvSpPr>
            <a:spLocks xmlns:a="http://schemas.openxmlformats.org/drawingml/2006/main" noGrp="1"/>
          </p:cNvSpPr>
          <p:nvPr/>
        </p:nvSpPr>
        <p:spPr>
          <a:xfrm xmlns:a="http://schemas.openxmlformats.org/drawingml/2006/main">
            <a:off x="8801100" y="3238500"/>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667085"/>
                </a:solidFill>
                <a:latin typeface="Helvetica Neue"/>
                <a:ea typeface="Helvetica Neue"/>
                <a:cs typeface="Helvetica Neue"/>
              </a:defRPr>
            </a:pPr>
            <a:r>
              <a:rPr sz="1125" b="0">
                <a:solidFill>
                  <a:srgbClr val="667085"/>
                </a:solidFill>
                <a:latin typeface="Helvetica Neue"/>
                <a:ea typeface="Helvetica Neue"/>
                <a:cs typeface="Helvetica Neue"/>
              </a:rPr>
              <a:t>Read Key facts, Risks, and Questions.</a:t>
            </a:r>
          </a:p>
        </p:txBody>
      </p:sp>
      <p:sp>
        <p:nvSpPr>
          <p:cNvPr id="13" name="">
            <a:extLst xmlns:a="http://schemas.openxmlformats.org/drawingml/2006/main">
              <a:ext uri="{FF2B5EF4-FFF2-40B4-BE49-F238E27FC236}">
                <a16:creationId xmlns:a16="http://schemas.microsoft.com/office/drawing/2014/main" id="{2C00D830-C080-4CD6-BFA1-2EE115C727AF}"/>
              </a:ext>
            </a:extLst>
          </p:cNvPr>
          <p:cNvSpPr>
            <a:spLocks xmlns:a="http://schemas.openxmlformats.org/drawingml/2006/main" noGrp="1"/>
          </p:cNvSpPr>
          <p:nvPr/>
        </p:nvSpPr>
        <p:spPr>
          <a:xfrm xmlns:a="http://schemas.openxmlformats.org/drawingml/2006/main">
            <a:off x="8343900" y="3933825"/>
            <a:ext cx="304800" cy="304800"/>
          </a:xfrm>
          <a:prstGeom xmlns:a="http://schemas.openxmlformats.org/drawingml/2006/main" prst="roundRect">
            <a:avLst>
              <a:gd name="adj" fmla="val 50000"/>
            </a:avLst>
          </a:prstGeom>
          <a:solidFill xmlns:a="http://schemas.openxmlformats.org/drawingml/2006/main">
            <a:srgbClr val="315F9F"/>
          </a:solidFill>
          <a:ln xmlns:a="http://schemas.openxmlformats.org/drawingml/2006/main" w="9525">
            <a:solidFill>
              <a:srgbClr val="315F9F"/>
            </a:solidFill>
            <a:prstDash val="solid"/>
          </a:ln>
        </p:spPr>
      </p:sp>
      <p:sp>
        <p:nvSpPr>
          <p:cNvPr id="14" name="">
            <a:extLst xmlns:a="http://schemas.openxmlformats.org/drawingml/2006/main">
              <a:ext uri="{FF2B5EF4-FFF2-40B4-BE49-F238E27FC236}">
                <a16:creationId xmlns:a16="http://schemas.microsoft.com/office/drawing/2014/main" id="{C3C4062D-56DE-44CE-8D5D-310725AFF33F}"/>
              </a:ext>
            </a:extLst>
          </p:cNvPr>
          <p:cNvSpPr>
            <a:spLocks xmlns:a="http://schemas.openxmlformats.org/drawingml/2006/main" noGrp="1"/>
          </p:cNvSpPr>
          <p:nvPr/>
        </p:nvSpPr>
        <p:spPr>
          <a:xfrm xmlns:a="http://schemas.openxmlformats.org/drawingml/2006/main">
            <a:off x="8439150" y="39814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
          </a:bodyPr>
          <a:lstStyle xmlns:a="http://schemas.openxmlformats.org/drawingml/2006/main"/>
          <a:p xmlns:a="http://schemas.openxmlformats.org/drawingml/2006/main">
            <a:pPr algn="ctr">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3</a:t>
            </a:r>
          </a:p>
        </p:txBody>
      </p:sp>
      <p:sp>
        <p:nvSpPr>
          <p:cNvPr id="15" name="">
            <a:extLst xmlns:a="http://schemas.openxmlformats.org/drawingml/2006/main">
              <a:ext uri="{FF2B5EF4-FFF2-40B4-BE49-F238E27FC236}">
                <a16:creationId xmlns:a16="http://schemas.microsoft.com/office/drawing/2014/main" id="{6AF726DA-1060-40F1-96BE-56094C583E78}"/>
              </a:ext>
            </a:extLst>
          </p:cNvPr>
          <p:cNvSpPr>
            <a:spLocks xmlns:a="http://schemas.openxmlformats.org/drawingml/2006/main" noGrp="1"/>
          </p:cNvSpPr>
          <p:nvPr/>
        </p:nvSpPr>
        <p:spPr>
          <a:xfrm xmlns:a="http://schemas.openxmlformats.org/drawingml/2006/main">
            <a:off x="8801100" y="39243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buNone/>
              <a:defRPr sz="1575" b="1">
                <a:solidFill>
                  <a:srgbClr val="101828"/>
                </a:solidFill>
                <a:latin typeface="Helvetica Neue"/>
                <a:ea typeface="Helvetica Neue"/>
                <a:cs typeface="Helvetica Neue"/>
              </a:defRPr>
            </a:pPr>
            <a:r>
              <a:rPr sz="1350" b="1">
                <a:solidFill>
                  <a:srgbClr val="101828"/>
                </a:solidFill>
                <a:latin typeface="Helvetica Neue"/>
                <a:ea typeface="Helvetica Neue"/>
                <a:cs typeface="Helvetica Neue"/>
              </a:rPr>
              <a:t>Open the source</a:t>
            </a:r>
          </a:p>
        </p:txBody>
      </p:sp>
      <p:sp>
        <p:nvSpPr>
          <p:cNvPr id="16" name="">
            <a:extLst xmlns:a="http://schemas.openxmlformats.org/drawingml/2006/main">
              <a:ext uri="{FF2B5EF4-FFF2-40B4-BE49-F238E27FC236}">
                <a16:creationId xmlns:a16="http://schemas.microsoft.com/office/drawing/2014/main" id="{BEDA7F37-E813-48A3-97AB-7EDCB2354C48}"/>
              </a:ext>
            </a:extLst>
          </p:cNvPr>
          <p:cNvSpPr>
            <a:spLocks xmlns:a="http://schemas.openxmlformats.org/drawingml/2006/main" noGrp="1"/>
          </p:cNvSpPr>
          <p:nvPr/>
        </p:nvSpPr>
        <p:spPr>
          <a:xfrm xmlns:a="http://schemas.openxmlformats.org/drawingml/2006/main">
            <a:off x="8801100" y="4229100"/>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667085"/>
                </a:solidFill>
                <a:latin typeface="Helvetica Neue"/>
                <a:ea typeface="Helvetica Neue"/>
                <a:cs typeface="Helvetica Neue"/>
              </a:defRPr>
            </a:pPr>
            <a:r>
              <a:rPr sz="1125" b="0">
                <a:solidFill>
                  <a:srgbClr val="667085"/>
                </a:solidFill>
                <a:latin typeface="Helvetica Neue"/>
                <a:ea typeface="Helvetica Neue"/>
                <a:cs typeface="Helvetica Neue"/>
              </a:rPr>
              <a:t>See values, dates, evidence, and the original record.</a:t>
            </a:r>
          </a:p>
        </p:txBody>
      </p:sp>
      <p:sp>
        <p:nvSpPr>
          <p:cNvPr id="17" name="">
            <a:extLst xmlns:a="http://schemas.openxmlformats.org/drawingml/2006/main">
              <a:ext uri="{FF2B5EF4-FFF2-40B4-BE49-F238E27FC236}">
                <a16:creationId xmlns:a16="http://schemas.microsoft.com/office/drawing/2014/main" id="{622ECADF-5901-445D-82B7-8174C71493DA}"/>
              </a:ext>
            </a:extLst>
          </p:cNvPr>
          <p:cNvSpPr>
            <a:spLocks xmlns:a="http://schemas.openxmlformats.org/drawingml/2006/main" noGrp="1"/>
          </p:cNvSpPr>
          <p:nvPr/>
        </p:nvSpPr>
        <p:spPr>
          <a:xfrm xmlns:a="http://schemas.openxmlformats.org/drawingml/2006/main">
            <a:off x="8343900" y="4924425"/>
            <a:ext cx="304800" cy="304800"/>
          </a:xfrm>
          <a:prstGeom xmlns:a="http://schemas.openxmlformats.org/drawingml/2006/main" prst="roundRect">
            <a:avLst>
              <a:gd name="adj" fmla="val 50000"/>
            </a:avLst>
          </a:prstGeom>
          <a:solidFill xmlns:a="http://schemas.openxmlformats.org/drawingml/2006/main">
            <a:srgbClr val="315F9F"/>
          </a:solidFill>
          <a:ln xmlns:a="http://schemas.openxmlformats.org/drawingml/2006/main" w="9525">
            <a:solidFill>
              <a:srgbClr val="315F9F"/>
            </a:solidFill>
            <a:prstDash val="solid"/>
          </a:ln>
        </p:spPr>
      </p:sp>
      <p:sp>
        <p:nvSpPr>
          <p:cNvPr id="18" name="">
            <a:extLst xmlns:a="http://schemas.openxmlformats.org/drawingml/2006/main">
              <a:ext uri="{FF2B5EF4-FFF2-40B4-BE49-F238E27FC236}">
                <a16:creationId xmlns:a16="http://schemas.microsoft.com/office/drawing/2014/main" id="{EDC54E17-A905-4324-9C22-3D025DBF0A4C}"/>
              </a:ext>
            </a:extLst>
          </p:cNvPr>
          <p:cNvSpPr>
            <a:spLocks xmlns:a="http://schemas.openxmlformats.org/drawingml/2006/main" noGrp="1"/>
          </p:cNvSpPr>
          <p:nvPr/>
        </p:nvSpPr>
        <p:spPr>
          <a:xfrm xmlns:a="http://schemas.openxmlformats.org/drawingml/2006/main">
            <a:off x="8439150" y="4972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
          </a:bodyPr>
          <a:lstStyle xmlns:a="http://schemas.openxmlformats.org/drawingml/2006/main"/>
          <a:p xmlns:a="http://schemas.openxmlformats.org/drawingml/2006/main">
            <a:pPr algn="ctr">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4</a:t>
            </a:r>
          </a:p>
        </p:txBody>
      </p:sp>
      <p:sp>
        <p:nvSpPr>
          <p:cNvPr id="19" name="">
            <a:extLst xmlns:a="http://schemas.openxmlformats.org/drawingml/2006/main">
              <a:ext uri="{FF2B5EF4-FFF2-40B4-BE49-F238E27FC236}">
                <a16:creationId xmlns:a16="http://schemas.microsoft.com/office/drawing/2014/main" id="{F2AEF4C6-311E-45C9-8B5A-A1303E1BDF24}"/>
              </a:ext>
            </a:extLst>
          </p:cNvPr>
          <p:cNvSpPr>
            <a:spLocks xmlns:a="http://schemas.openxmlformats.org/drawingml/2006/main" noGrp="1"/>
          </p:cNvSpPr>
          <p:nvPr/>
        </p:nvSpPr>
        <p:spPr>
          <a:xfrm xmlns:a="http://schemas.openxmlformats.org/drawingml/2006/main">
            <a:off x="8801100" y="4914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buNone/>
              <a:defRPr sz="1575" b="1">
                <a:solidFill>
                  <a:srgbClr val="101828"/>
                </a:solidFill>
                <a:latin typeface="Helvetica Neue"/>
                <a:ea typeface="Helvetica Neue"/>
                <a:cs typeface="Helvetica Neue"/>
              </a:defRPr>
            </a:pPr>
            <a:r>
              <a:rPr sz="1350" b="1">
                <a:solidFill>
                  <a:srgbClr val="101828"/>
                </a:solidFill>
                <a:latin typeface="Helvetica Neue"/>
                <a:ea typeface="Helvetica Neue"/>
                <a:cs typeface="Helvetica Neue"/>
              </a:rPr>
              <a:t>Send feedback</a:t>
            </a:r>
          </a:p>
        </p:txBody>
      </p:sp>
      <p:sp>
        <p:nvSpPr>
          <p:cNvPr id="20" name="">
            <a:extLst xmlns:a="http://schemas.openxmlformats.org/drawingml/2006/main">
              <a:ext uri="{FF2B5EF4-FFF2-40B4-BE49-F238E27FC236}">
                <a16:creationId xmlns:a16="http://schemas.microsoft.com/office/drawing/2014/main" id="{BB988DCF-B844-4248-82AC-B84604456540}"/>
              </a:ext>
            </a:extLst>
          </p:cNvPr>
          <p:cNvSpPr>
            <a:spLocks xmlns:a="http://schemas.openxmlformats.org/drawingml/2006/main" noGrp="1"/>
          </p:cNvSpPr>
          <p:nvPr/>
        </p:nvSpPr>
        <p:spPr>
          <a:xfrm xmlns:a="http://schemas.openxmlformats.org/drawingml/2006/main">
            <a:off x="8801100" y="5219700"/>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667085"/>
                </a:solidFill>
                <a:latin typeface="Helvetica Neue"/>
                <a:ea typeface="Helvetica Neue"/>
                <a:cs typeface="Helvetica Neue"/>
              </a:defRPr>
            </a:pPr>
            <a:r>
              <a:rPr sz="1125" b="0">
                <a:solidFill>
                  <a:srgbClr val="667085"/>
                </a:solidFill>
                <a:latin typeface="Helvetica Neue"/>
                <a:ea typeface="Helvetica Neue"/>
                <a:cs typeface="Helvetica Neue"/>
              </a:rPr>
              <a:t>Mark content Good, Bad, or Wrong.</a:t>
            </a:r>
          </a:p>
        </p:txBody>
      </p:sp>
      <p:sp>
        <p:nvSpPr>
          <p:cNvPr id="21" name="">
            <a:extLst xmlns:a="http://schemas.openxmlformats.org/drawingml/2006/main">
              <a:ext uri="{FF2B5EF4-FFF2-40B4-BE49-F238E27FC236}">
                <a16:creationId xmlns:a16="http://schemas.microsoft.com/office/drawing/2014/main" id="{CEFBF0D0-9C7B-40B0-B1DE-EEED270A69AF}"/>
              </a:ext>
            </a:extLst>
          </p:cNvPr>
          <p:cNvSpPr>
            <a:spLocks xmlns:a="http://schemas.openxmlformats.org/drawingml/2006/main" noGrp="1"/>
          </p:cNvSpPr>
          <p:nvPr/>
        </p:nvSpPr>
        <p:spPr>
          <a:xfrm xmlns:a="http://schemas.openxmlformats.org/drawingml/2006/main">
            <a:off x="457200" y="1809750"/>
            <a:ext cx="7620000" cy="4286250"/>
          </a:xfrm>
          <a:prstGeom xmlns:a="http://schemas.openxmlformats.org/drawingml/2006/main" prst="roundRect">
            <a:avLst>
              <a:gd name="adj" fmla="val 4167"/>
            </a:avLst>
          </a:prstGeom>
          <a:solidFill xmlns:a="http://schemas.openxmlformats.org/drawingml/2006/main">
            <a:srgbClr val="000000">
              <a:alpha val="0"/>
            </a:srgbClr>
          </a:solidFill>
          <a:ln xmlns:a="http://schemas.openxmlformats.org/drawingml/2006/main" w="9525">
            <a:solidFill>
              <a:srgbClr val="D0D5DD"/>
            </a:solidFill>
            <a:prstDash val="solid"/>
          </a:ln>
        </p:spPr>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2ebf4d9526ec427f"/>
          <a:stretch xmlns:a="http://schemas.openxmlformats.org/drawingml/2006/main"/>
        </p:blipFill>
        <p:spPr>
          <a:xfrm xmlns:a="http://schemas.openxmlformats.org/drawingml/2006/main">
            <a:off x="595993" y="1924050"/>
            <a:ext cx="7342414" cy="4057650"/>
          </a:xfrm>
          <a:prstGeom xmlns:a="http://schemas.openxmlformats.org/drawingml/2006/main" prst="roundRect">
            <a:avLst>
              <a:gd name="adj" fmla="val 2817"/>
            </a:avLst>
          </a:prstGeom>
        </p:spPr>
      </p:pic>
    </p:spTree>
    <p:extLst>
      <p:ext uri="{BB962C8B-B14F-4D97-AF65-F5344CB8AC3E}">
        <p14:creationId xmlns:p14="http://schemas.microsoft.com/office/powerpoint/2010/main" val="1674415678"/>
      </p:ext>
    </p:extLst>
  </p:cSld>
</p:sld>
</file>

<file path=ppt/slides/slide4.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34E38232-A601-4B33-99ED-19B54747F4BA}"/>
              </a:ext>
            </a:extLst>
          </p:cNvPr>
          <p:cNvSpPr>
            <a:spLocks xmlns:a="http://schemas.openxmlformats.org/drawingml/2006/main" noGrp="1"/>
          </p:cNvSpPr>
          <p:nvPr/>
        </p:nvSpPr>
        <p:spPr>
          <a:xfrm xmlns:a="http://schemas.openxmlformats.org/drawingml/2006/main">
            <a:off x="457200" y="361950"/>
            <a:ext cx="1104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000" b="1">
                <a:solidFill>
                  <a:srgbClr val="101828"/>
                </a:solidFill>
                <a:latin typeface="Helvetica Neue"/>
                <a:ea typeface="Helvetica Neue"/>
                <a:cs typeface="Helvetica Neue"/>
              </a:defRPr>
            </a:pPr>
            <a:r>
              <a:rPr sz="2700" b="1">
                <a:solidFill>
                  <a:srgbClr val="101828"/>
                </a:solidFill>
                <a:latin typeface="Helvetica Neue"/>
                <a:ea typeface="Helvetica Neue"/>
                <a:cs typeface="Helvetica Neue"/>
              </a:rPr>
              <a:t>What is the working prototype?</a:t>
            </a:r>
          </a:p>
        </p:txBody>
      </p:sp>
      <p:sp>
        <p:nvSpPr>
          <p:cNvPr id="2" name="">
            <a:extLst xmlns:a="http://schemas.openxmlformats.org/drawingml/2006/main">
              <a:ext uri="{FF2B5EF4-FFF2-40B4-BE49-F238E27FC236}">
                <a16:creationId xmlns:a16="http://schemas.microsoft.com/office/drawing/2014/main" id="{9CF82D18-9423-4C8C-AF4D-EA6D1329C100}"/>
              </a:ext>
            </a:extLst>
          </p:cNvPr>
          <p:cNvSpPr>
            <a:spLocks xmlns:a="http://schemas.openxmlformats.org/drawingml/2006/main" noGrp="1"/>
          </p:cNvSpPr>
          <p:nvPr/>
        </p:nvSpPr>
        <p:spPr>
          <a:xfrm xmlns:a="http://schemas.openxmlformats.org/drawingml/2006/main">
            <a:off x="457200" y="6324600"/>
            <a:ext cx="108585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3" name="">
            <a:extLst xmlns:a="http://schemas.openxmlformats.org/drawingml/2006/main">
              <a:ext uri="{FF2B5EF4-FFF2-40B4-BE49-F238E27FC236}">
                <a16:creationId xmlns:a16="http://schemas.microsoft.com/office/drawing/2014/main" id="{5357D0EB-B896-497B-BED0-F0C1C550C97F}"/>
              </a:ext>
            </a:extLst>
          </p:cNvPr>
          <p:cNvSpPr>
            <a:spLocks xmlns:a="http://schemas.openxmlformats.org/drawingml/2006/main" noGrp="1"/>
          </p:cNvSpPr>
          <p:nvPr/>
        </p:nvSpPr>
        <p:spPr>
          <a:xfrm xmlns:a="http://schemas.openxmlformats.org/drawingml/2006/main">
            <a:off x="10744200" y="645795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1">
                <a:solidFill>
                  <a:srgbClr val="667085"/>
                </a:solidFill>
                <a:latin typeface="Helvetica Neue"/>
                <a:ea typeface="Helvetica Neue"/>
                <a:cs typeface="Helvetica Neue"/>
              </a:defRPr>
            </a:pPr>
            <a:r>
              <a:rPr sz="975" b="1">
                <a:solidFill>
                  <a:srgbClr val="667085"/>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87DAD644-55F4-4DAD-96B3-DC6C170A1372}"/>
              </a:ext>
            </a:extLst>
          </p:cNvPr>
          <p:cNvSpPr>
            <a:spLocks xmlns:a="http://schemas.openxmlformats.org/drawingml/2006/main" noGrp="1"/>
          </p:cNvSpPr>
          <p:nvPr/>
        </p:nvSpPr>
        <p:spPr>
          <a:xfrm xmlns:a="http://schemas.openxmlformats.org/drawingml/2006/main">
            <a:off x="457200" y="1600200"/>
            <a:ext cx="2571750" cy="171450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9525">
            <a:solidFill>
              <a:srgbClr val="D0D5DD"/>
            </a:solidFill>
            <a:prstDash val="solid"/>
          </a:ln>
        </p:spPr>
      </p:sp>
      <p:sp>
        <p:nvSpPr>
          <p:cNvPr id="5" name="">
            <a:extLst xmlns:a="http://schemas.openxmlformats.org/drawingml/2006/main">
              <a:ext uri="{FF2B5EF4-FFF2-40B4-BE49-F238E27FC236}">
                <a16:creationId xmlns:a16="http://schemas.microsoft.com/office/drawing/2014/main" id="{314023AE-B558-4188-A8C4-2414A5FEB0DC}"/>
              </a:ext>
            </a:extLst>
          </p:cNvPr>
          <p:cNvSpPr>
            <a:spLocks xmlns:a="http://schemas.openxmlformats.org/drawingml/2006/main" noGrp="1"/>
          </p:cNvSpPr>
          <p:nvPr/>
        </p:nvSpPr>
        <p:spPr>
          <a:xfrm xmlns:a="http://schemas.openxmlformats.org/drawingml/2006/main">
            <a:off x="685800" y="1828800"/>
            <a:ext cx="211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500"/>
          </a:bodyPr>
          <a:lstStyle xmlns:a="http://schemas.openxmlformats.org/drawingml/2006/main"/>
          <a:p xmlns:a="http://schemas.openxmlformats.org/drawingml/2006/main">
            <a:pPr algn="l">
              <a:buNone/>
              <a:defRPr sz="3600" b="1">
                <a:solidFill>
                  <a:srgbClr val="101828"/>
                </a:solidFill>
                <a:latin typeface="Helvetica Neue"/>
                <a:ea typeface="Helvetica Neue"/>
                <a:cs typeface="Helvetica Neue"/>
              </a:defRPr>
            </a:pPr>
            <a:r>
              <a:rPr sz="3600" b="1">
                <a:solidFill>
                  <a:srgbClr val="101828"/>
                </a:solidFill>
                <a:latin typeface="Helvetica Neue"/>
                <a:ea typeface="Helvetica Neue"/>
                <a:cs typeface="Helvetica Neue"/>
              </a:rPr>
              <a:t>10</a:t>
            </a:r>
          </a:p>
        </p:txBody>
      </p:sp>
      <p:sp>
        <p:nvSpPr>
          <p:cNvPr id="6" name="">
            <a:extLst xmlns:a="http://schemas.openxmlformats.org/drawingml/2006/main">
              <a:ext uri="{FF2B5EF4-FFF2-40B4-BE49-F238E27FC236}">
                <a16:creationId xmlns:a16="http://schemas.microsoft.com/office/drawing/2014/main" id="{FE1771CD-5CDF-4F6B-8D87-192966526F68}"/>
              </a:ext>
            </a:extLst>
          </p:cNvPr>
          <p:cNvSpPr>
            <a:spLocks xmlns:a="http://schemas.openxmlformats.org/drawingml/2006/main" noGrp="1"/>
          </p:cNvSpPr>
          <p:nvPr/>
        </p:nvSpPr>
        <p:spPr>
          <a:xfrm xmlns:a="http://schemas.openxmlformats.org/drawingml/2006/main">
            <a:off x="685800" y="2495550"/>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1">
                <a:solidFill>
                  <a:srgbClr val="344054"/>
                </a:solidFill>
                <a:latin typeface="Helvetica Neue"/>
                <a:ea typeface="Helvetica Neue"/>
                <a:cs typeface="Helvetica Neue"/>
              </a:defRPr>
            </a:pPr>
            <a:r>
              <a:rPr sz="1425" b="1">
                <a:solidFill>
                  <a:srgbClr val="344054"/>
                </a:solidFill>
                <a:latin typeface="Helvetica Neue"/>
                <a:ea typeface="Helvetica Neue"/>
                <a:cs typeface="Helvetica Neue"/>
              </a:rPr>
              <a:t>fictional companies</a:t>
            </a:r>
          </a:p>
        </p:txBody>
      </p:sp>
      <p:sp>
        <p:nvSpPr>
          <p:cNvPr id="7" name="">
            <a:extLst xmlns:a="http://schemas.openxmlformats.org/drawingml/2006/main">
              <a:ext uri="{FF2B5EF4-FFF2-40B4-BE49-F238E27FC236}">
                <a16:creationId xmlns:a16="http://schemas.microsoft.com/office/drawing/2014/main" id="{37B25352-7D58-4731-93B8-9020F1ABEFF7}"/>
              </a:ext>
            </a:extLst>
          </p:cNvPr>
          <p:cNvSpPr>
            <a:spLocks xmlns:a="http://schemas.openxmlformats.org/drawingml/2006/main" noGrp="1"/>
          </p:cNvSpPr>
          <p:nvPr/>
        </p:nvSpPr>
        <p:spPr>
          <a:xfrm xmlns:a="http://schemas.openxmlformats.org/drawingml/2006/main">
            <a:off x="685800" y="2876550"/>
            <a:ext cx="2114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0">
                <a:solidFill>
                  <a:srgbClr val="667085"/>
                </a:solidFill>
                <a:latin typeface="Helvetica Neue"/>
                <a:ea typeface="Helvetica Neue"/>
                <a:cs typeface="Helvetica Neue"/>
              </a:defRPr>
            </a:pPr>
            <a:r>
              <a:rPr sz="1125" b="0">
                <a:solidFill>
                  <a:srgbClr val="667085"/>
                </a:solidFill>
                <a:latin typeface="Helvetica Neue"/>
                <a:ea typeface="Helvetica Neue"/>
                <a:cs typeface="Helvetica Neue"/>
              </a:rPr>
              <a:t>2 portfolio and 8 pipeline</a:t>
            </a:r>
          </a:p>
        </p:txBody>
      </p:sp>
      <p:sp>
        <p:nvSpPr>
          <p:cNvPr id="8" name="">
            <a:extLst xmlns:a="http://schemas.openxmlformats.org/drawingml/2006/main">
              <a:ext uri="{FF2B5EF4-FFF2-40B4-BE49-F238E27FC236}">
                <a16:creationId xmlns:a16="http://schemas.microsoft.com/office/drawing/2014/main" id="{82E99601-794F-4030-A1A7-8FC7D141F1C2}"/>
              </a:ext>
            </a:extLst>
          </p:cNvPr>
          <p:cNvSpPr>
            <a:spLocks xmlns:a="http://schemas.openxmlformats.org/drawingml/2006/main" noGrp="1"/>
          </p:cNvSpPr>
          <p:nvPr/>
        </p:nvSpPr>
        <p:spPr>
          <a:xfrm xmlns:a="http://schemas.openxmlformats.org/drawingml/2006/main">
            <a:off x="3219450" y="1600200"/>
            <a:ext cx="2571750" cy="171450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9525">
            <a:solidFill>
              <a:srgbClr val="D0D5DD"/>
            </a:solidFill>
            <a:prstDash val="solid"/>
          </a:ln>
        </p:spPr>
      </p:sp>
      <p:sp>
        <p:nvSpPr>
          <p:cNvPr id="9" name="">
            <a:extLst xmlns:a="http://schemas.openxmlformats.org/drawingml/2006/main">
              <a:ext uri="{FF2B5EF4-FFF2-40B4-BE49-F238E27FC236}">
                <a16:creationId xmlns:a16="http://schemas.microsoft.com/office/drawing/2014/main" id="{BD8EEEBF-ED4F-4DB0-B74E-485AC67C2648}"/>
              </a:ext>
            </a:extLst>
          </p:cNvPr>
          <p:cNvSpPr>
            <a:spLocks xmlns:a="http://schemas.openxmlformats.org/drawingml/2006/main" noGrp="1"/>
          </p:cNvSpPr>
          <p:nvPr/>
        </p:nvSpPr>
        <p:spPr>
          <a:xfrm xmlns:a="http://schemas.openxmlformats.org/drawingml/2006/main">
            <a:off x="3448050" y="1828800"/>
            <a:ext cx="211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500"/>
          </a:bodyPr>
          <a:lstStyle xmlns:a="http://schemas.openxmlformats.org/drawingml/2006/main"/>
          <a:p xmlns:a="http://schemas.openxmlformats.org/drawingml/2006/main">
            <a:pPr algn="l">
              <a:buNone/>
              <a:defRPr sz="3600" b="1">
                <a:solidFill>
                  <a:srgbClr val="101828"/>
                </a:solidFill>
                <a:latin typeface="Helvetica Neue"/>
                <a:ea typeface="Helvetica Neue"/>
                <a:cs typeface="Helvetica Neue"/>
              </a:defRPr>
            </a:pPr>
            <a:r>
              <a:rPr sz="3600" b="1">
                <a:solidFill>
                  <a:srgbClr val="101828"/>
                </a:solidFill>
                <a:latin typeface="Helvetica Neue"/>
                <a:ea typeface="Helvetica Neue"/>
                <a:cs typeface="Helvetica Neue"/>
              </a:rPr>
              <a:t>59</a:t>
            </a:r>
          </a:p>
        </p:txBody>
      </p:sp>
      <p:sp>
        <p:nvSpPr>
          <p:cNvPr id="10" name="">
            <a:extLst xmlns:a="http://schemas.openxmlformats.org/drawingml/2006/main">
              <a:ext uri="{FF2B5EF4-FFF2-40B4-BE49-F238E27FC236}">
                <a16:creationId xmlns:a16="http://schemas.microsoft.com/office/drawing/2014/main" id="{5F07C502-96F0-4528-9AA9-9508C99E1D73}"/>
              </a:ext>
            </a:extLst>
          </p:cNvPr>
          <p:cNvSpPr>
            <a:spLocks xmlns:a="http://schemas.openxmlformats.org/drawingml/2006/main" noGrp="1"/>
          </p:cNvSpPr>
          <p:nvPr/>
        </p:nvSpPr>
        <p:spPr>
          <a:xfrm xmlns:a="http://schemas.openxmlformats.org/drawingml/2006/main">
            <a:off x="3448050" y="2495550"/>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1">
                <a:solidFill>
                  <a:srgbClr val="344054"/>
                </a:solidFill>
                <a:latin typeface="Helvetica Neue"/>
                <a:ea typeface="Helvetica Neue"/>
                <a:cs typeface="Helvetica Neue"/>
              </a:defRPr>
            </a:pPr>
            <a:r>
              <a:rPr sz="1425" b="1">
                <a:solidFill>
                  <a:srgbClr val="344054"/>
                </a:solidFill>
                <a:latin typeface="Helvetica Neue"/>
                <a:ea typeface="Helvetica Neue"/>
                <a:cs typeface="Helvetica Neue"/>
              </a:rPr>
              <a:t>source records</a:t>
            </a:r>
          </a:p>
        </p:txBody>
      </p:sp>
      <p:sp>
        <p:nvSpPr>
          <p:cNvPr id="11" name="">
            <a:extLst xmlns:a="http://schemas.openxmlformats.org/drawingml/2006/main">
              <a:ext uri="{FF2B5EF4-FFF2-40B4-BE49-F238E27FC236}">
                <a16:creationId xmlns:a16="http://schemas.microsoft.com/office/drawing/2014/main" id="{D1DC854F-FB4F-485B-A83F-10B17B86FA5B}"/>
              </a:ext>
            </a:extLst>
          </p:cNvPr>
          <p:cNvSpPr>
            <a:spLocks xmlns:a="http://schemas.openxmlformats.org/drawingml/2006/main" noGrp="1"/>
          </p:cNvSpPr>
          <p:nvPr/>
        </p:nvSpPr>
        <p:spPr>
          <a:xfrm xmlns:a="http://schemas.openxmlformats.org/drawingml/2006/main">
            <a:off x="3448050" y="2876550"/>
            <a:ext cx="2114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170"/>
          </a:bodyPr>
          <a:lstStyle xmlns:a="http://schemas.openxmlformats.org/drawingml/2006/main"/>
          <a:p xmlns:a="http://schemas.openxmlformats.org/drawingml/2006/main">
            <a:pPr algn="l">
              <a:buNone/>
              <a:defRPr sz="1125" b="0">
                <a:solidFill>
                  <a:srgbClr val="667085"/>
                </a:solidFill>
                <a:latin typeface="Helvetica Neue"/>
                <a:ea typeface="Helvetica Neue"/>
                <a:cs typeface="Helvetica Neue"/>
              </a:defRPr>
            </a:pPr>
            <a:r>
              <a:rPr sz="1125" b="0">
                <a:solidFill>
                  <a:srgbClr val="667085"/>
                </a:solidFill>
                <a:latin typeface="Helvetica Neue"/>
                <a:ea typeface="Helvetica Neue"/>
                <a:cs typeface="Helvetica Neue"/>
              </a:rPr>
              <a:t>CRM, meeting, Slack, and news</a:t>
            </a:r>
          </a:p>
        </p:txBody>
      </p:sp>
      <p:sp>
        <p:nvSpPr>
          <p:cNvPr id="12" name="">
            <a:extLst xmlns:a="http://schemas.openxmlformats.org/drawingml/2006/main">
              <a:ext uri="{FF2B5EF4-FFF2-40B4-BE49-F238E27FC236}">
                <a16:creationId xmlns:a16="http://schemas.microsoft.com/office/drawing/2014/main" id="{ABBA07DD-7C4B-4BA8-9FD7-C902B861D6E7}"/>
              </a:ext>
            </a:extLst>
          </p:cNvPr>
          <p:cNvSpPr>
            <a:spLocks xmlns:a="http://schemas.openxmlformats.org/drawingml/2006/main" noGrp="1"/>
          </p:cNvSpPr>
          <p:nvPr/>
        </p:nvSpPr>
        <p:spPr>
          <a:xfrm xmlns:a="http://schemas.openxmlformats.org/drawingml/2006/main">
            <a:off x="5981700" y="1600200"/>
            <a:ext cx="2571750" cy="171450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9525">
            <a:solidFill>
              <a:srgbClr val="D0D5DD"/>
            </a:solidFill>
            <a:prstDash val="solid"/>
          </a:ln>
        </p:spPr>
      </p:sp>
      <p:sp>
        <p:nvSpPr>
          <p:cNvPr id="13" name="">
            <a:extLst xmlns:a="http://schemas.openxmlformats.org/drawingml/2006/main">
              <a:ext uri="{FF2B5EF4-FFF2-40B4-BE49-F238E27FC236}">
                <a16:creationId xmlns:a16="http://schemas.microsoft.com/office/drawing/2014/main" id="{56F624D3-AE3A-442B-8B1A-64819C6AAAAD}"/>
              </a:ext>
            </a:extLst>
          </p:cNvPr>
          <p:cNvSpPr>
            <a:spLocks xmlns:a="http://schemas.openxmlformats.org/drawingml/2006/main" noGrp="1"/>
          </p:cNvSpPr>
          <p:nvPr/>
        </p:nvSpPr>
        <p:spPr>
          <a:xfrm xmlns:a="http://schemas.openxmlformats.org/drawingml/2006/main">
            <a:off x="6210300" y="1828800"/>
            <a:ext cx="211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500"/>
          </a:bodyPr>
          <a:lstStyle xmlns:a="http://schemas.openxmlformats.org/drawingml/2006/main"/>
          <a:p xmlns:a="http://schemas.openxmlformats.org/drawingml/2006/main">
            <a:pPr algn="l">
              <a:buNone/>
              <a:defRPr sz="3600" b="1">
                <a:solidFill>
                  <a:srgbClr val="101828"/>
                </a:solidFill>
                <a:latin typeface="Helvetica Neue"/>
                <a:ea typeface="Helvetica Neue"/>
                <a:cs typeface="Helvetica Neue"/>
              </a:defRPr>
            </a:pPr>
            <a:r>
              <a:rPr sz="3600" b="1">
                <a:solidFill>
                  <a:srgbClr val="101828"/>
                </a:solidFill>
                <a:latin typeface="Helvetica Neue"/>
                <a:ea typeface="Helvetica Neue"/>
                <a:cs typeface="Helvetica Neue"/>
              </a:rPr>
              <a:t>59/59</a:t>
            </a:r>
          </a:p>
        </p:txBody>
      </p:sp>
      <p:sp>
        <p:nvSpPr>
          <p:cNvPr id="14" name="">
            <a:extLst xmlns:a="http://schemas.openxmlformats.org/drawingml/2006/main">
              <a:ext uri="{FF2B5EF4-FFF2-40B4-BE49-F238E27FC236}">
                <a16:creationId xmlns:a16="http://schemas.microsoft.com/office/drawing/2014/main" id="{1420C9FC-2AC7-416A-A2AE-55B2A3843175}"/>
              </a:ext>
            </a:extLst>
          </p:cNvPr>
          <p:cNvSpPr>
            <a:spLocks xmlns:a="http://schemas.openxmlformats.org/drawingml/2006/main" noGrp="1"/>
          </p:cNvSpPr>
          <p:nvPr/>
        </p:nvSpPr>
        <p:spPr>
          <a:xfrm xmlns:a="http://schemas.openxmlformats.org/drawingml/2006/main">
            <a:off x="6210300" y="2495550"/>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7871"/>
          </a:bodyPr>
          <a:lstStyle xmlns:a="http://schemas.openxmlformats.org/drawingml/2006/main"/>
          <a:p xmlns:a="http://schemas.openxmlformats.org/drawingml/2006/main">
            <a:pPr algn="l">
              <a:buNone/>
              <a:defRPr sz="1425" b="1">
                <a:solidFill>
                  <a:srgbClr val="344054"/>
                </a:solidFill>
                <a:latin typeface="Helvetica Neue"/>
                <a:ea typeface="Helvetica Neue"/>
                <a:cs typeface="Helvetica Neue"/>
              </a:defRPr>
            </a:pPr>
            <a:r>
              <a:rPr sz="1425" b="1">
                <a:solidFill>
                  <a:srgbClr val="344054"/>
                </a:solidFill>
                <a:latin typeface="Helvetica Neue"/>
                <a:ea typeface="Helvetica Neue"/>
                <a:cs typeface="Helvetica Neue"/>
              </a:rPr>
              <a:t>chunks with OpenAI embeddings</a:t>
            </a:r>
          </a:p>
        </p:txBody>
      </p:sp>
      <p:sp>
        <p:nvSpPr>
          <p:cNvPr id="15" name="">
            <a:extLst xmlns:a="http://schemas.openxmlformats.org/drawingml/2006/main">
              <a:ext uri="{FF2B5EF4-FFF2-40B4-BE49-F238E27FC236}">
                <a16:creationId xmlns:a16="http://schemas.microsoft.com/office/drawing/2014/main" id="{F8ADA876-54C8-4B79-98D6-E924FCC1BCCE}"/>
              </a:ext>
            </a:extLst>
          </p:cNvPr>
          <p:cNvSpPr>
            <a:spLocks xmlns:a="http://schemas.openxmlformats.org/drawingml/2006/main" noGrp="1"/>
          </p:cNvSpPr>
          <p:nvPr/>
        </p:nvSpPr>
        <p:spPr>
          <a:xfrm xmlns:a="http://schemas.openxmlformats.org/drawingml/2006/main">
            <a:off x="6210300" y="2876550"/>
            <a:ext cx="2114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983"/>
          </a:bodyPr>
          <a:lstStyle xmlns:a="http://schemas.openxmlformats.org/drawingml/2006/main"/>
          <a:p xmlns:a="http://schemas.openxmlformats.org/drawingml/2006/main">
            <a:pPr algn="l">
              <a:buNone/>
              <a:defRPr sz="1125" b="0">
                <a:solidFill>
                  <a:srgbClr val="667085"/>
                </a:solidFill>
                <a:latin typeface="Helvetica Neue"/>
                <a:ea typeface="Helvetica Neue"/>
                <a:cs typeface="Helvetica Neue"/>
              </a:defRPr>
            </a:pPr>
            <a:r>
              <a:rPr sz="1125" b="0">
                <a:solidFill>
                  <a:srgbClr val="667085"/>
                </a:solidFill>
                <a:latin typeface="Helvetica Neue"/>
                <a:ea typeface="Helvetica Neue"/>
                <a:cs typeface="Helvetica Neue"/>
              </a:rPr>
              <a:t>One current embedding per chunk</a:t>
            </a:r>
          </a:p>
        </p:txBody>
      </p:sp>
      <p:sp>
        <p:nvSpPr>
          <p:cNvPr id="16" name="">
            <a:extLst xmlns:a="http://schemas.openxmlformats.org/drawingml/2006/main">
              <a:ext uri="{FF2B5EF4-FFF2-40B4-BE49-F238E27FC236}">
                <a16:creationId xmlns:a16="http://schemas.microsoft.com/office/drawing/2014/main" id="{867410BE-6050-42D8-9D7C-717BCC6356C1}"/>
              </a:ext>
            </a:extLst>
          </p:cNvPr>
          <p:cNvSpPr>
            <a:spLocks xmlns:a="http://schemas.openxmlformats.org/drawingml/2006/main" noGrp="1"/>
          </p:cNvSpPr>
          <p:nvPr/>
        </p:nvSpPr>
        <p:spPr>
          <a:xfrm xmlns:a="http://schemas.openxmlformats.org/drawingml/2006/main">
            <a:off x="8743950" y="1600200"/>
            <a:ext cx="2571750" cy="171450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9525">
            <a:solidFill>
              <a:srgbClr val="D0D5DD"/>
            </a:solidFill>
            <a:prstDash val="solid"/>
          </a:ln>
        </p:spPr>
      </p:sp>
      <p:sp>
        <p:nvSpPr>
          <p:cNvPr id="17" name="">
            <a:extLst xmlns:a="http://schemas.openxmlformats.org/drawingml/2006/main">
              <a:ext uri="{FF2B5EF4-FFF2-40B4-BE49-F238E27FC236}">
                <a16:creationId xmlns:a16="http://schemas.microsoft.com/office/drawing/2014/main" id="{8218C5DF-6CF6-48B8-B277-34D4DC67FE8B}"/>
              </a:ext>
            </a:extLst>
          </p:cNvPr>
          <p:cNvSpPr>
            <a:spLocks xmlns:a="http://schemas.openxmlformats.org/drawingml/2006/main" noGrp="1"/>
          </p:cNvSpPr>
          <p:nvPr/>
        </p:nvSpPr>
        <p:spPr>
          <a:xfrm xmlns:a="http://schemas.openxmlformats.org/drawingml/2006/main">
            <a:off x="8972550" y="1828800"/>
            <a:ext cx="211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500"/>
          </a:bodyPr>
          <a:lstStyle xmlns:a="http://schemas.openxmlformats.org/drawingml/2006/main"/>
          <a:p xmlns:a="http://schemas.openxmlformats.org/drawingml/2006/main">
            <a:pPr algn="l">
              <a:buNone/>
              <a:defRPr sz="3600" b="1">
                <a:solidFill>
                  <a:srgbClr val="101828"/>
                </a:solidFill>
                <a:latin typeface="Helvetica Neue"/>
                <a:ea typeface="Helvetica Neue"/>
                <a:cs typeface="Helvetica Neue"/>
              </a:defRPr>
            </a:pPr>
            <a:r>
              <a:rPr sz="3600" b="1">
                <a:solidFill>
                  <a:srgbClr val="101828"/>
                </a:solidFill>
                <a:latin typeface="Helvetica Neue"/>
                <a:ea typeface="Helvetica Neue"/>
                <a:cs typeface="Helvetica Neue"/>
              </a:rPr>
              <a:t>V1</a:t>
            </a:r>
          </a:p>
        </p:txBody>
      </p:sp>
      <p:sp>
        <p:nvSpPr>
          <p:cNvPr id="18" name="">
            <a:extLst xmlns:a="http://schemas.openxmlformats.org/drawingml/2006/main">
              <a:ext uri="{FF2B5EF4-FFF2-40B4-BE49-F238E27FC236}">
                <a16:creationId xmlns:a16="http://schemas.microsoft.com/office/drawing/2014/main" id="{C036AE3F-D1C4-4D0D-A35F-DFF5F7BF2432}"/>
              </a:ext>
            </a:extLst>
          </p:cNvPr>
          <p:cNvSpPr>
            <a:spLocks xmlns:a="http://schemas.openxmlformats.org/drawingml/2006/main" noGrp="1"/>
          </p:cNvSpPr>
          <p:nvPr/>
        </p:nvSpPr>
        <p:spPr>
          <a:xfrm xmlns:a="http://schemas.openxmlformats.org/drawingml/2006/main">
            <a:off x="8972550" y="2495550"/>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1">
                <a:solidFill>
                  <a:srgbClr val="344054"/>
                </a:solidFill>
                <a:latin typeface="Helvetica Neue"/>
                <a:ea typeface="Helvetica Neue"/>
                <a:cs typeface="Helvetica Neue"/>
              </a:defRPr>
            </a:pPr>
            <a:r>
              <a:rPr sz="1425" b="1">
                <a:solidFill>
                  <a:srgbClr val="344054"/>
                </a:solidFill>
                <a:latin typeface="Helvetica Neue"/>
                <a:ea typeface="Helvetica Neue"/>
                <a:cs typeface="Helvetica Neue"/>
              </a:rPr>
              <a:t>working prototype</a:t>
            </a:r>
          </a:p>
        </p:txBody>
      </p:sp>
      <p:sp>
        <p:nvSpPr>
          <p:cNvPr id="19" name="">
            <a:extLst xmlns:a="http://schemas.openxmlformats.org/drawingml/2006/main">
              <a:ext uri="{FF2B5EF4-FFF2-40B4-BE49-F238E27FC236}">
                <a16:creationId xmlns:a16="http://schemas.microsoft.com/office/drawing/2014/main" id="{3CA3273F-9072-42DE-948B-4BE817865220}"/>
              </a:ext>
            </a:extLst>
          </p:cNvPr>
          <p:cNvSpPr>
            <a:spLocks xmlns:a="http://schemas.openxmlformats.org/drawingml/2006/main" noGrp="1"/>
          </p:cNvSpPr>
          <p:nvPr/>
        </p:nvSpPr>
        <p:spPr>
          <a:xfrm xmlns:a="http://schemas.openxmlformats.org/drawingml/2006/main">
            <a:off x="8972550" y="2876550"/>
            <a:ext cx="2114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0">
                <a:solidFill>
                  <a:srgbClr val="667085"/>
                </a:solidFill>
                <a:latin typeface="Helvetica Neue"/>
                <a:ea typeface="Helvetica Neue"/>
                <a:cs typeface="Helvetica Neue"/>
              </a:defRPr>
            </a:pPr>
            <a:r>
              <a:rPr sz="1125" b="0">
                <a:solidFill>
                  <a:srgbClr val="667085"/>
                </a:solidFill>
                <a:latin typeface="Helvetica Neue"/>
                <a:ea typeface="Helvetica Neue"/>
                <a:cs typeface="Helvetica Neue"/>
              </a:rPr>
              <a:t>Source-supported briefs</a:t>
            </a:r>
          </a:p>
        </p:txBody>
      </p:sp>
      <p:sp>
        <p:nvSpPr>
          <p:cNvPr id="20" name="">
            <a:extLst xmlns:a="http://schemas.openxmlformats.org/drawingml/2006/main">
              <a:ext uri="{FF2B5EF4-FFF2-40B4-BE49-F238E27FC236}">
                <a16:creationId xmlns:a16="http://schemas.microsoft.com/office/drawing/2014/main" id="{BC696C22-8CC4-42C1-AE87-E04618B67F45}"/>
              </a:ext>
            </a:extLst>
          </p:cNvPr>
          <p:cNvSpPr>
            <a:spLocks xmlns:a="http://schemas.openxmlformats.org/drawingml/2006/main" noGrp="1"/>
          </p:cNvSpPr>
          <p:nvPr/>
        </p:nvSpPr>
        <p:spPr>
          <a:xfrm xmlns:a="http://schemas.openxmlformats.org/drawingml/2006/main">
            <a:off x="457200" y="3619500"/>
            <a:ext cx="10858500" cy="2038350"/>
          </a:xfrm>
          <a:prstGeom xmlns:a="http://schemas.openxmlformats.org/drawingml/2006/main" prst="roundRect">
            <a:avLst>
              <a:gd name="adj" fmla="val 8411"/>
            </a:avLst>
          </a:prstGeom>
          <a:solidFill xmlns:a="http://schemas.openxmlformats.org/drawingml/2006/main">
            <a:srgbClr val="E8F0FB"/>
          </a:solidFill>
          <a:ln xmlns:a="http://schemas.openxmlformats.org/drawingml/2006/main" w="9525">
            <a:solidFill>
              <a:srgbClr val="9CB5D5"/>
            </a:solidFill>
            <a:prstDash val="solid"/>
          </a:ln>
        </p:spPr>
      </p:sp>
      <p:sp>
        <p:nvSpPr>
          <p:cNvPr id="21" name="">
            <a:extLst xmlns:a="http://schemas.openxmlformats.org/drawingml/2006/main">
              <a:ext uri="{FF2B5EF4-FFF2-40B4-BE49-F238E27FC236}">
                <a16:creationId xmlns:a16="http://schemas.microsoft.com/office/drawing/2014/main" id="{01642584-EDEF-43BF-99E6-5BF978F0C444}"/>
              </a:ext>
            </a:extLst>
          </p:cNvPr>
          <p:cNvSpPr>
            <a:spLocks xmlns:a="http://schemas.openxmlformats.org/drawingml/2006/main" noGrp="1"/>
          </p:cNvSpPr>
          <p:nvPr/>
        </p:nvSpPr>
        <p:spPr>
          <a:xfrm xmlns:a="http://schemas.openxmlformats.org/drawingml/2006/main">
            <a:off x="742950" y="3876675"/>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p xmlns:a="http://schemas.openxmlformats.org/drawingml/2006/main">
            <a:pPr algn="l">
              <a:buNone/>
              <a:defRPr sz="1650" b="1">
                <a:solidFill>
                  <a:srgbClr val="101828"/>
                </a:solidFill>
                <a:latin typeface="Helvetica Neue"/>
                <a:ea typeface="Helvetica Neue"/>
                <a:cs typeface="Helvetica Neue"/>
              </a:defRPr>
            </a:pPr>
            <a:r>
              <a:rPr sz="1650" b="1">
                <a:solidFill>
                  <a:srgbClr val="101828"/>
                </a:solidFill>
                <a:latin typeface="Helvetica Neue"/>
                <a:ea typeface="Helvetica Neue"/>
                <a:cs typeface="Helvetica Neue"/>
              </a:rPr>
              <a:t>What the prototype does</a:t>
            </a:r>
          </a:p>
        </p:txBody>
      </p:sp>
      <p:sp>
        <p:nvSpPr>
          <p:cNvPr id="22" name="">
            <a:extLst xmlns:a="http://schemas.openxmlformats.org/drawingml/2006/main">
              <a:ext uri="{FF2B5EF4-FFF2-40B4-BE49-F238E27FC236}">
                <a16:creationId xmlns:a16="http://schemas.microsoft.com/office/drawing/2014/main" id="{18919A00-4C98-4488-A084-4206A387CCFB}"/>
              </a:ext>
            </a:extLst>
          </p:cNvPr>
          <p:cNvSpPr>
            <a:spLocks xmlns:a="http://schemas.openxmlformats.org/drawingml/2006/main" noGrp="1"/>
          </p:cNvSpPr>
          <p:nvPr/>
        </p:nvSpPr>
        <p:spPr>
          <a:xfrm xmlns:a="http://schemas.openxmlformats.org/drawingml/2006/main">
            <a:off x="742950" y="4362450"/>
            <a:ext cx="266700" cy="266700"/>
          </a:xfrm>
          <a:prstGeom xmlns:a="http://schemas.openxmlformats.org/drawingml/2006/main" prst="roundRect">
            <a:avLst>
              <a:gd name="adj" fmla="val 50000"/>
            </a:avLst>
          </a:prstGeom>
          <a:solidFill xmlns:a="http://schemas.openxmlformats.org/drawingml/2006/main">
            <a:srgbClr val="EAF7F1"/>
          </a:solidFill>
          <a:ln xmlns:a="http://schemas.openxmlformats.org/drawingml/2006/main" w="9525">
            <a:solidFill>
              <a:srgbClr val="A9DFC9"/>
            </a:solidFill>
            <a:prstDash val="solid"/>
          </a:ln>
        </p:spPr>
      </p:sp>
      <p:sp>
        <p:nvSpPr>
          <p:cNvPr id="23" name="">
            <a:extLst xmlns:a="http://schemas.openxmlformats.org/drawingml/2006/main">
              <a:ext uri="{FF2B5EF4-FFF2-40B4-BE49-F238E27FC236}">
                <a16:creationId xmlns:a16="http://schemas.microsoft.com/office/drawing/2014/main" id="{27A3D507-5D5C-4554-892E-A568CD05BFA9}"/>
              </a:ext>
            </a:extLst>
          </p:cNvPr>
          <p:cNvSpPr>
            <a:spLocks xmlns:a="http://schemas.openxmlformats.org/drawingml/2006/main" noGrp="1"/>
          </p:cNvSpPr>
          <p:nvPr/>
        </p:nvSpPr>
        <p:spPr>
          <a:xfrm xmlns:a="http://schemas.openxmlformats.org/drawingml/2006/main">
            <a:off x="800100" y="4391025"/>
            <a:ext cx="171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a:solidFill>
                  <a:srgbClr val="247A59"/>
                </a:solidFill>
                <a:latin typeface="Helvetica Neue"/>
                <a:ea typeface="Helvetica Neue"/>
                <a:cs typeface="Helvetica Neue"/>
              </a:defRPr>
            </a:pPr>
            <a:r>
              <a:rPr sz="1200" b="1">
                <a:solidFill>
                  <a:srgbClr val="247A59"/>
                </a:solidFill>
                <a:latin typeface="Helvetica Neue"/>
                <a:ea typeface="Helvetica Neue"/>
                <a:cs typeface="Helvetica Neue"/>
              </a:rPr>
              <a:t>✓</a:t>
            </a:r>
          </a:p>
        </p:txBody>
      </p:sp>
      <p:sp>
        <p:nvSpPr>
          <p:cNvPr id="24" name="">
            <a:extLst xmlns:a="http://schemas.openxmlformats.org/drawingml/2006/main">
              <a:ext uri="{FF2B5EF4-FFF2-40B4-BE49-F238E27FC236}">
                <a16:creationId xmlns:a16="http://schemas.microsoft.com/office/drawing/2014/main" id="{77C3477F-C2B0-47D9-9B9A-0E325FC48695}"/>
              </a:ext>
            </a:extLst>
          </p:cNvPr>
          <p:cNvSpPr>
            <a:spLocks xmlns:a="http://schemas.openxmlformats.org/drawingml/2006/main" noGrp="1"/>
          </p:cNvSpPr>
          <p:nvPr/>
        </p:nvSpPr>
        <p:spPr>
          <a:xfrm xmlns:a="http://schemas.openxmlformats.org/drawingml/2006/main">
            <a:off x="1162050" y="4343400"/>
            <a:ext cx="4343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7544"/>
          </a:bodyPr>
          <a:lstStyle xmlns:a="http://schemas.openxmlformats.org/drawingml/2006/main"/>
          <a:p xmlns:a="http://schemas.openxmlformats.org/drawingml/2006/main">
            <a:pPr algn="l">
              <a:buNone/>
              <a:defRPr sz="1425" b="1">
                <a:solidFill>
                  <a:srgbClr val="101828"/>
                </a:solidFill>
                <a:latin typeface="Helvetica Neue"/>
                <a:ea typeface="Helvetica Neue"/>
                <a:cs typeface="Helvetica Neue"/>
              </a:defRPr>
            </a:pPr>
            <a:r>
              <a:rPr sz="1425" b="1">
                <a:solidFill>
                  <a:srgbClr val="101828"/>
                </a:solidFill>
                <a:latin typeface="Helvetica Neue"/>
                <a:ea typeface="Helvetica Neue"/>
                <a:cs typeface="Helvetica Neue"/>
              </a:rPr>
              <a:t>Builds one current brief from selected evidence</a:t>
            </a:r>
          </a:p>
        </p:txBody>
      </p:sp>
      <p:sp>
        <p:nvSpPr>
          <p:cNvPr id="25" name="">
            <a:extLst xmlns:a="http://schemas.openxmlformats.org/drawingml/2006/main">
              <a:ext uri="{FF2B5EF4-FFF2-40B4-BE49-F238E27FC236}">
                <a16:creationId xmlns:a16="http://schemas.microsoft.com/office/drawing/2014/main" id="{02C2EE5B-BD3B-4F9C-8687-99BBB16AD392}"/>
              </a:ext>
            </a:extLst>
          </p:cNvPr>
          <p:cNvSpPr>
            <a:spLocks xmlns:a="http://schemas.openxmlformats.org/drawingml/2006/main" noGrp="1"/>
          </p:cNvSpPr>
          <p:nvPr/>
        </p:nvSpPr>
        <p:spPr>
          <a:xfrm xmlns:a="http://schemas.openxmlformats.org/drawingml/2006/main">
            <a:off x="1162050" y="4629150"/>
            <a:ext cx="4343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597"/>
          </a:bodyPr>
          <a:lstStyle xmlns:a="http://schemas.openxmlformats.org/drawingml/2006/main"/>
          <a:p xmlns:a="http://schemas.openxmlformats.org/drawingml/2006/main">
            <a:pPr algn="l">
              <a:buNone/>
              <a:defRPr sz="1200" b="0">
                <a:solidFill>
                  <a:srgbClr val="667085"/>
                </a:solidFill>
                <a:latin typeface="Helvetica Neue"/>
                <a:ea typeface="Helvetica Neue"/>
                <a:cs typeface="Helvetica Neue"/>
              </a:defRPr>
            </a:pPr>
            <a:r>
              <a:rPr sz="1200" b="0">
                <a:solidFill>
                  <a:srgbClr val="667085"/>
                </a:solidFill>
                <a:latin typeface="Helvetica Neue"/>
                <a:ea typeface="Helvetica Neue"/>
                <a:cs typeface="Helvetica Neue"/>
              </a:rPr>
              <a:t>The principal can open each statement, source excerpt, and original record.</a:t>
            </a:r>
          </a:p>
        </p:txBody>
      </p:sp>
      <p:sp>
        <p:nvSpPr>
          <p:cNvPr id="26" name="">
            <a:extLst xmlns:a="http://schemas.openxmlformats.org/drawingml/2006/main">
              <a:ext uri="{FF2B5EF4-FFF2-40B4-BE49-F238E27FC236}">
                <a16:creationId xmlns:a16="http://schemas.microsoft.com/office/drawing/2014/main" id="{5031F99B-19F7-481F-8767-3BE4ABAF7DDA}"/>
              </a:ext>
            </a:extLst>
          </p:cNvPr>
          <p:cNvSpPr>
            <a:spLocks xmlns:a="http://schemas.openxmlformats.org/drawingml/2006/main" noGrp="1"/>
          </p:cNvSpPr>
          <p:nvPr/>
        </p:nvSpPr>
        <p:spPr>
          <a:xfrm xmlns:a="http://schemas.openxmlformats.org/drawingml/2006/main">
            <a:off x="5905500" y="4362450"/>
            <a:ext cx="266700" cy="266700"/>
          </a:xfrm>
          <a:prstGeom xmlns:a="http://schemas.openxmlformats.org/drawingml/2006/main" prst="roundRect">
            <a:avLst>
              <a:gd name="adj" fmla="val 50000"/>
            </a:avLst>
          </a:prstGeom>
          <a:solidFill xmlns:a="http://schemas.openxmlformats.org/drawingml/2006/main">
            <a:srgbClr val="EAF7F1"/>
          </a:solidFill>
          <a:ln xmlns:a="http://schemas.openxmlformats.org/drawingml/2006/main" w="9525">
            <a:solidFill>
              <a:srgbClr val="A9DFC9"/>
            </a:solidFill>
            <a:prstDash val="solid"/>
          </a:ln>
        </p:spPr>
      </p:sp>
      <p:sp>
        <p:nvSpPr>
          <p:cNvPr id="27" name="">
            <a:extLst xmlns:a="http://schemas.openxmlformats.org/drawingml/2006/main">
              <a:ext uri="{FF2B5EF4-FFF2-40B4-BE49-F238E27FC236}">
                <a16:creationId xmlns:a16="http://schemas.microsoft.com/office/drawing/2014/main" id="{612BAD4C-E725-46B0-A148-5CC6F7910A93}"/>
              </a:ext>
            </a:extLst>
          </p:cNvPr>
          <p:cNvSpPr>
            <a:spLocks xmlns:a="http://schemas.openxmlformats.org/drawingml/2006/main" noGrp="1"/>
          </p:cNvSpPr>
          <p:nvPr/>
        </p:nvSpPr>
        <p:spPr>
          <a:xfrm xmlns:a="http://schemas.openxmlformats.org/drawingml/2006/main">
            <a:off x="5962650" y="4391025"/>
            <a:ext cx="171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a:solidFill>
                  <a:srgbClr val="247A59"/>
                </a:solidFill>
                <a:latin typeface="Helvetica Neue"/>
                <a:ea typeface="Helvetica Neue"/>
                <a:cs typeface="Helvetica Neue"/>
              </a:defRPr>
            </a:pPr>
            <a:r>
              <a:rPr sz="1200" b="1">
                <a:solidFill>
                  <a:srgbClr val="247A59"/>
                </a:solidFill>
                <a:latin typeface="Helvetica Neue"/>
                <a:ea typeface="Helvetica Neue"/>
                <a:cs typeface="Helvetica Neue"/>
              </a:rPr>
              <a:t>✓</a:t>
            </a:r>
          </a:p>
        </p:txBody>
      </p:sp>
      <p:sp>
        <p:nvSpPr>
          <p:cNvPr id="28" name="">
            <a:extLst xmlns:a="http://schemas.openxmlformats.org/drawingml/2006/main">
              <a:ext uri="{FF2B5EF4-FFF2-40B4-BE49-F238E27FC236}">
                <a16:creationId xmlns:a16="http://schemas.microsoft.com/office/drawing/2014/main" id="{0E74E3D3-7DB7-4D0F-B262-FDAFC9F547F6}"/>
              </a:ext>
            </a:extLst>
          </p:cNvPr>
          <p:cNvSpPr>
            <a:spLocks xmlns:a="http://schemas.openxmlformats.org/drawingml/2006/main" noGrp="1"/>
          </p:cNvSpPr>
          <p:nvPr/>
        </p:nvSpPr>
        <p:spPr>
          <a:xfrm xmlns:a="http://schemas.openxmlformats.org/drawingml/2006/main">
            <a:off x="6324600" y="4343400"/>
            <a:ext cx="4533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7544"/>
          </a:bodyPr>
          <a:lstStyle xmlns:a="http://schemas.openxmlformats.org/drawingml/2006/main"/>
          <a:p xmlns:a="http://schemas.openxmlformats.org/drawingml/2006/main">
            <a:pPr algn="l">
              <a:buNone/>
              <a:defRPr sz="1425" b="1">
                <a:solidFill>
                  <a:srgbClr val="101828"/>
                </a:solidFill>
                <a:latin typeface="Helvetica Neue"/>
                <a:ea typeface="Helvetica Neue"/>
                <a:cs typeface="Helvetica Neue"/>
              </a:defRPr>
            </a:pPr>
            <a:r>
              <a:rPr sz="1425" b="1">
                <a:solidFill>
                  <a:srgbClr val="101828"/>
                </a:solidFill>
                <a:latin typeface="Helvetica Neue"/>
                <a:ea typeface="Helvetica Neue"/>
                <a:cs typeface="Helvetica Neue"/>
              </a:rPr>
              <a:t>Keeps judgment with the AIVC principal</a:t>
            </a:r>
          </a:p>
        </p:txBody>
      </p:sp>
      <p:sp>
        <p:nvSpPr>
          <p:cNvPr id="29" name="">
            <a:extLst xmlns:a="http://schemas.openxmlformats.org/drawingml/2006/main">
              <a:ext uri="{FF2B5EF4-FFF2-40B4-BE49-F238E27FC236}">
                <a16:creationId xmlns:a16="http://schemas.microsoft.com/office/drawing/2014/main" id="{B6EF0259-EF9B-41A4-8B53-D27D1B390215}"/>
              </a:ext>
            </a:extLst>
          </p:cNvPr>
          <p:cNvSpPr>
            <a:spLocks xmlns:a="http://schemas.openxmlformats.org/drawingml/2006/main" noGrp="1"/>
          </p:cNvSpPr>
          <p:nvPr/>
        </p:nvSpPr>
        <p:spPr>
          <a:xfrm xmlns:a="http://schemas.openxmlformats.org/drawingml/2006/main">
            <a:off x="6324600" y="4629150"/>
            <a:ext cx="4533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203"/>
          </a:bodyPr>
          <a:lstStyle xmlns:a="http://schemas.openxmlformats.org/drawingml/2006/main"/>
          <a:p xmlns:a="http://schemas.openxmlformats.org/drawingml/2006/main">
            <a:pPr algn="l">
              <a:buNone/>
              <a:defRPr sz="1200" b="0">
                <a:solidFill>
                  <a:srgbClr val="667085"/>
                </a:solidFill>
                <a:latin typeface="Helvetica Neue"/>
                <a:ea typeface="Helvetica Neue"/>
                <a:cs typeface="Helvetica Neue"/>
              </a:defRPr>
            </a:pPr>
            <a:r>
              <a:rPr sz="1125" b="0">
                <a:solidFill>
                  <a:srgbClr val="667085"/>
                </a:solidFill>
                <a:latin typeface="Helvetica Neue"/>
                <a:ea typeface="Helvetica Neue"/>
                <a:cs typeface="Helvetica Neue"/>
              </a:rPr>
              <a:t>The app shows conflicts and missing data. It does not give investment advice.</a:t>
            </a:r>
          </a:p>
        </p:txBody>
      </p:sp>
      <p:sp>
        <p:nvSpPr>
          <p:cNvPr id="30" name="">
            <a:extLst xmlns:a="http://schemas.openxmlformats.org/drawingml/2006/main">
              <a:ext uri="{FF2B5EF4-FFF2-40B4-BE49-F238E27FC236}">
                <a16:creationId xmlns:a16="http://schemas.microsoft.com/office/drawing/2014/main" id="{4AE642AA-8B13-4653-9E09-F49AFB9EDFD2}"/>
              </a:ext>
            </a:extLst>
          </p:cNvPr>
          <p:cNvSpPr>
            <a:spLocks xmlns:a="http://schemas.openxmlformats.org/drawingml/2006/main" noGrp="1"/>
          </p:cNvSpPr>
          <p:nvPr/>
        </p:nvSpPr>
        <p:spPr>
          <a:xfrm xmlns:a="http://schemas.openxmlformats.org/drawingml/2006/main">
            <a:off x="742950" y="5219700"/>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buNone/>
              <a:defRPr sz="1200" b="1">
                <a:solidFill>
                  <a:srgbClr val="315F9F"/>
                </a:solidFill>
                <a:latin typeface="Helvetica Neue"/>
                <a:ea typeface="Helvetica Neue"/>
                <a:cs typeface="Helvetica Neue"/>
              </a:defRPr>
            </a:pPr>
            <a:r>
              <a:rPr sz="1200" b="1">
                <a:solidFill>
                  <a:srgbClr val="315F9F"/>
                </a:solidFill>
                <a:latin typeface="Helvetica Neue"/>
                <a:ea typeface="Helvetica Neue"/>
                <a:cs typeface="Helvetica Neue"/>
              </a:rPr>
              <a:t>FICTIONAL DEMO DATA ONLY · NO LIVE CONNECTORS · NO INVESTMENT RECOMMENDATIONS</a:t>
            </a:r>
          </a:p>
        </p:txBody>
      </p:sp>
    </p:spTree>
    <p:extLst>
      <p:ext uri="{BB962C8B-B14F-4D97-AF65-F5344CB8AC3E}">
        <p14:creationId xmlns:p14="http://schemas.microsoft.com/office/powerpoint/2010/main" val="217603439"/>
      </p:ext>
    </p:extLst>
  </p:cSld>
</p:sld>
</file>

<file path=ppt/slides/slide5.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5262F984-D246-4734-ACC5-293D445790EE}"/>
              </a:ext>
            </a:extLst>
          </p:cNvPr>
          <p:cNvSpPr>
            <a:spLocks xmlns:a="http://schemas.openxmlformats.org/drawingml/2006/main" noGrp="1"/>
          </p:cNvSpPr>
          <p:nvPr/>
        </p:nvSpPr>
        <p:spPr>
          <a:xfrm xmlns:a="http://schemas.openxmlformats.org/drawingml/2006/main">
            <a:off x="457200" y="361950"/>
            <a:ext cx="1104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000" b="1">
                <a:solidFill>
                  <a:srgbClr val="101828"/>
                </a:solidFill>
                <a:latin typeface="Helvetica Neue"/>
                <a:ea typeface="Helvetica Neue"/>
                <a:cs typeface="Helvetica Neue"/>
              </a:defRPr>
            </a:pPr>
            <a:r>
              <a:rPr sz="3000" b="1">
                <a:solidFill>
                  <a:srgbClr val="101828"/>
                </a:solidFill>
                <a:latin typeface="Helvetica Neue"/>
                <a:ea typeface="Helvetica Neue"/>
                <a:cs typeface="Helvetica Neue"/>
              </a:rPr>
              <a:t>How does the system work end to end?</a:t>
            </a:r>
          </a:p>
        </p:txBody>
      </p:sp>
      <p:sp>
        <p:nvSpPr>
          <p:cNvPr id="2" name="">
            <a:extLst xmlns:a="http://schemas.openxmlformats.org/drawingml/2006/main">
              <a:ext uri="{FF2B5EF4-FFF2-40B4-BE49-F238E27FC236}">
                <a16:creationId xmlns:a16="http://schemas.microsoft.com/office/drawing/2014/main" id="{0F172B95-C544-452F-900E-C90D7963FD3F}"/>
              </a:ext>
            </a:extLst>
          </p:cNvPr>
          <p:cNvSpPr>
            <a:spLocks xmlns:a="http://schemas.openxmlformats.org/drawingml/2006/main" noGrp="1"/>
          </p:cNvSpPr>
          <p:nvPr/>
        </p:nvSpPr>
        <p:spPr>
          <a:xfrm xmlns:a="http://schemas.openxmlformats.org/drawingml/2006/main">
            <a:off x="457200" y="6324600"/>
            <a:ext cx="108585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3" name="">
            <a:extLst xmlns:a="http://schemas.openxmlformats.org/drawingml/2006/main">
              <a:ext uri="{FF2B5EF4-FFF2-40B4-BE49-F238E27FC236}">
                <a16:creationId xmlns:a16="http://schemas.microsoft.com/office/drawing/2014/main" id="{1961F526-7CB2-473C-9BE1-2AE0B22D99BE}"/>
              </a:ext>
            </a:extLst>
          </p:cNvPr>
          <p:cNvSpPr>
            <a:spLocks xmlns:a="http://schemas.openxmlformats.org/drawingml/2006/main" noGrp="1"/>
          </p:cNvSpPr>
          <p:nvPr/>
        </p:nvSpPr>
        <p:spPr>
          <a:xfrm xmlns:a="http://schemas.openxmlformats.org/drawingml/2006/main">
            <a:off x="10744200" y="645795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1">
                <a:solidFill>
                  <a:srgbClr val="667085"/>
                </a:solidFill>
                <a:latin typeface="Helvetica Neue"/>
                <a:ea typeface="Helvetica Neue"/>
                <a:cs typeface="Helvetica Neue"/>
              </a:defRPr>
            </a:pPr>
            <a:r>
              <a:rPr sz="975" b="1">
                <a:solidFill>
                  <a:srgbClr val="667085"/>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B4F82B3C-046E-4EBA-9746-C6BF4E4A3609}"/>
              </a:ext>
            </a:extLst>
          </p:cNvPr>
          <p:cNvSpPr>
            <a:spLocks xmlns:a="http://schemas.openxmlformats.org/drawingml/2006/main" noGrp="1"/>
          </p:cNvSpPr>
          <p:nvPr/>
        </p:nvSpPr>
        <p:spPr>
          <a:xfrm xmlns:a="http://schemas.openxmlformats.org/drawingml/2006/main">
            <a:off x="457200" y="1200150"/>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667085"/>
                </a:solidFill>
                <a:latin typeface="Helvetica Neue"/>
                <a:ea typeface="Helvetica Neue"/>
                <a:cs typeface="Helvetica Neue"/>
              </a:defRPr>
            </a:pPr>
            <a:r>
              <a:rPr sz="1275" b="0">
                <a:solidFill>
                  <a:srgbClr val="667085"/>
                </a:solidFill>
                <a:latin typeface="Helvetica Neue"/>
                <a:ea typeface="Helvetica Neue"/>
                <a:cs typeface="Helvetica Neue"/>
              </a:rPr>
              <a:t>OpenAI creates embeddings and source-supported briefs. The app does not call a source system at request time.</a:t>
            </a:r>
          </a:p>
        </p:txBody>
      </p:sp>
      <p:sp>
        <p:nvSpPr>
          <p:cNvPr id="5" name="">
            <a:extLst xmlns:a="http://schemas.openxmlformats.org/drawingml/2006/main">
              <a:ext uri="{FF2B5EF4-FFF2-40B4-BE49-F238E27FC236}">
                <a16:creationId xmlns:a16="http://schemas.microsoft.com/office/drawing/2014/main" id="{7FCBC366-29EC-4070-AC66-0FCDB728EE03}"/>
              </a:ext>
            </a:extLst>
          </p:cNvPr>
          <p:cNvSpPr>
            <a:spLocks xmlns:a="http://schemas.openxmlformats.org/drawingml/2006/main" noGrp="1"/>
          </p:cNvSpPr>
          <p:nvPr/>
        </p:nvSpPr>
        <p:spPr>
          <a:xfrm xmlns:a="http://schemas.openxmlformats.org/drawingml/2006/main">
            <a:off x="457200" y="1952625"/>
            <a:ext cx="1666875" cy="2190750"/>
          </a:xfrm>
          <a:prstGeom xmlns:a="http://schemas.openxmlformats.org/drawingml/2006/main" prst="roundRect">
            <a:avLst>
              <a:gd name="adj" fmla="val 9412"/>
            </a:avLst>
          </a:prstGeom>
          <a:solidFill xmlns:a="http://schemas.openxmlformats.org/drawingml/2006/main">
            <a:srgbClr val="000000">
              <a:alpha val="0"/>
            </a:srgbClr>
          </a:solidFill>
          <a:ln xmlns:a="http://schemas.openxmlformats.org/drawingml/2006/main" w="9525">
            <a:solidFill>
              <a:srgbClr val="D0D5DD"/>
            </a:solidFill>
            <a:prstDash val="solid"/>
          </a:ln>
        </p:spPr>
      </p:sp>
      <p:sp>
        <p:nvSpPr>
          <p:cNvPr id="6" name="">
            <a:extLst xmlns:a="http://schemas.openxmlformats.org/drawingml/2006/main">
              <a:ext uri="{FF2B5EF4-FFF2-40B4-BE49-F238E27FC236}">
                <a16:creationId xmlns:a16="http://schemas.microsoft.com/office/drawing/2014/main" id="{FF696949-8B92-4E3C-91C5-474DF9927513}"/>
              </a:ext>
            </a:extLst>
          </p:cNvPr>
          <p:cNvSpPr>
            <a:spLocks xmlns:a="http://schemas.openxmlformats.org/drawingml/2006/main" noGrp="1"/>
          </p:cNvSpPr>
          <p:nvPr/>
        </p:nvSpPr>
        <p:spPr>
          <a:xfrm xmlns:a="http://schemas.openxmlformats.org/drawingml/2006/main">
            <a:off x="609600" y="2133600"/>
            <a:ext cx="13620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buNone/>
              <a:defRPr sz="1425" b="1">
                <a:solidFill>
                  <a:srgbClr val="101828"/>
                </a:solidFill>
                <a:latin typeface="Helvetica Neue"/>
                <a:ea typeface="Helvetica Neue"/>
                <a:cs typeface="Helvetica Neue"/>
              </a:defRPr>
            </a:pPr>
            <a:r>
              <a:rPr sz="1350" b="1">
                <a:solidFill>
                  <a:srgbClr val="101828"/>
                </a:solidFill>
                <a:latin typeface="Helvetica Neue"/>
                <a:ea typeface="Helvetica Neue"/>
                <a:cs typeface="Helvetica Neue"/>
              </a:rPr>
              <a:t>Sources</a:t>
            </a:r>
          </a:p>
        </p:txBody>
      </p:sp>
      <p:sp>
        <p:nvSpPr>
          <p:cNvPr id="7" name="">
            <a:extLst xmlns:a="http://schemas.openxmlformats.org/drawingml/2006/main">
              <a:ext uri="{FF2B5EF4-FFF2-40B4-BE49-F238E27FC236}">
                <a16:creationId xmlns:a16="http://schemas.microsoft.com/office/drawing/2014/main" id="{90F4C1A9-C4CA-4106-BB48-C633031F3719}"/>
              </a:ext>
            </a:extLst>
          </p:cNvPr>
          <p:cNvSpPr>
            <a:spLocks xmlns:a="http://schemas.openxmlformats.org/drawingml/2006/main" noGrp="1"/>
          </p:cNvSpPr>
          <p:nvPr/>
        </p:nvSpPr>
        <p:spPr>
          <a:xfrm xmlns:a="http://schemas.openxmlformats.org/drawingml/2006/main">
            <a:off x="609600" y="2514600"/>
            <a:ext cx="1362075"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0">
                <a:solidFill>
                  <a:srgbClr val="667085"/>
                </a:solidFill>
                <a:latin typeface="Helvetica Neue"/>
                <a:ea typeface="Helvetica Neue"/>
                <a:cs typeface="Helvetica Neue"/>
              </a:defRPr>
            </a:pPr>
            <a:r>
              <a:rPr sz="1050" b="0">
                <a:solidFill>
                  <a:srgbClr val="344054"/>
                </a:solidFill>
                <a:latin typeface="Helvetica Neue"/>
                <a:ea typeface="Helvetica Neue"/>
                <a:cs typeface="Helvetica Neue"/>
              </a:rPr>
              <a:t>Static CRM</a:t>
            </a:r>
          </a:p>
          <a:p xmlns:a="http://schemas.openxmlformats.org/drawingml/2006/main">
            <a:pPr algn="l">
              <a:buNone/>
              <a:defRPr sz="1125" b="0">
                <a:solidFill>
                  <a:srgbClr val="667085"/>
                </a:solidFill>
                <a:latin typeface="Helvetica Neue"/>
                <a:ea typeface="Helvetica Neue"/>
                <a:cs typeface="Helvetica Neue"/>
              </a:defRPr>
            </a:pPr>
            <a:r>
              <a:rPr sz="1050" b="0">
                <a:solidFill>
                  <a:srgbClr val="344054"/>
                </a:solidFill>
                <a:latin typeface="Helvetica Neue"/>
                <a:ea typeface="Helvetica Neue"/>
                <a:cs typeface="Helvetica Neue"/>
              </a:rPr>
              <a:t>Meeting notes</a:t>
            </a:r>
          </a:p>
          <a:p xmlns:a="http://schemas.openxmlformats.org/drawingml/2006/main">
            <a:pPr algn="l">
              <a:buNone/>
              <a:defRPr sz="1125" b="0">
                <a:solidFill>
                  <a:srgbClr val="667085"/>
                </a:solidFill>
                <a:latin typeface="Helvetica Neue"/>
                <a:ea typeface="Helvetica Neue"/>
                <a:cs typeface="Helvetica Neue"/>
              </a:defRPr>
            </a:pPr>
            <a:r>
              <a:rPr sz="1050" b="0">
                <a:solidFill>
                  <a:srgbClr val="344054"/>
                </a:solidFill>
                <a:latin typeface="Helvetica Neue"/>
                <a:ea typeface="Helvetica Neue"/>
                <a:cs typeface="Helvetica Neue"/>
              </a:rPr>
              <a:t>Slack</a:t>
            </a:r>
          </a:p>
          <a:p xmlns:a="http://schemas.openxmlformats.org/drawingml/2006/main">
            <a:pPr algn="l">
              <a:buNone/>
              <a:defRPr sz="1125" b="0">
                <a:solidFill>
                  <a:srgbClr val="667085"/>
                </a:solidFill>
                <a:latin typeface="Helvetica Neue"/>
                <a:ea typeface="Helvetica Neue"/>
                <a:cs typeface="Helvetica Neue"/>
              </a:defRPr>
            </a:pPr>
            <a:r>
              <a:rPr sz="1050" b="0">
                <a:solidFill>
                  <a:srgbClr val="344054"/>
                </a:solidFill>
                <a:latin typeface="Helvetica Neue"/>
                <a:ea typeface="Helvetica Neue"/>
                <a:cs typeface="Helvetica Neue"/>
              </a:rPr>
              <a:t>News records</a:t>
            </a:r>
          </a:p>
          <a:p xmlns:a="http://schemas.openxmlformats.org/drawingml/2006/main">
            <a:pPr algn="l">
              <a:buNone/>
              <a:defRPr sz="1125" b="0">
                <a:solidFill>
                  <a:srgbClr val="667085"/>
                </a:solidFill>
                <a:latin typeface="Helvetica Neue"/>
                <a:ea typeface="Helvetica Neue"/>
                <a:cs typeface="Helvetica Neue"/>
              </a:defRPr>
            </a:pPr>
            <a:r>
              <a:rPr sz="1050" b="0">
                <a:solidFill>
                  <a:srgbClr val="344054"/>
                </a:solidFill>
                <a:latin typeface="Helvetica Neue"/>
                <a:ea typeface="Helvetica Neue"/>
                <a:cs typeface="Helvetica Neue"/>
              </a:rPr>
              <a:t>No filings adapter</a:t>
            </a:r>
          </a:p>
        </p:txBody>
      </p:sp>
      <p:sp>
        <p:nvSpPr>
          <p:cNvPr id="8" name="">
            <a:extLst xmlns:a="http://schemas.openxmlformats.org/drawingml/2006/main">
              <a:ext uri="{FF2B5EF4-FFF2-40B4-BE49-F238E27FC236}">
                <a16:creationId xmlns:a16="http://schemas.microsoft.com/office/drawing/2014/main" id="{AAE64AD3-688E-46AF-8FEB-BB702085EAFC}"/>
              </a:ext>
            </a:extLst>
          </p:cNvPr>
          <p:cNvSpPr>
            <a:spLocks xmlns:a="http://schemas.openxmlformats.org/drawingml/2006/main" noGrp="1"/>
          </p:cNvSpPr>
          <p:nvPr/>
        </p:nvSpPr>
        <p:spPr>
          <a:xfrm xmlns:a="http://schemas.openxmlformats.org/drawingml/2006/main">
            <a:off x="2314575" y="1952625"/>
            <a:ext cx="1666875" cy="2190750"/>
          </a:xfrm>
          <a:prstGeom xmlns:a="http://schemas.openxmlformats.org/drawingml/2006/main" prst="roundRect">
            <a:avLst>
              <a:gd name="adj" fmla="val 9412"/>
            </a:avLst>
          </a:prstGeom>
          <a:solidFill xmlns:a="http://schemas.openxmlformats.org/drawingml/2006/main">
            <a:srgbClr val="000000">
              <a:alpha val="0"/>
            </a:srgbClr>
          </a:solidFill>
          <a:ln xmlns:a="http://schemas.openxmlformats.org/drawingml/2006/main" w="9525">
            <a:solidFill>
              <a:srgbClr val="9CB5D5"/>
            </a:solidFill>
            <a:prstDash val="solid"/>
          </a:ln>
        </p:spPr>
      </p:sp>
      <p:sp>
        <p:nvSpPr>
          <p:cNvPr id="9" name="">
            <a:extLst xmlns:a="http://schemas.openxmlformats.org/drawingml/2006/main">
              <a:ext uri="{FF2B5EF4-FFF2-40B4-BE49-F238E27FC236}">
                <a16:creationId xmlns:a16="http://schemas.microsoft.com/office/drawing/2014/main" id="{91BF445C-96EF-491A-BCF7-2AC277A0A731}"/>
              </a:ext>
            </a:extLst>
          </p:cNvPr>
          <p:cNvSpPr>
            <a:spLocks xmlns:a="http://schemas.openxmlformats.org/drawingml/2006/main" noGrp="1"/>
          </p:cNvSpPr>
          <p:nvPr/>
        </p:nvSpPr>
        <p:spPr>
          <a:xfrm xmlns:a="http://schemas.openxmlformats.org/drawingml/2006/main">
            <a:off x="2466975" y="2133600"/>
            <a:ext cx="13620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buNone/>
              <a:defRPr sz="1425" b="1">
                <a:solidFill>
                  <a:srgbClr val="101828"/>
                </a:solidFill>
                <a:latin typeface="Helvetica Neue"/>
                <a:ea typeface="Helvetica Neue"/>
                <a:cs typeface="Helvetica Neue"/>
              </a:defRPr>
            </a:pPr>
            <a:r>
              <a:rPr sz="1350" b="1">
                <a:solidFill>
                  <a:srgbClr val="101828"/>
                </a:solidFill>
                <a:latin typeface="Helvetica Neue"/>
                <a:ea typeface="Helvetica Neue"/>
                <a:cs typeface="Helvetica Neue"/>
              </a:rPr>
              <a:t>Import</a:t>
            </a:r>
          </a:p>
        </p:txBody>
      </p:sp>
      <p:sp>
        <p:nvSpPr>
          <p:cNvPr id="10" name="">
            <a:extLst xmlns:a="http://schemas.openxmlformats.org/drawingml/2006/main">
              <a:ext uri="{FF2B5EF4-FFF2-40B4-BE49-F238E27FC236}">
                <a16:creationId xmlns:a16="http://schemas.microsoft.com/office/drawing/2014/main" id="{AD31BAB3-F830-46F0-A2E9-DA18B80B58A2}"/>
              </a:ext>
            </a:extLst>
          </p:cNvPr>
          <p:cNvSpPr>
            <a:spLocks xmlns:a="http://schemas.openxmlformats.org/drawingml/2006/main" noGrp="1"/>
          </p:cNvSpPr>
          <p:nvPr/>
        </p:nvSpPr>
        <p:spPr>
          <a:xfrm xmlns:a="http://schemas.openxmlformats.org/drawingml/2006/main">
            <a:off x="2466975" y="2514600"/>
            <a:ext cx="1362075"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0">
                <a:solidFill>
                  <a:srgbClr val="667085"/>
                </a:solidFill>
                <a:latin typeface="Helvetica Neue"/>
                <a:ea typeface="Helvetica Neue"/>
                <a:cs typeface="Helvetica Neue"/>
              </a:defRPr>
            </a:pPr>
            <a:r>
              <a:rPr sz="1050" b="0">
                <a:solidFill>
                  <a:srgbClr val="344054"/>
                </a:solidFill>
                <a:latin typeface="Helvetica Neue"/>
                <a:ea typeface="Helvetica Neue"/>
                <a:cs typeface="Helvetica Neue"/>
              </a:rPr>
              <a:t>Read each file</a:t>
            </a:r>
          </a:p>
          <a:p xmlns:a="http://schemas.openxmlformats.org/drawingml/2006/main">
            <a:pPr algn="l">
              <a:buNone/>
              <a:defRPr sz="1125" b="0">
                <a:solidFill>
                  <a:srgbClr val="667085"/>
                </a:solidFill>
                <a:latin typeface="Helvetica Neue"/>
                <a:ea typeface="Helvetica Neue"/>
                <a:cs typeface="Helvetica Neue"/>
              </a:defRPr>
            </a:pPr>
            <a:r>
              <a:rPr sz="1050" b="0">
                <a:solidFill>
                  <a:srgbClr val="344054"/>
                </a:solidFill>
                <a:latin typeface="Helvetica Neue"/>
                <a:ea typeface="Helvetica Neue"/>
                <a:cs typeface="Helvetica Neue"/>
              </a:rPr>
              <a:t>Validate record</a:t>
            </a:r>
          </a:p>
          <a:p xmlns:a="http://schemas.openxmlformats.org/drawingml/2006/main">
            <a:pPr algn="l">
              <a:buNone/>
              <a:defRPr sz="1125" b="0">
                <a:solidFill>
                  <a:srgbClr val="667085"/>
                </a:solidFill>
                <a:latin typeface="Helvetica Neue"/>
                <a:ea typeface="Helvetica Neue"/>
                <a:cs typeface="Helvetica Neue"/>
              </a:defRPr>
            </a:pPr>
            <a:r>
              <a:rPr sz="1050" b="0">
                <a:solidFill>
                  <a:srgbClr val="344054"/>
                </a:solidFill>
                <a:latin typeface="Helvetica Neue"/>
                <a:ea typeface="Helvetica Neue"/>
                <a:cs typeface="Helvetica Neue"/>
              </a:rPr>
              <a:t>Check company ID</a:t>
            </a:r>
          </a:p>
          <a:p xmlns:a="http://schemas.openxmlformats.org/drawingml/2006/main">
            <a:pPr algn="l">
              <a:buNone/>
              <a:defRPr sz="1125" b="0">
                <a:solidFill>
                  <a:srgbClr val="667085"/>
                </a:solidFill>
                <a:latin typeface="Helvetica Neue"/>
                <a:ea typeface="Helvetica Neue"/>
                <a:cs typeface="Helvetica Neue"/>
              </a:defRPr>
            </a:pPr>
            <a:r>
              <a:rPr sz="1050" b="0">
                <a:solidFill>
                  <a:srgbClr val="344054"/>
                </a:solidFill>
                <a:latin typeface="Helvetica Neue"/>
                <a:ea typeface="Helvetica Neue"/>
                <a:cs typeface="Helvetica Neue"/>
              </a:rPr>
              <a:t>Keep source record</a:t>
            </a:r>
          </a:p>
          <a:p xmlns:a="http://schemas.openxmlformats.org/drawingml/2006/main">
            <a:pPr algn="l">
              <a:buNone/>
              <a:defRPr sz="1125" b="0">
                <a:solidFill>
                  <a:srgbClr val="667085"/>
                </a:solidFill>
                <a:latin typeface="Helvetica Neue"/>
                <a:ea typeface="Helvetica Neue"/>
                <a:cs typeface="Helvetica Neue"/>
              </a:defRPr>
            </a:pPr>
            <a:r>
              <a:rPr sz="1050" b="0">
                <a:solidFill>
                  <a:srgbClr val="344054"/>
                </a:solidFill>
                <a:latin typeface="Helvetica Neue"/>
                <a:ea typeface="Helvetica Neue"/>
                <a:cs typeface="Helvetica Neue"/>
              </a:rPr>
              <a:t>Checksum and chunk</a:t>
            </a:r>
          </a:p>
          <a:p xmlns:a="http://schemas.openxmlformats.org/drawingml/2006/main">
            <a:pPr algn="l">
              <a:buNone/>
              <a:defRPr sz="1125" b="0">
                <a:solidFill>
                  <a:srgbClr val="667085"/>
                </a:solidFill>
                <a:latin typeface="Helvetica Neue"/>
                <a:ea typeface="Helvetica Neue"/>
                <a:cs typeface="Helvetica Neue"/>
              </a:defRPr>
            </a:pPr>
            <a:r>
              <a:rPr sz="1050" b="0">
                <a:solidFill>
                  <a:srgbClr val="344054"/>
                </a:solidFill>
                <a:latin typeface="Helvetica Neue"/>
                <a:ea typeface="Helvetica Neue"/>
                <a:cs typeface="Helvetica Neue"/>
              </a:rPr>
              <a:t>Request embeddings</a:t>
            </a:r>
          </a:p>
        </p:txBody>
      </p:sp>
      <p:sp>
        <p:nvSpPr>
          <p:cNvPr id="11" name="">
            <a:extLst xmlns:a="http://schemas.openxmlformats.org/drawingml/2006/main">
              <a:ext uri="{FF2B5EF4-FFF2-40B4-BE49-F238E27FC236}">
                <a16:creationId xmlns:a16="http://schemas.microsoft.com/office/drawing/2014/main" id="{8D32C6CD-12D3-4383-95F2-A8382D438179}"/>
              </a:ext>
            </a:extLst>
          </p:cNvPr>
          <p:cNvSpPr>
            <a:spLocks xmlns:a="http://schemas.openxmlformats.org/drawingml/2006/main" noGrp="1"/>
          </p:cNvSpPr>
          <p:nvPr/>
        </p:nvSpPr>
        <p:spPr>
          <a:xfrm xmlns:a="http://schemas.openxmlformats.org/drawingml/2006/main">
            <a:off x="4171950" y="1952625"/>
            <a:ext cx="1666875" cy="2190750"/>
          </a:xfrm>
          <a:prstGeom xmlns:a="http://schemas.openxmlformats.org/drawingml/2006/main" prst="roundRect">
            <a:avLst>
              <a:gd name="adj" fmla="val 9412"/>
            </a:avLst>
          </a:prstGeom>
          <a:solidFill xmlns:a="http://schemas.openxmlformats.org/drawingml/2006/main">
            <a:srgbClr val="000000">
              <a:alpha val="0"/>
            </a:srgbClr>
          </a:solidFill>
          <a:ln xmlns:a="http://schemas.openxmlformats.org/drawingml/2006/main" w="19050">
            <a:solidFill>
              <a:srgbClr val="5D7FB4"/>
            </a:solidFill>
            <a:prstDash val="solid"/>
          </a:ln>
        </p:spPr>
      </p:sp>
      <p:sp>
        <p:nvSpPr>
          <p:cNvPr id="12" name="">
            <a:extLst xmlns:a="http://schemas.openxmlformats.org/drawingml/2006/main">
              <a:ext uri="{FF2B5EF4-FFF2-40B4-BE49-F238E27FC236}">
                <a16:creationId xmlns:a16="http://schemas.microsoft.com/office/drawing/2014/main" id="{26C71975-15C3-4667-BC34-D9B4464F6811}"/>
              </a:ext>
            </a:extLst>
          </p:cNvPr>
          <p:cNvSpPr>
            <a:spLocks xmlns:a="http://schemas.openxmlformats.org/drawingml/2006/main" noGrp="1"/>
          </p:cNvSpPr>
          <p:nvPr/>
        </p:nvSpPr>
        <p:spPr>
          <a:xfrm xmlns:a="http://schemas.openxmlformats.org/drawingml/2006/main">
            <a:off x="4324350" y="2133600"/>
            <a:ext cx="13620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buNone/>
              <a:defRPr sz="1425" b="1">
                <a:solidFill>
                  <a:srgbClr val="101828"/>
                </a:solidFill>
                <a:latin typeface="Helvetica Neue"/>
                <a:ea typeface="Helvetica Neue"/>
                <a:cs typeface="Helvetica Neue"/>
              </a:defRPr>
            </a:pPr>
            <a:r>
              <a:rPr sz="1350" b="1">
                <a:solidFill>
                  <a:srgbClr val="101828"/>
                </a:solidFill>
                <a:latin typeface="Helvetica Neue"/>
                <a:ea typeface="Helvetica Neue"/>
                <a:cs typeface="Helvetica Neue"/>
              </a:rPr>
              <a:t>Evidence store</a:t>
            </a:r>
          </a:p>
        </p:txBody>
      </p:sp>
      <p:sp>
        <p:nvSpPr>
          <p:cNvPr id="13" name="">
            <a:extLst xmlns:a="http://schemas.openxmlformats.org/drawingml/2006/main">
              <a:ext uri="{FF2B5EF4-FFF2-40B4-BE49-F238E27FC236}">
                <a16:creationId xmlns:a16="http://schemas.microsoft.com/office/drawing/2014/main" id="{AA5FC93D-2600-460B-AAC8-580EFD4F68BC}"/>
              </a:ext>
            </a:extLst>
          </p:cNvPr>
          <p:cNvSpPr>
            <a:spLocks xmlns:a="http://schemas.openxmlformats.org/drawingml/2006/main" noGrp="1"/>
          </p:cNvSpPr>
          <p:nvPr/>
        </p:nvSpPr>
        <p:spPr>
          <a:xfrm xmlns:a="http://schemas.openxmlformats.org/drawingml/2006/main">
            <a:off x="4324350" y="2514600"/>
            <a:ext cx="1362075"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180"/>
          </a:bodyPr>
          <a:lstStyle xmlns:a="http://schemas.openxmlformats.org/drawingml/2006/main"/>
          <a:p xmlns:a="http://schemas.openxmlformats.org/drawingml/2006/main">
            <a:pPr algn="l">
              <a:buNone/>
              <a:defRPr sz="1125" b="0">
                <a:solidFill>
                  <a:srgbClr val="667085"/>
                </a:solidFill>
                <a:latin typeface="Helvetica Neue"/>
                <a:ea typeface="Helvetica Neue"/>
                <a:cs typeface="Helvetica Neue"/>
              </a:defRPr>
            </a:pPr>
            <a:r>
              <a:rPr sz="1050" b="0">
                <a:solidFill>
                  <a:srgbClr val="344054"/>
                </a:solidFill>
                <a:latin typeface="Helvetica Neue"/>
                <a:ea typeface="Helvetica Neue"/>
                <a:cs typeface="Helvetica Neue"/>
              </a:rPr>
              <a:t>PostgreSQL and pgvector</a:t>
            </a:r>
          </a:p>
          <a:p xmlns:a="http://schemas.openxmlformats.org/drawingml/2006/main">
            <a:pPr algn="l">
              <a:buNone/>
              <a:defRPr sz="1125" b="0">
                <a:solidFill>
                  <a:srgbClr val="667085"/>
                </a:solidFill>
                <a:latin typeface="Helvetica Neue"/>
                <a:ea typeface="Helvetica Neue"/>
                <a:cs typeface="Helvetica Neue"/>
              </a:defRPr>
            </a:pPr>
            <a:r>
              <a:rPr sz="1050" b="0">
                <a:solidFill>
                  <a:srgbClr val="344054"/>
                </a:solidFill>
                <a:latin typeface="Helvetica Neue"/>
                <a:ea typeface="Helvetica Neue"/>
                <a:cs typeface="Helvetica Neue"/>
              </a:rPr>
              <a:t>Companies and source records</a:t>
            </a:r>
          </a:p>
          <a:p xmlns:a="http://schemas.openxmlformats.org/drawingml/2006/main">
            <a:pPr algn="l">
              <a:buNone/>
              <a:defRPr sz="1125" b="0">
                <a:solidFill>
                  <a:srgbClr val="667085"/>
                </a:solidFill>
                <a:latin typeface="Helvetica Neue"/>
                <a:ea typeface="Helvetica Neue"/>
                <a:cs typeface="Helvetica Neue"/>
              </a:defRPr>
            </a:pPr>
            <a:r>
              <a:rPr sz="1050" b="0">
                <a:solidFill>
                  <a:srgbClr val="344054"/>
                </a:solidFill>
                <a:latin typeface="Helvetica Neue"/>
                <a:ea typeface="Helvetica Neue"/>
                <a:cs typeface="Helvetica Neue"/>
              </a:rPr>
              <a:t>Facts and dates</a:t>
            </a:r>
          </a:p>
          <a:p xmlns:a="http://schemas.openxmlformats.org/drawingml/2006/main">
            <a:pPr algn="l">
              <a:buNone/>
              <a:defRPr sz="1125" b="0">
                <a:solidFill>
                  <a:srgbClr val="667085"/>
                </a:solidFill>
                <a:latin typeface="Helvetica Neue"/>
                <a:ea typeface="Helvetica Neue"/>
                <a:cs typeface="Helvetica Neue"/>
              </a:defRPr>
            </a:pPr>
            <a:r>
              <a:rPr sz="1050" b="0">
                <a:solidFill>
                  <a:srgbClr val="344054"/>
                </a:solidFill>
                <a:latin typeface="Helvetica Neue"/>
                <a:ea typeface="Helvetica Neue"/>
                <a:cs typeface="Helvetica Neue"/>
              </a:rPr>
              <a:t>Chunks and embeddings</a:t>
            </a:r>
          </a:p>
          <a:p xmlns:a="http://schemas.openxmlformats.org/drawingml/2006/main">
            <a:pPr algn="l">
              <a:buNone/>
              <a:defRPr sz="1125" b="0">
                <a:solidFill>
                  <a:srgbClr val="667085"/>
                </a:solidFill>
                <a:latin typeface="Helvetica Neue"/>
                <a:ea typeface="Helvetica Neue"/>
                <a:cs typeface="Helvetica Neue"/>
              </a:defRPr>
            </a:pPr>
            <a:r>
              <a:rPr sz="1050" b="0">
                <a:solidFill>
                  <a:srgbClr val="344054"/>
                </a:solidFill>
                <a:latin typeface="Helvetica Neue"/>
                <a:ea typeface="Helvetica Neue"/>
                <a:cs typeface="Helvetica Neue"/>
              </a:rPr>
              <a:t>Brief runs and evidence</a:t>
            </a:r>
          </a:p>
        </p:txBody>
      </p:sp>
      <p:sp>
        <p:nvSpPr>
          <p:cNvPr id="14" name="">
            <a:extLst xmlns:a="http://schemas.openxmlformats.org/drawingml/2006/main">
              <a:ext uri="{FF2B5EF4-FFF2-40B4-BE49-F238E27FC236}">
                <a16:creationId xmlns:a16="http://schemas.microsoft.com/office/drawing/2014/main" id="{D8B8EC61-0E23-44B6-8EAF-0255EFCE9F54}"/>
              </a:ext>
            </a:extLst>
          </p:cNvPr>
          <p:cNvSpPr>
            <a:spLocks xmlns:a="http://schemas.openxmlformats.org/drawingml/2006/main" noGrp="1"/>
          </p:cNvSpPr>
          <p:nvPr/>
        </p:nvSpPr>
        <p:spPr>
          <a:xfrm xmlns:a="http://schemas.openxmlformats.org/drawingml/2006/main">
            <a:off x="6029325" y="1952625"/>
            <a:ext cx="1666875" cy="2190750"/>
          </a:xfrm>
          <a:prstGeom xmlns:a="http://schemas.openxmlformats.org/drawingml/2006/main" prst="roundRect">
            <a:avLst>
              <a:gd name="adj" fmla="val 9412"/>
            </a:avLst>
          </a:prstGeom>
          <a:solidFill xmlns:a="http://schemas.openxmlformats.org/drawingml/2006/main">
            <a:srgbClr val="000000">
              <a:alpha val="0"/>
            </a:srgbClr>
          </a:solidFill>
          <a:ln xmlns:a="http://schemas.openxmlformats.org/drawingml/2006/main" w="9525">
            <a:solidFill>
              <a:srgbClr val="9CB5D5"/>
            </a:solidFill>
            <a:prstDash val="solid"/>
          </a:ln>
        </p:spPr>
      </p:sp>
      <p:sp>
        <p:nvSpPr>
          <p:cNvPr id="15" name="">
            <a:extLst xmlns:a="http://schemas.openxmlformats.org/drawingml/2006/main">
              <a:ext uri="{FF2B5EF4-FFF2-40B4-BE49-F238E27FC236}">
                <a16:creationId xmlns:a16="http://schemas.microsoft.com/office/drawing/2014/main" id="{97E7E6E0-B411-44BD-92AA-7F5DF6550E73}"/>
              </a:ext>
            </a:extLst>
          </p:cNvPr>
          <p:cNvSpPr>
            <a:spLocks xmlns:a="http://schemas.openxmlformats.org/drawingml/2006/main" noGrp="1"/>
          </p:cNvSpPr>
          <p:nvPr/>
        </p:nvSpPr>
        <p:spPr>
          <a:xfrm xmlns:a="http://schemas.openxmlformats.org/drawingml/2006/main">
            <a:off x="6181725" y="2133600"/>
            <a:ext cx="13620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buNone/>
              <a:defRPr sz="1425" b="1">
                <a:solidFill>
                  <a:srgbClr val="101828"/>
                </a:solidFill>
                <a:latin typeface="Helvetica Neue"/>
                <a:ea typeface="Helvetica Neue"/>
                <a:cs typeface="Helvetica Neue"/>
              </a:defRPr>
            </a:pPr>
            <a:r>
              <a:rPr sz="1350" b="1">
                <a:solidFill>
                  <a:srgbClr val="101828"/>
                </a:solidFill>
                <a:latin typeface="Helvetica Neue"/>
                <a:ea typeface="Helvetica Neue"/>
                <a:cs typeface="Helvetica Neue"/>
              </a:rPr>
              <a:t>Retrieve</a:t>
            </a:r>
          </a:p>
        </p:txBody>
      </p:sp>
      <p:sp>
        <p:nvSpPr>
          <p:cNvPr id="16" name="">
            <a:extLst xmlns:a="http://schemas.openxmlformats.org/drawingml/2006/main">
              <a:ext uri="{FF2B5EF4-FFF2-40B4-BE49-F238E27FC236}">
                <a16:creationId xmlns:a16="http://schemas.microsoft.com/office/drawing/2014/main" id="{707B4D61-4907-4A5F-BE30-2C31008C985F}"/>
              </a:ext>
            </a:extLst>
          </p:cNvPr>
          <p:cNvSpPr>
            <a:spLocks xmlns:a="http://schemas.openxmlformats.org/drawingml/2006/main" noGrp="1"/>
          </p:cNvSpPr>
          <p:nvPr/>
        </p:nvSpPr>
        <p:spPr>
          <a:xfrm xmlns:a="http://schemas.openxmlformats.org/drawingml/2006/main">
            <a:off x="6181725" y="2514600"/>
            <a:ext cx="1362075"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868"/>
          </a:bodyPr>
          <a:lstStyle xmlns:a="http://schemas.openxmlformats.org/drawingml/2006/main"/>
          <a:p xmlns:a="http://schemas.openxmlformats.org/drawingml/2006/main">
            <a:pPr algn="l">
              <a:buNone/>
              <a:defRPr sz="1125" b="0">
                <a:solidFill>
                  <a:srgbClr val="667085"/>
                </a:solidFill>
                <a:latin typeface="Helvetica Neue"/>
                <a:ea typeface="Helvetica Neue"/>
                <a:cs typeface="Helvetica Neue"/>
              </a:defRPr>
            </a:pPr>
            <a:r>
              <a:rPr sz="1050" b="0">
                <a:solidFill>
                  <a:srgbClr val="344054"/>
                </a:solidFill>
                <a:latin typeface="Helvetica Neue"/>
                <a:ea typeface="Helvetica Neue"/>
                <a:cs typeface="Helvetica Neue"/>
              </a:rPr>
              <a:t>Create query embedding</a:t>
            </a:r>
          </a:p>
          <a:p xmlns:a="http://schemas.openxmlformats.org/drawingml/2006/main">
            <a:pPr algn="l">
              <a:buNone/>
              <a:defRPr sz="1125" b="0">
                <a:solidFill>
                  <a:srgbClr val="667085"/>
                </a:solidFill>
                <a:latin typeface="Helvetica Neue"/>
                <a:ea typeface="Helvetica Neue"/>
                <a:cs typeface="Helvetica Neue"/>
              </a:defRPr>
            </a:pPr>
            <a:r>
              <a:rPr sz="1050" b="0">
                <a:solidFill>
                  <a:srgbClr val="344054"/>
                </a:solidFill>
                <a:latin typeface="Helvetica Neue"/>
                <a:ea typeface="Helvetica Neue"/>
                <a:cs typeface="Helvetica Neue"/>
              </a:rPr>
              <a:t>Company ID filter in SQL</a:t>
            </a:r>
          </a:p>
          <a:p xmlns:a="http://schemas.openxmlformats.org/drawingml/2006/main">
            <a:pPr algn="l">
              <a:buNone/>
              <a:defRPr sz="1125" b="0">
                <a:solidFill>
                  <a:srgbClr val="667085"/>
                </a:solidFill>
                <a:latin typeface="Helvetica Neue"/>
                <a:ea typeface="Helvetica Neue"/>
                <a:cs typeface="Helvetica Neue"/>
              </a:defRPr>
            </a:pPr>
            <a:r>
              <a:rPr sz="1050" b="0">
                <a:solidFill>
                  <a:srgbClr val="344054"/>
                </a:solidFill>
                <a:latin typeface="Helvetica Neue"/>
                <a:ea typeface="Helvetica Neue"/>
                <a:cs typeface="Helvetica Neue"/>
              </a:rPr>
              <a:t>Full-text and embedding search</a:t>
            </a:r>
          </a:p>
          <a:p xmlns:a="http://schemas.openxmlformats.org/drawingml/2006/main">
            <a:pPr algn="l">
              <a:buNone/>
              <a:defRPr sz="1125" b="0">
                <a:solidFill>
                  <a:srgbClr val="667085"/>
                </a:solidFill>
                <a:latin typeface="Helvetica Neue"/>
                <a:ea typeface="Helvetica Neue"/>
                <a:cs typeface="Helvetica Neue"/>
              </a:defRPr>
            </a:pPr>
            <a:r>
              <a:rPr sz="1050" b="0">
                <a:solidFill>
                  <a:srgbClr val="344054"/>
                </a:solidFill>
                <a:latin typeface="Helvetica Neue"/>
                <a:ea typeface="Helvetica Neue"/>
                <a:cs typeface="Helvetica Neue"/>
              </a:rPr>
              <a:t>Rank up to 30 records</a:t>
            </a:r>
          </a:p>
          <a:p xmlns:a="http://schemas.openxmlformats.org/drawingml/2006/main">
            <a:pPr algn="l">
              <a:buNone/>
              <a:defRPr sz="1125" b="0">
                <a:solidFill>
                  <a:srgbClr val="667085"/>
                </a:solidFill>
                <a:latin typeface="Helvetica Neue"/>
                <a:ea typeface="Helvetica Neue"/>
                <a:cs typeface="Helvetica Neue"/>
              </a:defRPr>
            </a:pPr>
            <a:r>
              <a:rPr sz="1050" b="0">
                <a:solidFill>
                  <a:srgbClr val="344054"/>
                </a:solidFill>
                <a:latin typeface="Helvetica Neue"/>
                <a:ea typeface="Helvetica Neue"/>
                <a:cs typeface="Helvetica Neue"/>
              </a:rPr>
              <a:t>Use quality and recency</a:t>
            </a:r>
          </a:p>
        </p:txBody>
      </p:sp>
      <p:sp>
        <p:nvSpPr>
          <p:cNvPr id="17" name="">
            <a:extLst xmlns:a="http://schemas.openxmlformats.org/drawingml/2006/main">
              <a:ext uri="{FF2B5EF4-FFF2-40B4-BE49-F238E27FC236}">
                <a16:creationId xmlns:a16="http://schemas.microsoft.com/office/drawing/2014/main" id="{10E9349B-FC80-44F0-8C6F-18040F8C0556}"/>
              </a:ext>
            </a:extLst>
          </p:cNvPr>
          <p:cNvSpPr>
            <a:spLocks xmlns:a="http://schemas.openxmlformats.org/drawingml/2006/main" noGrp="1"/>
          </p:cNvSpPr>
          <p:nvPr/>
        </p:nvSpPr>
        <p:spPr>
          <a:xfrm xmlns:a="http://schemas.openxmlformats.org/drawingml/2006/main">
            <a:off x="9744075" y="1952625"/>
            <a:ext cx="1666875" cy="2190750"/>
          </a:xfrm>
          <a:prstGeom xmlns:a="http://schemas.openxmlformats.org/drawingml/2006/main" prst="roundRect">
            <a:avLst>
              <a:gd name="adj" fmla="val 9412"/>
            </a:avLst>
          </a:prstGeom>
          <a:solidFill xmlns:a="http://schemas.openxmlformats.org/drawingml/2006/main">
            <a:srgbClr val="000000">
              <a:alpha val="0"/>
            </a:srgbClr>
          </a:solidFill>
          <a:ln xmlns:a="http://schemas.openxmlformats.org/drawingml/2006/main" w="9525">
            <a:solidFill>
              <a:srgbClr val="D0D5DD"/>
            </a:solidFill>
            <a:prstDash val="solid"/>
          </a:ln>
        </p:spPr>
      </p:sp>
      <p:sp>
        <p:nvSpPr>
          <p:cNvPr id="18" name="">
            <a:extLst xmlns:a="http://schemas.openxmlformats.org/drawingml/2006/main">
              <a:ext uri="{FF2B5EF4-FFF2-40B4-BE49-F238E27FC236}">
                <a16:creationId xmlns:a16="http://schemas.microsoft.com/office/drawing/2014/main" id="{8C14EADC-1D14-41C1-86E1-E97BD739DCBD}"/>
              </a:ext>
            </a:extLst>
          </p:cNvPr>
          <p:cNvSpPr>
            <a:spLocks xmlns:a="http://schemas.openxmlformats.org/drawingml/2006/main" noGrp="1"/>
          </p:cNvSpPr>
          <p:nvPr/>
        </p:nvSpPr>
        <p:spPr>
          <a:xfrm xmlns:a="http://schemas.openxmlformats.org/drawingml/2006/main">
            <a:off x="9896475" y="2133600"/>
            <a:ext cx="13620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buNone/>
              <a:defRPr sz="1425" b="1">
                <a:solidFill>
                  <a:srgbClr val="101828"/>
                </a:solidFill>
                <a:latin typeface="Helvetica Neue"/>
                <a:ea typeface="Helvetica Neue"/>
                <a:cs typeface="Helvetica Neue"/>
              </a:defRPr>
            </a:pPr>
            <a:r>
              <a:rPr sz="1350" b="1">
                <a:solidFill>
                  <a:srgbClr val="101828"/>
                </a:solidFill>
                <a:latin typeface="Helvetica Neue"/>
                <a:ea typeface="Helvetica Neue"/>
                <a:cs typeface="Helvetica Neue"/>
              </a:rPr>
              <a:t>Investor UI</a:t>
            </a:r>
          </a:p>
        </p:txBody>
      </p:sp>
      <p:sp>
        <p:nvSpPr>
          <p:cNvPr id="19" name="">
            <a:extLst xmlns:a="http://schemas.openxmlformats.org/drawingml/2006/main">
              <a:ext uri="{FF2B5EF4-FFF2-40B4-BE49-F238E27FC236}">
                <a16:creationId xmlns:a16="http://schemas.microsoft.com/office/drawing/2014/main" id="{088C108C-FA6E-42B8-8F1A-D28D9488EFEC}"/>
              </a:ext>
            </a:extLst>
          </p:cNvPr>
          <p:cNvSpPr>
            <a:spLocks xmlns:a="http://schemas.openxmlformats.org/drawingml/2006/main" noGrp="1"/>
          </p:cNvSpPr>
          <p:nvPr/>
        </p:nvSpPr>
        <p:spPr>
          <a:xfrm xmlns:a="http://schemas.openxmlformats.org/drawingml/2006/main">
            <a:off x="9896475" y="2514600"/>
            <a:ext cx="1362075"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0">
                <a:solidFill>
                  <a:srgbClr val="667085"/>
                </a:solidFill>
                <a:latin typeface="Helvetica Neue"/>
                <a:ea typeface="Helvetica Neue"/>
                <a:cs typeface="Helvetica Neue"/>
              </a:defRPr>
            </a:pPr>
            <a:r>
              <a:rPr sz="1050" b="0">
                <a:solidFill>
                  <a:srgbClr val="344054"/>
                </a:solidFill>
                <a:latin typeface="Helvetica Neue"/>
                <a:ea typeface="Helvetica Neue"/>
                <a:cs typeface="Helvetica Neue"/>
              </a:rPr>
              <a:t>Portfolio or pipeline</a:t>
            </a:r>
          </a:p>
          <a:p xmlns:a="http://schemas.openxmlformats.org/drawingml/2006/main">
            <a:pPr algn="l">
              <a:buNone/>
              <a:defRPr sz="1125" b="0">
                <a:solidFill>
                  <a:srgbClr val="667085"/>
                </a:solidFill>
                <a:latin typeface="Helvetica Neue"/>
                <a:ea typeface="Helvetica Neue"/>
                <a:cs typeface="Helvetica Neue"/>
              </a:defRPr>
            </a:pPr>
            <a:r>
              <a:rPr sz="1050" b="0">
                <a:solidFill>
                  <a:srgbClr val="344054"/>
                </a:solidFill>
                <a:latin typeface="Helvetica Neue"/>
                <a:ea typeface="Helvetica Neue"/>
                <a:cs typeface="Helvetica Neue"/>
              </a:rPr>
              <a:t>Brief in 30 seconds or less</a:t>
            </a:r>
          </a:p>
          <a:p xmlns:a="http://schemas.openxmlformats.org/drawingml/2006/main">
            <a:pPr algn="l">
              <a:buNone/>
              <a:defRPr sz="1125" b="0">
                <a:solidFill>
                  <a:srgbClr val="667085"/>
                </a:solidFill>
                <a:latin typeface="Helvetica Neue"/>
                <a:ea typeface="Helvetica Neue"/>
                <a:cs typeface="Helvetica Neue"/>
              </a:defRPr>
            </a:pPr>
            <a:r>
              <a:rPr sz="1050" b="0">
                <a:solidFill>
                  <a:srgbClr val="344054"/>
                </a:solidFill>
                <a:latin typeface="Helvetica Neue"/>
                <a:ea typeface="Helvetica Neue"/>
                <a:cs typeface="Helvetica Neue"/>
              </a:rPr>
              <a:t>Open evidence and full source</a:t>
            </a:r>
          </a:p>
          <a:p xmlns:a="http://schemas.openxmlformats.org/drawingml/2006/main">
            <a:pPr algn="l">
              <a:buNone/>
              <a:defRPr sz="1125" b="0">
                <a:solidFill>
                  <a:srgbClr val="667085"/>
                </a:solidFill>
                <a:latin typeface="Helvetica Neue"/>
                <a:ea typeface="Helvetica Neue"/>
                <a:cs typeface="Helvetica Neue"/>
              </a:defRPr>
            </a:pPr>
            <a:r>
              <a:rPr sz="1050" b="0">
                <a:solidFill>
                  <a:srgbClr val="344054"/>
                </a:solidFill>
                <a:latin typeface="Helvetica Neue"/>
                <a:ea typeface="Helvetica Neue"/>
                <a:cs typeface="Helvetica Neue"/>
              </a:rPr>
              <a:t>Send feedback</a:t>
            </a:r>
          </a:p>
        </p:txBody>
      </p:sp>
      <p:cxnSp>
        <p:nvCxnSpPr>
          <p:cNvPr id="392" name=""/>
          <p:cNvCxnSpPr>
            <a:stCxn xmlns:a="http://schemas.openxmlformats.org/drawingml/2006/main" id="5" idx="3"/>
            <a:endCxn xmlns:a="http://schemas.openxmlformats.org/drawingml/2006/main" id="8" idx="1"/>
          </p:cNvCxnSpPr>
          <p:nvPr/>
        </p:nvCxnSpPr>
        <p:spPr>
          <a:xfrm xmlns:a="http://schemas.openxmlformats.org/drawingml/2006/main">
            <a:off x="2124075" y="3048000"/>
            <a:ext cx="190500" cy="0"/>
          </a:xfrm>
          <a:prstGeom xmlns:a="http://schemas.openxmlformats.org/drawingml/2006/main" prst="straightConnector1">
            <a:avLst/>
          </a:prstGeom>
          <a:ln xmlns:a="http://schemas.openxmlformats.org/drawingml/2006/main" w="19050">
            <a:solidFill>
              <a:srgbClr val="5D7FB4"/>
            </a:solidFill>
            <a:prstDash val="solid"/>
            <a:tailEnd type="triangle" w="sm" len="sm"/>
          </a:ln>
        </p:spPr>
      </p:cxnSp>
      <p:cxnSp>
        <p:nvCxnSpPr>
          <p:cNvPr id="393" name=""/>
          <p:cNvCxnSpPr>
            <a:stCxn xmlns:a="http://schemas.openxmlformats.org/drawingml/2006/main" id="8" idx="3"/>
            <a:endCxn xmlns:a="http://schemas.openxmlformats.org/drawingml/2006/main" id="11" idx="1"/>
          </p:cNvCxnSpPr>
          <p:nvPr/>
        </p:nvCxnSpPr>
        <p:spPr>
          <a:xfrm xmlns:a="http://schemas.openxmlformats.org/drawingml/2006/main">
            <a:off x="3981450" y="3048000"/>
            <a:ext cx="190500" cy="0"/>
          </a:xfrm>
          <a:prstGeom xmlns:a="http://schemas.openxmlformats.org/drawingml/2006/main" prst="straightConnector1">
            <a:avLst/>
          </a:prstGeom>
          <a:ln xmlns:a="http://schemas.openxmlformats.org/drawingml/2006/main" w="19050">
            <a:solidFill>
              <a:srgbClr val="5D7FB4"/>
            </a:solidFill>
            <a:prstDash val="solid"/>
            <a:tailEnd type="triangle" w="sm" len="sm"/>
          </a:ln>
        </p:spPr>
      </p:cxnSp>
      <p:cxnSp>
        <p:nvCxnSpPr>
          <p:cNvPr id="394" name=""/>
          <p:cNvCxnSpPr>
            <a:stCxn xmlns:a="http://schemas.openxmlformats.org/drawingml/2006/main" id="11" idx="3"/>
            <a:endCxn xmlns:a="http://schemas.openxmlformats.org/drawingml/2006/main" id="14" idx="1"/>
          </p:cNvCxnSpPr>
          <p:nvPr/>
        </p:nvCxnSpPr>
        <p:spPr>
          <a:xfrm xmlns:a="http://schemas.openxmlformats.org/drawingml/2006/main">
            <a:off x="5838825" y="3048000"/>
            <a:ext cx="190500" cy="0"/>
          </a:xfrm>
          <a:prstGeom xmlns:a="http://schemas.openxmlformats.org/drawingml/2006/main" prst="straightConnector1">
            <a:avLst/>
          </a:prstGeom>
          <a:ln xmlns:a="http://schemas.openxmlformats.org/drawingml/2006/main" w="19050">
            <a:solidFill>
              <a:srgbClr val="5D7FB4"/>
            </a:solidFill>
            <a:prstDash val="solid"/>
            <a:tailEnd type="triangle" w="sm" len="sm"/>
          </a:ln>
        </p:spPr>
      </p:cxnSp>
      <p:cxnSp>
        <p:nvCxnSpPr>
          <p:cNvPr id="395" name=""/>
          <p:cNvCxnSpPr>
            <a:stCxn xmlns:a="http://schemas.openxmlformats.org/drawingml/2006/main" id="14" idx="3"/>
            <a:endCxn xmlns:a="http://schemas.openxmlformats.org/drawingml/2006/main" id="17" idx="1"/>
          </p:cNvCxnSpPr>
          <p:nvPr/>
        </p:nvCxnSpPr>
        <p:spPr>
          <a:xfrm xmlns:a="http://schemas.openxmlformats.org/drawingml/2006/main">
            <a:off x="7696200" y="3048000"/>
            <a:ext cx="2047875" cy="0"/>
          </a:xfrm>
          <a:prstGeom xmlns:a="http://schemas.openxmlformats.org/drawingml/2006/main" prst="straightConnector1">
            <a:avLst/>
          </a:prstGeom>
          <a:ln xmlns:a="http://schemas.openxmlformats.org/drawingml/2006/main" w="19050">
            <a:solidFill>
              <a:srgbClr val="5D7FB4"/>
            </a:solidFill>
            <a:prstDash val="solid"/>
            <a:tailEnd type="triangle" w="sm" len="sm"/>
          </a:ln>
        </p:spPr>
      </p:cxnSp>
      <p:sp>
        <p:nvSpPr>
          <p:cNvPr id="24" name="">
            <a:extLst xmlns:a="http://schemas.openxmlformats.org/drawingml/2006/main">
              <a:ext uri="{FF2B5EF4-FFF2-40B4-BE49-F238E27FC236}">
                <a16:creationId xmlns:a16="http://schemas.microsoft.com/office/drawing/2014/main" id="{B61FFB58-BB8E-471E-98CB-49CBA54C515D}"/>
              </a:ext>
            </a:extLst>
          </p:cNvPr>
          <p:cNvSpPr>
            <a:spLocks xmlns:a="http://schemas.openxmlformats.org/drawingml/2006/main" noGrp="1"/>
          </p:cNvSpPr>
          <p:nvPr/>
        </p:nvSpPr>
        <p:spPr>
          <a:xfrm xmlns:a="http://schemas.openxmlformats.org/drawingml/2006/main">
            <a:off x="457200" y="4438650"/>
            <a:ext cx="10858500" cy="1619250"/>
          </a:xfrm>
          <a:prstGeom xmlns:a="http://schemas.openxmlformats.org/drawingml/2006/main" prst="roundRect">
            <a:avLst>
              <a:gd name="adj" fmla="val 11940"/>
            </a:avLst>
          </a:prstGeom>
          <a:solidFill xmlns:a="http://schemas.openxmlformats.org/drawingml/2006/main">
            <a:srgbClr val="000000">
              <a:alpha val="0"/>
            </a:srgbClr>
          </a:solidFill>
          <a:ln xmlns:a="http://schemas.openxmlformats.org/drawingml/2006/main" w="9525">
            <a:solidFill>
              <a:srgbClr val="D0D5DD"/>
            </a:solidFill>
            <a:prstDash val="solid"/>
          </a:ln>
        </p:spPr>
      </p:sp>
      <p:sp>
        <p:nvSpPr>
          <p:cNvPr id="25" name="">
            <a:extLst xmlns:a="http://schemas.openxmlformats.org/drawingml/2006/main">
              <a:ext uri="{FF2B5EF4-FFF2-40B4-BE49-F238E27FC236}">
                <a16:creationId xmlns:a16="http://schemas.microsoft.com/office/drawing/2014/main" id="{07F00A8E-F14E-4A01-8264-2EC18B7520DF}"/>
              </a:ext>
            </a:extLst>
          </p:cNvPr>
          <p:cNvSpPr>
            <a:spLocks xmlns:a="http://schemas.openxmlformats.org/drawingml/2006/main" noGrp="1"/>
          </p:cNvSpPr>
          <p:nvPr/>
        </p:nvSpPr>
        <p:spPr>
          <a:xfrm xmlns:a="http://schemas.openxmlformats.org/drawingml/2006/main">
            <a:off x="685800" y="46291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500" b="1">
                <a:solidFill>
                  <a:srgbClr val="101828"/>
                </a:solidFill>
                <a:latin typeface="Helvetica Neue"/>
                <a:ea typeface="Helvetica Neue"/>
                <a:cs typeface="Helvetica Neue"/>
              </a:defRPr>
            </a:pPr>
            <a:r>
              <a:rPr sz="1050" b="1">
                <a:solidFill>
                  <a:srgbClr val="315F9F"/>
                </a:solidFill>
                <a:latin typeface="Helvetica Neue"/>
                <a:ea typeface="Helvetica Neue"/>
                <a:cs typeface="Helvetica Neue"/>
              </a:rPr>
              <a:t>CONTROLS THAT STAY</a:t>
            </a:r>
          </a:p>
        </p:txBody>
      </p:sp>
      <p:sp>
        <p:nvSpPr>
          <p:cNvPr id="26" name="">
            <a:extLst xmlns:a="http://schemas.openxmlformats.org/drawingml/2006/main">
              <a:ext uri="{FF2B5EF4-FFF2-40B4-BE49-F238E27FC236}">
                <a16:creationId xmlns:a16="http://schemas.microsoft.com/office/drawing/2014/main" id="{EA4171B3-C020-4C48-902A-199C6AB20D1D}"/>
              </a:ext>
            </a:extLst>
          </p:cNvPr>
          <p:cNvSpPr>
            <a:spLocks xmlns:a="http://schemas.openxmlformats.org/drawingml/2006/main" noGrp="1"/>
          </p:cNvSpPr>
          <p:nvPr/>
        </p:nvSpPr>
        <p:spPr>
          <a:xfrm xmlns:a="http://schemas.openxmlformats.org/drawingml/2006/main">
            <a:off x="2647950" y="4610100"/>
            <a:ext cx="828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344054"/>
                </a:solidFill>
                <a:latin typeface="Helvetica Neue"/>
                <a:ea typeface="Helvetica Neue"/>
                <a:cs typeface="Helvetica Neue"/>
              </a:defRPr>
            </a:pPr>
            <a:r>
              <a:rPr sz="1125" b="0">
                <a:solidFill>
                  <a:srgbClr val="344054"/>
                </a:solidFill>
                <a:latin typeface="Helvetica Neue"/>
                <a:ea typeface="Helvetica Neue"/>
                <a:cs typeface="Helvetica Neue"/>
              </a:rPr>
              <a:t>Checksums · company filter · selected source IDs · value support · source-status guard · timeout · fallback · feedback</a:t>
            </a:r>
          </a:p>
        </p:txBody>
      </p:sp>
      <p:sp>
        <p:nvSpPr>
          <p:cNvPr id="27" name="">
            <a:extLst xmlns:a="http://schemas.openxmlformats.org/drawingml/2006/main">
              <a:ext uri="{FF2B5EF4-FFF2-40B4-BE49-F238E27FC236}">
                <a16:creationId xmlns:a16="http://schemas.microsoft.com/office/drawing/2014/main" id="{95D9C767-43D9-4311-B764-33EAAB1F58EC}"/>
              </a:ext>
            </a:extLst>
          </p:cNvPr>
          <p:cNvSpPr>
            <a:spLocks xmlns:a="http://schemas.openxmlformats.org/drawingml/2006/main" noGrp="1"/>
          </p:cNvSpPr>
          <p:nvPr/>
        </p:nvSpPr>
        <p:spPr>
          <a:xfrm xmlns:a="http://schemas.openxmlformats.org/drawingml/2006/main">
            <a:off x="685800" y="5267325"/>
            <a:ext cx="102489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1">
                <a:solidFill>
                  <a:srgbClr val="315F9F"/>
                </a:solidFill>
                <a:latin typeface="Helvetica Neue"/>
                <a:ea typeface="Helvetica Neue"/>
                <a:cs typeface="Helvetica Neue"/>
              </a:defRPr>
            </a:pPr>
            <a:r>
              <a:rPr sz="975" b="1">
                <a:solidFill>
                  <a:srgbClr val="315F9F"/>
                </a:solidFill>
                <a:latin typeface="Helvetica Neue"/>
                <a:ea typeface="Helvetica Neue"/>
                <a:cs typeface="Helvetica Neue"/>
              </a:rPr>
              <a:t>PRODUCTION HARDENING    Managed connectors · access rules · reviewed prompts · model policy · monitoring</a:t>
            </a:r>
          </a:p>
        </p:txBody>
      </p:sp>
      <p:sp>
        <p:nvSpPr>
          <p:cNvPr id="74" name="">
            <a:extLst xmlns:a="http://schemas.openxmlformats.org/drawingml/2006/main">
              <a:ext uri="{FF2B5EF4-FFF2-40B4-BE49-F238E27FC236}">
                <a16:creationId xmlns:a16="http://schemas.microsoft.com/office/drawing/2014/main" id="{876761DC-591F-4BA5-87BF-202A2CAA662F}"/>
              </a:ext>
            </a:extLst>
          </p:cNvPr>
          <p:cNvSpPr>
            <a:spLocks xmlns:a="http://schemas.openxmlformats.org/drawingml/2006/main" noGrp="1"/>
          </p:cNvSpPr>
          <p:nvPr/>
        </p:nvSpPr>
        <p:spPr>
          <a:xfrm xmlns:a="http://schemas.openxmlformats.org/drawingml/2006/main">
            <a:off x="457200" y="1504950"/>
            <a:ext cx="5381625" cy="266700"/>
          </a:xfrm>
          <a:prstGeom xmlns:a="http://schemas.openxmlformats.org/drawingml/2006/main" prst="rect">
            <a:avLst/>
          </a:prstGeom>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buNone/>
              <a:defRPr sz="1050" b="1">
                <a:solidFill>
                  <a:srgbClr val="315F9F"/>
                </a:solidFill>
                <a:latin typeface="Helvetica Neue"/>
                <a:ea typeface="Helvetica Neue"/>
                <a:cs typeface="Helvetica Neue"/>
              </a:defRPr>
            </a:pPr>
            <a:r>
              <a:rPr sz="1050" b="1">
                <a:solidFill>
                  <a:srgbClr val="315F9F"/>
                </a:solidFill>
                <a:latin typeface="Helvetica Neue"/>
                <a:ea typeface="Helvetica Neue"/>
                <a:cs typeface="Helvetica Neue"/>
              </a:rPr>
              <a:t>1  CURRENT IMPORT · BEFORE REQUEST</a:t>
            </a:r>
          </a:p>
        </p:txBody>
      </p:sp>
      <p:sp>
        <p:nvSpPr>
          <p:cNvPr id="75" name="">
            <a:extLst xmlns:a="http://schemas.openxmlformats.org/drawingml/2006/main">
              <a:ext uri="{FF2B5EF4-FFF2-40B4-BE49-F238E27FC236}">
                <a16:creationId xmlns:a16="http://schemas.microsoft.com/office/drawing/2014/main" id="{DE5B8472-F0A9-4DC3-B8D5-E6104426EC1F}"/>
              </a:ext>
            </a:extLst>
          </p:cNvPr>
          <p:cNvSpPr>
            <a:spLocks xmlns:a="http://schemas.openxmlformats.org/drawingml/2006/main" noGrp="1"/>
          </p:cNvSpPr>
          <p:nvPr/>
        </p:nvSpPr>
        <p:spPr>
          <a:xfrm xmlns:a="http://schemas.openxmlformats.org/drawingml/2006/main">
            <a:off x="6029325" y="1504950"/>
            <a:ext cx="5381625" cy="266700"/>
          </a:xfrm>
          <a:prstGeom xmlns:a="http://schemas.openxmlformats.org/drawingml/2006/main" prst="rect">
            <a:avLst/>
          </a:prstGeom>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buNone/>
              <a:defRPr sz="1050" b="1">
                <a:solidFill>
                  <a:srgbClr val="315F9F"/>
                </a:solidFill>
                <a:latin typeface="Helvetica Neue"/>
                <a:ea typeface="Helvetica Neue"/>
                <a:cs typeface="Helvetica Neue"/>
              </a:defRPr>
            </a:pPr>
            <a:r>
              <a:rPr sz="1050" b="1">
                <a:solidFill>
                  <a:srgbClr val="315F9F"/>
                </a:solidFill>
                <a:latin typeface="Helvetica Neue"/>
                <a:ea typeface="Helvetica Neue"/>
                <a:cs typeface="Helvetica Neue"/>
              </a:rPr>
              <a:t>2  CURRENT BRIEF · ON REQUEST</a:t>
            </a:r>
          </a:p>
        </p:txBody>
      </p:sp>
      <p:sp>
        <p:nvSpPr>
          <p:cNvPr id="76" name="">
            <a:extLst xmlns:a="http://schemas.openxmlformats.org/drawingml/2006/main">
              <a:ext uri="{FF2B5EF4-FFF2-40B4-BE49-F238E27FC236}">
                <a16:creationId xmlns:a16="http://schemas.microsoft.com/office/drawing/2014/main" id="{44449F1B-2B10-45DE-9D09-31B025BCA0F1}"/>
              </a:ext>
            </a:extLst>
          </p:cNvPr>
          <p:cNvSpPr>
            <a:spLocks xmlns:a="http://schemas.openxmlformats.org/drawingml/2006/main" noGrp="1"/>
          </p:cNvSpPr>
          <p:nvPr/>
        </p:nvSpPr>
        <p:spPr>
          <a:xfrm xmlns:a="http://schemas.openxmlformats.org/drawingml/2006/main">
            <a:off x="457200" y="1790700"/>
            <a:ext cx="5381625" cy="0"/>
          </a:xfrm>
          <a:prstGeom xmlns:a="http://schemas.openxmlformats.org/drawingml/2006/main" prst="line">
            <a:avLst/>
          </a:prstGeom>
          <a:ln xmlns:a="http://schemas.openxmlformats.org/drawingml/2006/main" w="19050">
            <a:solidFill>
              <a:srgbClr val="5D7FB4"/>
            </a:solidFill>
            <a:prstDash val="solid"/>
          </a:ln>
        </p:spPr>
      </p:sp>
      <p:sp>
        <p:nvSpPr>
          <p:cNvPr id="77" name="">
            <a:extLst xmlns:a="http://schemas.openxmlformats.org/drawingml/2006/main">
              <a:ext uri="{FF2B5EF4-FFF2-40B4-BE49-F238E27FC236}">
                <a16:creationId xmlns:a16="http://schemas.microsoft.com/office/drawing/2014/main" id="{EA399CA2-473B-4773-B305-27FBBE0FE99A}"/>
              </a:ext>
            </a:extLst>
          </p:cNvPr>
          <p:cNvSpPr>
            <a:spLocks xmlns:a="http://schemas.openxmlformats.org/drawingml/2006/main" noGrp="1"/>
          </p:cNvSpPr>
          <p:nvPr/>
        </p:nvSpPr>
        <p:spPr>
          <a:xfrm xmlns:a="http://schemas.openxmlformats.org/drawingml/2006/main">
            <a:off x="6029325" y="1790700"/>
            <a:ext cx="5381625" cy="0"/>
          </a:xfrm>
          <a:prstGeom xmlns:a="http://schemas.openxmlformats.org/drawingml/2006/main" prst="line">
            <a:avLst/>
          </a:prstGeom>
          <a:ln xmlns:a="http://schemas.openxmlformats.org/drawingml/2006/main" w="19050">
            <a:solidFill>
              <a:srgbClr val="5D7FB4"/>
            </a:solidFill>
            <a:prstDash val="solid"/>
          </a:ln>
        </p:spPr>
      </p:sp>
      <p:sp>
        <p:nvSpPr>
          <p:cNvPr id="78" name="">
            <a:extLst xmlns:a="http://schemas.openxmlformats.org/drawingml/2006/main">
              <a:ext uri="{FF2B5EF4-FFF2-40B4-BE49-F238E27FC236}">
                <a16:creationId xmlns:a16="http://schemas.microsoft.com/office/drawing/2014/main" id="{19D8B9AA-FBB8-4320-B731-75F48F456FAB}"/>
              </a:ext>
            </a:extLst>
          </p:cNvPr>
          <p:cNvSpPr>
            <a:spLocks xmlns:a="http://schemas.openxmlformats.org/drawingml/2006/main" noGrp="1"/>
          </p:cNvSpPr>
          <p:nvPr/>
        </p:nvSpPr>
        <p:spPr>
          <a:xfrm xmlns:a="http://schemas.openxmlformats.org/drawingml/2006/main">
            <a:off x="7886700" y="1952625"/>
            <a:ext cx="1666875" cy="2190750"/>
          </a:xfrm>
          <a:prstGeom xmlns:a="http://schemas.openxmlformats.org/drawingml/2006/main" prst="roundRect">
            <a:avLst>
              <a:gd name="adj" fmla="val 8000"/>
            </a:avLst>
          </a:prstGeom>
          <a:solidFill xmlns:a="http://schemas.openxmlformats.org/drawingml/2006/main">
            <a:srgbClr val="000000">
              <a:alpha val="0"/>
            </a:srgbClr>
          </a:solidFill>
          <a:ln xmlns:a="http://schemas.openxmlformats.org/drawingml/2006/main" w="9525">
            <a:solidFill>
              <a:srgbClr val="9CB5D5"/>
            </a:solidFill>
            <a:prstDash val="solid"/>
          </a:ln>
        </p:spPr>
      </p:sp>
      <p:sp>
        <p:nvSpPr>
          <p:cNvPr id="79" name="">
            <a:extLst xmlns:a="http://schemas.openxmlformats.org/drawingml/2006/main">
              <a:ext uri="{FF2B5EF4-FFF2-40B4-BE49-F238E27FC236}">
                <a16:creationId xmlns:a16="http://schemas.microsoft.com/office/drawing/2014/main" id="{51BDDF48-D89D-41EC-93BE-8EAFD88E737A}"/>
              </a:ext>
            </a:extLst>
          </p:cNvPr>
          <p:cNvSpPr>
            <a:spLocks xmlns:a="http://schemas.openxmlformats.org/drawingml/2006/main" noGrp="1"/>
          </p:cNvSpPr>
          <p:nvPr/>
        </p:nvSpPr>
        <p:spPr>
          <a:xfrm xmlns:a="http://schemas.openxmlformats.org/drawingml/2006/main">
            <a:off x="8039100" y="2133600"/>
            <a:ext cx="1362075" cy="266700"/>
          </a:xfrm>
          <a:prstGeom xmlns:a="http://schemas.openxmlformats.org/drawingml/2006/main" prst="rect">
            <a:avLst/>
          </a:prstGeom>
        </p:spPr>
        <p:txBody>
          <a:bodyPr xmlns:a="http://schemas.openxmlformats.org/drawingml/2006/main" lIns="38100" tIns="19050" rIns="38100" bIns="19050" anchor="ctr">
            <a:normAutofit fontScale="100000"/>
          </a:bodyPr>
          <a:lstStyle xmlns:a="http://schemas.openxmlformats.org/drawingml/2006/main"/>
          <a:p xmlns:a="http://schemas.openxmlformats.org/drawingml/2006/main">
            <a:pPr algn="l">
              <a:buNone/>
              <a:defRPr sz="1350" b="1">
                <a:solidFill>
                  <a:srgbClr val="344054"/>
                </a:solidFill>
                <a:latin typeface="Helvetica Neue"/>
                <a:ea typeface="Helvetica Neue"/>
                <a:cs typeface="Helvetica Neue"/>
              </a:defRPr>
            </a:pPr>
            <a:r>
              <a:rPr sz="1350" b="1">
                <a:solidFill>
                  <a:srgbClr val="344054"/>
                </a:solidFill>
                <a:latin typeface="Helvetica Neue"/>
                <a:ea typeface="Helvetica Neue"/>
                <a:cs typeface="Helvetica Neue"/>
              </a:rPr>
              <a:t>Build brief</a:t>
            </a:r>
          </a:p>
        </p:txBody>
      </p:sp>
      <p:sp>
        <p:nvSpPr>
          <p:cNvPr id="80" name="">
            <a:extLst xmlns:a="http://schemas.openxmlformats.org/drawingml/2006/main">
              <a:ext uri="{FF2B5EF4-FFF2-40B4-BE49-F238E27FC236}">
                <a16:creationId xmlns:a16="http://schemas.microsoft.com/office/drawing/2014/main" id="{F845698F-CB86-4AEE-AD81-65F6E539E320}"/>
              </a:ext>
            </a:extLst>
          </p:cNvPr>
          <p:cNvSpPr>
            <a:spLocks xmlns:a="http://schemas.openxmlformats.org/drawingml/2006/main" noGrp="1"/>
          </p:cNvSpPr>
          <p:nvPr/>
        </p:nvSpPr>
        <p:spPr>
          <a:xfrm xmlns:a="http://schemas.openxmlformats.org/drawingml/2006/main">
            <a:off x="8039100" y="2514600"/>
            <a:ext cx="1362075" cy="1447800"/>
          </a:xfrm>
          <a:prstGeom xmlns:a="http://schemas.openxmlformats.org/drawingml/2006/main" prst="rect">
            <a:avLst/>
          </a:prstGeom>
        </p:spPr>
        <p:txBody>
          <a:bodyPr xmlns:a="http://schemas.openxmlformats.org/drawingml/2006/main" lIns="38100" tIns="19050" rIns="38100" bIns="19050" anchor="t">
            <a:normAutofit fontScale="100000"/>
          </a:bodyPr>
          <a:lstStyle xmlns:a="http://schemas.openxmlformats.org/drawingml/2006/main"/>
          <a:p xmlns:a="http://schemas.openxmlformats.org/drawingml/2006/main">
            <a:pPr algn="l">
              <a:buNone/>
              <a:defRPr sz="1050" b="0">
                <a:solidFill>
                  <a:srgbClr val="344054"/>
                </a:solidFill>
                <a:latin typeface="Helvetica Neue"/>
                <a:ea typeface="Helvetica Neue"/>
                <a:cs typeface="Helvetica Neue"/>
              </a:defRPr>
            </a:pPr>
            <a:r>
              <a:rPr sz="1050" b="0">
                <a:solidFill>
                  <a:srgbClr val="344054"/>
                </a:solidFill>
                <a:latin typeface="Helvetica Neue"/>
                <a:ea typeface="Helvetica Neue"/>
                <a:cs typeface="Helvetica Neue"/>
              </a:rPr>
              <a:t>gpt-5.6-sol</a:t>
            </a:r>
          </a:p>
          <a:p xmlns:a="http://schemas.openxmlformats.org/drawingml/2006/main">
            <a:pPr algn="l">
              <a:buNone/>
              <a:defRPr sz="1050" b="0">
                <a:solidFill>
                  <a:srgbClr val="344054"/>
                </a:solidFill>
                <a:latin typeface="Helvetica Neue"/>
                <a:ea typeface="Helvetica Neue"/>
                <a:cs typeface="Helvetica Neue"/>
              </a:defRPr>
            </a:pPr>
            <a:r>
              <a:rPr sz="1050" b="0">
                <a:solidFill>
                  <a:srgbClr val="344054"/>
                </a:solidFill>
                <a:latin typeface="Helvetica Neue"/>
                <a:ea typeface="Helvetica Neue"/>
                <a:cs typeface="Helvetica Neue"/>
              </a:rPr>
              <a:t>Responses API</a:t>
            </a:r>
          </a:p>
          <a:p xmlns:a="http://schemas.openxmlformats.org/drawingml/2006/main">
            <a:pPr algn="l">
              <a:buNone/>
              <a:defRPr sz="1050" b="0">
                <a:solidFill>
                  <a:srgbClr val="344054"/>
                </a:solidFill>
                <a:latin typeface="Helvetica Neue"/>
                <a:ea typeface="Helvetica Neue"/>
                <a:cs typeface="Helvetica Neue"/>
              </a:defRPr>
            </a:pPr>
            <a:r>
              <a:rPr sz="1050" b="0">
                <a:solidFill>
                  <a:srgbClr val="344054"/>
                </a:solidFill>
                <a:latin typeface="Helvetica Neue"/>
                <a:ea typeface="Helvetica Neue"/>
                <a:cs typeface="Helvetica Neue"/>
              </a:rPr>
              <a:t>Selected sources</a:t>
            </a:r>
          </a:p>
          <a:p xmlns:a="http://schemas.openxmlformats.org/drawingml/2006/main">
            <a:pPr algn="l">
              <a:buNone/>
              <a:defRPr sz="1050" b="0">
                <a:solidFill>
                  <a:srgbClr val="344054"/>
                </a:solidFill>
                <a:latin typeface="Helvetica Neue"/>
                <a:ea typeface="Helvetica Neue"/>
                <a:cs typeface="Helvetica Neue"/>
              </a:defRPr>
            </a:pPr>
            <a:r>
              <a:rPr sz="1050" b="0">
                <a:solidFill>
                  <a:srgbClr val="344054"/>
                </a:solidFill>
                <a:latin typeface="Helvetica Neue"/>
                <a:ea typeface="Helvetica Neue"/>
                <a:cs typeface="Helvetica Neue"/>
              </a:rPr>
              <a:t>Strict checks</a:t>
            </a:r>
          </a:p>
          <a:p xmlns:a="http://schemas.openxmlformats.org/drawingml/2006/main">
            <a:pPr algn="l">
              <a:buNone/>
              <a:defRPr sz="1050" b="0">
                <a:solidFill>
                  <a:srgbClr val="344054"/>
                </a:solidFill>
                <a:latin typeface="Helvetica Neue"/>
                <a:ea typeface="Helvetica Neue"/>
                <a:cs typeface="Helvetica Neue"/>
              </a:defRPr>
            </a:pPr>
            <a:r>
              <a:rPr sz="1050" b="0">
                <a:solidFill>
                  <a:srgbClr val="344054"/>
                </a:solidFill>
                <a:latin typeface="Helvetica Neue"/>
                <a:ea typeface="Helvetica Neue"/>
                <a:cs typeface="Helvetica Neue"/>
              </a:rPr>
              <a:t>Save or fallback</a:t>
            </a:r>
          </a:p>
        </p:txBody>
      </p:sp>
      <p:cxnSp>
        <p:nvCxnSpPr>
          <p:cNvPr id="407" name=""/>
          <p:cNvCxnSpPr>
            <a:stCxn xmlns:a="http://schemas.openxmlformats.org/drawingml/2006/main" id="14" idx="3"/>
            <a:endCxn xmlns:a="http://schemas.openxmlformats.org/drawingml/2006/main" id="78" idx="1"/>
          </p:cNvCxnSpPr>
          <p:nvPr/>
        </p:nvCxnSpPr>
        <p:spPr>
          <a:xfrm xmlns:a="http://schemas.openxmlformats.org/drawingml/2006/main">
            <a:off x="7696200" y="3048000"/>
            <a:ext cx="190500" cy="0"/>
          </a:xfrm>
          <a:prstGeom xmlns:a="http://schemas.openxmlformats.org/drawingml/2006/main" prst="straightConnector1">
            <a:avLst/>
          </a:prstGeom>
          <a:ln xmlns:a="http://schemas.openxmlformats.org/drawingml/2006/main" w="19050">
            <a:solidFill>
              <a:srgbClr val="5D7FB4"/>
            </a:solidFill>
            <a:prstDash val="solid"/>
            <a:tailEnd type="arrow" w="sm" len="sm"/>
          </a:ln>
        </p:spPr>
      </p:cxnSp>
      <p:cxnSp>
        <p:nvCxnSpPr>
          <p:cNvPr id="408" name=""/>
          <p:cNvCxnSpPr>
            <a:stCxn xmlns:a="http://schemas.openxmlformats.org/drawingml/2006/main" id="78" idx="3"/>
            <a:endCxn xmlns:a="http://schemas.openxmlformats.org/drawingml/2006/main" id="17" idx="1"/>
          </p:cNvCxnSpPr>
          <p:nvPr/>
        </p:nvCxnSpPr>
        <p:spPr>
          <a:xfrm xmlns:a="http://schemas.openxmlformats.org/drawingml/2006/main">
            <a:off x="9553575" y="3048000"/>
            <a:ext cx="190500" cy="0"/>
          </a:xfrm>
          <a:prstGeom xmlns:a="http://schemas.openxmlformats.org/drawingml/2006/main" prst="straightConnector1">
            <a:avLst/>
          </a:prstGeom>
          <a:ln xmlns:a="http://schemas.openxmlformats.org/drawingml/2006/main" w="19050">
            <a:solidFill>
              <a:srgbClr val="5D7FB4"/>
            </a:solidFill>
            <a:prstDash val="solid"/>
            <a:tailEnd type="arrow" w="sm" len="sm"/>
          </a:ln>
        </p:spPr>
      </p:cxnSp>
      <p:sp>
        <p:nvSpPr>
          <p:cNvPr id="83" name="">
            <a:extLst xmlns:a="http://schemas.openxmlformats.org/drawingml/2006/main">
              <a:ext uri="{FF2B5EF4-FFF2-40B4-BE49-F238E27FC236}">
                <a16:creationId xmlns:a16="http://schemas.microsoft.com/office/drawing/2014/main" id="{992E4A4C-71BB-4B03-9841-87FC93E819CD}"/>
              </a:ext>
            </a:extLst>
          </p:cNvPr>
          <p:cNvSpPr>
            <a:spLocks xmlns:a="http://schemas.openxmlformats.org/drawingml/2006/main" noGrp="1"/>
          </p:cNvSpPr>
          <p:nvPr/>
        </p:nvSpPr>
        <p:spPr>
          <a:xfrm xmlns:a="http://schemas.openxmlformats.org/drawingml/2006/main">
            <a:off x="590550" y="5105400"/>
            <a:ext cx="10534650" cy="609600"/>
          </a:xfrm>
          <a:prstGeom xmlns:a="http://schemas.openxmlformats.org/drawingml/2006/main" prst="roundRect">
            <a:avLst>
              <a:gd name="adj" fmla="val 15625"/>
            </a:avLst>
          </a:prstGeom>
          <a:solidFill xmlns:a="http://schemas.openxmlformats.org/drawingml/2006/main">
            <a:srgbClr val="000000">
              <a:alpha val="0"/>
            </a:srgbClr>
          </a:solidFill>
          <a:ln xmlns:a="http://schemas.openxmlformats.org/drawingml/2006/main" w="9525">
            <a:solidFill>
              <a:srgbClr val="5D7FB4"/>
            </a:solidFill>
            <a:prstDash val="dash"/>
          </a:ln>
        </p:spPr>
      </p:sp>
      <p:pic>
        <p:nvPicPr>
          <p:cNvPr id="410" name=""/>
          <p:cNvPicPr>
            <a:picLocks xmlns:a="http://schemas.openxmlformats.org/drawingml/2006/main" noChangeAspect="1"/>
          </p:cNvPicPr>
          <p:nvPr/>
        </p:nvPicPr>
        <p:blipFill>
          <a:blip xmlns:r="http://schemas.openxmlformats.org/officeDocument/2006/relationships" xmlns:a="http://schemas.openxmlformats.org/drawingml/2006/main" r:embed="R2daf070dfb6046b3"/>
          <a:stretch xmlns:a="http://schemas.openxmlformats.org/drawingml/2006/main"/>
        </p:blipFill>
        <p:spPr>
          <a:xfrm xmlns:a="http://schemas.openxmlformats.org/drawingml/2006/main">
            <a:off x="439341" y="1476375"/>
            <a:ext cx="11084719" cy="4667250"/>
          </a:xfrm>
          <a:prstGeom xmlns:a="http://schemas.openxmlformats.org/drawingml/2006/main" prst="rect">
            <a:avLst/>
          </a:prstGeom>
        </p:spPr>
      </p:pic>
    </p:spTree>
    <p:extLst>
      <p:ext uri="{BB962C8B-B14F-4D97-AF65-F5344CB8AC3E}">
        <p14:creationId xmlns:p14="http://schemas.microsoft.com/office/powerpoint/2010/main" val="1629625627"/>
      </p:ext>
    </p:extLst>
  </p:cSld>
</p:sld>
</file>

<file path=ppt/slides/slide6.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DB7B3EEB-D638-4724-AAF7-119C489C9CDA}"/>
              </a:ext>
            </a:extLst>
          </p:cNvPr>
          <p:cNvSpPr>
            <a:spLocks xmlns:a="http://schemas.openxmlformats.org/drawingml/2006/main" noGrp="1"/>
          </p:cNvSpPr>
          <p:nvPr/>
        </p:nvSpPr>
        <p:spPr>
          <a:xfrm xmlns:a="http://schemas.openxmlformats.org/drawingml/2006/main">
            <a:off x="457200" y="361950"/>
            <a:ext cx="1104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000" b="1">
                <a:solidFill>
                  <a:srgbClr val="101828"/>
                </a:solidFill>
                <a:latin typeface="Helvetica Neue"/>
                <a:ea typeface="Helvetica Neue"/>
                <a:cs typeface="Helvetica Neue"/>
              </a:defRPr>
            </a:pPr>
            <a:r>
              <a:rPr sz="2550" b="1">
                <a:solidFill>
                  <a:srgbClr val="101828"/>
                </a:solidFill>
                <a:latin typeface="Helvetica Neue"/>
                <a:ea typeface="Helvetica Neue"/>
                <a:cs typeface="Helvetica Neue"/>
              </a:rPr>
              <a:t>How do source records become searchable evidence?</a:t>
            </a:r>
          </a:p>
        </p:txBody>
      </p:sp>
      <p:sp>
        <p:nvSpPr>
          <p:cNvPr id="2" name="">
            <a:extLst xmlns:a="http://schemas.openxmlformats.org/drawingml/2006/main">
              <a:ext uri="{FF2B5EF4-FFF2-40B4-BE49-F238E27FC236}">
                <a16:creationId xmlns:a16="http://schemas.microsoft.com/office/drawing/2014/main" id="{09705ED1-D51F-46D6-86F2-64D21DC0D084}"/>
              </a:ext>
            </a:extLst>
          </p:cNvPr>
          <p:cNvSpPr>
            <a:spLocks xmlns:a="http://schemas.openxmlformats.org/drawingml/2006/main" noGrp="1"/>
          </p:cNvSpPr>
          <p:nvPr/>
        </p:nvSpPr>
        <p:spPr>
          <a:xfrm xmlns:a="http://schemas.openxmlformats.org/drawingml/2006/main">
            <a:off x="457200" y="6324600"/>
            <a:ext cx="108585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3" name="">
            <a:extLst xmlns:a="http://schemas.openxmlformats.org/drawingml/2006/main">
              <a:ext uri="{FF2B5EF4-FFF2-40B4-BE49-F238E27FC236}">
                <a16:creationId xmlns:a16="http://schemas.microsoft.com/office/drawing/2014/main" id="{06B9AC04-D709-4811-8011-6CBF5DDBDCB8}"/>
              </a:ext>
            </a:extLst>
          </p:cNvPr>
          <p:cNvSpPr>
            <a:spLocks xmlns:a="http://schemas.openxmlformats.org/drawingml/2006/main" noGrp="1"/>
          </p:cNvSpPr>
          <p:nvPr/>
        </p:nvSpPr>
        <p:spPr>
          <a:xfrm xmlns:a="http://schemas.openxmlformats.org/drawingml/2006/main">
            <a:off x="10744200" y="645795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1">
                <a:solidFill>
                  <a:srgbClr val="667085"/>
                </a:solidFill>
                <a:latin typeface="Helvetica Neue"/>
                <a:ea typeface="Helvetica Neue"/>
                <a:cs typeface="Helvetica Neue"/>
              </a:defRPr>
            </a:pPr>
            <a:r>
              <a:rPr sz="975" b="1">
                <a:solidFill>
                  <a:srgbClr val="667085"/>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24A84428-21BF-430B-AB26-3A6B26D5C7DF}"/>
              </a:ext>
            </a:extLst>
          </p:cNvPr>
          <p:cNvSpPr>
            <a:spLocks xmlns:a="http://schemas.openxmlformats.org/drawingml/2006/main" noGrp="1"/>
          </p:cNvSpPr>
          <p:nvPr/>
        </p:nvSpPr>
        <p:spPr>
          <a:xfrm xmlns:a="http://schemas.openxmlformats.org/drawingml/2006/main">
            <a:off x="457200" y="1352550"/>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667085"/>
                </a:solidFill>
                <a:latin typeface="Helvetica Neue"/>
                <a:ea typeface="Helvetica Neue"/>
                <a:cs typeface="Helvetica Neue"/>
              </a:defRPr>
            </a:pPr>
            <a:r>
              <a:rPr sz="1350" b="0">
                <a:solidFill>
                  <a:srgbClr val="667085"/>
                </a:solidFill>
                <a:latin typeface="Helvetica Neue"/>
                <a:ea typeface="Helvetica Neue"/>
                <a:cs typeface="Helvetica Neue"/>
              </a:rPr>
              <a:t>V1 uses file adapters. Public filings are a target source, but the prototype has no filing adapter.</a:t>
            </a:r>
          </a:p>
        </p:txBody>
      </p:sp>
      <p:sp>
        <p:nvSpPr>
          <p:cNvPr id="5" name="">
            <a:extLst xmlns:a="http://schemas.openxmlformats.org/drawingml/2006/main">
              <a:ext uri="{FF2B5EF4-FFF2-40B4-BE49-F238E27FC236}">
                <a16:creationId xmlns:a16="http://schemas.microsoft.com/office/drawing/2014/main" id="{896AB9F0-C69D-4A69-808D-6EF2BA8CD82A}"/>
              </a:ext>
            </a:extLst>
          </p:cNvPr>
          <p:cNvSpPr>
            <a:spLocks xmlns:a="http://schemas.openxmlformats.org/drawingml/2006/main" noGrp="1"/>
          </p:cNvSpPr>
          <p:nvPr/>
        </p:nvSpPr>
        <p:spPr>
          <a:xfrm xmlns:a="http://schemas.openxmlformats.org/drawingml/2006/main">
            <a:off x="457200" y="2000250"/>
            <a:ext cx="323850" cy="323850"/>
          </a:xfrm>
          <a:prstGeom xmlns:a="http://schemas.openxmlformats.org/drawingml/2006/main" prst="roundRect">
            <a:avLst>
              <a:gd name="adj" fmla="val 50000"/>
            </a:avLst>
          </a:prstGeom>
          <a:solidFill xmlns:a="http://schemas.openxmlformats.org/drawingml/2006/main">
            <a:srgbClr val="315F9F"/>
          </a:solidFill>
          <a:ln xmlns:a="http://schemas.openxmlformats.org/drawingml/2006/main" w="9525">
            <a:solidFill>
              <a:srgbClr val="315F9F"/>
            </a:solidFill>
            <a:prstDash val="solid"/>
          </a:ln>
        </p:spPr>
      </p:sp>
      <p:sp>
        <p:nvSpPr>
          <p:cNvPr id="6" name="">
            <a:extLst xmlns:a="http://schemas.openxmlformats.org/drawingml/2006/main">
              <a:ext uri="{FF2B5EF4-FFF2-40B4-BE49-F238E27FC236}">
                <a16:creationId xmlns:a16="http://schemas.microsoft.com/office/drawing/2014/main" id="{5A55690E-0B75-4171-92B6-19446C212B93}"/>
              </a:ext>
            </a:extLst>
          </p:cNvPr>
          <p:cNvSpPr>
            <a:spLocks xmlns:a="http://schemas.openxmlformats.org/drawingml/2006/main" noGrp="1"/>
          </p:cNvSpPr>
          <p:nvPr/>
        </p:nvSpPr>
        <p:spPr>
          <a:xfrm xmlns:a="http://schemas.openxmlformats.org/drawingml/2006/main">
            <a:off x="561975" y="2057400"/>
            <a:ext cx="133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1</a:t>
            </a:r>
          </a:p>
        </p:txBody>
      </p:sp>
      <p:sp>
        <p:nvSpPr>
          <p:cNvPr id="7" name="">
            <a:extLst xmlns:a="http://schemas.openxmlformats.org/drawingml/2006/main">
              <a:ext uri="{FF2B5EF4-FFF2-40B4-BE49-F238E27FC236}">
                <a16:creationId xmlns:a16="http://schemas.microsoft.com/office/drawing/2014/main" id="{1DFBEFDC-1AD1-482F-BA2B-A1477C59E296}"/>
              </a:ext>
            </a:extLst>
          </p:cNvPr>
          <p:cNvSpPr>
            <a:spLocks xmlns:a="http://schemas.openxmlformats.org/drawingml/2006/main" noGrp="1"/>
          </p:cNvSpPr>
          <p:nvPr/>
        </p:nvSpPr>
        <p:spPr>
          <a:xfrm xmlns:a="http://schemas.openxmlformats.org/drawingml/2006/main">
            <a:off x="971550" y="2028825"/>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buNone/>
              <a:defRPr sz="1350" b="1">
                <a:solidFill>
                  <a:srgbClr val="344054"/>
                </a:solidFill>
                <a:latin typeface="Helvetica Neue"/>
                <a:ea typeface="Helvetica Neue"/>
                <a:cs typeface="Helvetica Neue"/>
              </a:defRPr>
            </a:pPr>
            <a:r>
              <a:rPr sz="1350" b="1">
                <a:solidFill>
                  <a:srgbClr val="344054"/>
                </a:solidFill>
                <a:latin typeface="Helvetica Neue"/>
                <a:ea typeface="Helvetica Neue"/>
                <a:cs typeface="Helvetica Neue"/>
              </a:rPr>
              <a:t>Read and validate one source record</a:t>
            </a:r>
          </a:p>
        </p:txBody>
      </p:sp>
      <p:sp>
        <p:nvSpPr>
          <p:cNvPr id="8" name="">
            <a:extLst xmlns:a="http://schemas.openxmlformats.org/drawingml/2006/main">
              <a:ext uri="{FF2B5EF4-FFF2-40B4-BE49-F238E27FC236}">
                <a16:creationId xmlns:a16="http://schemas.microsoft.com/office/drawing/2014/main" id="{42D004A4-470B-427C-9F30-0D4084329D3B}"/>
              </a:ext>
            </a:extLst>
          </p:cNvPr>
          <p:cNvSpPr>
            <a:spLocks xmlns:a="http://schemas.openxmlformats.org/drawingml/2006/main" noGrp="1"/>
          </p:cNvSpPr>
          <p:nvPr/>
        </p:nvSpPr>
        <p:spPr>
          <a:xfrm xmlns:a="http://schemas.openxmlformats.org/drawingml/2006/main">
            <a:off x="619125" y="2371725"/>
            <a:ext cx="0" cy="0"/>
          </a:xfrm>
          <a:prstGeom xmlns:a="http://schemas.openxmlformats.org/drawingml/2006/main" prst="line">
            <a:avLst/>
          </a:prstGeom>
          <a:noFill xmlns:a="http://schemas.openxmlformats.org/drawingml/2006/main"/>
          <a:ln xmlns:a="http://schemas.openxmlformats.org/drawingml/2006/main" w="19050">
            <a:solidFill>
              <a:srgbClr val="9CB5D5"/>
            </a:solidFill>
            <a:prstDash val="solid"/>
          </a:ln>
        </p:spPr>
      </p:sp>
      <p:sp>
        <p:nvSpPr>
          <p:cNvPr id="9" name="">
            <a:extLst xmlns:a="http://schemas.openxmlformats.org/drawingml/2006/main">
              <a:ext uri="{FF2B5EF4-FFF2-40B4-BE49-F238E27FC236}">
                <a16:creationId xmlns:a16="http://schemas.microsoft.com/office/drawing/2014/main" id="{A8A8914F-BE10-4304-B4E7-B45DA4C1C63E}"/>
              </a:ext>
            </a:extLst>
          </p:cNvPr>
          <p:cNvSpPr>
            <a:spLocks xmlns:a="http://schemas.openxmlformats.org/drawingml/2006/main" noGrp="1"/>
          </p:cNvSpPr>
          <p:nvPr/>
        </p:nvSpPr>
        <p:spPr>
          <a:xfrm xmlns:a="http://schemas.openxmlformats.org/drawingml/2006/main">
            <a:off x="457200" y="2724150"/>
            <a:ext cx="323850" cy="323850"/>
          </a:xfrm>
          <a:prstGeom xmlns:a="http://schemas.openxmlformats.org/drawingml/2006/main" prst="roundRect">
            <a:avLst>
              <a:gd name="adj" fmla="val 50000"/>
            </a:avLst>
          </a:prstGeom>
          <a:solidFill xmlns:a="http://schemas.openxmlformats.org/drawingml/2006/main">
            <a:srgbClr val="315F9F"/>
          </a:solidFill>
          <a:ln xmlns:a="http://schemas.openxmlformats.org/drawingml/2006/main" w="9525">
            <a:solidFill>
              <a:srgbClr val="315F9F"/>
            </a:solidFill>
            <a:prstDash val="solid"/>
          </a:ln>
        </p:spPr>
      </p:sp>
      <p:sp>
        <p:nvSpPr>
          <p:cNvPr id="10" name="">
            <a:extLst xmlns:a="http://schemas.openxmlformats.org/drawingml/2006/main">
              <a:ext uri="{FF2B5EF4-FFF2-40B4-BE49-F238E27FC236}">
                <a16:creationId xmlns:a16="http://schemas.microsoft.com/office/drawing/2014/main" id="{744DA04E-E782-4241-A00D-8BDB6C1710A7}"/>
              </a:ext>
            </a:extLst>
          </p:cNvPr>
          <p:cNvSpPr>
            <a:spLocks xmlns:a="http://schemas.openxmlformats.org/drawingml/2006/main" noGrp="1"/>
          </p:cNvSpPr>
          <p:nvPr/>
        </p:nvSpPr>
        <p:spPr>
          <a:xfrm xmlns:a="http://schemas.openxmlformats.org/drawingml/2006/main">
            <a:off x="561975" y="2781300"/>
            <a:ext cx="133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2</a:t>
            </a:r>
          </a:p>
        </p:txBody>
      </p:sp>
      <p:sp>
        <p:nvSpPr>
          <p:cNvPr id="11" name="">
            <a:extLst xmlns:a="http://schemas.openxmlformats.org/drawingml/2006/main">
              <a:ext uri="{FF2B5EF4-FFF2-40B4-BE49-F238E27FC236}">
                <a16:creationId xmlns:a16="http://schemas.microsoft.com/office/drawing/2014/main" id="{DF9E2949-2E8A-485A-BB75-2DF646A1DC1B}"/>
              </a:ext>
            </a:extLst>
          </p:cNvPr>
          <p:cNvSpPr>
            <a:spLocks xmlns:a="http://schemas.openxmlformats.org/drawingml/2006/main" noGrp="1"/>
          </p:cNvSpPr>
          <p:nvPr/>
        </p:nvSpPr>
        <p:spPr>
          <a:xfrm xmlns:a="http://schemas.openxmlformats.org/drawingml/2006/main">
            <a:off x="971550" y="2752725"/>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buNone/>
              <a:defRPr sz="1350" b="0">
                <a:solidFill>
                  <a:srgbClr val="344054"/>
                </a:solidFill>
                <a:latin typeface="Helvetica Neue"/>
                <a:ea typeface="Helvetica Neue"/>
                <a:cs typeface="Helvetica Neue"/>
              </a:defRPr>
            </a:pPr>
            <a:r>
              <a:rPr sz="1350" b="0">
                <a:solidFill>
                  <a:srgbClr val="344054"/>
                </a:solidFill>
                <a:latin typeface="Helvetica Neue"/>
                <a:ea typeface="Helvetica Neue"/>
                <a:cs typeface="Helvetica Neue"/>
              </a:rPr>
              <a:t>Assign a known company ID</a:t>
            </a:r>
          </a:p>
        </p:txBody>
      </p:sp>
      <p:sp>
        <p:nvSpPr>
          <p:cNvPr id="12" name="">
            <a:extLst xmlns:a="http://schemas.openxmlformats.org/drawingml/2006/main">
              <a:ext uri="{FF2B5EF4-FFF2-40B4-BE49-F238E27FC236}">
                <a16:creationId xmlns:a16="http://schemas.microsoft.com/office/drawing/2014/main" id="{BA392708-9950-446C-9ADA-FBD2E6F519AB}"/>
              </a:ext>
            </a:extLst>
          </p:cNvPr>
          <p:cNvSpPr>
            <a:spLocks xmlns:a="http://schemas.openxmlformats.org/drawingml/2006/main" noGrp="1"/>
          </p:cNvSpPr>
          <p:nvPr/>
        </p:nvSpPr>
        <p:spPr>
          <a:xfrm xmlns:a="http://schemas.openxmlformats.org/drawingml/2006/main">
            <a:off x="619125" y="3095625"/>
            <a:ext cx="0" cy="0"/>
          </a:xfrm>
          <a:prstGeom xmlns:a="http://schemas.openxmlformats.org/drawingml/2006/main" prst="line">
            <a:avLst/>
          </a:prstGeom>
          <a:noFill xmlns:a="http://schemas.openxmlformats.org/drawingml/2006/main"/>
          <a:ln xmlns:a="http://schemas.openxmlformats.org/drawingml/2006/main" w="19050">
            <a:solidFill>
              <a:srgbClr val="9CB5D5"/>
            </a:solidFill>
            <a:prstDash val="solid"/>
          </a:ln>
        </p:spPr>
      </p:sp>
      <p:sp>
        <p:nvSpPr>
          <p:cNvPr id="13" name="">
            <a:extLst xmlns:a="http://schemas.openxmlformats.org/drawingml/2006/main">
              <a:ext uri="{FF2B5EF4-FFF2-40B4-BE49-F238E27FC236}">
                <a16:creationId xmlns:a16="http://schemas.microsoft.com/office/drawing/2014/main" id="{4AF011EC-1C83-4C78-B335-F8C94918CC8D}"/>
              </a:ext>
            </a:extLst>
          </p:cNvPr>
          <p:cNvSpPr>
            <a:spLocks xmlns:a="http://schemas.openxmlformats.org/drawingml/2006/main" noGrp="1"/>
          </p:cNvSpPr>
          <p:nvPr/>
        </p:nvSpPr>
        <p:spPr>
          <a:xfrm xmlns:a="http://schemas.openxmlformats.org/drawingml/2006/main">
            <a:off x="457200" y="3448050"/>
            <a:ext cx="323850" cy="323850"/>
          </a:xfrm>
          <a:prstGeom xmlns:a="http://schemas.openxmlformats.org/drawingml/2006/main" prst="roundRect">
            <a:avLst>
              <a:gd name="adj" fmla="val 50000"/>
            </a:avLst>
          </a:prstGeom>
          <a:solidFill xmlns:a="http://schemas.openxmlformats.org/drawingml/2006/main">
            <a:srgbClr val="315F9F"/>
          </a:solidFill>
          <a:ln xmlns:a="http://schemas.openxmlformats.org/drawingml/2006/main" w="9525">
            <a:solidFill>
              <a:srgbClr val="315F9F"/>
            </a:solidFill>
            <a:prstDash val="solid"/>
          </a:ln>
        </p:spPr>
      </p:sp>
      <p:sp>
        <p:nvSpPr>
          <p:cNvPr id="14" name="">
            <a:extLst xmlns:a="http://schemas.openxmlformats.org/drawingml/2006/main">
              <a:ext uri="{FF2B5EF4-FFF2-40B4-BE49-F238E27FC236}">
                <a16:creationId xmlns:a16="http://schemas.microsoft.com/office/drawing/2014/main" id="{267B03D7-4FFF-4222-8023-4B9CA2C306D3}"/>
              </a:ext>
            </a:extLst>
          </p:cNvPr>
          <p:cNvSpPr>
            <a:spLocks xmlns:a="http://schemas.openxmlformats.org/drawingml/2006/main" noGrp="1"/>
          </p:cNvSpPr>
          <p:nvPr/>
        </p:nvSpPr>
        <p:spPr>
          <a:xfrm xmlns:a="http://schemas.openxmlformats.org/drawingml/2006/main">
            <a:off x="561975" y="3505200"/>
            <a:ext cx="133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3</a:t>
            </a:r>
          </a:p>
        </p:txBody>
      </p:sp>
      <p:sp>
        <p:nvSpPr>
          <p:cNvPr id="15" name="">
            <a:extLst xmlns:a="http://schemas.openxmlformats.org/drawingml/2006/main">
              <a:ext uri="{FF2B5EF4-FFF2-40B4-BE49-F238E27FC236}">
                <a16:creationId xmlns:a16="http://schemas.microsoft.com/office/drawing/2014/main" id="{E878125C-7399-406D-BC38-0734C61BE00C}"/>
              </a:ext>
            </a:extLst>
          </p:cNvPr>
          <p:cNvSpPr>
            <a:spLocks xmlns:a="http://schemas.openxmlformats.org/drawingml/2006/main" noGrp="1"/>
          </p:cNvSpPr>
          <p:nvPr/>
        </p:nvSpPr>
        <p:spPr>
          <a:xfrm xmlns:a="http://schemas.openxmlformats.org/drawingml/2006/main">
            <a:off x="971550" y="3476625"/>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buNone/>
              <a:defRPr sz="1350" b="0">
                <a:solidFill>
                  <a:srgbClr val="344054"/>
                </a:solidFill>
                <a:latin typeface="Helvetica Neue"/>
                <a:ea typeface="Helvetica Neue"/>
                <a:cs typeface="Helvetica Neue"/>
              </a:defRPr>
            </a:pPr>
            <a:r>
              <a:rPr sz="1350" b="0">
                <a:solidFill>
                  <a:srgbClr val="344054"/>
                </a:solidFill>
                <a:latin typeface="Helvetica Neue"/>
                <a:ea typeface="Helvetica Neue"/>
                <a:cs typeface="Helvetica Neue"/>
              </a:rPr>
              <a:t>Keep the original content, dates, and source location</a:t>
            </a:r>
          </a:p>
        </p:txBody>
      </p:sp>
      <p:sp>
        <p:nvSpPr>
          <p:cNvPr id="16" name="">
            <a:extLst xmlns:a="http://schemas.openxmlformats.org/drawingml/2006/main">
              <a:ext uri="{FF2B5EF4-FFF2-40B4-BE49-F238E27FC236}">
                <a16:creationId xmlns:a16="http://schemas.microsoft.com/office/drawing/2014/main" id="{D7561669-D96D-4F99-AAE4-AE64D61FD29B}"/>
              </a:ext>
            </a:extLst>
          </p:cNvPr>
          <p:cNvSpPr>
            <a:spLocks xmlns:a="http://schemas.openxmlformats.org/drawingml/2006/main" noGrp="1"/>
          </p:cNvSpPr>
          <p:nvPr/>
        </p:nvSpPr>
        <p:spPr>
          <a:xfrm xmlns:a="http://schemas.openxmlformats.org/drawingml/2006/main">
            <a:off x="619125" y="3819525"/>
            <a:ext cx="0" cy="0"/>
          </a:xfrm>
          <a:prstGeom xmlns:a="http://schemas.openxmlformats.org/drawingml/2006/main" prst="line">
            <a:avLst/>
          </a:prstGeom>
          <a:noFill xmlns:a="http://schemas.openxmlformats.org/drawingml/2006/main"/>
          <a:ln xmlns:a="http://schemas.openxmlformats.org/drawingml/2006/main" w="19050">
            <a:solidFill>
              <a:srgbClr val="9CB5D5"/>
            </a:solidFill>
            <a:prstDash val="solid"/>
          </a:ln>
        </p:spPr>
      </p:sp>
      <p:sp>
        <p:nvSpPr>
          <p:cNvPr id="17" name="">
            <a:extLst xmlns:a="http://schemas.openxmlformats.org/drawingml/2006/main">
              <a:ext uri="{FF2B5EF4-FFF2-40B4-BE49-F238E27FC236}">
                <a16:creationId xmlns:a16="http://schemas.microsoft.com/office/drawing/2014/main" id="{5969D8FE-F79D-4F30-8530-3ED39A96BD24}"/>
              </a:ext>
            </a:extLst>
          </p:cNvPr>
          <p:cNvSpPr>
            <a:spLocks xmlns:a="http://schemas.openxmlformats.org/drawingml/2006/main" noGrp="1"/>
          </p:cNvSpPr>
          <p:nvPr/>
        </p:nvSpPr>
        <p:spPr>
          <a:xfrm xmlns:a="http://schemas.openxmlformats.org/drawingml/2006/main">
            <a:off x="457200" y="4171950"/>
            <a:ext cx="323850" cy="323850"/>
          </a:xfrm>
          <a:prstGeom xmlns:a="http://schemas.openxmlformats.org/drawingml/2006/main" prst="roundRect">
            <a:avLst>
              <a:gd name="adj" fmla="val 50000"/>
            </a:avLst>
          </a:prstGeom>
          <a:solidFill xmlns:a="http://schemas.openxmlformats.org/drawingml/2006/main">
            <a:srgbClr val="315F9F"/>
          </a:solidFill>
          <a:ln xmlns:a="http://schemas.openxmlformats.org/drawingml/2006/main" w="9525">
            <a:solidFill>
              <a:srgbClr val="315F9F"/>
            </a:solidFill>
            <a:prstDash val="solid"/>
          </a:ln>
        </p:spPr>
      </p:sp>
      <p:sp>
        <p:nvSpPr>
          <p:cNvPr id="18" name="">
            <a:extLst xmlns:a="http://schemas.openxmlformats.org/drawingml/2006/main">
              <a:ext uri="{FF2B5EF4-FFF2-40B4-BE49-F238E27FC236}">
                <a16:creationId xmlns:a16="http://schemas.microsoft.com/office/drawing/2014/main" id="{DE72449E-1384-407C-AC51-A2662CEB52CA}"/>
              </a:ext>
            </a:extLst>
          </p:cNvPr>
          <p:cNvSpPr>
            <a:spLocks xmlns:a="http://schemas.openxmlformats.org/drawingml/2006/main" noGrp="1"/>
          </p:cNvSpPr>
          <p:nvPr/>
        </p:nvSpPr>
        <p:spPr>
          <a:xfrm xmlns:a="http://schemas.openxmlformats.org/drawingml/2006/main">
            <a:off x="561975" y="4229100"/>
            <a:ext cx="133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4</a:t>
            </a:r>
          </a:p>
        </p:txBody>
      </p:sp>
      <p:sp>
        <p:nvSpPr>
          <p:cNvPr id="19" name="">
            <a:extLst xmlns:a="http://schemas.openxmlformats.org/drawingml/2006/main">
              <a:ext uri="{FF2B5EF4-FFF2-40B4-BE49-F238E27FC236}">
                <a16:creationId xmlns:a16="http://schemas.microsoft.com/office/drawing/2014/main" id="{D786C1E8-153D-4E33-BBE6-7D81EB56046E}"/>
              </a:ext>
            </a:extLst>
          </p:cNvPr>
          <p:cNvSpPr>
            <a:spLocks xmlns:a="http://schemas.openxmlformats.org/drawingml/2006/main" noGrp="1"/>
          </p:cNvSpPr>
          <p:nvPr/>
        </p:nvSpPr>
        <p:spPr>
          <a:xfrm xmlns:a="http://schemas.openxmlformats.org/drawingml/2006/main">
            <a:off x="971550" y="4200525"/>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buNone/>
              <a:defRPr sz="1350" b="0">
                <a:solidFill>
                  <a:srgbClr val="344054"/>
                </a:solidFill>
                <a:latin typeface="Helvetica Neue"/>
                <a:ea typeface="Helvetica Neue"/>
                <a:cs typeface="Helvetica Neue"/>
              </a:defRPr>
            </a:pPr>
            <a:r>
              <a:rPr sz="1350" b="0">
                <a:solidFill>
                  <a:srgbClr val="344054"/>
                </a:solidFill>
                <a:latin typeface="Helvetica Neue"/>
                <a:ea typeface="Helvetica Neue"/>
                <a:cs typeface="Helvetica Neue"/>
              </a:rPr>
              <a:t>Normalize the text and calculate a checksum</a:t>
            </a:r>
          </a:p>
        </p:txBody>
      </p:sp>
      <p:sp>
        <p:nvSpPr>
          <p:cNvPr id="20" name="">
            <a:extLst xmlns:a="http://schemas.openxmlformats.org/drawingml/2006/main">
              <a:ext uri="{FF2B5EF4-FFF2-40B4-BE49-F238E27FC236}">
                <a16:creationId xmlns:a16="http://schemas.microsoft.com/office/drawing/2014/main" id="{FCCB409B-36D1-4D07-8523-93405C75454C}"/>
              </a:ext>
            </a:extLst>
          </p:cNvPr>
          <p:cNvSpPr>
            <a:spLocks xmlns:a="http://schemas.openxmlformats.org/drawingml/2006/main" noGrp="1"/>
          </p:cNvSpPr>
          <p:nvPr/>
        </p:nvSpPr>
        <p:spPr>
          <a:xfrm xmlns:a="http://schemas.openxmlformats.org/drawingml/2006/main">
            <a:off x="619125" y="4543425"/>
            <a:ext cx="0" cy="0"/>
          </a:xfrm>
          <a:prstGeom xmlns:a="http://schemas.openxmlformats.org/drawingml/2006/main" prst="line">
            <a:avLst/>
          </a:prstGeom>
          <a:noFill xmlns:a="http://schemas.openxmlformats.org/drawingml/2006/main"/>
          <a:ln xmlns:a="http://schemas.openxmlformats.org/drawingml/2006/main" w="19050">
            <a:solidFill>
              <a:srgbClr val="9CB5D5"/>
            </a:solidFill>
            <a:prstDash val="solid"/>
          </a:ln>
        </p:spPr>
      </p:sp>
      <p:sp>
        <p:nvSpPr>
          <p:cNvPr id="21" name="">
            <a:extLst xmlns:a="http://schemas.openxmlformats.org/drawingml/2006/main">
              <a:ext uri="{FF2B5EF4-FFF2-40B4-BE49-F238E27FC236}">
                <a16:creationId xmlns:a16="http://schemas.microsoft.com/office/drawing/2014/main" id="{C901AFB4-3CC6-4EF1-99E3-CA08389983BB}"/>
              </a:ext>
            </a:extLst>
          </p:cNvPr>
          <p:cNvSpPr>
            <a:spLocks xmlns:a="http://schemas.openxmlformats.org/drawingml/2006/main" noGrp="1"/>
          </p:cNvSpPr>
          <p:nvPr/>
        </p:nvSpPr>
        <p:spPr>
          <a:xfrm xmlns:a="http://schemas.openxmlformats.org/drawingml/2006/main">
            <a:off x="457200" y="4895850"/>
            <a:ext cx="323850" cy="323850"/>
          </a:xfrm>
          <a:prstGeom xmlns:a="http://schemas.openxmlformats.org/drawingml/2006/main" prst="roundRect">
            <a:avLst>
              <a:gd name="adj" fmla="val 50000"/>
            </a:avLst>
          </a:prstGeom>
          <a:solidFill xmlns:a="http://schemas.openxmlformats.org/drawingml/2006/main">
            <a:srgbClr val="315F9F"/>
          </a:solidFill>
          <a:ln xmlns:a="http://schemas.openxmlformats.org/drawingml/2006/main" w="9525">
            <a:solidFill>
              <a:srgbClr val="315F9F"/>
            </a:solidFill>
            <a:prstDash val="solid"/>
          </a:ln>
        </p:spPr>
      </p:sp>
      <p:sp>
        <p:nvSpPr>
          <p:cNvPr id="22" name="">
            <a:extLst xmlns:a="http://schemas.openxmlformats.org/drawingml/2006/main">
              <a:ext uri="{FF2B5EF4-FFF2-40B4-BE49-F238E27FC236}">
                <a16:creationId xmlns:a16="http://schemas.microsoft.com/office/drawing/2014/main" id="{39B717AD-6170-4CFF-BB81-8BC5838DFFBA}"/>
              </a:ext>
            </a:extLst>
          </p:cNvPr>
          <p:cNvSpPr>
            <a:spLocks xmlns:a="http://schemas.openxmlformats.org/drawingml/2006/main" noGrp="1"/>
          </p:cNvSpPr>
          <p:nvPr/>
        </p:nvSpPr>
        <p:spPr>
          <a:xfrm xmlns:a="http://schemas.openxmlformats.org/drawingml/2006/main">
            <a:off x="561975" y="4953000"/>
            <a:ext cx="133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5</a:t>
            </a:r>
          </a:p>
        </p:txBody>
      </p:sp>
      <p:sp>
        <p:nvSpPr>
          <p:cNvPr id="23" name="">
            <a:extLst xmlns:a="http://schemas.openxmlformats.org/drawingml/2006/main">
              <a:ext uri="{FF2B5EF4-FFF2-40B4-BE49-F238E27FC236}">
                <a16:creationId xmlns:a16="http://schemas.microsoft.com/office/drawing/2014/main" id="{28DAAB14-613C-43B8-BDF1-18A66C092515}"/>
              </a:ext>
            </a:extLst>
          </p:cNvPr>
          <p:cNvSpPr>
            <a:spLocks xmlns:a="http://schemas.openxmlformats.org/drawingml/2006/main" noGrp="1"/>
          </p:cNvSpPr>
          <p:nvPr/>
        </p:nvSpPr>
        <p:spPr>
          <a:xfrm xmlns:a="http://schemas.openxmlformats.org/drawingml/2006/main">
            <a:off x="971550" y="4924425"/>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03"/>
          </a:bodyPr>
          <a:lstStyle xmlns:a="http://schemas.openxmlformats.org/drawingml/2006/main"/>
          <a:p xmlns:a="http://schemas.openxmlformats.org/drawingml/2006/main">
            <a:pPr algn="l">
              <a:buNone/>
              <a:defRPr sz="1350" b="0">
                <a:solidFill>
                  <a:srgbClr val="344054"/>
                </a:solidFill>
                <a:latin typeface="Helvetica Neue"/>
                <a:ea typeface="Helvetica Neue"/>
                <a:cs typeface="Helvetica Neue"/>
              </a:defRPr>
            </a:pPr>
            <a:r>
              <a:rPr sz="1350" b="0">
                <a:solidFill>
                  <a:srgbClr val="344054"/>
                </a:solidFill>
                <a:latin typeface="Helvetica Neue"/>
                <a:ea typeface="Helvetica Neue"/>
                <a:cs typeface="Helvetica Neue"/>
              </a:rPr>
              <a:t>Create facts, chunks, search text, and OpenAI embeddings</a:t>
            </a:r>
          </a:p>
        </p:txBody>
      </p:sp>
      <p:sp>
        <p:nvSpPr>
          <p:cNvPr id="24" name="">
            <a:extLst xmlns:a="http://schemas.openxmlformats.org/drawingml/2006/main">
              <a:ext uri="{FF2B5EF4-FFF2-40B4-BE49-F238E27FC236}">
                <a16:creationId xmlns:a16="http://schemas.microsoft.com/office/drawing/2014/main" id="{AE4B2134-0E03-439A-A505-DE179D4F8A78}"/>
              </a:ext>
            </a:extLst>
          </p:cNvPr>
          <p:cNvSpPr>
            <a:spLocks xmlns:a="http://schemas.openxmlformats.org/drawingml/2006/main" noGrp="1"/>
          </p:cNvSpPr>
          <p:nvPr/>
        </p:nvSpPr>
        <p:spPr>
          <a:xfrm xmlns:a="http://schemas.openxmlformats.org/drawingml/2006/main">
            <a:off x="5857875" y="1866900"/>
            <a:ext cx="2571750" cy="3429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D0D5DD"/>
            </a:solidFill>
            <a:prstDash val="solid"/>
          </a:ln>
        </p:spPr>
      </p:sp>
      <p:sp>
        <p:nvSpPr>
          <p:cNvPr id="25" name="">
            <a:extLst xmlns:a="http://schemas.openxmlformats.org/drawingml/2006/main">
              <a:ext uri="{FF2B5EF4-FFF2-40B4-BE49-F238E27FC236}">
                <a16:creationId xmlns:a16="http://schemas.microsoft.com/office/drawing/2014/main" id="{50B4CBE1-89EE-44EE-983C-A9759975B102}"/>
              </a:ext>
            </a:extLst>
          </p:cNvPr>
          <p:cNvSpPr>
            <a:spLocks xmlns:a="http://schemas.openxmlformats.org/drawingml/2006/main" noGrp="1"/>
          </p:cNvSpPr>
          <p:nvPr/>
        </p:nvSpPr>
        <p:spPr>
          <a:xfrm xmlns:a="http://schemas.openxmlformats.org/drawingml/2006/main">
            <a:off x="6086475" y="2095500"/>
            <a:ext cx="1466850" cy="285750"/>
          </a:xfrm>
          <a:prstGeom xmlns:a="http://schemas.openxmlformats.org/drawingml/2006/main" prst="roundRect">
            <a:avLst>
              <a:gd name="adj" fmla="val 50000"/>
            </a:avLst>
          </a:prstGeom>
          <a:solidFill xmlns:a="http://schemas.openxmlformats.org/drawingml/2006/main">
            <a:srgbClr val="E8F0FB"/>
          </a:solidFill>
          <a:ln xmlns:a="http://schemas.openxmlformats.org/drawingml/2006/main" w="9525">
            <a:solidFill>
              <a:srgbClr val="9CB5D5"/>
            </a:solidFill>
            <a:prstDash val="solid"/>
          </a:ln>
        </p:spPr>
      </p:sp>
      <p:sp>
        <p:nvSpPr>
          <p:cNvPr id="26" name="">
            <a:extLst xmlns:a="http://schemas.openxmlformats.org/drawingml/2006/main">
              <a:ext uri="{FF2B5EF4-FFF2-40B4-BE49-F238E27FC236}">
                <a16:creationId xmlns:a16="http://schemas.microsoft.com/office/drawing/2014/main" id="{65E29143-C486-4B9C-992D-E9D30EFD7418}"/>
              </a:ext>
            </a:extLst>
          </p:cNvPr>
          <p:cNvSpPr>
            <a:spLocks xmlns:a="http://schemas.openxmlformats.org/drawingml/2006/main" noGrp="1"/>
          </p:cNvSpPr>
          <p:nvPr/>
        </p:nvSpPr>
        <p:spPr>
          <a:xfrm xmlns:a="http://schemas.openxmlformats.org/drawingml/2006/main">
            <a:off x="6200775" y="2143125"/>
            <a:ext cx="12382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315F9F"/>
                </a:solidFill>
                <a:latin typeface="Helvetica Neue"/>
                <a:ea typeface="Helvetica Neue"/>
                <a:cs typeface="Helvetica Neue"/>
              </a:defRPr>
            </a:pPr>
            <a:r>
              <a:rPr sz="1050" b="1">
                <a:solidFill>
                  <a:srgbClr val="315F9F"/>
                </a:solidFill>
                <a:latin typeface="Helvetica Neue"/>
                <a:ea typeface="Helvetica Neue"/>
                <a:cs typeface="Helvetica Neue"/>
              </a:rPr>
              <a:t>STRUCTURED</a:t>
            </a:r>
          </a:p>
        </p:txBody>
      </p:sp>
      <p:sp>
        <p:nvSpPr>
          <p:cNvPr id="27" name="">
            <a:extLst xmlns:a="http://schemas.openxmlformats.org/drawingml/2006/main">
              <a:ext uri="{FF2B5EF4-FFF2-40B4-BE49-F238E27FC236}">
                <a16:creationId xmlns:a16="http://schemas.microsoft.com/office/drawing/2014/main" id="{DFDCA77A-5E0E-43A6-BB0A-56BF2DE0DC4A}"/>
              </a:ext>
            </a:extLst>
          </p:cNvPr>
          <p:cNvSpPr>
            <a:spLocks xmlns:a="http://schemas.openxmlformats.org/drawingml/2006/main" noGrp="1"/>
          </p:cNvSpPr>
          <p:nvPr/>
        </p:nvSpPr>
        <p:spPr>
          <a:xfrm xmlns:a="http://schemas.openxmlformats.org/drawingml/2006/main">
            <a:off x="6086475" y="2695575"/>
            <a:ext cx="76200" cy="76200"/>
          </a:xfrm>
          <a:prstGeom xmlns:a="http://schemas.openxmlformats.org/drawingml/2006/main" prst="roundRect">
            <a:avLst>
              <a:gd name="adj" fmla="val 50000"/>
            </a:avLst>
          </a:prstGeom>
          <a:solidFill xmlns:a="http://schemas.openxmlformats.org/drawingml/2006/main">
            <a:srgbClr val="315F9F"/>
          </a:solidFill>
          <a:ln xmlns:a="http://schemas.openxmlformats.org/drawingml/2006/main" w="9525">
            <a:solidFill>
              <a:srgbClr val="315F9F"/>
            </a:solidFill>
            <a:prstDash val="solid"/>
          </a:ln>
        </p:spPr>
      </p:sp>
      <p:sp>
        <p:nvSpPr>
          <p:cNvPr id="28" name="">
            <a:extLst xmlns:a="http://schemas.openxmlformats.org/drawingml/2006/main">
              <a:ext uri="{FF2B5EF4-FFF2-40B4-BE49-F238E27FC236}">
                <a16:creationId xmlns:a16="http://schemas.microsoft.com/office/drawing/2014/main" id="{6B7F2038-5230-4C6D-B7BE-2F1B21A08219}"/>
              </a:ext>
            </a:extLst>
          </p:cNvPr>
          <p:cNvSpPr>
            <a:spLocks xmlns:a="http://schemas.openxmlformats.org/drawingml/2006/main" noGrp="1"/>
          </p:cNvSpPr>
          <p:nvPr/>
        </p:nvSpPr>
        <p:spPr>
          <a:xfrm xmlns:a="http://schemas.openxmlformats.org/drawingml/2006/main">
            <a:off x="6296025" y="2628900"/>
            <a:ext cx="1885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185"/>
          </a:bodyPr>
          <a:lstStyle xmlns:a="http://schemas.openxmlformats.org/drawingml/2006/main"/>
          <a:p xmlns:a="http://schemas.openxmlformats.org/drawingml/2006/main">
            <a:pPr algn="l">
              <a:buNone/>
              <a:defRPr sz="1275" b="0">
                <a:solidFill>
                  <a:srgbClr val="344054"/>
                </a:solidFill>
                <a:latin typeface="Helvetica Neue"/>
                <a:ea typeface="Helvetica Neue"/>
                <a:cs typeface="Helvetica Neue"/>
              </a:defRPr>
            </a:pPr>
            <a:r>
              <a:rPr sz="1275" b="0">
                <a:solidFill>
                  <a:srgbClr val="344054"/>
                </a:solidFill>
                <a:latin typeface="Helvetica Neue"/>
                <a:ea typeface="Helvetica Neue"/>
                <a:cs typeface="Helvetica Neue"/>
              </a:rPr>
              <a:t>Companies and relationships</a:t>
            </a:r>
          </a:p>
        </p:txBody>
      </p:sp>
      <p:sp>
        <p:nvSpPr>
          <p:cNvPr id="29" name="">
            <a:extLst xmlns:a="http://schemas.openxmlformats.org/drawingml/2006/main">
              <a:ext uri="{FF2B5EF4-FFF2-40B4-BE49-F238E27FC236}">
                <a16:creationId xmlns:a16="http://schemas.microsoft.com/office/drawing/2014/main" id="{5D0A1E6A-DDE2-4B51-9CA3-BB600382FAFD}"/>
              </a:ext>
            </a:extLst>
          </p:cNvPr>
          <p:cNvSpPr>
            <a:spLocks xmlns:a="http://schemas.openxmlformats.org/drawingml/2006/main" noGrp="1"/>
          </p:cNvSpPr>
          <p:nvPr/>
        </p:nvSpPr>
        <p:spPr>
          <a:xfrm xmlns:a="http://schemas.openxmlformats.org/drawingml/2006/main">
            <a:off x="6086475" y="3209925"/>
            <a:ext cx="76200" cy="76200"/>
          </a:xfrm>
          <a:prstGeom xmlns:a="http://schemas.openxmlformats.org/drawingml/2006/main" prst="roundRect">
            <a:avLst>
              <a:gd name="adj" fmla="val 50000"/>
            </a:avLst>
          </a:prstGeom>
          <a:solidFill xmlns:a="http://schemas.openxmlformats.org/drawingml/2006/main">
            <a:srgbClr val="315F9F"/>
          </a:solidFill>
          <a:ln xmlns:a="http://schemas.openxmlformats.org/drawingml/2006/main" w="9525">
            <a:solidFill>
              <a:srgbClr val="315F9F"/>
            </a:solidFill>
            <a:prstDash val="solid"/>
          </a:ln>
        </p:spPr>
      </p:sp>
      <p:sp>
        <p:nvSpPr>
          <p:cNvPr id="30" name="">
            <a:extLst xmlns:a="http://schemas.openxmlformats.org/drawingml/2006/main">
              <a:ext uri="{FF2B5EF4-FFF2-40B4-BE49-F238E27FC236}">
                <a16:creationId xmlns:a16="http://schemas.microsoft.com/office/drawing/2014/main" id="{8C9C2D3B-3862-47DC-8DCC-CDD999C31758}"/>
              </a:ext>
            </a:extLst>
          </p:cNvPr>
          <p:cNvSpPr>
            <a:spLocks xmlns:a="http://schemas.openxmlformats.org/drawingml/2006/main" noGrp="1"/>
          </p:cNvSpPr>
          <p:nvPr/>
        </p:nvSpPr>
        <p:spPr>
          <a:xfrm xmlns:a="http://schemas.openxmlformats.org/drawingml/2006/main">
            <a:off x="6296025" y="3143250"/>
            <a:ext cx="1885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974"/>
          </a:bodyPr>
          <a:lstStyle xmlns:a="http://schemas.openxmlformats.org/drawingml/2006/main"/>
          <a:p xmlns:a="http://schemas.openxmlformats.org/drawingml/2006/main">
            <a:pPr algn="l">
              <a:buNone/>
              <a:defRPr sz="1275" b="0">
                <a:solidFill>
                  <a:srgbClr val="344054"/>
                </a:solidFill>
                <a:latin typeface="Helvetica Neue"/>
                <a:ea typeface="Helvetica Neue"/>
                <a:cs typeface="Helvetica Neue"/>
              </a:defRPr>
            </a:pPr>
            <a:r>
              <a:rPr sz="1275" b="0">
                <a:solidFill>
                  <a:srgbClr val="344054"/>
                </a:solidFill>
                <a:latin typeface="Helvetica Neue"/>
                <a:ea typeface="Helvetica Neue"/>
                <a:cs typeface="Helvetica Neue"/>
              </a:rPr>
              <a:t>Facts, values, and dates</a:t>
            </a:r>
          </a:p>
        </p:txBody>
      </p:sp>
      <p:sp>
        <p:nvSpPr>
          <p:cNvPr id="31" name="">
            <a:extLst xmlns:a="http://schemas.openxmlformats.org/drawingml/2006/main">
              <a:ext uri="{FF2B5EF4-FFF2-40B4-BE49-F238E27FC236}">
                <a16:creationId xmlns:a16="http://schemas.microsoft.com/office/drawing/2014/main" id="{F482ED8D-B68B-44E4-87AC-903197BE6FCE}"/>
              </a:ext>
            </a:extLst>
          </p:cNvPr>
          <p:cNvSpPr>
            <a:spLocks xmlns:a="http://schemas.openxmlformats.org/drawingml/2006/main" noGrp="1"/>
          </p:cNvSpPr>
          <p:nvPr/>
        </p:nvSpPr>
        <p:spPr>
          <a:xfrm xmlns:a="http://schemas.openxmlformats.org/drawingml/2006/main">
            <a:off x="6086475" y="3724275"/>
            <a:ext cx="76200" cy="76200"/>
          </a:xfrm>
          <a:prstGeom xmlns:a="http://schemas.openxmlformats.org/drawingml/2006/main" prst="roundRect">
            <a:avLst>
              <a:gd name="adj" fmla="val 50000"/>
            </a:avLst>
          </a:prstGeom>
          <a:solidFill xmlns:a="http://schemas.openxmlformats.org/drawingml/2006/main">
            <a:srgbClr val="315F9F"/>
          </a:solidFill>
          <a:ln xmlns:a="http://schemas.openxmlformats.org/drawingml/2006/main" w="9525">
            <a:solidFill>
              <a:srgbClr val="315F9F"/>
            </a:solidFill>
            <a:prstDash val="solid"/>
          </a:ln>
        </p:spPr>
      </p:sp>
      <p:sp>
        <p:nvSpPr>
          <p:cNvPr id="32" name="">
            <a:extLst xmlns:a="http://schemas.openxmlformats.org/drawingml/2006/main">
              <a:ext uri="{FF2B5EF4-FFF2-40B4-BE49-F238E27FC236}">
                <a16:creationId xmlns:a16="http://schemas.microsoft.com/office/drawing/2014/main" id="{D94107E3-D67A-4E88-B122-31CFD386E0DA}"/>
              </a:ext>
            </a:extLst>
          </p:cNvPr>
          <p:cNvSpPr>
            <a:spLocks xmlns:a="http://schemas.openxmlformats.org/drawingml/2006/main" noGrp="1"/>
          </p:cNvSpPr>
          <p:nvPr/>
        </p:nvSpPr>
        <p:spPr>
          <a:xfrm xmlns:a="http://schemas.openxmlformats.org/drawingml/2006/main">
            <a:off x="6296025" y="3657600"/>
            <a:ext cx="1885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118"/>
          </a:bodyPr>
          <a:lstStyle xmlns:a="http://schemas.openxmlformats.org/drawingml/2006/main"/>
          <a:p xmlns:a="http://schemas.openxmlformats.org/drawingml/2006/main">
            <a:pPr algn="l">
              <a:buNone/>
              <a:defRPr sz="1275" b="0">
                <a:solidFill>
                  <a:srgbClr val="344054"/>
                </a:solidFill>
                <a:latin typeface="Helvetica Neue"/>
                <a:ea typeface="Helvetica Neue"/>
                <a:cs typeface="Helvetica Neue"/>
              </a:defRPr>
            </a:pPr>
            <a:r>
              <a:rPr sz="1275" b="0">
                <a:solidFill>
                  <a:srgbClr val="344054"/>
                </a:solidFill>
                <a:latin typeface="Helvetica Neue"/>
                <a:ea typeface="Helvetica Neue"/>
                <a:cs typeface="Helvetica Neue"/>
              </a:rPr>
              <a:t>Source identity and verification data</a:t>
            </a:r>
          </a:p>
        </p:txBody>
      </p:sp>
      <p:sp>
        <p:nvSpPr>
          <p:cNvPr id="33" name="">
            <a:extLst xmlns:a="http://schemas.openxmlformats.org/drawingml/2006/main">
              <a:ext uri="{FF2B5EF4-FFF2-40B4-BE49-F238E27FC236}">
                <a16:creationId xmlns:a16="http://schemas.microsoft.com/office/drawing/2014/main" id="{59FA7323-BC67-4C89-AEB0-3B13FB5C5ADD}"/>
              </a:ext>
            </a:extLst>
          </p:cNvPr>
          <p:cNvSpPr>
            <a:spLocks xmlns:a="http://schemas.openxmlformats.org/drawingml/2006/main" noGrp="1"/>
          </p:cNvSpPr>
          <p:nvPr/>
        </p:nvSpPr>
        <p:spPr>
          <a:xfrm xmlns:a="http://schemas.openxmlformats.org/drawingml/2006/main">
            <a:off x="6086475" y="4352925"/>
            <a:ext cx="76200" cy="76200"/>
          </a:xfrm>
          <a:prstGeom xmlns:a="http://schemas.openxmlformats.org/drawingml/2006/main" prst="roundRect">
            <a:avLst>
              <a:gd name="adj" fmla="val 50000"/>
            </a:avLst>
          </a:prstGeom>
          <a:solidFill xmlns:a="http://schemas.openxmlformats.org/drawingml/2006/main">
            <a:srgbClr val="315F9F"/>
          </a:solidFill>
          <a:ln xmlns:a="http://schemas.openxmlformats.org/drawingml/2006/main" w="9525">
            <a:solidFill>
              <a:srgbClr val="315F9F"/>
            </a:solidFill>
            <a:prstDash val="solid"/>
          </a:ln>
        </p:spPr>
      </p:sp>
      <p:sp>
        <p:nvSpPr>
          <p:cNvPr id="34" name="">
            <a:extLst xmlns:a="http://schemas.openxmlformats.org/drawingml/2006/main">
              <a:ext uri="{FF2B5EF4-FFF2-40B4-BE49-F238E27FC236}">
                <a16:creationId xmlns:a16="http://schemas.microsoft.com/office/drawing/2014/main" id="{1259E530-E8A2-41EA-8346-C57BFB7E85BB}"/>
              </a:ext>
            </a:extLst>
          </p:cNvPr>
          <p:cNvSpPr>
            <a:spLocks xmlns:a="http://schemas.openxmlformats.org/drawingml/2006/main" noGrp="1"/>
          </p:cNvSpPr>
          <p:nvPr/>
        </p:nvSpPr>
        <p:spPr>
          <a:xfrm xmlns:a="http://schemas.openxmlformats.org/drawingml/2006/main">
            <a:off x="6296025" y="4286250"/>
            <a:ext cx="1885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326"/>
          </a:bodyPr>
          <a:lstStyle xmlns:a="http://schemas.openxmlformats.org/drawingml/2006/main"/>
          <a:p xmlns:a="http://schemas.openxmlformats.org/drawingml/2006/main">
            <a:pPr algn="l">
              <a:buNone/>
              <a:defRPr sz="1275" b="0">
                <a:solidFill>
                  <a:srgbClr val="344054"/>
                </a:solidFill>
                <a:latin typeface="Helvetica Neue"/>
                <a:ea typeface="Helvetica Neue"/>
                <a:cs typeface="Helvetica Neue"/>
              </a:defRPr>
            </a:pPr>
            <a:r>
              <a:rPr sz="1275" b="0">
                <a:solidFill>
                  <a:srgbClr val="344054"/>
                </a:solidFill>
                <a:latin typeface="Helvetica Neue"/>
                <a:ea typeface="Helvetica Neue"/>
                <a:cs typeface="Helvetica Neue"/>
              </a:rPr>
              <a:t>Brief runs and feedback</a:t>
            </a:r>
          </a:p>
        </p:txBody>
      </p:sp>
      <p:sp>
        <p:nvSpPr>
          <p:cNvPr id="35" name="">
            <a:extLst xmlns:a="http://schemas.openxmlformats.org/drawingml/2006/main">
              <a:ext uri="{FF2B5EF4-FFF2-40B4-BE49-F238E27FC236}">
                <a16:creationId xmlns:a16="http://schemas.microsoft.com/office/drawing/2014/main" id="{008F0A80-4D98-430F-966E-9CC4CF3626B3}"/>
              </a:ext>
            </a:extLst>
          </p:cNvPr>
          <p:cNvSpPr>
            <a:spLocks xmlns:a="http://schemas.openxmlformats.org/drawingml/2006/main" noGrp="1"/>
          </p:cNvSpPr>
          <p:nvPr/>
        </p:nvSpPr>
        <p:spPr>
          <a:xfrm xmlns:a="http://schemas.openxmlformats.org/drawingml/2006/main">
            <a:off x="8667750" y="1866900"/>
            <a:ext cx="2647950" cy="3429000"/>
          </a:xfrm>
          <a:prstGeom xmlns:a="http://schemas.openxmlformats.org/drawingml/2006/main" prst="roundRect">
            <a:avLst>
              <a:gd name="adj" fmla="val 6475"/>
            </a:avLst>
          </a:prstGeom>
          <a:solidFill xmlns:a="http://schemas.openxmlformats.org/drawingml/2006/main">
            <a:srgbClr val="E8F0FB"/>
          </a:solidFill>
          <a:ln xmlns:a="http://schemas.openxmlformats.org/drawingml/2006/main" w="9525">
            <a:solidFill>
              <a:srgbClr val="9CB5D5"/>
            </a:solidFill>
            <a:prstDash val="solid"/>
          </a:ln>
        </p:spPr>
      </p:sp>
      <p:sp>
        <p:nvSpPr>
          <p:cNvPr id="36" name="">
            <a:extLst xmlns:a="http://schemas.openxmlformats.org/drawingml/2006/main">
              <a:ext uri="{FF2B5EF4-FFF2-40B4-BE49-F238E27FC236}">
                <a16:creationId xmlns:a16="http://schemas.microsoft.com/office/drawing/2014/main" id="{9C168A5B-B590-44D1-B806-F5F395BC196C}"/>
              </a:ext>
            </a:extLst>
          </p:cNvPr>
          <p:cNvSpPr>
            <a:spLocks xmlns:a="http://schemas.openxmlformats.org/drawingml/2006/main" noGrp="1"/>
          </p:cNvSpPr>
          <p:nvPr/>
        </p:nvSpPr>
        <p:spPr>
          <a:xfrm xmlns:a="http://schemas.openxmlformats.org/drawingml/2006/main">
            <a:off x="8896350" y="2095500"/>
            <a:ext cx="1714500" cy="2857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9CB5D5"/>
            </a:solidFill>
            <a:prstDash val="solid"/>
          </a:ln>
        </p:spPr>
      </p:sp>
      <p:sp>
        <p:nvSpPr>
          <p:cNvPr id="37" name="">
            <a:extLst xmlns:a="http://schemas.openxmlformats.org/drawingml/2006/main">
              <a:ext uri="{FF2B5EF4-FFF2-40B4-BE49-F238E27FC236}">
                <a16:creationId xmlns:a16="http://schemas.microsoft.com/office/drawing/2014/main" id="{202E3F51-1461-462E-A2C6-5F8626BC9D9C}"/>
              </a:ext>
            </a:extLst>
          </p:cNvPr>
          <p:cNvSpPr>
            <a:spLocks xmlns:a="http://schemas.openxmlformats.org/drawingml/2006/main" noGrp="1"/>
          </p:cNvSpPr>
          <p:nvPr/>
        </p:nvSpPr>
        <p:spPr>
          <a:xfrm xmlns:a="http://schemas.openxmlformats.org/drawingml/2006/main">
            <a:off x="9010650" y="2143125"/>
            <a:ext cx="14859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315F9F"/>
                </a:solidFill>
                <a:latin typeface="Helvetica Neue"/>
                <a:ea typeface="Helvetica Neue"/>
                <a:cs typeface="Helvetica Neue"/>
              </a:defRPr>
            </a:pPr>
            <a:r>
              <a:rPr sz="1050" b="1">
                <a:solidFill>
                  <a:srgbClr val="315F9F"/>
                </a:solidFill>
                <a:latin typeface="Helvetica Neue"/>
                <a:ea typeface="Helvetica Neue"/>
                <a:cs typeface="Helvetica Neue"/>
              </a:rPr>
              <a:t>UNSTRUCTURED</a:t>
            </a:r>
          </a:p>
        </p:txBody>
      </p:sp>
      <p:sp>
        <p:nvSpPr>
          <p:cNvPr id="38" name="">
            <a:extLst xmlns:a="http://schemas.openxmlformats.org/drawingml/2006/main">
              <a:ext uri="{FF2B5EF4-FFF2-40B4-BE49-F238E27FC236}">
                <a16:creationId xmlns:a16="http://schemas.microsoft.com/office/drawing/2014/main" id="{B502E35D-8EB6-40A1-908B-46F01167CEE2}"/>
              </a:ext>
            </a:extLst>
          </p:cNvPr>
          <p:cNvSpPr>
            <a:spLocks xmlns:a="http://schemas.openxmlformats.org/drawingml/2006/main" noGrp="1"/>
          </p:cNvSpPr>
          <p:nvPr/>
        </p:nvSpPr>
        <p:spPr>
          <a:xfrm xmlns:a="http://schemas.openxmlformats.org/drawingml/2006/main">
            <a:off x="8896350" y="2695575"/>
            <a:ext cx="76200" cy="76200"/>
          </a:xfrm>
          <a:prstGeom xmlns:a="http://schemas.openxmlformats.org/drawingml/2006/main" prst="roundRect">
            <a:avLst>
              <a:gd name="adj" fmla="val 50000"/>
            </a:avLst>
          </a:prstGeom>
          <a:solidFill xmlns:a="http://schemas.openxmlformats.org/drawingml/2006/main">
            <a:srgbClr val="315F9F"/>
          </a:solidFill>
          <a:ln xmlns:a="http://schemas.openxmlformats.org/drawingml/2006/main" w="9525">
            <a:solidFill>
              <a:srgbClr val="315F9F"/>
            </a:solidFill>
            <a:prstDash val="solid"/>
          </a:ln>
        </p:spPr>
      </p:sp>
      <p:sp>
        <p:nvSpPr>
          <p:cNvPr id="39" name="">
            <a:extLst xmlns:a="http://schemas.openxmlformats.org/drawingml/2006/main">
              <a:ext uri="{FF2B5EF4-FFF2-40B4-BE49-F238E27FC236}">
                <a16:creationId xmlns:a16="http://schemas.microsoft.com/office/drawing/2014/main" id="{24C4359B-11DC-4514-982F-3577788DC549}"/>
              </a:ext>
            </a:extLst>
          </p:cNvPr>
          <p:cNvSpPr>
            <a:spLocks xmlns:a="http://schemas.openxmlformats.org/drawingml/2006/main" noGrp="1"/>
          </p:cNvSpPr>
          <p:nvPr/>
        </p:nvSpPr>
        <p:spPr>
          <a:xfrm xmlns:a="http://schemas.openxmlformats.org/drawingml/2006/main">
            <a:off x="9105900" y="2628900"/>
            <a:ext cx="1981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3168"/>
          </a:bodyPr>
          <a:lstStyle xmlns:a="http://schemas.openxmlformats.org/drawingml/2006/main"/>
          <a:p xmlns:a="http://schemas.openxmlformats.org/drawingml/2006/main">
            <a:pPr algn="l">
              <a:buNone/>
              <a:defRPr sz="1275" b="0">
                <a:solidFill>
                  <a:srgbClr val="344054"/>
                </a:solidFill>
                <a:latin typeface="Helvetica Neue"/>
                <a:ea typeface="Helvetica Neue"/>
                <a:cs typeface="Helvetica Neue"/>
              </a:defRPr>
            </a:pPr>
            <a:r>
              <a:rPr sz="1275" b="0">
                <a:solidFill>
                  <a:srgbClr val="344054"/>
                </a:solidFill>
                <a:latin typeface="Helvetica Neue"/>
                <a:ea typeface="Helvetica Neue"/>
                <a:cs typeface="Helvetica Neue"/>
              </a:rPr>
              <a:t>Original JSON and Markdown</a:t>
            </a:r>
          </a:p>
        </p:txBody>
      </p:sp>
      <p:sp>
        <p:nvSpPr>
          <p:cNvPr id="40" name="">
            <a:extLst xmlns:a="http://schemas.openxmlformats.org/drawingml/2006/main">
              <a:ext uri="{FF2B5EF4-FFF2-40B4-BE49-F238E27FC236}">
                <a16:creationId xmlns:a16="http://schemas.microsoft.com/office/drawing/2014/main" id="{FAA29960-54C0-4E28-8FBC-E7E6FFDFF2F7}"/>
              </a:ext>
            </a:extLst>
          </p:cNvPr>
          <p:cNvSpPr>
            <a:spLocks xmlns:a="http://schemas.openxmlformats.org/drawingml/2006/main" noGrp="1"/>
          </p:cNvSpPr>
          <p:nvPr/>
        </p:nvSpPr>
        <p:spPr>
          <a:xfrm xmlns:a="http://schemas.openxmlformats.org/drawingml/2006/main">
            <a:off x="8896350" y="3209925"/>
            <a:ext cx="76200" cy="76200"/>
          </a:xfrm>
          <a:prstGeom xmlns:a="http://schemas.openxmlformats.org/drawingml/2006/main" prst="roundRect">
            <a:avLst>
              <a:gd name="adj" fmla="val 50000"/>
            </a:avLst>
          </a:prstGeom>
          <a:solidFill xmlns:a="http://schemas.openxmlformats.org/drawingml/2006/main">
            <a:srgbClr val="315F9F"/>
          </a:solidFill>
          <a:ln xmlns:a="http://schemas.openxmlformats.org/drawingml/2006/main" w="9525">
            <a:solidFill>
              <a:srgbClr val="315F9F"/>
            </a:solidFill>
            <a:prstDash val="solid"/>
          </a:ln>
        </p:spPr>
      </p:sp>
      <p:sp>
        <p:nvSpPr>
          <p:cNvPr id="41" name="">
            <a:extLst xmlns:a="http://schemas.openxmlformats.org/drawingml/2006/main">
              <a:ext uri="{FF2B5EF4-FFF2-40B4-BE49-F238E27FC236}">
                <a16:creationId xmlns:a16="http://schemas.microsoft.com/office/drawing/2014/main" id="{7702A8CE-DF25-4A6F-A9FC-D7D0911E0A49}"/>
              </a:ext>
            </a:extLst>
          </p:cNvPr>
          <p:cNvSpPr>
            <a:spLocks xmlns:a="http://schemas.openxmlformats.org/drawingml/2006/main" noGrp="1"/>
          </p:cNvSpPr>
          <p:nvPr/>
        </p:nvSpPr>
        <p:spPr>
          <a:xfrm xmlns:a="http://schemas.openxmlformats.org/drawingml/2006/main">
            <a:off x="9105900" y="3143250"/>
            <a:ext cx="1981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344054"/>
                </a:solidFill>
                <a:latin typeface="Helvetica Neue"/>
                <a:ea typeface="Helvetica Neue"/>
                <a:cs typeface="Helvetica Neue"/>
              </a:defRPr>
            </a:pPr>
            <a:r>
              <a:rPr sz="1275" b="0">
                <a:solidFill>
                  <a:srgbClr val="344054"/>
                </a:solidFill>
                <a:latin typeface="Helvetica Neue"/>
                <a:ea typeface="Helvetica Neue"/>
                <a:cs typeface="Helvetica Neue"/>
              </a:rPr>
              <a:t>Normalized source text</a:t>
            </a:r>
          </a:p>
        </p:txBody>
      </p:sp>
      <p:sp>
        <p:nvSpPr>
          <p:cNvPr id="42" name="">
            <a:extLst xmlns:a="http://schemas.openxmlformats.org/drawingml/2006/main">
              <a:ext uri="{FF2B5EF4-FFF2-40B4-BE49-F238E27FC236}">
                <a16:creationId xmlns:a16="http://schemas.microsoft.com/office/drawing/2014/main" id="{298CF7C7-3CD4-4558-BDC0-52F948A4E676}"/>
              </a:ext>
            </a:extLst>
          </p:cNvPr>
          <p:cNvSpPr>
            <a:spLocks xmlns:a="http://schemas.openxmlformats.org/drawingml/2006/main" noGrp="1"/>
          </p:cNvSpPr>
          <p:nvPr/>
        </p:nvSpPr>
        <p:spPr>
          <a:xfrm xmlns:a="http://schemas.openxmlformats.org/drawingml/2006/main">
            <a:off x="8896350" y="3724275"/>
            <a:ext cx="76200" cy="76200"/>
          </a:xfrm>
          <a:prstGeom xmlns:a="http://schemas.openxmlformats.org/drawingml/2006/main" prst="roundRect">
            <a:avLst>
              <a:gd name="adj" fmla="val 50000"/>
            </a:avLst>
          </a:prstGeom>
          <a:solidFill xmlns:a="http://schemas.openxmlformats.org/drawingml/2006/main">
            <a:srgbClr val="315F9F"/>
          </a:solidFill>
          <a:ln xmlns:a="http://schemas.openxmlformats.org/drawingml/2006/main" w="9525">
            <a:solidFill>
              <a:srgbClr val="315F9F"/>
            </a:solidFill>
            <a:prstDash val="solid"/>
          </a:ln>
        </p:spPr>
      </p:sp>
      <p:sp>
        <p:nvSpPr>
          <p:cNvPr id="43" name="">
            <a:extLst xmlns:a="http://schemas.openxmlformats.org/drawingml/2006/main">
              <a:ext uri="{FF2B5EF4-FFF2-40B4-BE49-F238E27FC236}">
                <a16:creationId xmlns:a16="http://schemas.microsoft.com/office/drawing/2014/main" id="{C7BE4148-2E18-44CF-B9F2-A708B72C673B}"/>
              </a:ext>
            </a:extLst>
          </p:cNvPr>
          <p:cNvSpPr>
            <a:spLocks xmlns:a="http://schemas.openxmlformats.org/drawingml/2006/main" noGrp="1"/>
          </p:cNvSpPr>
          <p:nvPr/>
        </p:nvSpPr>
        <p:spPr>
          <a:xfrm xmlns:a="http://schemas.openxmlformats.org/drawingml/2006/main">
            <a:off x="9105900" y="3657600"/>
            <a:ext cx="1981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609"/>
          </a:bodyPr>
          <a:lstStyle xmlns:a="http://schemas.openxmlformats.org/drawingml/2006/main"/>
          <a:p xmlns:a="http://schemas.openxmlformats.org/drawingml/2006/main">
            <a:pPr algn="l">
              <a:buNone/>
              <a:defRPr sz="1275" b="0">
                <a:solidFill>
                  <a:srgbClr val="344054"/>
                </a:solidFill>
                <a:latin typeface="Helvetica Neue"/>
                <a:ea typeface="Helvetica Neue"/>
                <a:cs typeface="Helvetica Neue"/>
              </a:defRPr>
            </a:pPr>
            <a:r>
              <a:rPr sz="1275" b="0">
                <a:solidFill>
                  <a:srgbClr val="344054"/>
                </a:solidFill>
                <a:latin typeface="Helvetica Neue"/>
                <a:ea typeface="Helvetica Neue"/>
                <a:cs typeface="Helvetica Neue"/>
              </a:rPr>
              <a:t>Text chunks and search text</a:t>
            </a:r>
          </a:p>
        </p:txBody>
      </p:sp>
      <p:sp>
        <p:nvSpPr>
          <p:cNvPr id="44" name="">
            <a:extLst xmlns:a="http://schemas.openxmlformats.org/drawingml/2006/main">
              <a:ext uri="{FF2B5EF4-FFF2-40B4-BE49-F238E27FC236}">
                <a16:creationId xmlns:a16="http://schemas.microsoft.com/office/drawing/2014/main" id="{D364477A-E7B2-485F-B991-59280566C2C4}"/>
              </a:ext>
            </a:extLst>
          </p:cNvPr>
          <p:cNvSpPr>
            <a:spLocks xmlns:a="http://schemas.openxmlformats.org/drawingml/2006/main" noGrp="1"/>
          </p:cNvSpPr>
          <p:nvPr/>
        </p:nvSpPr>
        <p:spPr>
          <a:xfrm xmlns:a="http://schemas.openxmlformats.org/drawingml/2006/main">
            <a:off x="8896350" y="4238625"/>
            <a:ext cx="76200" cy="76200"/>
          </a:xfrm>
          <a:prstGeom xmlns:a="http://schemas.openxmlformats.org/drawingml/2006/main" prst="roundRect">
            <a:avLst>
              <a:gd name="adj" fmla="val 50000"/>
            </a:avLst>
          </a:prstGeom>
          <a:solidFill xmlns:a="http://schemas.openxmlformats.org/drawingml/2006/main">
            <a:srgbClr val="315F9F"/>
          </a:solidFill>
          <a:ln xmlns:a="http://schemas.openxmlformats.org/drawingml/2006/main" w="9525">
            <a:solidFill>
              <a:srgbClr val="315F9F"/>
            </a:solidFill>
            <a:prstDash val="solid"/>
          </a:ln>
        </p:spPr>
      </p:sp>
      <p:sp>
        <p:nvSpPr>
          <p:cNvPr id="45" name="">
            <a:extLst xmlns:a="http://schemas.openxmlformats.org/drawingml/2006/main">
              <a:ext uri="{FF2B5EF4-FFF2-40B4-BE49-F238E27FC236}">
                <a16:creationId xmlns:a16="http://schemas.microsoft.com/office/drawing/2014/main" id="{F2169384-31B1-4D6C-A1AB-F5694A39F46F}"/>
              </a:ext>
            </a:extLst>
          </p:cNvPr>
          <p:cNvSpPr>
            <a:spLocks xmlns:a="http://schemas.openxmlformats.org/drawingml/2006/main" noGrp="1"/>
          </p:cNvSpPr>
          <p:nvPr/>
        </p:nvSpPr>
        <p:spPr>
          <a:xfrm xmlns:a="http://schemas.openxmlformats.org/drawingml/2006/main">
            <a:off x="9105900" y="4171950"/>
            <a:ext cx="1981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344054"/>
                </a:solidFill>
                <a:latin typeface="Helvetica Neue"/>
                <a:ea typeface="Helvetica Neue"/>
                <a:cs typeface="Helvetica Neue"/>
              </a:defRPr>
            </a:pPr>
            <a:r>
              <a:rPr sz="1275" b="0">
                <a:solidFill>
                  <a:srgbClr val="344054"/>
                </a:solidFill>
                <a:latin typeface="Helvetica Neue"/>
                <a:ea typeface="Helvetica Neue"/>
                <a:cs typeface="Helvetica Neue"/>
              </a:rPr>
              <a:t>OpenAI embeddings</a:t>
            </a:r>
          </a:p>
        </p:txBody>
      </p:sp>
      <p:sp>
        <p:nvSpPr>
          <p:cNvPr id="46" name="">
            <a:extLst xmlns:a="http://schemas.openxmlformats.org/drawingml/2006/main">
              <a:ext uri="{FF2B5EF4-FFF2-40B4-BE49-F238E27FC236}">
                <a16:creationId xmlns:a16="http://schemas.microsoft.com/office/drawing/2014/main" id="{8B7D4F15-8AAA-4EBF-AFFB-776DC5EA727A}"/>
              </a:ext>
            </a:extLst>
          </p:cNvPr>
          <p:cNvSpPr>
            <a:spLocks xmlns:a="http://schemas.openxmlformats.org/drawingml/2006/main" noGrp="1"/>
          </p:cNvSpPr>
          <p:nvPr/>
        </p:nvSpPr>
        <p:spPr>
          <a:xfrm xmlns:a="http://schemas.openxmlformats.org/drawingml/2006/main">
            <a:off x="5857875" y="5524500"/>
            <a:ext cx="54578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975"/>
          </a:bodyPr>
          <a:lstStyle xmlns:a="http://schemas.openxmlformats.org/drawingml/2006/main"/>
          <a:p xmlns:a="http://schemas.openxmlformats.org/drawingml/2006/main">
            <a:pPr algn="l">
              <a:buNone/>
              <a:defRPr sz="1200" b="1">
                <a:solidFill>
                  <a:srgbClr val="315F9F"/>
                </a:solidFill>
                <a:latin typeface="Helvetica Neue"/>
                <a:ea typeface="Helvetica Neue"/>
                <a:cs typeface="Helvetica Neue"/>
              </a:defRPr>
            </a:pPr>
            <a:r>
              <a:rPr sz="1050" b="1">
                <a:solidFill>
                  <a:srgbClr val="315F9F"/>
                </a:solidFill>
                <a:latin typeface="Helvetica Neue"/>
                <a:ea typeface="Helvetica Neue"/>
                <a:cs typeface="Helvetica Neue"/>
              </a:rPr>
              <a:t>Checksums and embedding fingerprints avoid duplicates and repeat API calls. Production also needs authenticated connectors, incremental import, deletion handling, schedules, and access rules.</a:t>
            </a:r>
          </a:p>
        </p:txBody>
      </p:sp>
    </p:spTree>
    <p:extLst>
      <p:ext uri="{BB962C8B-B14F-4D97-AF65-F5344CB8AC3E}">
        <p14:creationId xmlns:p14="http://schemas.microsoft.com/office/powerpoint/2010/main" val="1181973846"/>
      </p:ext>
    </p:extLst>
  </p:cSld>
</p:sld>
</file>

<file path=ppt/slides/slide7.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08B507DB-8CD7-43CA-AF84-401CDAD0E8E0}"/>
              </a:ext>
            </a:extLst>
          </p:cNvPr>
          <p:cNvSpPr>
            <a:spLocks xmlns:a="http://schemas.openxmlformats.org/drawingml/2006/main" noGrp="1"/>
          </p:cNvSpPr>
          <p:nvPr/>
        </p:nvSpPr>
        <p:spPr>
          <a:xfrm xmlns:a="http://schemas.openxmlformats.org/drawingml/2006/main">
            <a:off x="457200" y="361950"/>
            <a:ext cx="1104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000" b="1">
                <a:solidFill>
                  <a:srgbClr val="101828"/>
                </a:solidFill>
                <a:latin typeface="Helvetica Neue"/>
                <a:ea typeface="Helvetica Neue"/>
                <a:cs typeface="Helvetica Neue"/>
              </a:defRPr>
            </a:pPr>
            <a:r>
              <a:rPr sz="2700" b="1">
                <a:solidFill>
                  <a:srgbClr val="101828"/>
                </a:solidFill>
                <a:latin typeface="Helvetica Neue"/>
                <a:ea typeface="Helvetica Neue"/>
                <a:cs typeface="Helvetica Neue"/>
              </a:rPr>
              <a:t>How does the current app retrieve and write the brief?</a:t>
            </a:r>
          </a:p>
        </p:txBody>
      </p:sp>
      <p:sp>
        <p:nvSpPr>
          <p:cNvPr id="2" name="">
            <a:extLst xmlns:a="http://schemas.openxmlformats.org/drawingml/2006/main">
              <a:ext uri="{FF2B5EF4-FFF2-40B4-BE49-F238E27FC236}">
                <a16:creationId xmlns:a16="http://schemas.microsoft.com/office/drawing/2014/main" id="{B1CA7E82-BED4-4D5B-A311-0E86E2F4B287}"/>
              </a:ext>
            </a:extLst>
          </p:cNvPr>
          <p:cNvSpPr>
            <a:spLocks xmlns:a="http://schemas.openxmlformats.org/drawingml/2006/main" noGrp="1"/>
          </p:cNvSpPr>
          <p:nvPr/>
        </p:nvSpPr>
        <p:spPr>
          <a:xfrm xmlns:a="http://schemas.openxmlformats.org/drawingml/2006/main">
            <a:off x="457200" y="6324600"/>
            <a:ext cx="108585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3" name="">
            <a:extLst xmlns:a="http://schemas.openxmlformats.org/drawingml/2006/main">
              <a:ext uri="{FF2B5EF4-FFF2-40B4-BE49-F238E27FC236}">
                <a16:creationId xmlns:a16="http://schemas.microsoft.com/office/drawing/2014/main" id="{97846247-13EC-46D6-81CE-457BD834D1F8}"/>
              </a:ext>
            </a:extLst>
          </p:cNvPr>
          <p:cNvSpPr>
            <a:spLocks xmlns:a="http://schemas.openxmlformats.org/drawingml/2006/main" noGrp="1"/>
          </p:cNvSpPr>
          <p:nvPr/>
        </p:nvSpPr>
        <p:spPr>
          <a:xfrm xmlns:a="http://schemas.openxmlformats.org/drawingml/2006/main">
            <a:off x="10744200" y="645795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1">
                <a:solidFill>
                  <a:srgbClr val="667085"/>
                </a:solidFill>
                <a:latin typeface="Helvetica Neue"/>
                <a:ea typeface="Helvetica Neue"/>
                <a:cs typeface="Helvetica Neue"/>
              </a:defRPr>
            </a:pPr>
            <a:r>
              <a:rPr sz="975" b="1">
                <a:solidFill>
                  <a:srgbClr val="667085"/>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DDECACC8-F2C1-411F-97A9-DA439288F3AA}"/>
              </a:ext>
            </a:extLst>
          </p:cNvPr>
          <p:cNvSpPr>
            <a:spLocks xmlns:a="http://schemas.openxmlformats.org/drawingml/2006/main" noGrp="1"/>
          </p:cNvSpPr>
          <p:nvPr/>
        </p:nvSpPr>
        <p:spPr>
          <a:xfrm xmlns:a="http://schemas.openxmlformats.org/drawingml/2006/main">
            <a:off x="457200" y="1428750"/>
            <a:ext cx="933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p xmlns:a="http://schemas.openxmlformats.org/drawingml/2006/main">
            <a:pPr algn="l">
              <a:buNone/>
              <a:defRPr sz="1500" b="1">
                <a:solidFill>
                  <a:srgbClr val="344054"/>
                </a:solidFill>
                <a:latin typeface="Helvetica Neue"/>
                <a:ea typeface="Helvetica Neue"/>
                <a:cs typeface="Helvetica Neue"/>
              </a:defRPr>
            </a:pPr>
            <a:r>
              <a:rPr sz="1500" b="1">
                <a:solidFill>
                  <a:srgbClr val="344054"/>
                </a:solidFill>
                <a:latin typeface="Helvetica Neue"/>
                <a:ea typeface="Helvetica Neue"/>
                <a:cs typeface="Helvetica Neue"/>
              </a:rPr>
              <a:t>The company filter runs first. The system ranks only evidence for the selected company.</a:t>
            </a:r>
          </a:p>
        </p:txBody>
      </p:sp>
      <p:sp>
        <p:nvSpPr>
          <p:cNvPr id="5" name="">
            <a:extLst xmlns:a="http://schemas.openxmlformats.org/drawingml/2006/main">
              <a:ext uri="{FF2B5EF4-FFF2-40B4-BE49-F238E27FC236}">
                <a16:creationId xmlns:a16="http://schemas.microsoft.com/office/drawing/2014/main" id="{D534A572-86CD-4E7B-91AF-F52BC05AAD8C}"/>
              </a:ext>
            </a:extLst>
          </p:cNvPr>
          <p:cNvSpPr>
            <a:spLocks xmlns:a="http://schemas.openxmlformats.org/drawingml/2006/main" noGrp="1"/>
          </p:cNvSpPr>
          <p:nvPr/>
        </p:nvSpPr>
        <p:spPr>
          <a:xfrm xmlns:a="http://schemas.openxmlformats.org/drawingml/2006/main">
            <a:off x="457200" y="1924050"/>
            <a:ext cx="2095500" cy="285750"/>
          </a:xfrm>
          <a:prstGeom xmlns:a="http://schemas.openxmlformats.org/drawingml/2006/main" prst="roundRect">
            <a:avLst>
              <a:gd name="adj" fmla="val 50000"/>
            </a:avLst>
          </a:prstGeom>
          <a:solidFill xmlns:a="http://schemas.openxmlformats.org/drawingml/2006/main">
            <a:srgbClr val="FEF3F2"/>
          </a:solidFill>
          <a:ln xmlns:a="http://schemas.openxmlformats.org/drawingml/2006/main" w="9525">
            <a:solidFill>
              <a:srgbClr val="F3B3AE"/>
            </a:solidFill>
            <a:prstDash val="solid"/>
          </a:ln>
        </p:spPr>
      </p:sp>
      <p:sp>
        <p:nvSpPr>
          <p:cNvPr id="6" name="">
            <a:extLst xmlns:a="http://schemas.openxmlformats.org/drawingml/2006/main">
              <a:ext uri="{FF2B5EF4-FFF2-40B4-BE49-F238E27FC236}">
                <a16:creationId xmlns:a16="http://schemas.microsoft.com/office/drawing/2014/main" id="{DAA6E833-E2EA-4DC2-9D44-6C233F923C93}"/>
              </a:ext>
            </a:extLst>
          </p:cNvPr>
          <p:cNvSpPr>
            <a:spLocks xmlns:a="http://schemas.openxmlformats.org/drawingml/2006/main" noGrp="1"/>
          </p:cNvSpPr>
          <p:nvPr/>
        </p:nvSpPr>
        <p:spPr>
          <a:xfrm xmlns:a="http://schemas.openxmlformats.org/drawingml/2006/main">
            <a:off x="571500" y="1971675"/>
            <a:ext cx="18669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7857"/>
          </a:bodyPr>
          <a:lstStyle xmlns:a="http://schemas.openxmlformats.org/drawingml/2006/main"/>
          <a:p xmlns:a="http://schemas.openxmlformats.org/drawingml/2006/main">
            <a:pPr algn="l">
              <a:buNone/>
              <a:defRPr sz="1050" b="1">
                <a:solidFill>
                  <a:srgbClr val="B42318"/>
                </a:solidFill>
                <a:latin typeface="Helvetica Neue"/>
                <a:ea typeface="Helvetica Neue"/>
                <a:cs typeface="Helvetica Neue"/>
              </a:defRPr>
            </a:pPr>
            <a:r>
              <a:rPr sz="1050" b="1">
                <a:solidFill>
                  <a:srgbClr val="B42318"/>
                </a:solidFill>
                <a:latin typeface="Helvetica Neue"/>
                <a:ea typeface="Helvetica Neue"/>
                <a:cs typeface="Helvetica Neue"/>
              </a:rPr>
              <a:t>1  HARD COMPANY FILTER</a:t>
            </a:r>
          </a:p>
        </p:txBody>
      </p:sp>
      <p:sp>
        <p:nvSpPr>
          <p:cNvPr id="7" name="">
            <a:extLst xmlns:a="http://schemas.openxmlformats.org/drawingml/2006/main">
              <a:ext uri="{FF2B5EF4-FFF2-40B4-BE49-F238E27FC236}">
                <a16:creationId xmlns:a16="http://schemas.microsoft.com/office/drawing/2014/main" id="{5873C146-5687-495D-B6D4-270B5F4B2F34}"/>
              </a:ext>
            </a:extLst>
          </p:cNvPr>
          <p:cNvSpPr>
            <a:spLocks xmlns:a="http://schemas.openxmlformats.org/drawingml/2006/main" noGrp="1"/>
          </p:cNvSpPr>
          <p:nvPr/>
        </p:nvSpPr>
        <p:spPr>
          <a:xfrm xmlns:a="http://schemas.openxmlformats.org/drawingml/2006/main">
            <a:off x="2495550" y="1971675"/>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buNone/>
              <a:defRPr sz="1200" b="0">
                <a:solidFill>
                  <a:srgbClr val="667085"/>
                </a:solidFill>
                <a:latin typeface="Helvetica Neue"/>
                <a:ea typeface="Helvetica Neue"/>
                <a:cs typeface="Helvetica Neue"/>
              </a:defRPr>
            </a:pPr>
            <a:r>
              <a:rPr sz="1200" b="0">
                <a:solidFill>
                  <a:srgbClr val="667085"/>
                </a:solidFill>
                <a:latin typeface="Helvetica Neue"/>
                <a:ea typeface="Helvetica Neue"/>
                <a:cs typeface="Helvetica Neue"/>
              </a:rPr>
              <a:t>2  Rank up to 30 records with initial heuristics</a:t>
            </a:r>
          </a:p>
        </p:txBody>
      </p:sp>
      <p:sp>
        <p:nvSpPr>
          <p:cNvPr id="8" name="">
            <a:extLst xmlns:a="http://schemas.openxmlformats.org/drawingml/2006/main">
              <a:ext uri="{FF2B5EF4-FFF2-40B4-BE49-F238E27FC236}">
                <a16:creationId xmlns:a16="http://schemas.microsoft.com/office/drawing/2014/main" id="{98BD67A4-A694-49BA-BDC9-40B6EEEFEB17}"/>
              </a:ext>
            </a:extLst>
          </p:cNvPr>
          <p:cNvSpPr>
            <a:spLocks xmlns:a="http://schemas.openxmlformats.org/drawingml/2006/main" noGrp="1"/>
          </p:cNvSpPr>
          <p:nvPr/>
        </p:nvSpPr>
        <p:spPr>
          <a:xfrm xmlns:a="http://schemas.openxmlformats.org/drawingml/2006/main">
            <a:off x="457200" y="2571750"/>
            <a:ext cx="4126230" cy="609600"/>
          </a:xfrm>
          <a:prstGeom xmlns:a="http://schemas.openxmlformats.org/drawingml/2006/main" prst="roundRect">
            <a:avLst>
              <a:gd name="adj" fmla="val 18750"/>
            </a:avLst>
          </a:prstGeom>
          <a:solidFill xmlns:a="http://schemas.openxmlformats.org/drawingml/2006/main">
            <a:srgbClr val="315F9F"/>
          </a:solidFill>
          <a:ln xmlns:a="http://schemas.openxmlformats.org/drawingml/2006/main" w="9525">
            <a:solidFill>
              <a:srgbClr val="315F9F"/>
            </a:solidFill>
            <a:prstDash val="solid"/>
          </a:ln>
        </p:spPr>
      </p:sp>
      <p:sp>
        <p:nvSpPr>
          <p:cNvPr id="9" name="">
            <a:extLst xmlns:a="http://schemas.openxmlformats.org/drawingml/2006/main">
              <a:ext uri="{FF2B5EF4-FFF2-40B4-BE49-F238E27FC236}">
                <a16:creationId xmlns:a16="http://schemas.microsoft.com/office/drawing/2014/main" id="{2C3E8CC8-CCA6-49D6-97DA-BBF21F281A47}"/>
              </a:ext>
            </a:extLst>
          </p:cNvPr>
          <p:cNvSpPr>
            <a:spLocks xmlns:a="http://schemas.openxmlformats.org/drawingml/2006/main" noGrp="1"/>
          </p:cNvSpPr>
          <p:nvPr/>
        </p:nvSpPr>
        <p:spPr>
          <a:xfrm xmlns:a="http://schemas.openxmlformats.org/drawingml/2006/main">
            <a:off x="590550" y="2752725"/>
            <a:ext cx="385953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l">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38% text match</a:t>
            </a:r>
          </a:p>
        </p:txBody>
      </p:sp>
      <p:sp>
        <p:nvSpPr>
          <p:cNvPr id="10" name="">
            <a:extLst xmlns:a="http://schemas.openxmlformats.org/drawingml/2006/main">
              <a:ext uri="{FF2B5EF4-FFF2-40B4-BE49-F238E27FC236}">
                <a16:creationId xmlns:a16="http://schemas.microsoft.com/office/drawing/2014/main" id="{22F32024-CCDE-4A69-A872-D68433E8802F}"/>
              </a:ext>
            </a:extLst>
          </p:cNvPr>
          <p:cNvSpPr>
            <a:spLocks xmlns:a="http://schemas.openxmlformats.org/drawingml/2006/main" noGrp="1"/>
          </p:cNvSpPr>
          <p:nvPr/>
        </p:nvSpPr>
        <p:spPr>
          <a:xfrm xmlns:a="http://schemas.openxmlformats.org/drawingml/2006/main">
            <a:off x="4583430" y="2571750"/>
            <a:ext cx="3474720" cy="609600"/>
          </a:xfrm>
          <a:prstGeom xmlns:a="http://schemas.openxmlformats.org/drawingml/2006/main" prst="rect">
            <a:avLst/>
          </a:prstGeom>
          <a:solidFill xmlns:a="http://schemas.openxmlformats.org/drawingml/2006/main">
            <a:srgbClr val="5D7FB4"/>
          </a:solidFill>
          <a:ln xmlns:a="http://schemas.openxmlformats.org/drawingml/2006/main" w="9525">
            <a:solidFill>
              <a:srgbClr val="5D7FB4"/>
            </a:solidFill>
            <a:prstDash val="solid"/>
          </a:ln>
        </p:spPr>
      </p:sp>
      <p:sp>
        <p:nvSpPr>
          <p:cNvPr id="11" name="">
            <a:extLst xmlns:a="http://schemas.openxmlformats.org/drawingml/2006/main">
              <a:ext uri="{FF2B5EF4-FFF2-40B4-BE49-F238E27FC236}">
                <a16:creationId xmlns:a16="http://schemas.microsoft.com/office/drawing/2014/main" id="{9F5438B9-9529-4C62-90D6-A01B05E1FDB3}"/>
              </a:ext>
            </a:extLst>
          </p:cNvPr>
          <p:cNvSpPr>
            <a:spLocks xmlns:a="http://schemas.openxmlformats.org/drawingml/2006/main" noGrp="1"/>
          </p:cNvSpPr>
          <p:nvPr/>
        </p:nvSpPr>
        <p:spPr>
          <a:xfrm xmlns:a="http://schemas.openxmlformats.org/drawingml/2006/main">
            <a:off x="4716780" y="2752725"/>
            <a:ext cx="320802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l">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32% embedding</a:t>
            </a:r>
          </a:p>
        </p:txBody>
      </p:sp>
      <p:sp>
        <p:nvSpPr>
          <p:cNvPr id="12" name="">
            <a:extLst xmlns:a="http://schemas.openxmlformats.org/drawingml/2006/main">
              <a:ext uri="{FF2B5EF4-FFF2-40B4-BE49-F238E27FC236}">
                <a16:creationId xmlns:a16="http://schemas.microsoft.com/office/drawing/2014/main" id="{3FAAD332-FB8A-45D8-AF79-C4D38169E663}"/>
              </a:ext>
            </a:extLst>
          </p:cNvPr>
          <p:cNvSpPr>
            <a:spLocks xmlns:a="http://schemas.openxmlformats.org/drawingml/2006/main" noGrp="1"/>
          </p:cNvSpPr>
          <p:nvPr/>
        </p:nvSpPr>
        <p:spPr>
          <a:xfrm xmlns:a="http://schemas.openxmlformats.org/drawingml/2006/main">
            <a:off x="8058150" y="2571750"/>
            <a:ext cx="2171700" cy="609600"/>
          </a:xfrm>
          <a:prstGeom xmlns:a="http://schemas.openxmlformats.org/drawingml/2006/main" prst="rect">
            <a:avLst/>
          </a:prstGeom>
          <a:solidFill xmlns:a="http://schemas.openxmlformats.org/drawingml/2006/main">
            <a:srgbClr val="9CB5D5"/>
          </a:solidFill>
          <a:ln xmlns:a="http://schemas.openxmlformats.org/drawingml/2006/main" w="9525">
            <a:solidFill>
              <a:srgbClr val="9CB5D5"/>
            </a:solidFill>
            <a:prstDash val="solid"/>
          </a:ln>
        </p:spPr>
      </p:sp>
      <p:sp>
        <p:nvSpPr>
          <p:cNvPr id="13" name="">
            <a:extLst xmlns:a="http://schemas.openxmlformats.org/drawingml/2006/main">
              <a:ext uri="{FF2B5EF4-FFF2-40B4-BE49-F238E27FC236}">
                <a16:creationId xmlns:a16="http://schemas.microsoft.com/office/drawing/2014/main" id="{B6263050-9BD4-42ED-8548-7DCC515DCB38}"/>
              </a:ext>
            </a:extLst>
          </p:cNvPr>
          <p:cNvSpPr>
            <a:spLocks xmlns:a="http://schemas.openxmlformats.org/drawingml/2006/main" noGrp="1"/>
          </p:cNvSpPr>
          <p:nvPr/>
        </p:nvSpPr>
        <p:spPr>
          <a:xfrm xmlns:a="http://schemas.openxmlformats.org/drawingml/2006/main">
            <a:off x="8191500" y="2752725"/>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l">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20% source quality</a:t>
            </a:r>
          </a:p>
        </p:txBody>
      </p:sp>
      <p:sp>
        <p:nvSpPr>
          <p:cNvPr id="14" name="">
            <a:extLst xmlns:a="http://schemas.openxmlformats.org/drawingml/2006/main">
              <a:ext uri="{FF2B5EF4-FFF2-40B4-BE49-F238E27FC236}">
                <a16:creationId xmlns:a16="http://schemas.microsoft.com/office/drawing/2014/main" id="{AFB91DBA-8369-4772-B211-7CBCCCC616CF}"/>
              </a:ext>
            </a:extLst>
          </p:cNvPr>
          <p:cNvSpPr>
            <a:spLocks xmlns:a="http://schemas.openxmlformats.org/drawingml/2006/main" noGrp="1"/>
          </p:cNvSpPr>
          <p:nvPr/>
        </p:nvSpPr>
        <p:spPr>
          <a:xfrm xmlns:a="http://schemas.openxmlformats.org/drawingml/2006/main">
            <a:off x="10229850" y="2571750"/>
            <a:ext cx="1085850" cy="609600"/>
          </a:xfrm>
          <a:prstGeom xmlns:a="http://schemas.openxmlformats.org/drawingml/2006/main" prst="roundRect">
            <a:avLst>
              <a:gd name="adj" fmla="val 18750"/>
            </a:avLst>
          </a:prstGeom>
          <a:solidFill xmlns:a="http://schemas.openxmlformats.org/drawingml/2006/main">
            <a:srgbClr val="D6DCE5"/>
          </a:solidFill>
          <a:ln xmlns:a="http://schemas.openxmlformats.org/drawingml/2006/main" w="9525">
            <a:solidFill>
              <a:srgbClr val="D6DCE5"/>
            </a:solidFill>
            <a:prstDash val="solid"/>
          </a:ln>
        </p:spPr>
      </p:sp>
      <p:sp>
        <p:nvSpPr>
          <p:cNvPr id="15" name="">
            <a:extLst xmlns:a="http://schemas.openxmlformats.org/drawingml/2006/main">
              <a:ext uri="{FF2B5EF4-FFF2-40B4-BE49-F238E27FC236}">
                <a16:creationId xmlns:a16="http://schemas.microsoft.com/office/drawing/2014/main" id="{7B2ABA78-9495-4518-B9AE-D0BB774A2CCE}"/>
              </a:ext>
            </a:extLst>
          </p:cNvPr>
          <p:cNvSpPr>
            <a:spLocks xmlns:a="http://schemas.openxmlformats.org/drawingml/2006/main" noGrp="1"/>
          </p:cNvSpPr>
          <p:nvPr/>
        </p:nvSpPr>
        <p:spPr>
          <a:xfrm xmlns:a="http://schemas.openxmlformats.org/drawingml/2006/main">
            <a:off x="10363200" y="2752725"/>
            <a:ext cx="819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497"/>
          </a:bodyPr>
          <a:lstStyle xmlns:a="http://schemas.openxmlformats.org/drawingml/2006/main"/>
          <a:p xmlns:a="http://schemas.openxmlformats.org/drawingml/2006/main">
            <a:pPr algn="l">
              <a:buNone/>
              <a:defRPr sz="1125" b="1">
                <a:solidFill>
                  <a:srgbClr val="344054"/>
                </a:solidFill>
                <a:latin typeface="Helvetica Neue"/>
                <a:ea typeface="Helvetica Neue"/>
                <a:cs typeface="Helvetica Neue"/>
              </a:defRPr>
            </a:pPr>
            <a:r>
              <a:rPr sz="1125" b="1">
                <a:solidFill>
                  <a:srgbClr val="344054"/>
                </a:solidFill>
                <a:latin typeface="Helvetica Neue"/>
                <a:ea typeface="Helvetica Neue"/>
                <a:cs typeface="Helvetica Neue"/>
              </a:rPr>
              <a:t>10% recency</a:t>
            </a:r>
          </a:p>
        </p:txBody>
      </p:sp>
      <p:sp>
        <p:nvSpPr>
          <p:cNvPr id="16" name="">
            <a:extLst xmlns:a="http://schemas.openxmlformats.org/drawingml/2006/main">
              <a:ext uri="{FF2B5EF4-FFF2-40B4-BE49-F238E27FC236}">
                <a16:creationId xmlns:a16="http://schemas.microsoft.com/office/drawing/2014/main" id="{6E12BEB2-81A1-4327-BE0F-2D74CA69A28A}"/>
              </a:ext>
            </a:extLst>
          </p:cNvPr>
          <p:cNvSpPr>
            <a:spLocks xmlns:a="http://schemas.openxmlformats.org/drawingml/2006/main" noGrp="1"/>
          </p:cNvSpPr>
          <p:nvPr/>
        </p:nvSpPr>
        <p:spPr>
          <a:xfrm xmlns:a="http://schemas.openxmlformats.org/drawingml/2006/main">
            <a:off x="457200" y="3752850"/>
            <a:ext cx="323850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D0D5DD"/>
            </a:solidFill>
            <a:prstDash val="solid"/>
          </a:ln>
        </p:spPr>
      </p:sp>
      <p:sp>
        <p:nvSpPr>
          <p:cNvPr id="17" name="">
            <a:extLst xmlns:a="http://schemas.openxmlformats.org/drawingml/2006/main">
              <a:ext uri="{FF2B5EF4-FFF2-40B4-BE49-F238E27FC236}">
                <a16:creationId xmlns:a16="http://schemas.microsoft.com/office/drawing/2014/main" id="{6F28094B-8C55-4063-8D3E-235A3971E70B}"/>
              </a:ext>
            </a:extLst>
          </p:cNvPr>
          <p:cNvSpPr>
            <a:spLocks xmlns:a="http://schemas.openxmlformats.org/drawingml/2006/main" noGrp="1"/>
          </p:cNvSpPr>
          <p:nvPr/>
        </p:nvSpPr>
        <p:spPr>
          <a:xfrm xmlns:a="http://schemas.openxmlformats.org/drawingml/2006/main">
            <a:off x="628650" y="3914775"/>
            <a:ext cx="2895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p xmlns:a="http://schemas.openxmlformats.org/drawingml/2006/main">
            <a:pPr algn="l">
              <a:buNone/>
              <a:defRPr sz="1425" b="1">
                <a:solidFill>
                  <a:srgbClr val="101828"/>
                </a:solidFill>
                <a:latin typeface="Helvetica Neue"/>
                <a:ea typeface="Helvetica Neue"/>
                <a:cs typeface="Helvetica Neue"/>
              </a:defRPr>
            </a:pPr>
            <a:r>
              <a:rPr sz="1425" b="1">
                <a:solidFill>
                  <a:srgbClr val="101828"/>
                </a:solidFill>
                <a:latin typeface="Helvetica Neue"/>
                <a:ea typeface="Helvetica Neue"/>
                <a:cs typeface="Helvetica Neue"/>
              </a:rPr>
              <a:t>3 · Retrieve</a:t>
            </a:r>
          </a:p>
        </p:txBody>
      </p:sp>
      <p:sp>
        <p:nvSpPr>
          <p:cNvPr id="18" name="">
            <a:extLst xmlns:a="http://schemas.openxmlformats.org/drawingml/2006/main">
              <a:ext uri="{FF2B5EF4-FFF2-40B4-BE49-F238E27FC236}">
                <a16:creationId xmlns:a16="http://schemas.microsoft.com/office/drawing/2014/main" id="{B301117F-06AB-4930-9793-34F42BB7C983}"/>
              </a:ext>
            </a:extLst>
          </p:cNvPr>
          <p:cNvSpPr>
            <a:spLocks xmlns:a="http://schemas.openxmlformats.org/drawingml/2006/main" noGrp="1"/>
          </p:cNvSpPr>
          <p:nvPr/>
        </p:nvSpPr>
        <p:spPr>
          <a:xfrm xmlns:a="http://schemas.openxmlformats.org/drawingml/2006/main">
            <a:off x="628650" y="4276725"/>
            <a:ext cx="28956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0">
                <a:solidFill>
                  <a:srgbClr val="667085"/>
                </a:solidFill>
                <a:latin typeface="Helvetica Neue"/>
                <a:ea typeface="Helvetica Neue"/>
                <a:cs typeface="Helvetica Neue"/>
              </a:defRPr>
            </a:pPr>
            <a:r>
              <a:rPr sz="1125" b="0">
                <a:solidFill>
                  <a:srgbClr val="667085"/>
                </a:solidFill>
                <a:latin typeface="Helvetica Neue"/>
                <a:ea typeface="Helvetica Neue"/>
                <a:cs typeface="Helvetica Neue"/>
              </a:rPr>
              <a:t>PostgreSQL full-text and embedding similarity</a:t>
            </a:r>
          </a:p>
        </p:txBody>
      </p:sp>
      <p:sp>
        <p:nvSpPr>
          <p:cNvPr id="19" name="">
            <a:extLst xmlns:a="http://schemas.openxmlformats.org/drawingml/2006/main">
              <a:ext uri="{FF2B5EF4-FFF2-40B4-BE49-F238E27FC236}">
                <a16:creationId xmlns:a16="http://schemas.microsoft.com/office/drawing/2014/main" id="{4707DBAE-E5B4-49D8-99C6-9C5094A32B9A}"/>
              </a:ext>
            </a:extLst>
          </p:cNvPr>
          <p:cNvSpPr>
            <a:spLocks xmlns:a="http://schemas.openxmlformats.org/drawingml/2006/main" noGrp="1"/>
          </p:cNvSpPr>
          <p:nvPr/>
        </p:nvSpPr>
        <p:spPr>
          <a:xfrm xmlns:a="http://schemas.openxmlformats.org/drawingml/2006/main">
            <a:off x="4476750" y="3752850"/>
            <a:ext cx="3238500" cy="1428750"/>
          </a:xfrm>
          <a:prstGeom xmlns:a="http://schemas.openxmlformats.org/drawingml/2006/main" prst="roundRect">
            <a:avLst>
              <a:gd name="adj" fmla="val 10667"/>
            </a:avLst>
          </a:prstGeom>
          <a:solidFill xmlns:a="http://schemas.openxmlformats.org/drawingml/2006/main">
            <a:srgbClr val="E8F0FB"/>
          </a:solidFill>
          <a:ln xmlns:a="http://schemas.openxmlformats.org/drawingml/2006/main" w="9525">
            <a:solidFill>
              <a:srgbClr val="9CB5D5"/>
            </a:solidFill>
            <a:prstDash val="solid"/>
          </a:ln>
        </p:spPr>
      </p:sp>
      <p:sp>
        <p:nvSpPr>
          <p:cNvPr id="20" name="">
            <a:extLst xmlns:a="http://schemas.openxmlformats.org/drawingml/2006/main">
              <a:ext uri="{FF2B5EF4-FFF2-40B4-BE49-F238E27FC236}">
                <a16:creationId xmlns:a16="http://schemas.microsoft.com/office/drawing/2014/main" id="{38341F07-5F50-4A06-BE49-9E1DEA5D7C1D}"/>
              </a:ext>
            </a:extLst>
          </p:cNvPr>
          <p:cNvSpPr>
            <a:spLocks xmlns:a="http://schemas.openxmlformats.org/drawingml/2006/main" noGrp="1"/>
          </p:cNvSpPr>
          <p:nvPr/>
        </p:nvSpPr>
        <p:spPr>
          <a:xfrm xmlns:a="http://schemas.openxmlformats.org/drawingml/2006/main">
            <a:off x="4648200" y="3914775"/>
            <a:ext cx="2895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p xmlns:a="http://schemas.openxmlformats.org/drawingml/2006/main">
            <a:pPr algn="l">
              <a:buNone/>
              <a:defRPr sz="1425" b="1">
                <a:solidFill>
                  <a:srgbClr val="101828"/>
                </a:solidFill>
                <a:latin typeface="Helvetica Neue"/>
                <a:ea typeface="Helvetica Neue"/>
                <a:cs typeface="Helvetica Neue"/>
              </a:defRPr>
            </a:pPr>
            <a:r>
              <a:rPr sz="1425" b="1">
                <a:solidFill>
                  <a:srgbClr val="101828"/>
                </a:solidFill>
                <a:latin typeface="Helvetica Neue"/>
                <a:ea typeface="Helvetica Neue"/>
                <a:cs typeface="Helvetica Neue"/>
              </a:rPr>
              <a:t>4 · Build</a:t>
            </a:r>
          </a:p>
        </p:txBody>
      </p:sp>
      <p:sp>
        <p:nvSpPr>
          <p:cNvPr id="21" name="">
            <a:extLst xmlns:a="http://schemas.openxmlformats.org/drawingml/2006/main">
              <a:ext uri="{FF2B5EF4-FFF2-40B4-BE49-F238E27FC236}">
                <a16:creationId xmlns:a16="http://schemas.microsoft.com/office/drawing/2014/main" id="{9A6B76A0-10C0-4C72-B936-2FEC9E21B3C2}"/>
              </a:ext>
            </a:extLst>
          </p:cNvPr>
          <p:cNvSpPr>
            <a:spLocks xmlns:a="http://schemas.openxmlformats.org/drawingml/2006/main" noGrp="1"/>
          </p:cNvSpPr>
          <p:nvPr/>
        </p:nvSpPr>
        <p:spPr>
          <a:xfrm xmlns:a="http://schemas.openxmlformats.org/drawingml/2006/main">
            <a:off x="4648200" y="4276725"/>
            <a:ext cx="28956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0">
                <a:solidFill>
                  <a:srgbClr val="667085"/>
                </a:solidFill>
                <a:latin typeface="Helvetica Neue"/>
                <a:ea typeface="Helvetica Neue"/>
                <a:cs typeface="Helvetica Neue"/>
              </a:defRPr>
            </a:pPr>
            <a:r>
              <a:rPr sz="1125" b="0">
                <a:solidFill>
                  <a:srgbClr val="667085"/>
                </a:solidFill>
                <a:latin typeface="Helvetica Neue"/>
                <a:ea typeface="Helvetica Neue"/>
                <a:cs typeface="Helvetica Neue"/>
              </a:rPr>
              <a:t>gpt-5.6-sol uses retrieved evidence.
Strict schema.
Local fallback.</a:t>
            </a:r>
          </a:p>
        </p:txBody>
      </p:sp>
      <p:sp>
        <p:nvSpPr>
          <p:cNvPr id="22" name="">
            <a:extLst xmlns:a="http://schemas.openxmlformats.org/drawingml/2006/main">
              <a:ext uri="{FF2B5EF4-FFF2-40B4-BE49-F238E27FC236}">
                <a16:creationId xmlns:a16="http://schemas.microsoft.com/office/drawing/2014/main" id="{13F9AE88-C67A-42F1-9052-14B09CE3F03B}"/>
              </a:ext>
            </a:extLst>
          </p:cNvPr>
          <p:cNvSpPr>
            <a:spLocks xmlns:a="http://schemas.openxmlformats.org/drawingml/2006/main" noGrp="1"/>
          </p:cNvSpPr>
          <p:nvPr/>
        </p:nvSpPr>
        <p:spPr>
          <a:xfrm xmlns:a="http://schemas.openxmlformats.org/drawingml/2006/main">
            <a:off x="8496300" y="3752850"/>
            <a:ext cx="281940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D0D5DD"/>
            </a:solidFill>
            <a:prstDash val="solid"/>
          </a:ln>
        </p:spPr>
      </p:sp>
      <p:sp>
        <p:nvSpPr>
          <p:cNvPr id="23" name="">
            <a:extLst xmlns:a="http://schemas.openxmlformats.org/drawingml/2006/main">
              <a:ext uri="{FF2B5EF4-FFF2-40B4-BE49-F238E27FC236}">
                <a16:creationId xmlns:a16="http://schemas.microsoft.com/office/drawing/2014/main" id="{C8D596B8-64D7-45EE-AD73-5E2E2B7F9756}"/>
              </a:ext>
            </a:extLst>
          </p:cNvPr>
          <p:cNvSpPr>
            <a:spLocks xmlns:a="http://schemas.openxmlformats.org/drawingml/2006/main" noGrp="1"/>
          </p:cNvSpPr>
          <p:nvPr/>
        </p:nvSpPr>
        <p:spPr>
          <a:xfrm xmlns:a="http://schemas.openxmlformats.org/drawingml/2006/main">
            <a:off x="8667750" y="3914775"/>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p xmlns:a="http://schemas.openxmlformats.org/drawingml/2006/main">
            <a:pPr algn="l">
              <a:buNone/>
              <a:defRPr sz="1425" b="1">
                <a:solidFill>
                  <a:srgbClr val="101828"/>
                </a:solidFill>
                <a:latin typeface="Helvetica Neue"/>
                <a:ea typeface="Helvetica Neue"/>
                <a:cs typeface="Helvetica Neue"/>
              </a:defRPr>
            </a:pPr>
            <a:r>
              <a:rPr sz="1425" b="1">
                <a:solidFill>
                  <a:srgbClr val="101828"/>
                </a:solidFill>
                <a:latin typeface="Helvetica Neue"/>
                <a:ea typeface="Helvetica Neue"/>
                <a:cs typeface="Helvetica Neue"/>
              </a:rPr>
              <a:t>5 · Check and save</a:t>
            </a:r>
          </a:p>
        </p:txBody>
      </p:sp>
      <p:sp>
        <p:nvSpPr>
          <p:cNvPr id="24" name="">
            <a:extLst xmlns:a="http://schemas.openxmlformats.org/drawingml/2006/main">
              <a:ext uri="{FF2B5EF4-FFF2-40B4-BE49-F238E27FC236}">
                <a16:creationId xmlns:a16="http://schemas.microsoft.com/office/drawing/2014/main" id="{B1B08F32-E59B-419A-9536-8E9418BA35D1}"/>
              </a:ext>
            </a:extLst>
          </p:cNvPr>
          <p:cNvSpPr>
            <a:spLocks xmlns:a="http://schemas.openxmlformats.org/drawingml/2006/main" noGrp="1"/>
          </p:cNvSpPr>
          <p:nvPr/>
        </p:nvSpPr>
        <p:spPr>
          <a:xfrm xmlns:a="http://schemas.openxmlformats.org/drawingml/2006/main">
            <a:off x="8667750" y="4276725"/>
            <a:ext cx="2476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778"/>
          </a:bodyPr>
          <a:lstStyle xmlns:a="http://schemas.openxmlformats.org/drawingml/2006/main"/>
          <a:p xmlns:a="http://schemas.openxmlformats.org/drawingml/2006/main">
            <a:pPr algn="l">
              <a:buNone/>
              <a:defRPr sz="1125" b="0">
                <a:solidFill>
                  <a:srgbClr val="667085"/>
                </a:solidFill>
                <a:latin typeface="Helvetica Neue"/>
                <a:ea typeface="Helvetica Neue"/>
                <a:cs typeface="Helvetica Neue"/>
              </a:defRPr>
            </a:pPr>
            <a:r>
              <a:rPr sz="1125" b="0">
                <a:solidFill>
                  <a:srgbClr val="667085"/>
                </a:solidFill>
                <a:latin typeface="Helvetica Neue"/>
                <a:ea typeface="Helvetica Neue"/>
                <a:cs typeface="Helvetica Neue"/>
              </a:rPr>
              <a:t>Check source IDs</a:t>
            </a:r>
          </a:p>
          <a:p xmlns:a="http://schemas.openxmlformats.org/drawingml/2006/main">
            <a:pPr algn="l">
              <a:buNone/>
              <a:defRPr sz="1125" b="0">
                <a:solidFill>
                  <a:srgbClr val="667085"/>
                </a:solidFill>
                <a:latin typeface="Helvetica Neue"/>
                <a:ea typeface="Helvetica Neue"/>
                <a:cs typeface="Helvetica Neue"/>
              </a:defRPr>
            </a:pPr>
            <a:r>
              <a:rPr sz="1125" b="0">
                <a:solidFill>
                  <a:srgbClr val="667085"/>
                </a:solidFill>
                <a:latin typeface="Helvetica Neue"/>
                <a:ea typeface="Helvetica Neue"/>
                <a:cs typeface="Helvetica Neue"/>
              </a:rPr>
              <a:t>Check values</a:t>
            </a:r>
          </a:p>
          <a:p xmlns:a="http://schemas.openxmlformats.org/drawingml/2006/main">
            <a:pPr algn="l">
              <a:buNone/>
              <a:defRPr sz="1125" b="0">
                <a:solidFill>
                  <a:srgbClr val="667085"/>
                </a:solidFill>
                <a:latin typeface="Helvetica Neue"/>
                <a:ea typeface="Helvetica Neue"/>
                <a:cs typeface="Helvetica Neue"/>
              </a:defRPr>
            </a:pPr>
            <a:r>
              <a:rPr sz="1125" b="0">
                <a:solidFill>
                  <a:srgbClr val="667085"/>
                </a:solidFill>
                <a:latin typeface="Helvetica Neue"/>
                <a:ea typeface="Helvetica Neue"/>
                <a:cs typeface="Helvetica Neue"/>
              </a:rPr>
              <a:t>Check company isolation</a:t>
            </a:r>
          </a:p>
          <a:p xmlns:a="http://schemas.openxmlformats.org/drawingml/2006/main">
            <a:pPr algn="l">
              <a:buNone/>
              <a:defRPr sz="1125" b="0">
                <a:solidFill>
                  <a:srgbClr val="667085"/>
                </a:solidFill>
                <a:latin typeface="Helvetica Neue"/>
                <a:ea typeface="Helvetica Neue"/>
                <a:cs typeface="Helvetica Neue"/>
              </a:defRPr>
            </a:pPr>
            <a:r>
              <a:rPr sz="1125" b="0">
                <a:solidFill>
                  <a:srgbClr val="667085"/>
                </a:solidFill>
                <a:latin typeface="Helvetica Neue"/>
                <a:ea typeface="Helvetica Neue"/>
                <a:cs typeface="Helvetica Neue"/>
              </a:rPr>
              <a:t>Save mode and source ranks</a:t>
            </a:r>
          </a:p>
        </p:txBody>
      </p:sp>
      <p:cxnSp>
        <p:nvCxnSpPr>
          <p:cNvPr id="313" name=""/>
          <p:cNvCxnSpPr>
            <a:stCxn xmlns:a="http://schemas.openxmlformats.org/drawingml/2006/main" id="16" idx="3"/>
            <a:endCxn xmlns:a="http://schemas.openxmlformats.org/drawingml/2006/main" id="19" idx="1"/>
          </p:cNvCxnSpPr>
          <p:nvPr/>
        </p:nvCxnSpPr>
        <p:spPr>
          <a:xfrm xmlns:a="http://schemas.openxmlformats.org/drawingml/2006/main">
            <a:off x="3695700" y="4467225"/>
            <a:ext cx="781050" cy="0"/>
          </a:xfrm>
          <a:prstGeom xmlns:a="http://schemas.openxmlformats.org/drawingml/2006/main" prst="straightConnector1">
            <a:avLst/>
          </a:prstGeom>
          <a:ln xmlns:a="http://schemas.openxmlformats.org/drawingml/2006/main" w="19050">
            <a:solidFill>
              <a:srgbClr val="5D7FB4"/>
            </a:solidFill>
            <a:prstDash val="solid"/>
            <a:tailEnd type="triangle" w="sm" len="sm"/>
          </a:ln>
        </p:spPr>
      </p:cxnSp>
      <p:cxnSp>
        <p:nvCxnSpPr>
          <p:cNvPr id="314" name=""/>
          <p:cNvCxnSpPr>
            <a:stCxn xmlns:a="http://schemas.openxmlformats.org/drawingml/2006/main" id="19" idx="3"/>
            <a:endCxn xmlns:a="http://schemas.openxmlformats.org/drawingml/2006/main" id="22" idx="1"/>
          </p:cNvCxnSpPr>
          <p:nvPr/>
        </p:nvCxnSpPr>
        <p:spPr>
          <a:xfrm xmlns:a="http://schemas.openxmlformats.org/drawingml/2006/main">
            <a:off x="7715250" y="4467225"/>
            <a:ext cx="781050" cy="0"/>
          </a:xfrm>
          <a:prstGeom xmlns:a="http://schemas.openxmlformats.org/drawingml/2006/main" prst="straightConnector1">
            <a:avLst/>
          </a:prstGeom>
          <a:ln xmlns:a="http://schemas.openxmlformats.org/drawingml/2006/main" w="19050">
            <a:solidFill>
              <a:srgbClr val="5D7FB4"/>
            </a:solidFill>
            <a:prstDash val="solid"/>
            <a:tailEnd type="triangle" w="sm" len="sm"/>
          </a:ln>
        </p:spPr>
      </p:cxnSp>
      <p:sp>
        <p:nvSpPr>
          <p:cNvPr id="27" name="">
            <a:extLst xmlns:a="http://schemas.openxmlformats.org/drawingml/2006/main">
              <a:ext uri="{FF2B5EF4-FFF2-40B4-BE49-F238E27FC236}">
                <a16:creationId xmlns:a16="http://schemas.microsoft.com/office/drawing/2014/main" id="{32C6DBDE-9250-4AA7-B2D3-2956A6438C49}"/>
              </a:ext>
            </a:extLst>
          </p:cNvPr>
          <p:cNvSpPr>
            <a:spLocks xmlns:a="http://schemas.openxmlformats.org/drawingml/2006/main" noGrp="1"/>
          </p:cNvSpPr>
          <p:nvPr/>
        </p:nvSpPr>
        <p:spPr>
          <a:xfrm xmlns:a="http://schemas.openxmlformats.org/drawingml/2006/main">
            <a:off x="457200" y="5524500"/>
            <a:ext cx="762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738"/>
          </a:bodyPr>
          <a:lstStyle xmlns:a="http://schemas.openxmlformats.org/drawingml/2006/main"/>
          <a:p xmlns:a="http://schemas.openxmlformats.org/drawingml/2006/main">
            <a:pPr algn="l">
              <a:buNone/>
              <a:defRPr sz="1275" b="1">
                <a:solidFill>
                  <a:srgbClr val="344054"/>
                </a:solidFill>
                <a:latin typeface="Helvetica Neue"/>
                <a:ea typeface="Helvetica Neue"/>
                <a:cs typeface="Helvetica Neue"/>
              </a:defRPr>
            </a:pPr>
            <a:r>
              <a:rPr sz="1275" b="1">
                <a:solidFill>
                  <a:srgbClr val="344054"/>
                </a:solidFill>
                <a:latin typeface="Helvetica Neue"/>
                <a:ea typeface="Helvetica Neue"/>
                <a:cs typeface="Helvetica Neue"/>
              </a:rPr>
              <a:t>CURRENT V1: OpenAI embeddings, source-supported Responses generation, a fixed query, and initial weights.</a:t>
            </a:r>
          </a:p>
        </p:txBody>
      </p:sp>
      <p:sp>
        <p:nvSpPr>
          <p:cNvPr id="28" name="">
            <a:extLst xmlns:a="http://schemas.openxmlformats.org/drawingml/2006/main">
              <a:ext uri="{FF2B5EF4-FFF2-40B4-BE49-F238E27FC236}">
                <a16:creationId xmlns:a16="http://schemas.microsoft.com/office/drawing/2014/main" id="{935DB09F-6ADD-408F-B1D4-C5857C900A7A}"/>
              </a:ext>
            </a:extLst>
          </p:cNvPr>
          <p:cNvSpPr>
            <a:spLocks xmlns:a="http://schemas.openxmlformats.org/drawingml/2006/main" noGrp="1"/>
          </p:cNvSpPr>
          <p:nvPr/>
        </p:nvSpPr>
        <p:spPr>
          <a:xfrm xmlns:a="http://schemas.openxmlformats.org/drawingml/2006/main">
            <a:off x="457200" y="5810250"/>
            <a:ext cx="762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0">
                <a:solidFill>
                  <a:srgbClr val="667085"/>
                </a:solidFill>
                <a:latin typeface="Helvetica Neue"/>
                <a:ea typeface="Helvetica Neue"/>
                <a:cs typeface="Helvetica Neue"/>
              </a:defRPr>
            </a:pPr>
            <a:r>
              <a:rPr sz="1200" b="0">
                <a:solidFill>
                  <a:srgbClr val="667085"/>
                </a:solidFill>
                <a:latin typeface="Helvetica Neue"/>
                <a:ea typeface="Helvetica Neue"/>
                <a:cs typeface="Helvetica Neue"/>
              </a:rPr>
              <a:t>TARGET: tune retrieval, the prompt, and reasoning effort with reviewed questions.</a:t>
            </a:r>
          </a:p>
        </p:txBody>
      </p:sp>
    </p:spTree>
    <p:extLst>
      <p:ext uri="{BB962C8B-B14F-4D97-AF65-F5344CB8AC3E}">
        <p14:creationId xmlns:p14="http://schemas.microsoft.com/office/powerpoint/2010/main" val="1114133193"/>
      </p:ext>
    </p:extLst>
  </p:cSld>
</p:sld>
</file>

<file path=ppt/slides/slide8.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1B61CF6-96B9-4010-86E0-F685F3D94FCB}"/>
              </a:ext>
            </a:extLst>
          </p:cNvPr>
          <p:cNvSpPr>
            <a:spLocks xmlns:a="http://schemas.openxmlformats.org/drawingml/2006/main" noGrp="1"/>
          </p:cNvSpPr>
          <p:nvPr/>
        </p:nvSpPr>
        <p:spPr>
          <a:xfrm xmlns:a="http://schemas.openxmlformats.org/drawingml/2006/main">
            <a:off x="457200" y="361950"/>
            <a:ext cx="1104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000" b="1">
                <a:solidFill>
                  <a:srgbClr val="101828"/>
                </a:solidFill>
                <a:latin typeface="Helvetica Neue"/>
                <a:ea typeface="Helvetica Neue"/>
                <a:cs typeface="Helvetica Neue"/>
              </a:defRPr>
            </a:pPr>
            <a:r>
              <a:rPr sz="2550" b="1">
                <a:solidFill>
                  <a:srgbClr val="101828"/>
                </a:solidFill>
                <a:latin typeface="Helvetica Neue"/>
                <a:ea typeface="Helvetica Neue"/>
                <a:cs typeface="Helvetica Neue"/>
              </a:rPr>
              <a:t>Which stack generates the briefs now?</a:t>
            </a:r>
          </a:p>
        </p:txBody>
      </p:sp>
      <p:sp>
        <p:nvSpPr>
          <p:cNvPr id="2" name="">
            <a:extLst xmlns:a="http://schemas.openxmlformats.org/drawingml/2006/main">
              <a:ext uri="{FF2B5EF4-FFF2-40B4-BE49-F238E27FC236}">
                <a16:creationId xmlns:a16="http://schemas.microsoft.com/office/drawing/2014/main" id="{7D9C5C2F-6C9D-4161-8CD3-13E090AC468D}"/>
              </a:ext>
            </a:extLst>
          </p:cNvPr>
          <p:cNvSpPr>
            <a:spLocks xmlns:a="http://schemas.openxmlformats.org/drawingml/2006/main" noGrp="1"/>
          </p:cNvSpPr>
          <p:nvPr/>
        </p:nvSpPr>
        <p:spPr>
          <a:xfrm xmlns:a="http://schemas.openxmlformats.org/drawingml/2006/main">
            <a:off x="457200" y="6324600"/>
            <a:ext cx="108585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3" name="">
            <a:extLst xmlns:a="http://schemas.openxmlformats.org/drawingml/2006/main">
              <a:ext uri="{FF2B5EF4-FFF2-40B4-BE49-F238E27FC236}">
                <a16:creationId xmlns:a16="http://schemas.microsoft.com/office/drawing/2014/main" id="{9600F930-A327-4D42-B3AC-B4690BAC588C}"/>
              </a:ext>
            </a:extLst>
          </p:cNvPr>
          <p:cNvSpPr>
            <a:spLocks xmlns:a="http://schemas.openxmlformats.org/drawingml/2006/main" noGrp="1"/>
          </p:cNvSpPr>
          <p:nvPr/>
        </p:nvSpPr>
        <p:spPr>
          <a:xfrm xmlns:a="http://schemas.openxmlformats.org/drawingml/2006/main">
            <a:off x="10744200" y="645795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1">
                <a:solidFill>
                  <a:srgbClr val="667085"/>
                </a:solidFill>
                <a:latin typeface="Helvetica Neue"/>
                <a:ea typeface="Helvetica Neue"/>
                <a:cs typeface="Helvetica Neue"/>
              </a:defRPr>
            </a:pPr>
            <a:r>
              <a:rPr sz="975" b="1">
                <a:solidFill>
                  <a:srgbClr val="667085"/>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8FE6BFC8-F410-4A84-9798-3C4E13160A16}"/>
              </a:ext>
            </a:extLst>
          </p:cNvPr>
          <p:cNvSpPr>
            <a:spLocks xmlns:a="http://schemas.openxmlformats.org/drawingml/2006/main" noGrp="1"/>
          </p:cNvSpPr>
          <p:nvPr/>
        </p:nvSpPr>
        <p:spPr>
          <a:xfrm xmlns:a="http://schemas.openxmlformats.org/drawingml/2006/main">
            <a:off x="457200" y="14668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l">
              <a:buNone/>
              <a:defRPr sz="1050" b="1">
                <a:solidFill>
                  <a:srgbClr val="315F9F"/>
                </a:solidFill>
                <a:latin typeface="Helvetica Neue"/>
                <a:ea typeface="Helvetica Neue"/>
                <a:cs typeface="Helvetica Neue"/>
              </a:defRPr>
            </a:pPr>
            <a:r>
              <a:rPr sz="1050" b="1">
                <a:solidFill>
                  <a:srgbClr val="315F9F"/>
                </a:solidFill>
                <a:latin typeface="Helvetica Neue"/>
                <a:ea typeface="Helvetica Neue"/>
                <a:cs typeface="Helvetica Neue"/>
              </a:rPr>
              <a:t>RUNS NOW</a:t>
            </a:r>
          </a:p>
        </p:txBody>
      </p:sp>
      <p:sp>
        <p:nvSpPr>
          <p:cNvPr id="5" name="">
            <a:extLst xmlns:a="http://schemas.openxmlformats.org/drawingml/2006/main">
              <a:ext uri="{FF2B5EF4-FFF2-40B4-BE49-F238E27FC236}">
                <a16:creationId xmlns:a16="http://schemas.microsoft.com/office/drawing/2014/main" id="{7F4CD62E-8C04-4F26-9606-CF238E6B5EFC}"/>
              </a:ext>
            </a:extLst>
          </p:cNvPr>
          <p:cNvSpPr>
            <a:spLocks xmlns:a="http://schemas.openxmlformats.org/drawingml/2006/main" noGrp="1"/>
          </p:cNvSpPr>
          <p:nvPr/>
        </p:nvSpPr>
        <p:spPr>
          <a:xfrm xmlns:a="http://schemas.openxmlformats.org/drawingml/2006/main">
            <a:off x="3333750" y="1466850"/>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l">
              <a:buNone/>
              <a:defRPr sz="1050" b="1">
                <a:solidFill>
                  <a:srgbClr val="315F9F"/>
                </a:solidFill>
                <a:latin typeface="Helvetica Neue"/>
                <a:ea typeface="Helvetica Neue"/>
                <a:cs typeface="Helvetica Neue"/>
              </a:defRPr>
            </a:pPr>
            <a:r>
              <a:rPr sz="1050" b="1">
                <a:solidFill>
                  <a:srgbClr val="315F9F"/>
                </a:solidFill>
                <a:latin typeface="Helvetica Neue"/>
                <a:ea typeface="Helvetica Neue"/>
                <a:cs typeface="Helvetica Neue"/>
              </a:rPr>
              <a:t>ROLE IN THE BRIEF</a:t>
            </a:r>
          </a:p>
        </p:txBody>
      </p:sp>
      <p:sp>
        <p:nvSpPr>
          <p:cNvPr id="6" name="">
            <a:extLst xmlns:a="http://schemas.openxmlformats.org/drawingml/2006/main">
              <a:ext uri="{FF2B5EF4-FFF2-40B4-BE49-F238E27FC236}">
                <a16:creationId xmlns:a16="http://schemas.microsoft.com/office/drawing/2014/main" id="{B98364E2-4CA2-464C-B7ED-DF6E422AB2EF}"/>
              </a:ext>
            </a:extLst>
          </p:cNvPr>
          <p:cNvSpPr>
            <a:spLocks xmlns:a="http://schemas.openxmlformats.org/drawingml/2006/main" noGrp="1"/>
          </p:cNvSpPr>
          <p:nvPr/>
        </p:nvSpPr>
        <p:spPr>
          <a:xfrm xmlns:a="http://schemas.openxmlformats.org/drawingml/2006/main">
            <a:off x="7067550" y="1466850"/>
            <a:ext cx="424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l">
              <a:buNone/>
              <a:defRPr sz="1050" b="1">
                <a:solidFill>
                  <a:srgbClr val="315F9F"/>
                </a:solidFill>
                <a:latin typeface="Helvetica Neue"/>
                <a:ea typeface="Helvetica Neue"/>
                <a:cs typeface="Helvetica Neue"/>
              </a:defRPr>
            </a:pPr>
            <a:r>
              <a:rPr sz="1050" b="1">
                <a:solidFill>
                  <a:srgbClr val="315F9F"/>
                </a:solidFill>
                <a:latin typeface="Helvetica Neue"/>
                <a:ea typeface="Helvetica Neue"/>
                <a:cs typeface="Helvetica Neue"/>
              </a:rPr>
              <a:t>PRODUCTION HARDENING</a:t>
            </a:r>
          </a:p>
        </p:txBody>
      </p:sp>
      <p:sp>
        <p:nvSpPr>
          <p:cNvPr id="7" name="">
            <a:extLst xmlns:a="http://schemas.openxmlformats.org/drawingml/2006/main">
              <a:ext uri="{FF2B5EF4-FFF2-40B4-BE49-F238E27FC236}">
                <a16:creationId xmlns:a16="http://schemas.microsoft.com/office/drawing/2014/main" id="{7B495C59-B79D-4705-8DC0-ABF561EA71FE}"/>
              </a:ext>
            </a:extLst>
          </p:cNvPr>
          <p:cNvSpPr>
            <a:spLocks xmlns:a="http://schemas.openxmlformats.org/drawingml/2006/main" noGrp="1"/>
          </p:cNvSpPr>
          <p:nvPr/>
        </p:nvSpPr>
        <p:spPr>
          <a:xfrm xmlns:a="http://schemas.openxmlformats.org/drawingml/2006/main">
            <a:off x="457200" y="1809750"/>
            <a:ext cx="10858500" cy="876300"/>
          </a:xfrm>
          <a:prstGeom xmlns:a="http://schemas.openxmlformats.org/drawingml/2006/main" prst="roundRect">
            <a:avLst>
              <a:gd name="adj" fmla="val 13043"/>
            </a:avLst>
          </a:prstGeom>
          <a:solidFill xmlns:a="http://schemas.openxmlformats.org/drawingml/2006/main">
            <a:srgbClr val="FFFFFF"/>
          </a:solidFill>
          <a:ln xmlns:a="http://schemas.openxmlformats.org/drawingml/2006/main" w="9525">
            <a:solidFill>
              <a:srgbClr val="D0D5DD"/>
            </a:solidFill>
            <a:prstDash val="solid"/>
          </a:ln>
        </p:spPr>
      </p:sp>
      <p:sp>
        <p:nvSpPr>
          <p:cNvPr id="8" name="">
            <a:extLst xmlns:a="http://schemas.openxmlformats.org/drawingml/2006/main">
              <a:ext uri="{FF2B5EF4-FFF2-40B4-BE49-F238E27FC236}">
                <a16:creationId xmlns:a16="http://schemas.microsoft.com/office/drawing/2014/main" id="{EC69FB3E-B8A8-4D49-ACC4-AD76F61A27CC}"/>
              </a:ext>
            </a:extLst>
          </p:cNvPr>
          <p:cNvSpPr>
            <a:spLocks xmlns:a="http://schemas.openxmlformats.org/drawingml/2006/main" noGrp="1"/>
          </p:cNvSpPr>
          <p:nvPr/>
        </p:nvSpPr>
        <p:spPr>
          <a:xfrm xmlns:a="http://schemas.openxmlformats.org/drawingml/2006/main">
            <a:off x="628650" y="1971675"/>
            <a:ext cx="247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1">
                <a:solidFill>
                  <a:srgbClr val="101828"/>
                </a:solidFill>
                <a:latin typeface="Helvetica Neue"/>
                <a:ea typeface="Helvetica Neue"/>
                <a:cs typeface="Helvetica Neue"/>
              </a:defRPr>
            </a:pPr>
            <a:r>
              <a:rPr sz="1275" b="1">
                <a:solidFill>
                  <a:srgbClr val="101828"/>
                </a:solidFill>
                <a:latin typeface="Helvetica Neue"/>
                <a:ea typeface="Helvetica Neue"/>
                <a:cs typeface="Helvetica Neue"/>
              </a:rPr>
              <a:t>Next.js, React, TypeScript, and Shadcn</a:t>
            </a:r>
          </a:p>
        </p:txBody>
      </p:sp>
      <p:sp>
        <p:nvSpPr>
          <p:cNvPr id="9" name="">
            <a:extLst xmlns:a="http://schemas.openxmlformats.org/drawingml/2006/main">
              <a:ext uri="{FF2B5EF4-FFF2-40B4-BE49-F238E27FC236}">
                <a16:creationId xmlns:a16="http://schemas.microsoft.com/office/drawing/2014/main" id="{E307D8A2-A73D-48D0-83AA-5127647BCBD8}"/>
              </a:ext>
            </a:extLst>
          </p:cNvPr>
          <p:cNvSpPr>
            <a:spLocks xmlns:a="http://schemas.openxmlformats.org/drawingml/2006/main" noGrp="1"/>
          </p:cNvSpPr>
          <p:nvPr/>
        </p:nvSpPr>
        <p:spPr>
          <a:xfrm xmlns:a="http://schemas.openxmlformats.org/drawingml/2006/main">
            <a:off x="3333750" y="1971675"/>
            <a:ext cx="333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344054"/>
                </a:solidFill>
                <a:latin typeface="Helvetica Neue"/>
                <a:ea typeface="Helvetica Neue"/>
                <a:cs typeface="Helvetica Neue"/>
              </a:defRPr>
            </a:pPr>
            <a:r>
              <a:rPr sz="1275" b="0">
                <a:solidFill>
                  <a:srgbClr val="344054"/>
                </a:solidFill>
                <a:latin typeface="Helvetica Neue"/>
                <a:ea typeface="Helvetica Neue"/>
                <a:cs typeface="Helvetica Neue"/>
              </a:rPr>
              <a:t>The app serves the interface, brief routes, evidence, and feedback.</a:t>
            </a:r>
          </a:p>
        </p:txBody>
      </p:sp>
      <p:sp>
        <p:nvSpPr>
          <p:cNvPr id="10" name="">
            <a:extLst xmlns:a="http://schemas.openxmlformats.org/drawingml/2006/main">
              <a:ext uri="{FF2B5EF4-FFF2-40B4-BE49-F238E27FC236}">
                <a16:creationId xmlns:a16="http://schemas.microsoft.com/office/drawing/2014/main" id="{A6F435AE-0B0F-4977-9819-786E47BD64E5}"/>
              </a:ext>
            </a:extLst>
          </p:cNvPr>
          <p:cNvSpPr>
            <a:spLocks xmlns:a="http://schemas.openxmlformats.org/drawingml/2006/main" noGrp="1"/>
          </p:cNvSpPr>
          <p:nvPr/>
        </p:nvSpPr>
        <p:spPr>
          <a:xfrm xmlns:a="http://schemas.openxmlformats.org/drawingml/2006/main">
            <a:off x="7067550" y="1971675"/>
            <a:ext cx="4000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344054"/>
                </a:solidFill>
                <a:latin typeface="Helvetica Neue"/>
                <a:ea typeface="Helvetica Neue"/>
                <a:cs typeface="Helvetica Neue"/>
              </a:defRPr>
            </a:pPr>
            <a:r>
              <a:rPr sz="1275" b="0">
                <a:solidFill>
                  <a:srgbClr val="344054"/>
                </a:solidFill>
                <a:latin typeface="Helvetica Neue"/>
                <a:ea typeface="Helvetica Neue"/>
                <a:cs typeface="Helvetica Neue"/>
              </a:rPr>
              <a:t>Keep one service until scale or ownership requires a split.</a:t>
            </a:r>
          </a:p>
        </p:txBody>
      </p:sp>
      <p:sp>
        <p:nvSpPr>
          <p:cNvPr id="11" name="">
            <a:extLst xmlns:a="http://schemas.openxmlformats.org/drawingml/2006/main">
              <a:ext uri="{FF2B5EF4-FFF2-40B4-BE49-F238E27FC236}">
                <a16:creationId xmlns:a16="http://schemas.microsoft.com/office/drawing/2014/main" id="{38DE38FC-42AC-41E0-A6D8-61A4AA3E9D2B}"/>
              </a:ext>
            </a:extLst>
          </p:cNvPr>
          <p:cNvSpPr>
            <a:spLocks xmlns:a="http://schemas.openxmlformats.org/drawingml/2006/main" noGrp="1"/>
          </p:cNvSpPr>
          <p:nvPr/>
        </p:nvSpPr>
        <p:spPr>
          <a:xfrm xmlns:a="http://schemas.openxmlformats.org/drawingml/2006/main">
            <a:off x="457200" y="2838450"/>
            <a:ext cx="10858500" cy="876300"/>
          </a:xfrm>
          <a:prstGeom xmlns:a="http://schemas.openxmlformats.org/drawingml/2006/main" prst="roundRect">
            <a:avLst>
              <a:gd name="adj" fmla="val 13043"/>
            </a:avLst>
          </a:prstGeom>
          <a:solidFill xmlns:a="http://schemas.openxmlformats.org/drawingml/2006/main">
            <a:srgbClr val="F2F4F7"/>
          </a:solidFill>
          <a:ln xmlns:a="http://schemas.openxmlformats.org/drawingml/2006/main" w="9525">
            <a:solidFill>
              <a:srgbClr val="D0D5DD"/>
            </a:solidFill>
            <a:prstDash val="solid"/>
          </a:ln>
        </p:spPr>
      </p:sp>
      <p:sp>
        <p:nvSpPr>
          <p:cNvPr id="12" name="">
            <a:extLst xmlns:a="http://schemas.openxmlformats.org/drawingml/2006/main">
              <a:ext uri="{FF2B5EF4-FFF2-40B4-BE49-F238E27FC236}">
                <a16:creationId xmlns:a16="http://schemas.microsoft.com/office/drawing/2014/main" id="{142B5CD3-C553-481E-9C26-C13B5B4631BC}"/>
              </a:ext>
            </a:extLst>
          </p:cNvPr>
          <p:cNvSpPr>
            <a:spLocks xmlns:a="http://schemas.openxmlformats.org/drawingml/2006/main" noGrp="1"/>
          </p:cNvSpPr>
          <p:nvPr/>
        </p:nvSpPr>
        <p:spPr>
          <a:xfrm xmlns:a="http://schemas.openxmlformats.org/drawingml/2006/main">
            <a:off x="628650" y="3000375"/>
            <a:ext cx="247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1">
                <a:solidFill>
                  <a:srgbClr val="101828"/>
                </a:solidFill>
                <a:latin typeface="Helvetica Neue"/>
                <a:ea typeface="Helvetica Neue"/>
                <a:cs typeface="Helvetica Neue"/>
              </a:defRPr>
            </a:pPr>
            <a:r>
              <a:rPr sz="1275" b="1">
                <a:solidFill>
                  <a:srgbClr val="101828"/>
                </a:solidFill>
                <a:latin typeface="Helvetica Neue"/>
                <a:ea typeface="Helvetica Neue"/>
                <a:cs typeface="Helvetica Neue"/>
              </a:rPr>
              <a:t>PostgreSQL 17 and pgvector</a:t>
            </a:r>
          </a:p>
        </p:txBody>
      </p:sp>
      <p:sp>
        <p:nvSpPr>
          <p:cNvPr id="13" name="">
            <a:extLst xmlns:a="http://schemas.openxmlformats.org/drawingml/2006/main">
              <a:ext uri="{FF2B5EF4-FFF2-40B4-BE49-F238E27FC236}">
                <a16:creationId xmlns:a16="http://schemas.microsoft.com/office/drawing/2014/main" id="{396A0E06-95B2-41D7-B971-71C0C0FF5E81}"/>
              </a:ext>
            </a:extLst>
          </p:cNvPr>
          <p:cNvSpPr>
            <a:spLocks xmlns:a="http://schemas.openxmlformats.org/drawingml/2006/main" noGrp="1"/>
          </p:cNvSpPr>
          <p:nvPr/>
        </p:nvSpPr>
        <p:spPr>
          <a:xfrm xmlns:a="http://schemas.openxmlformats.org/drawingml/2006/main">
            <a:off x="3333750" y="3000375"/>
            <a:ext cx="333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344054"/>
                </a:solidFill>
                <a:latin typeface="Helvetica Neue"/>
                <a:ea typeface="Helvetica Neue"/>
                <a:cs typeface="Helvetica Neue"/>
              </a:defRPr>
            </a:pPr>
            <a:r>
              <a:rPr sz="1275" b="0">
                <a:solidFill>
                  <a:srgbClr val="344054"/>
                </a:solidFill>
                <a:latin typeface="Helvetica Neue"/>
                <a:ea typeface="Helvetica Neue"/>
                <a:cs typeface="Helvetica Neue"/>
              </a:rPr>
              <a:t>The store holds evidence, embeddings, brief audit data, and feedback.</a:t>
            </a:r>
          </a:p>
        </p:txBody>
      </p:sp>
      <p:sp>
        <p:nvSpPr>
          <p:cNvPr id="14" name="">
            <a:extLst xmlns:a="http://schemas.openxmlformats.org/drawingml/2006/main">
              <a:ext uri="{FF2B5EF4-FFF2-40B4-BE49-F238E27FC236}">
                <a16:creationId xmlns:a16="http://schemas.microsoft.com/office/drawing/2014/main" id="{7AF879C1-6960-4435-8103-05F80DC16085}"/>
              </a:ext>
            </a:extLst>
          </p:cNvPr>
          <p:cNvSpPr>
            <a:spLocks xmlns:a="http://schemas.openxmlformats.org/drawingml/2006/main" noGrp="1"/>
          </p:cNvSpPr>
          <p:nvPr/>
        </p:nvSpPr>
        <p:spPr>
          <a:xfrm xmlns:a="http://schemas.openxmlformats.org/drawingml/2006/main">
            <a:off x="7067550" y="3000375"/>
            <a:ext cx="4000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344054"/>
                </a:solidFill>
                <a:latin typeface="Helvetica Neue"/>
                <a:ea typeface="Helvetica Neue"/>
                <a:cs typeface="Helvetica Neue"/>
              </a:defRPr>
            </a:pPr>
            <a:r>
              <a:rPr sz="1275" b="0">
                <a:solidFill>
                  <a:srgbClr val="344054"/>
                </a:solidFill>
                <a:latin typeface="Helvetica Neue"/>
                <a:ea typeface="Helvetica Neue"/>
                <a:cs typeface="Helvetica Neue"/>
              </a:rPr>
              <a:t>Test retrieval and response time on the 250-company scope.</a:t>
            </a:r>
          </a:p>
        </p:txBody>
      </p:sp>
      <p:sp>
        <p:nvSpPr>
          <p:cNvPr id="15" name="">
            <a:extLst xmlns:a="http://schemas.openxmlformats.org/drawingml/2006/main">
              <a:ext uri="{FF2B5EF4-FFF2-40B4-BE49-F238E27FC236}">
                <a16:creationId xmlns:a16="http://schemas.microsoft.com/office/drawing/2014/main" id="{AEEC5BFB-FF21-41F2-9BF1-F8473C9BF235}"/>
              </a:ext>
            </a:extLst>
          </p:cNvPr>
          <p:cNvSpPr>
            <a:spLocks xmlns:a="http://schemas.openxmlformats.org/drawingml/2006/main" noGrp="1"/>
          </p:cNvSpPr>
          <p:nvPr/>
        </p:nvSpPr>
        <p:spPr>
          <a:xfrm xmlns:a="http://schemas.openxmlformats.org/drawingml/2006/main">
            <a:off x="457200" y="3867150"/>
            <a:ext cx="10858500" cy="876300"/>
          </a:xfrm>
          <a:prstGeom xmlns:a="http://schemas.openxmlformats.org/drawingml/2006/main" prst="roundRect">
            <a:avLst>
              <a:gd name="adj" fmla="val 13043"/>
            </a:avLst>
          </a:prstGeom>
          <a:solidFill xmlns:a="http://schemas.openxmlformats.org/drawingml/2006/main">
            <a:srgbClr val="FFFFFF"/>
          </a:solidFill>
          <a:ln xmlns:a="http://schemas.openxmlformats.org/drawingml/2006/main" w="9525">
            <a:solidFill>
              <a:srgbClr val="D0D5DD"/>
            </a:solidFill>
            <a:prstDash val="solid"/>
          </a:ln>
        </p:spPr>
      </p:sp>
      <p:sp>
        <p:nvSpPr>
          <p:cNvPr id="16" name="">
            <a:extLst xmlns:a="http://schemas.openxmlformats.org/drawingml/2006/main">
              <a:ext uri="{FF2B5EF4-FFF2-40B4-BE49-F238E27FC236}">
                <a16:creationId xmlns:a16="http://schemas.microsoft.com/office/drawing/2014/main" id="{ACE4786C-2CF3-4F87-A674-4A90F5B229EC}"/>
              </a:ext>
            </a:extLst>
          </p:cNvPr>
          <p:cNvSpPr>
            <a:spLocks xmlns:a="http://schemas.openxmlformats.org/drawingml/2006/main" noGrp="1"/>
          </p:cNvSpPr>
          <p:nvPr/>
        </p:nvSpPr>
        <p:spPr>
          <a:xfrm xmlns:a="http://schemas.openxmlformats.org/drawingml/2006/main">
            <a:off x="628650" y="4029075"/>
            <a:ext cx="247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1">
                <a:solidFill>
                  <a:srgbClr val="101828"/>
                </a:solidFill>
                <a:latin typeface="Helvetica Neue"/>
                <a:ea typeface="Helvetica Neue"/>
                <a:cs typeface="Helvetica Neue"/>
              </a:defRPr>
            </a:pPr>
            <a:r>
              <a:rPr sz="1275" b="1">
                <a:solidFill>
                  <a:srgbClr val="101828"/>
                </a:solidFill>
                <a:latin typeface="Helvetica Neue"/>
                <a:ea typeface="Helvetica Neue"/>
                <a:cs typeface="Helvetica Neue"/>
              </a:rPr>
              <a:t>File adapters and local Docker</a:t>
            </a:r>
          </a:p>
        </p:txBody>
      </p:sp>
      <p:sp>
        <p:nvSpPr>
          <p:cNvPr id="17" name="">
            <a:extLst xmlns:a="http://schemas.openxmlformats.org/drawingml/2006/main">
              <a:ext uri="{FF2B5EF4-FFF2-40B4-BE49-F238E27FC236}">
                <a16:creationId xmlns:a16="http://schemas.microsoft.com/office/drawing/2014/main" id="{8743BD4F-5E47-4AC2-BD68-A72C07569491}"/>
              </a:ext>
            </a:extLst>
          </p:cNvPr>
          <p:cNvSpPr>
            <a:spLocks xmlns:a="http://schemas.openxmlformats.org/drawingml/2006/main" noGrp="1"/>
          </p:cNvSpPr>
          <p:nvPr/>
        </p:nvSpPr>
        <p:spPr>
          <a:xfrm xmlns:a="http://schemas.openxmlformats.org/drawingml/2006/main">
            <a:off x="3333750" y="4029075"/>
            <a:ext cx="333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344054"/>
                </a:solidFill>
                <a:latin typeface="Helvetica Neue"/>
                <a:ea typeface="Helvetica Neue"/>
                <a:cs typeface="Helvetica Neue"/>
              </a:defRPr>
            </a:pPr>
            <a:r>
              <a:rPr sz="1275" b="0">
                <a:solidFill>
                  <a:srgbClr val="344054"/>
                </a:solidFill>
                <a:latin typeface="Helvetica Neue"/>
                <a:ea typeface="Helvetica Neue"/>
                <a:cs typeface="Helvetica Neue"/>
              </a:rPr>
              <a:t>Static fictional files make the demo repeatable without source credentials.</a:t>
            </a:r>
          </a:p>
        </p:txBody>
      </p:sp>
      <p:sp>
        <p:nvSpPr>
          <p:cNvPr id="18" name="">
            <a:extLst xmlns:a="http://schemas.openxmlformats.org/drawingml/2006/main">
              <a:ext uri="{FF2B5EF4-FFF2-40B4-BE49-F238E27FC236}">
                <a16:creationId xmlns:a16="http://schemas.microsoft.com/office/drawing/2014/main" id="{053B12CA-0085-4447-849D-DEE811EB562C}"/>
              </a:ext>
            </a:extLst>
          </p:cNvPr>
          <p:cNvSpPr>
            <a:spLocks xmlns:a="http://schemas.openxmlformats.org/drawingml/2006/main" noGrp="1"/>
          </p:cNvSpPr>
          <p:nvPr/>
        </p:nvSpPr>
        <p:spPr>
          <a:xfrm xmlns:a="http://schemas.openxmlformats.org/drawingml/2006/main">
            <a:off x="7067550" y="4029075"/>
            <a:ext cx="4000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344054"/>
                </a:solidFill>
                <a:latin typeface="Helvetica Neue"/>
                <a:ea typeface="Helvetica Neue"/>
                <a:cs typeface="Helvetica Neue"/>
              </a:defRPr>
            </a:pPr>
            <a:r>
              <a:rPr sz="1275" b="0">
                <a:solidFill>
                  <a:srgbClr val="344054"/>
                </a:solidFill>
                <a:latin typeface="Helvetica Neue"/>
                <a:ea typeface="Helvetica Neue"/>
                <a:cs typeface="Helvetica Neue"/>
              </a:rPr>
              <a:t>Add managed connectors, access rules, schedules, and reconciliation.</a:t>
            </a:r>
          </a:p>
        </p:txBody>
      </p:sp>
      <p:sp>
        <p:nvSpPr>
          <p:cNvPr id="19" name="">
            <a:extLst xmlns:a="http://schemas.openxmlformats.org/drawingml/2006/main">
              <a:ext uri="{FF2B5EF4-FFF2-40B4-BE49-F238E27FC236}">
                <a16:creationId xmlns:a16="http://schemas.microsoft.com/office/drawing/2014/main" id="{C245F6B4-29EE-4FAF-8CED-C8CB5D03FD20}"/>
              </a:ext>
            </a:extLst>
          </p:cNvPr>
          <p:cNvSpPr>
            <a:spLocks xmlns:a="http://schemas.openxmlformats.org/drawingml/2006/main" noGrp="1"/>
          </p:cNvSpPr>
          <p:nvPr/>
        </p:nvSpPr>
        <p:spPr>
          <a:xfrm xmlns:a="http://schemas.openxmlformats.org/drawingml/2006/main">
            <a:off x="457200" y="4895850"/>
            <a:ext cx="10858500" cy="876300"/>
          </a:xfrm>
          <a:prstGeom xmlns:a="http://schemas.openxmlformats.org/drawingml/2006/main" prst="roundRect">
            <a:avLst>
              <a:gd name="adj" fmla="val 13043"/>
            </a:avLst>
          </a:prstGeom>
          <a:solidFill xmlns:a="http://schemas.openxmlformats.org/drawingml/2006/main">
            <a:srgbClr val="F2F4F7"/>
          </a:solidFill>
          <a:ln xmlns:a="http://schemas.openxmlformats.org/drawingml/2006/main" w="9525">
            <a:solidFill>
              <a:srgbClr val="D0D5DD"/>
            </a:solidFill>
            <a:prstDash val="solid"/>
          </a:ln>
        </p:spPr>
      </p:sp>
      <p:sp>
        <p:nvSpPr>
          <p:cNvPr id="20" name="">
            <a:extLst xmlns:a="http://schemas.openxmlformats.org/drawingml/2006/main">
              <a:ext uri="{FF2B5EF4-FFF2-40B4-BE49-F238E27FC236}">
                <a16:creationId xmlns:a16="http://schemas.microsoft.com/office/drawing/2014/main" id="{0D3A7A48-84E5-4A16-8618-B5949755C8FD}"/>
              </a:ext>
            </a:extLst>
          </p:cNvPr>
          <p:cNvSpPr>
            <a:spLocks xmlns:a="http://schemas.openxmlformats.org/drawingml/2006/main" noGrp="1"/>
          </p:cNvSpPr>
          <p:nvPr/>
        </p:nvSpPr>
        <p:spPr>
          <a:xfrm xmlns:a="http://schemas.openxmlformats.org/drawingml/2006/main">
            <a:off x="628650" y="5057775"/>
            <a:ext cx="247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1">
                <a:solidFill>
                  <a:srgbClr val="101828"/>
                </a:solidFill>
                <a:latin typeface="Helvetica Neue"/>
                <a:ea typeface="Helvetica Neue"/>
                <a:cs typeface="Helvetica Neue"/>
              </a:defRPr>
            </a:pPr>
            <a:r>
              <a:rPr sz="1275" b="1">
                <a:solidFill>
                  <a:srgbClr val="101828"/>
                </a:solidFill>
                <a:latin typeface="Helvetica Neue"/>
                <a:ea typeface="Helvetica Neue"/>
                <a:cs typeface="Helvetica Neue"/>
              </a:rPr>
              <a:t>text-embedding-3-large and gpt-5.6-sol</a:t>
            </a:r>
          </a:p>
        </p:txBody>
      </p:sp>
      <p:sp>
        <p:nvSpPr>
          <p:cNvPr id="21" name="">
            <a:extLst xmlns:a="http://schemas.openxmlformats.org/drawingml/2006/main">
              <a:ext uri="{FF2B5EF4-FFF2-40B4-BE49-F238E27FC236}">
                <a16:creationId xmlns:a16="http://schemas.microsoft.com/office/drawing/2014/main" id="{73604F0C-EF44-422B-9768-10F27E619077}"/>
              </a:ext>
            </a:extLst>
          </p:cNvPr>
          <p:cNvSpPr>
            <a:spLocks xmlns:a="http://schemas.openxmlformats.org/drawingml/2006/main" noGrp="1"/>
          </p:cNvSpPr>
          <p:nvPr/>
        </p:nvSpPr>
        <p:spPr>
          <a:xfrm xmlns:a="http://schemas.openxmlformats.org/drawingml/2006/main">
            <a:off x="3333750" y="5057775"/>
            <a:ext cx="333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344054"/>
                </a:solidFill>
                <a:latin typeface="Helvetica Neue"/>
                <a:ea typeface="Helvetica Neue"/>
                <a:cs typeface="Helvetica Neue"/>
              </a:defRPr>
            </a:pPr>
            <a:r>
              <a:rPr sz="1275" b="0">
                <a:solidFill>
                  <a:srgbClr val="344054"/>
                </a:solidFill>
                <a:latin typeface="Helvetica Neue"/>
                <a:ea typeface="Helvetica Neue"/>
                <a:cs typeface="Helvetica Neue"/>
              </a:rPr>
              <a:t>Embeddings retrieve evidence. GPT-5.6 Sol writes the source-supported brief now.</a:t>
            </a:r>
          </a:p>
        </p:txBody>
      </p:sp>
      <p:sp>
        <p:nvSpPr>
          <p:cNvPr id="22" name="">
            <a:extLst xmlns:a="http://schemas.openxmlformats.org/drawingml/2006/main">
              <a:ext uri="{FF2B5EF4-FFF2-40B4-BE49-F238E27FC236}">
                <a16:creationId xmlns:a16="http://schemas.microsoft.com/office/drawing/2014/main" id="{612DA721-F40D-4B55-AC96-2E48A46CC6D5}"/>
              </a:ext>
            </a:extLst>
          </p:cNvPr>
          <p:cNvSpPr>
            <a:spLocks xmlns:a="http://schemas.openxmlformats.org/drawingml/2006/main" noGrp="1"/>
          </p:cNvSpPr>
          <p:nvPr/>
        </p:nvSpPr>
        <p:spPr>
          <a:xfrm xmlns:a="http://schemas.openxmlformats.org/drawingml/2006/main">
            <a:off x="7067550" y="5057775"/>
            <a:ext cx="4000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344054"/>
                </a:solidFill>
                <a:latin typeface="Helvetica Neue"/>
                <a:ea typeface="Helvetica Neue"/>
                <a:cs typeface="Helvetica Neue"/>
              </a:defRPr>
            </a:pPr>
            <a:r>
              <a:rPr sz="1275" b="0">
                <a:solidFill>
                  <a:srgbClr val="344054"/>
                </a:solidFill>
                <a:latin typeface="Helvetica Neue"/>
                <a:ea typeface="Helvetica Neue"/>
                <a:cs typeface="Helvetica Neue"/>
              </a:rPr>
              <a:t>Evaluate retrieval, prompts, and model settings. Keep low effort unless a test shows a quality gain.</a:t>
            </a:r>
          </a:p>
        </p:txBody>
      </p:sp>
    </p:spTree>
    <p:extLst>
      <p:ext uri="{BB962C8B-B14F-4D97-AF65-F5344CB8AC3E}">
        <p14:creationId xmlns:p14="http://schemas.microsoft.com/office/powerpoint/2010/main" val="436145467"/>
      </p:ext>
    </p:extLst>
  </p:cSld>
</p:sld>
</file>

<file path=ppt/slides/slide9.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DCB3F631-F107-449F-8532-F0F6CF09ED9C}"/>
              </a:ext>
            </a:extLst>
          </p:cNvPr>
          <p:cNvSpPr>
            <a:spLocks xmlns:a="http://schemas.openxmlformats.org/drawingml/2006/main" noGrp="1"/>
          </p:cNvSpPr>
          <p:nvPr/>
        </p:nvSpPr>
        <p:spPr>
          <a:xfrm xmlns:a="http://schemas.openxmlformats.org/drawingml/2006/main">
            <a:off x="457200" y="361950"/>
            <a:ext cx="1104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000" b="1">
                <a:solidFill>
                  <a:srgbClr val="101828"/>
                </a:solidFill>
                <a:latin typeface="Helvetica Neue"/>
                <a:ea typeface="Helvetica Neue"/>
                <a:cs typeface="Helvetica Neue"/>
              </a:defRPr>
            </a:pPr>
            <a:r>
              <a:rPr sz="3000" b="1">
                <a:solidFill>
                  <a:srgbClr val="101828"/>
                </a:solidFill>
                <a:latin typeface="Helvetica Neue"/>
                <a:ea typeface="Helvetica Neue"/>
                <a:cs typeface="Helvetica Neue"/>
              </a:rPr>
              <a:t>How did I test the working prototype?</a:t>
            </a:r>
          </a:p>
        </p:txBody>
      </p:sp>
      <p:sp>
        <p:nvSpPr>
          <p:cNvPr id="2" name="">
            <a:extLst xmlns:a="http://schemas.openxmlformats.org/drawingml/2006/main">
              <a:ext uri="{FF2B5EF4-FFF2-40B4-BE49-F238E27FC236}">
                <a16:creationId xmlns:a16="http://schemas.microsoft.com/office/drawing/2014/main" id="{FA2C5372-4CF1-4AE4-A3CD-4E138F754CA8}"/>
              </a:ext>
            </a:extLst>
          </p:cNvPr>
          <p:cNvSpPr>
            <a:spLocks xmlns:a="http://schemas.openxmlformats.org/drawingml/2006/main" noGrp="1"/>
          </p:cNvSpPr>
          <p:nvPr/>
        </p:nvSpPr>
        <p:spPr>
          <a:xfrm xmlns:a="http://schemas.openxmlformats.org/drawingml/2006/main">
            <a:off x="457200" y="6324600"/>
            <a:ext cx="108585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3" name="">
            <a:extLst xmlns:a="http://schemas.openxmlformats.org/drawingml/2006/main">
              <a:ext uri="{FF2B5EF4-FFF2-40B4-BE49-F238E27FC236}">
                <a16:creationId xmlns:a16="http://schemas.microsoft.com/office/drawing/2014/main" id="{4839D6B0-80AA-4FCC-9C2D-6D215827FBA5}"/>
              </a:ext>
            </a:extLst>
          </p:cNvPr>
          <p:cNvSpPr>
            <a:spLocks xmlns:a="http://schemas.openxmlformats.org/drawingml/2006/main" noGrp="1"/>
          </p:cNvSpPr>
          <p:nvPr/>
        </p:nvSpPr>
        <p:spPr>
          <a:xfrm xmlns:a="http://schemas.openxmlformats.org/drawingml/2006/main">
            <a:off x="10744200" y="645795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1">
                <a:solidFill>
                  <a:srgbClr val="667085"/>
                </a:solidFill>
                <a:latin typeface="Helvetica Neue"/>
                <a:ea typeface="Helvetica Neue"/>
                <a:cs typeface="Helvetica Neue"/>
              </a:defRPr>
            </a:pPr>
            <a:r>
              <a:rPr sz="975" b="1">
                <a:solidFill>
                  <a:srgbClr val="667085"/>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82E64302-6EE1-4371-AB23-0D77F5FE7F75}"/>
              </a:ext>
            </a:extLst>
          </p:cNvPr>
          <p:cNvSpPr>
            <a:spLocks xmlns:a="http://schemas.openxmlformats.org/drawingml/2006/main" noGrp="1"/>
          </p:cNvSpPr>
          <p:nvPr/>
        </p:nvSpPr>
        <p:spPr>
          <a:xfrm xmlns:a="http://schemas.openxmlformats.org/drawingml/2006/main">
            <a:off x="457200" y="1466850"/>
            <a:ext cx="10858500" cy="952500"/>
          </a:xfrm>
          <a:prstGeom xmlns:a="http://schemas.openxmlformats.org/drawingml/2006/main" prst="roundRect">
            <a:avLst>
              <a:gd name="adj" fmla="val 16000"/>
            </a:avLst>
          </a:prstGeom>
          <a:solidFill xmlns:a="http://schemas.openxmlformats.org/drawingml/2006/main">
            <a:srgbClr val="E8F0FB"/>
          </a:solidFill>
          <a:ln xmlns:a="http://schemas.openxmlformats.org/drawingml/2006/main" w="9525">
            <a:solidFill>
              <a:srgbClr val="9CB5D5"/>
            </a:solidFill>
            <a:prstDash val="solid"/>
          </a:ln>
        </p:spPr>
      </p:sp>
      <p:sp>
        <p:nvSpPr>
          <p:cNvPr id="5" name="">
            <a:extLst xmlns:a="http://schemas.openxmlformats.org/drawingml/2006/main">
              <a:ext uri="{FF2B5EF4-FFF2-40B4-BE49-F238E27FC236}">
                <a16:creationId xmlns:a16="http://schemas.microsoft.com/office/drawing/2014/main" id="{4A1BEC42-0504-4404-8738-11D6F8F404B8}"/>
              </a:ext>
            </a:extLst>
          </p:cNvPr>
          <p:cNvSpPr>
            <a:spLocks xmlns:a="http://schemas.openxmlformats.org/drawingml/2006/main" noGrp="1"/>
          </p:cNvSpPr>
          <p:nvPr/>
        </p:nvSpPr>
        <p:spPr>
          <a:xfrm xmlns:a="http://schemas.openxmlformats.org/drawingml/2006/main">
            <a:off x="685800" y="165735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p xmlns:a="http://schemas.openxmlformats.org/drawingml/2006/main">
            <a:pPr algn="l">
              <a:buNone/>
              <a:defRPr sz="1275" b="1">
                <a:solidFill>
                  <a:srgbClr val="315F9F"/>
                </a:solidFill>
                <a:latin typeface="Helvetica Neue"/>
                <a:ea typeface="Helvetica Neue"/>
                <a:cs typeface="Helvetica Neue"/>
              </a:defRPr>
            </a:pPr>
            <a:r>
              <a:rPr sz="1275" b="1">
                <a:solidFill>
                  <a:srgbClr val="315F9F"/>
                </a:solidFill>
                <a:latin typeface="Helvetica Neue"/>
                <a:ea typeface="Helvetica Neue"/>
                <a:cs typeface="Helvetica Neue"/>
              </a:rPr>
              <a:t>CURRENT RESULT</a:t>
            </a:r>
          </a:p>
        </p:txBody>
      </p:sp>
      <p:sp>
        <p:nvSpPr>
          <p:cNvPr id="6" name="">
            <a:extLst xmlns:a="http://schemas.openxmlformats.org/drawingml/2006/main">
              <a:ext uri="{FF2B5EF4-FFF2-40B4-BE49-F238E27FC236}">
                <a16:creationId xmlns:a16="http://schemas.microsoft.com/office/drawing/2014/main" id="{58AABA6B-7522-4752-984B-13A58F66327C}"/>
              </a:ext>
            </a:extLst>
          </p:cNvPr>
          <p:cNvSpPr>
            <a:spLocks xmlns:a="http://schemas.openxmlformats.org/drawingml/2006/main" noGrp="1"/>
          </p:cNvSpPr>
          <p:nvPr/>
        </p:nvSpPr>
        <p:spPr>
          <a:xfrm xmlns:a="http://schemas.openxmlformats.org/drawingml/2006/main">
            <a:off x="685800" y="1952625"/>
            <a:ext cx="1009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1">
                <a:solidFill>
                  <a:srgbClr val="101828"/>
                </a:solidFill>
                <a:latin typeface="Helvetica Neue"/>
                <a:ea typeface="Helvetica Neue"/>
                <a:cs typeface="Helvetica Neue"/>
              </a:defRPr>
            </a:pPr>
            <a:r>
              <a:rPr sz="1425" b="1">
                <a:solidFill>
                  <a:srgbClr val="101828"/>
                </a:solidFill>
                <a:latin typeface="Helvetica Neue"/>
                <a:ea typeface="Helvetica Neue"/>
                <a:cs typeface="Helvetica Neue"/>
              </a:rPr>
              <a:t>91 checks pass: 69 app tests and 22 live checks. Two live GPT briefs finish in 30 seconds or less.</a:t>
            </a:r>
          </a:p>
        </p:txBody>
      </p:sp>
      <p:sp>
        <p:nvSpPr>
          <p:cNvPr id="7" name="">
            <a:extLst xmlns:a="http://schemas.openxmlformats.org/drawingml/2006/main">
              <a:ext uri="{FF2B5EF4-FFF2-40B4-BE49-F238E27FC236}">
                <a16:creationId xmlns:a16="http://schemas.microsoft.com/office/drawing/2014/main" id="{B2253D5B-CB83-4217-B157-E169C1C86900}"/>
              </a:ext>
            </a:extLst>
          </p:cNvPr>
          <p:cNvSpPr>
            <a:spLocks xmlns:a="http://schemas.openxmlformats.org/drawingml/2006/main" noGrp="1"/>
          </p:cNvSpPr>
          <p:nvPr/>
        </p:nvSpPr>
        <p:spPr>
          <a:xfrm xmlns:a="http://schemas.openxmlformats.org/drawingml/2006/main">
            <a:off x="457200" y="2781300"/>
            <a:ext cx="2571750" cy="2038350"/>
          </a:xfrm>
          <a:prstGeom xmlns:a="http://schemas.openxmlformats.org/drawingml/2006/main" prst="roundRect">
            <a:avLst>
              <a:gd name="adj" fmla="val 7477"/>
            </a:avLst>
          </a:prstGeom>
          <a:solidFill xmlns:a="http://schemas.openxmlformats.org/drawingml/2006/main">
            <a:srgbClr val="FFFFFF"/>
          </a:solidFill>
          <a:ln xmlns:a="http://schemas.openxmlformats.org/drawingml/2006/main" w="9525">
            <a:solidFill>
              <a:srgbClr val="D0D5DD"/>
            </a:solidFill>
            <a:prstDash val="solid"/>
          </a:ln>
        </p:spPr>
      </p:sp>
      <p:sp>
        <p:nvSpPr>
          <p:cNvPr id="8" name="">
            <a:extLst xmlns:a="http://schemas.openxmlformats.org/drawingml/2006/main">
              <a:ext uri="{FF2B5EF4-FFF2-40B4-BE49-F238E27FC236}">
                <a16:creationId xmlns:a16="http://schemas.microsoft.com/office/drawing/2014/main" id="{9B98B8DF-CD87-4BEC-BD37-808E72CD6957}"/>
              </a:ext>
            </a:extLst>
          </p:cNvPr>
          <p:cNvSpPr>
            <a:spLocks xmlns:a="http://schemas.openxmlformats.org/drawingml/2006/main" noGrp="1"/>
          </p:cNvSpPr>
          <p:nvPr/>
        </p:nvSpPr>
        <p:spPr>
          <a:xfrm xmlns:a="http://schemas.openxmlformats.org/drawingml/2006/main">
            <a:off x="666750" y="30099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l">
              <a:buNone/>
              <a:defRPr sz="1050" b="1">
                <a:solidFill>
                  <a:srgbClr val="315F9F"/>
                </a:solidFill>
                <a:latin typeface="Helvetica Neue"/>
                <a:ea typeface="Helvetica Neue"/>
                <a:cs typeface="Helvetica Neue"/>
              </a:defRPr>
            </a:pPr>
            <a:r>
              <a:rPr sz="1050" b="1">
                <a:solidFill>
                  <a:srgbClr val="315F9F"/>
                </a:solidFill>
                <a:latin typeface="Helvetica Neue"/>
                <a:ea typeface="Helvetica Neue"/>
                <a:cs typeface="Helvetica Neue"/>
              </a:rPr>
              <a:t>RETRIEVAL</a:t>
            </a:r>
          </a:p>
        </p:txBody>
      </p:sp>
      <p:sp>
        <p:nvSpPr>
          <p:cNvPr id="9" name="">
            <a:extLst xmlns:a="http://schemas.openxmlformats.org/drawingml/2006/main">
              <a:ext uri="{FF2B5EF4-FFF2-40B4-BE49-F238E27FC236}">
                <a16:creationId xmlns:a16="http://schemas.microsoft.com/office/drawing/2014/main" id="{CCEE06AE-D800-407A-A0B0-2475AB3FC0AF}"/>
              </a:ext>
            </a:extLst>
          </p:cNvPr>
          <p:cNvSpPr>
            <a:spLocks xmlns:a="http://schemas.openxmlformats.org/drawingml/2006/main" noGrp="1"/>
          </p:cNvSpPr>
          <p:nvPr/>
        </p:nvSpPr>
        <p:spPr>
          <a:xfrm xmlns:a="http://schemas.openxmlformats.org/drawingml/2006/main">
            <a:off x="666750" y="3371850"/>
            <a:ext cx="2143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908"/>
          </a:bodyPr>
          <a:lstStyle xmlns:a="http://schemas.openxmlformats.org/drawingml/2006/main"/>
          <a:p xmlns:a="http://schemas.openxmlformats.org/drawingml/2006/main">
            <a:pPr algn="l">
              <a:buNone/>
              <a:defRPr sz="3525" b="1">
                <a:solidFill>
                  <a:srgbClr val="101828"/>
                </a:solidFill>
                <a:latin typeface="Helvetica Neue"/>
                <a:ea typeface="Helvetica Neue"/>
                <a:cs typeface="Helvetica Neue"/>
              </a:defRPr>
            </a:pPr>
            <a:r>
              <a:rPr sz="3525" b="1">
                <a:solidFill>
                  <a:srgbClr val="101828"/>
                </a:solidFill>
                <a:latin typeface="Helvetica Neue"/>
                <a:ea typeface="Helvetica Neue"/>
                <a:cs typeface="Helvetica Neue"/>
              </a:rPr>
              <a:t>Recall</a:t>
            </a:r>
          </a:p>
        </p:txBody>
      </p:sp>
      <p:sp>
        <p:nvSpPr>
          <p:cNvPr id="10" name="">
            <a:extLst xmlns:a="http://schemas.openxmlformats.org/drawingml/2006/main">
              <a:ext uri="{FF2B5EF4-FFF2-40B4-BE49-F238E27FC236}">
                <a16:creationId xmlns:a16="http://schemas.microsoft.com/office/drawing/2014/main" id="{032B57AF-1BAF-46D8-8B4E-B24061CB2A26}"/>
              </a:ext>
            </a:extLst>
          </p:cNvPr>
          <p:cNvSpPr>
            <a:spLocks xmlns:a="http://schemas.openxmlformats.org/drawingml/2006/main" noGrp="1"/>
          </p:cNvSpPr>
          <p:nvPr/>
        </p:nvSpPr>
        <p:spPr>
          <a:xfrm xmlns:a="http://schemas.openxmlformats.org/drawingml/2006/main">
            <a:off x="666750" y="41433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0">
                <a:solidFill>
                  <a:srgbClr val="667085"/>
                </a:solidFill>
                <a:latin typeface="Helvetica Neue"/>
                <a:ea typeface="Helvetica Neue"/>
                <a:cs typeface="Helvetica Neue"/>
              </a:defRPr>
            </a:pPr>
            <a:r>
              <a:rPr sz="1200" b="0">
                <a:solidFill>
                  <a:srgbClr val="667085"/>
                </a:solidFill>
                <a:latin typeface="Helvetica Neue"/>
                <a:ea typeface="Helvetica Neue"/>
                <a:cs typeface="Helvetica Neue"/>
              </a:rPr>
              <a:t>Must-find source in top 30</a:t>
            </a:r>
          </a:p>
          <a:p xmlns:a="http://schemas.openxmlformats.org/drawingml/2006/main">
            <a:pPr algn="l">
              <a:buNone/>
              <a:defRPr sz="1200" b="0">
                <a:solidFill>
                  <a:srgbClr val="667085"/>
                </a:solidFill>
                <a:latin typeface="Helvetica Neue"/>
                <a:ea typeface="Helvetica Neue"/>
                <a:cs typeface="Helvetica Neue"/>
              </a:defRPr>
            </a:pPr>
            <a:r>
              <a:rPr sz="1200" b="0">
                <a:solidFill>
                  <a:srgbClr val="667085"/>
                </a:solidFill>
                <a:latin typeface="Helvetica Neue"/>
                <a:ea typeface="Helvetica Neue"/>
                <a:cs typeface="Helvetica Neue"/>
              </a:rPr>
              <a:t>No cross-company result</a:t>
            </a:r>
          </a:p>
        </p:txBody>
      </p:sp>
      <p:sp>
        <p:nvSpPr>
          <p:cNvPr id="11" name="">
            <a:extLst xmlns:a="http://schemas.openxmlformats.org/drawingml/2006/main">
              <a:ext uri="{FF2B5EF4-FFF2-40B4-BE49-F238E27FC236}">
                <a16:creationId xmlns:a16="http://schemas.microsoft.com/office/drawing/2014/main" id="{C54EE160-B2FE-4724-B4DB-29B4F6C94ED8}"/>
              </a:ext>
            </a:extLst>
          </p:cNvPr>
          <p:cNvSpPr>
            <a:spLocks xmlns:a="http://schemas.openxmlformats.org/drawingml/2006/main" noGrp="1"/>
          </p:cNvSpPr>
          <p:nvPr/>
        </p:nvSpPr>
        <p:spPr>
          <a:xfrm xmlns:a="http://schemas.openxmlformats.org/drawingml/2006/main">
            <a:off x="3219450" y="2781300"/>
            <a:ext cx="2571750" cy="2038350"/>
          </a:xfrm>
          <a:prstGeom xmlns:a="http://schemas.openxmlformats.org/drawingml/2006/main" prst="roundRect">
            <a:avLst>
              <a:gd name="adj" fmla="val 7477"/>
            </a:avLst>
          </a:prstGeom>
          <a:solidFill xmlns:a="http://schemas.openxmlformats.org/drawingml/2006/main">
            <a:srgbClr val="FFFFFF"/>
          </a:solidFill>
          <a:ln xmlns:a="http://schemas.openxmlformats.org/drawingml/2006/main" w="9525">
            <a:solidFill>
              <a:srgbClr val="D0D5DD"/>
            </a:solidFill>
            <a:prstDash val="solid"/>
          </a:ln>
        </p:spPr>
      </p:sp>
      <p:sp>
        <p:nvSpPr>
          <p:cNvPr id="12" name="">
            <a:extLst xmlns:a="http://schemas.openxmlformats.org/drawingml/2006/main">
              <a:ext uri="{FF2B5EF4-FFF2-40B4-BE49-F238E27FC236}">
                <a16:creationId xmlns:a16="http://schemas.microsoft.com/office/drawing/2014/main" id="{E103A2B5-5C9B-4684-88A5-D7E54E104F02}"/>
              </a:ext>
            </a:extLst>
          </p:cNvPr>
          <p:cNvSpPr>
            <a:spLocks xmlns:a="http://schemas.openxmlformats.org/drawingml/2006/main" noGrp="1"/>
          </p:cNvSpPr>
          <p:nvPr/>
        </p:nvSpPr>
        <p:spPr>
          <a:xfrm xmlns:a="http://schemas.openxmlformats.org/drawingml/2006/main">
            <a:off x="3429000" y="30099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l">
              <a:buNone/>
              <a:defRPr sz="1050" b="1">
                <a:solidFill>
                  <a:srgbClr val="315F9F"/>
                </a:solidFill>
                <a:latin typeface="Helvetica Neue"/>
                <a:ea typeface="Helvetica Neue"/>
                <a:cs typeface="Helvetica Neue"/>
              </a:defRPr>
            </a:pPr>
            <a:r>
              <a:rPr sz="1050" b="1">
                <a:solidFill>
                  <a:srgbClr val="315F9F"/>
                </a:solidFill>
                <a:latin typeface="Helvetica Neue"/>
                <a:ea typeface="Helvetica Neue"/>
                <a:cs typeface="Helvetica Neue"/>
              </a:rPr>
              <a:t>GROUNDING</a:t>
            </a:r>
          </a:p>
        </p:txBody>
      </p:sp>
      <p:sp>
        <p:nvSpPr>
          <p:cNvPr id="13" name="">
            <a:extLst xmlns:a="http://schemas.openxmlformats.org/drawingml/2006/main">
              <a:ext uri="{FF2B5EF4-FFF2-40B4-BE49-F238E27FC236}">
                <a16:creationId xmlns:a16="http://schemas.microsoft.com/office/drawing/2014/main" id="{9FCDF1D5-5421-492D-BFC5-2AC7138E96FF}"/>
              </a:ext>
            </a:extLst>
          </p:cNvPr>
          <p:cNvSpPr>
            <a:spLocks xmlns:a="http://schemas.openxmlformats.org/drawingml/2006/main" noGrp="1"/>
          </p:cNvSpPr>
          <p:nvPr/>
        </p:nvSpPr>
        <p:spPr>
          <a:xfrm xmlns:a="http://schemas.openxmlformats.org/drawingml/2006/main">
            <a:off x="3429000" y="3371850"/>
            <a:ext cx="2143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525" b="1">
                <a:solidFill>
                  <a:srgbClr val="101828"/>
                </a:solidFill>
                <a:latin typeface="Helvetica Neue"/>
                <a:ea typeface="Helvetica Neue"/>
                <a:cs typeface="Helvetica Neue"/>
              </a:defRPr>
            </a:pPr>
            <a:r>
              <a:rPr sz="2850" b="1">
                <a:solidFill>
                  <a:srgbClr val="101828"/>
                </a:solidFill>
                <a:latin typeface="Helvetica Neue"/>
                <a:ea typeface="Helvetica Neue"/>
                <a:cs typeface="Helvetica Neue"/>
              </a:rPr>
              <a:t>Support</a:t>
            </a:r>
          </a:p>
        </p:txBody>
      </p:sp>
      <p:sp>
        <p:nvSpPr>
          <p:cNvPr id="14" name="">
            <a:extLst xmlns:a="http://schemas.openxmlformats.org/drawingml/2006/main">
              <a:ext uri="{FF2B5EF4-FFF2-40B4-BE49-F238E27FC236}">
                <a16:creationId xmlns:a16="http://schemas.microsoft.com/office/drawing/2014/main" id="{96F3C4E3-ACED-4D21-A3E1-834E7E3DD175}"/>
              </a:ext>
            </a:extLst>
          </p:cNvPr>
          <p:cNvSpPr>
            <a:spLocks xmlns:a="http://schemas.openxmlformats.org/drawingml/2006/main" noGrp="1"/>
          </p:cNvSpPr>
          <p:nvPr/>
        </p:nvSpPr>
        <p:spPr>
          <a:xfrm xmlns:a="http://schemas.openxmlformats.org/drawingml/2006/main">
            <a:off x="3429000" y="41433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28"/>
          </a:bodyPr>
          <a:lstStyle xmlns:a="http://schemas.openxmlformats.org/drawingml/2006/main"/>
          <a:p xmlns:a="http://schemas.openxmlformats.org/drawingml/2006/main">
            <a:pPr algn="l">
              <a:buNone/>
              <a:defRPr sz="1200" b="0">
                <a:solidFill>
                  <a:srgbClr val="667085"/>
                </a:solidFill>
                <a:latin typeface="Helvetica Neue"/>
                <a:ea typeface="Helvetica Neue"/>
                <a:cs typeface="Helvetica Neue"/>
              </a:defRPr>
            </a:pPr>
            <a:r>
              <a:rPr sz="1200" b="0">
                <a:solidFill>
                  <a:srgbClr val="667085"/>
                </a:solidFill>
                <a:latin typeface="Helvetica Neue"/>
                <a:ea typeface="Helvetica Neue"/>
                <a:cs typeface="Helvetica Neue"/>
              </a:rPr>
              <a:t>Claim cites retrieved evidence</a:t>
            </a:r>
          </a:p>
          <a:p xmlns:a="http://schemas.openxmlformats.org/drawingml/2006/main">
            <a:pPr algn="l">
              <a:buNone/>
              <a:defRPr sz="1200" b="0">
                <a:solidFill>
                  <a:srgbClr val="667085"/>
                </a:solidFill>
                <a:latin typeface="Helvetica Neue"/>
                <a:ea typeface="Helvetica Neue"/>
                <a:cs typeface="Helvetica Neue"/>
              </a:defRPr>
            </a:pPr>
            <a:r>
              <a:rPr sz="1200" b="0">
                <a:solidFill>
                  <a:srgbClr val="667085"/>
                </a:solidFill>
                <a:latin typeface="Helvetica Neue"/>
                <a:ea typeface="Helvetica Neue"/>
                <a:cs typeface="Helvetica Neue"/>
              </a:rPr>
              <a:t>Number matches a cited source</a:t>
            </a:r>
          </a:p>
        </p:txBody>
      </p:sp>
      <p:sp>
        <p:nvSpPr>
          <p:cNvPr id="15" name="">
            <a:extLst xmlns:a="http://schemas.openxmlformats.org/drawingml/2006/main">
              <a:ext uri="{FF2B5EF4-FFF2-40B4-BE49-F238E27FC236}">
                <a16:creationId xmlns:a16="http://schemas.microsoft.com/office/drawing/2014/main" id="{A7E65777-4F36-4020-AF7C-22F413271467}"/>
              </a:ext>
            </a:extLst>
          </p:cNvPr>
          <p:cNvSpPr>
            <a:spLocks xmlns:a="http://schemas.openxmlformats.org/drawingml/2006/main" noGrp="1"/>
          </p:cNvSpPr>
          <p:nvPr/>
        </p:nvSpPr>
        <p:spPr>
          <a:xfrm xmlns:a="http://schemas.openxmlformats.org/drawingml/2006/main">
            <a:off x="5981700" y="2781300"/>
            <a:ext cx="2571750" cy="2038350"/>
          </a:xfrm>
          <a:prstGeom xmlns:a="http://schemas.openxmlformats.org/drawingml/2006/main" prst="roundRect">
            <a:avLst>
              <a:gd name="adj" fmla="val 7477"/>
            </a:avLst>
          </a:prstGeom>
          <a:solidFill xmlns:a="http://schemas.openxmlformats.org/drawingml/2006/main">
            <a:srgbClr val="FFFFFF"/>
          </a:solidFill>
          <a:ln xmlns:a="http://schemas.openxmlformats.org/drawingml/2006/main" w="9525">
            <a:solidFill>
              <a:srgbClr val="D0D5DD"/>
            </a:solidFill>
            <a:prstDash val="solid"/>
          </a:ln>
        </p:spPr>
      </p:sp>
      <p:sp>
        <p:nvSpPr>
          <p:cNvPr id="16" name="">
            <a:extLst xmlns:a="http://schemas.openxmlformats.org/drawingml/2006/main">
              <a:ext uri="{FF2B5EF4-FFF2-40B4-BE49-F238E27FC236}">
                <a16:creationId xmlns:a16="http://schemas.microsoft.com/office/drawing/2014/main" id="{468EA405-4A26-4F28-9A03-279E84257E69}"/>
              </a:ext>
            </a:extLst>
          </p:cNvPr>
          <p:cNvSpPr>
            <a:spLocks xmlns:a="http://schemas.openxmlformats.org/drawingml/2006/main" noGrp="1"/>
          </p:cNvSpPr>
          <p:nvPr/>
        </p:nvSpPr>
        <p:spPr>
          <a:xfrm xmlns:a="http://schemas.openxmlformats.org/drawingml/2006/main">
            <a:off x="6191250" y="30099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l">
              <a:buNone/>
              <a:defRPr sz="1050" b="1">
                <a:solidFill>
                  <a:srgbClr val="315F9F"/>
                </a:solidFill>
                <a:latin typeface="Helvetica Neue"/>
                <a:ea typeface="Helvetica Neue"/>
                <a:cs typeface="Helvetica Neue"/>
              </a:defRPr>
            </a:pPr>
            <a:r>
              <a:rPr sz="1050" b="1">
                <a:solidFill>
                  <a:srgbClr val="315F9F"/>
                </a:solidFill>
                <a:latin typeface="Helvetica Neue"/>
                <a:ea typeface="Helvetica Neue"/>
                <a:cs typeface="Helvetica Neue"/>
              </a:rPr>
              <a:t>PRODUCT</a:t>
            </a:r>
          </a:p>
        </p:txBody>
      </p:sp>
      <p:sp>
        <p:nvSpPr>
          <p:cNvPr id="17" name="">
            <a:extLst xmlns:a="http://schemas.openxmlformats.org/drawingml/2006/main">
              <a:ext uri="{FF2B5EF4-FFF2-40B4-BE49-F238E27FC236}">
                <a16:creationId xmlns:a16="http://schemas.microsoft.com/office/drawing/2014/main" id="{D8BE85FE-503D-42CD-9E11-C9853F789DE1}"/>
              </a:ext>
            </a:extLst>
          </p:cNvPr>
          <p:cNvSpPr>
            <a:spLocks xmlns:a="http://schemas.openxmlformats.org/drawingml/2006/main" noGrp="1"/>
          </p:cNvSpPr>
          <p:nvPr/>
        </p:nvSpPr>
        <p:spPr>
          <a:xfrm xmlns:a="http://schemas.openxmlformats.org/drawingml/2006/main">
            <a:off x="6191250" y="3371850"/>
            <a:ext cx="2143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908"/>
          </a:bodyPr>
          <a:lstStyle xmlns:a="http://schemas.openxmlformats.org/drawingml/2006/main"/>
          <a:p xmlns:a="http://schemas.openxmlformats.org/drawingml/2006/main">
            <a:pPr algn="l">
              <a:buNone/>
              <a:defRPr sz="3525" b="1">
                <a:solidFill>
                  <a:srgbClr val="101828"/>
                </a:solidFill>
                <a:latin typeface="Helvetica Neue"/>
                <a:ea typeface="Helvetica Neue"/>
                <a:cs typeface="Helvetica Neue"/>
              </a:defRPr>
            </a:pPr>
            <a:r>
              <a:rPr sz="3525" b="1">
                <a:solidFill>
                  <a:srgbClr val="101828"/>
                </a:solidFill>
                <a:latin typeface="Helvetica Neue"/>
                <a:ea typeface="Helvetica Neue"/>
                <a:cs typeface="Helvetica Neue"/>
              </a:rPr>
              <a:t>Use</a:t>
            </a:r>
          </a:p>
        </p:txBody>
      </p:sp>
      <p:sp>
        <p:nvSpPr>
          <p:cNvPr id="18" name="">
            <a:extLst xmlns:a="http://schemas.openxmlformats.org/drawingml/2006/main">
              <a:ext uri="{FF2B5EF4-FFF2-40B4-BE49-F238E27FC236}">
                <a16:creationId xmlns:a16="http://schemas.microsoft.com/office/drawing/2014/main" id="{8B3D565A-3552-4FDC-9339-4D2454B4C0FA}"/>
              </a:ext>
            </a:extLst>
          </p:cNvPr>
          <p:cNvSpPr>
            <a:spLocks xmlns:a="http://schemas.openxmlformats.org/drawingml/2006/main" noGrp="1"/>
          </p:cNvSpPr>
          <p:nvPr/>
        </p:nvSpPr>
        <p:spPr>
          <a:xfrm xmlns:a="http://schemas.openxmlformats.org/drawingml/2006/main">
            <a:off x="6191250" y="41433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884"/>
          </a:bodyPr>
          <a:lstStyle xmlns:a="http://schemas.openxmlformats.org/drawingml/2006/main"/>
          <a:p xmlns:a="http://schemas.openxmlformats.org/drawingml/2006/main">
            <a:pPr algn="l">
              <a:buNone/>
              <a:defRPr sz="1200" b="0">
                <a:solidFill>
                  <a:srgbClr val="667085"/>
                </a:solidFill>
                <a:latin typeface="Helvetica Neue"/>
                <a:ea typeface="Helvetica Neue"/>
                <a:cs typeface="Helvetica Neue"/>
              </a:defRPr>
            </a:pPr>
            <a:r>
              <a:rPr sz="1200" b="0">
                <a:solidFill>
                  <a:srgbClr val="667085"/>
                </a:solidFill>
                <a:latin typeface="Helvetica Neue"/>
                <a:ea typeface="Helvetica Neue"/>
                <a:cs typeface="Helvetica Neue"/>
              </a:rPr>
              <a:t>Brief in 30 seconds or less</a:t>
            </a:r>
          </a:p>
          <a:p xmlns:a="http://schemas.openxmlformats.org/drawingml/2006/main">
            <a:pPr algn="l">
              <a:buNone/>
              <a:defRPr sz="1200" b="0">
                <a:solidFill>
                  <a:srgbClr val="667085"/>
                </a:solidFill>
                <a:latin typeface="Helvetica Neue"/>
                <a:ea typeface="Helvetica Neue"/>
                <a:cs typeface="Helvetica Neue"/>
              </a:defRPr>
            </a:pPr>
            <a:r>
              <a:rPr sz="1200" b="0">
                <a:solidFill>
                  <a:srgbClr val="667085"/>
                </a:solidFill>
                <a:latin typeface="Helvetica Neue"/>
                <a:ea typeface="Helvetica Neue"/>
                <a:cs typeface="Helvetica Neue"/>
              </a:rPr>
              <a:t>Principal score is 4 of 5 or more</a:t>
            </a:r>
          </a:p>
        </p:txBody>
      </p:sp>
      <p:sp>
        <p:nvSpPr>
          <p:cNvPr id="19" name="">
            <a:extLst xmlns:a="http://schemas.openxmlformats.org/drawingml/2006/main">
              <a:ext uri="{FF2B5EF4-FFF2-40B4-BE49-F238E27FC236}">
                <a16:creationId xmlns:a16="http://schemas.microsoft.com/office/drawing/2014/main" id="{21909835-C000-476D-BE4E-86B6A009FC7F}"/>
              </a:ext>
            </a:extLst>
          </p:cNvPr>
          <p:cNvSpPr>
            <a:spLocks xmlns:a="http://schemas.openxmlformats.org/drawingml/2006/main" noGrp="1"/>
          </p:cNvSpPr>
          <p:nvPr/>
        </p:nvSpPr>
        <p:spPr>
          <a:xfrm xmlns:a="http://schemas.openxmlformats.org/drawingml/2006/main">
            <a:off x="8743950" y="2781300"/>
            <a:ext cx="2571750" cy="2038350"/>
          </a:xfrm>
          <a:prstGeom xmlns:a="http://schemas.openxmlformats.org/drawingml/2006/main" prst="roundRect">
            <a:avLst>
              <a:gd name="adj" fmla="val 7477"/>
            </a:avLst>
          </a:prstGeom>
          <a:solidFill xmlns:a="http://schemas.openxmlformats.org/drawingml/2006/main">
            <a:srgbClr val="FFFFFF"/>
          </a:solidFill>
          <a:ln xmlns:a="http://schemas.openxmlformats.org/drawingml/2006/main" w="9525">
            <a:solidFill>
              <a:srgbClr val="D0D5DD"/>
            </a:solidFill>
            <a:prstDash val="solid"/>
          </a:ln>
        </p:spPr>
      </p:sp>
      <p:sp>
        <p:nvSpPr>
          <p:cNvPr id="20" name="">
            <a:extLst xmlns:a="http://schemas.openxmlformats.org/drawingml/2006/main">
              <a:ext uri="{FF2B5EF4-FFF2-40B4-BE49-F238E27FC236}">
                <a16:creationId xmlns:a16="http://schemas.microsoft.com/office/drawing/2014/main" id="{14D12D1C-71C7-4D5E-841E-35CE6D175B78}"/>
              </a:ext>
            </a:extLst>
          </p:cNvPr>
          <p:cNvSpPr>
            <a:spLocks xmlns:a="http://schemas.openxmlformats.org/drawingml/2006/main" noGrp="1"/>
          </p:cNvSpPr>
          <p:nvPr/>
        </p:nvSpPr>
        <p:spPr>
          <a:xfrm xmlns:a="http://schemas.openxmlformats.org/drawingml/2006/main">
            <a:off x="8953500" y="30099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l">
              <a:buNone/>
              <a:defRPr sz="1050" b="1">
                <a:solidFill>
                  <a:srgbClr val="315F9F"/>
                </a:solidFill>
                <a:latin typeface="Helvetica Neue"/>
                <a:ea typeface="Helvetica Neue"/>
                <a:cs typeface="Helvetica Neue"/>
              </a:defRPr>
            </a:pPr>
            <a:r>
              <a:rPr sz="1050" b="1">
                <a:solidFill>
                  <a:srgbClr val="315F9F"/>
                </a:solidFill>
                <a:latin typeface="Helvetica Neue"/>
                <a:ea typeface="Helvetica Neue"/>
                <a:cs typeface="Helvetica Neue"/>
              </a:rPr>
              <a:t>OPERATIONS</a:t>
            </a:r>
          </a:p>
        </p:txBody>
      </p:sp>
      <p:sp>
        <p:nvSpPr>
          <p:cNvPr id="21" name="">
            <a:extLst xmlns:a="http://schemas.openxmlformats.org/drawingml/2006/main">
              <a:ext uri="{FF2B5EF4-FFF2-40B4-BE49-F238E27FC236}">
                <a16:creationId xmlns:a16="http://schemas.microsoft.com/office/drawing/2014/main" id="{F686A3A3-BAF9-4CEC-BA6B-8E7459E7CB1A}"/>
              </a:ext>
            </a:extLst>
          </p:cNvPr>
          <p:cNvSpPr>
            <a:spLocks xmlns:a="http://schemas.openxmlformats.org/drawingml/2006/main" noGrp="1"/>
          </p:cNvSpPr>
          <p:nvPr/>
        </p:nvSpPr>
        <p:spPr>
          <a:xfrm xmlns:a="http://schemas.openxmlformats.org/drawingml/2006/main">
            <a:off x="8953500" y="3371850"/>
            <a:ext cx="2143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908"/>
          </a:bodyPr>
          <a:lstStyle xmlns:a="http://schemas.openxmlformats.org/drawingml/2006/main"/>
          <a:p xmlns:a="http://schemas.openxmlformats.org/drawingml/2006/main">
            <a:pPr algn="l">
              <a:buNone/>
              <a:defRPr sz="3525" b="1">
                <a:solidFill>
                  <a:srgbClr val="101828"/>
                </a:solidFill>
                <a:latin typeface="Helvetica Neue"/>
                <a:ea typeface="Helvetica Neue"/>
                <a:cs typeface="Helvetica Neue"/>
              </a:defRPr>
            </a:pPr>
            <a:r>
              <a:rPr sz="3525" b="1">
                <a:solidFill>
                  <a:srgbClr val="101828"/>
                </a:solidFill>
                <a:latin typeface="Helvetica Neue"/>
                <a:ea typeface="Helvetica Neue"/>
                <a:cs typeface="Helvetica Neue"/>
              </a:rPr>
              <a:t>Change</a:t>
            </a:r>
          </a:p>
        </p:txBody>
      </p:sp>
      <p:sp>
        <p:nvSpPr>
          <p:cNvPr id="22" name="">
            <a:extLst xmlns:a="http://schemas.openxmlformats.org/drawingml/2006/main">
              <a:ext uri="{FF2B5EF4-FFF2-40B4-BE49-F238E27FC236}">
                <a16:creationId xmlns:a16="http://schemas.microsoft.com/office/drawing/2014/main" id="{98A790D2-D307-426F-AFF6-4F296FCAF988}"/>
              </a:ext>
            </a:extLst>
          </p:cNvPr>
          <p:cNvSpPr>
            <a:spLocks xmlns:a="http://schemas.openxmlformats.org/drawingml/2006/main" noGrp="1"/>
          </p:cNvSpPr>
          <p:nvPr/>
        </p:nvSpPr>
        <p:spPr>
          <a:xfrm xmlns:a="http://schemas.openxmlformats.org/drawingml/2006/main">
            <a:off x="8953500" y="41433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597"/>
          </a:bodyPr>
          <a:lstStyle xmlns:a="http://schemas.openxmlformats.org/drawingml/2006/main"/>
          <a:p xmlns:a="http://schemas.openxmlformats.org/drawingml/2006/main">
            <a:pPr algn="l">
              <a:buNone/>
              <a:defRPr sz="1200" b="0">
                <a:solidFill>
                  <a:srgbClr val="667085"/>
                </a:solidFill>
                <a:latin typeface="Helvetica Neue"/>
                <a:ea typeface="Helvetica Neue"/>
                <a:cs typeface="Helvetica Neue"/>
              </a:defRPr>
            </a:pPr>
            <a:r>
              <a:rPr sz="1200" b="0">
                <a:solidFill>
                  <a:srgbClr val="667085"/>
                </a:solidFill>
                <a:latin typeface="Helvetica Neue"/>
                <a:ea typeface="Helvetica Neue"/>
                <a:cs typeface="Helvetica Neue"/>
              </a:rPr>
              <a:t>Invalid output uses fallback</a:t>
            </a:r>
          </a:p>
          <a:p xmlns:a="http://schemas.openxmlformats.org/drawingml/2006/main">
            <a:pPr algn="l">
              <a:buNone/>
              <a:defRPr sz="1200" b="0">
                <a:solidFill>
                  <a:srgbClr val="667085"/>
                </a:solidFill>
                <a:latin typeface="Helvetica Neue"/>
                <a:ea typeface="Helvetica Neue"/>
                <a:cs typeface="Helvetica Neue"/>
              </a:defRPr>
            </a:pPr>
            <a:r>
              <a:rPr sz="1200" b="0">
                <a:solidFill>
                  <a:srgbClr val="667085"/>
                </a:solidFill>
                <a:latin typeface="Helvetica Neue"/>
                <a:ea typeface="Helvetica Neue"/>
                <a:cs typeface="Helvetica Neue"/>
              </a:rPr>
              <a:t>Changed source changes next brief</a:t>
            </a:r>
          </a:p>
        </p:txBody>
      </p:sp>
      <p:sp>
        <p:nvSpPr>
          <p:cNvPr id="23" name="">
            <a:extLst xmlns:a="http://schemas.openxmlformats.org/drawingml/2006/main">
              <a:ext uri="{FF2B5EF4-FFF2-40B4-BE49-F238E27FC236}">
                <a16:creationId xmlns:a16="http://schemas.microsoft.com/office/drawing/2014/main" id="{25EC7D7C-6E01-4D17-AA83-D2DB3D6F5810}"/>
              </a:ext>
            </a:extLst>
          </p:cNvPr>
          <p:cNvSpPr>
            <a:spLocks xmlns:a="http://schemas.openxmlformats.org/drawingml/2006/main" noGrp="1"/>
          </p:cNvSpPr>
          <p:nvPr/>
        </p:nvSpPr>
        <p:spPr>
          <a:xfrm xmlns:a="http://schemas.openxmlformats.org/drawingml/2006/main">
            <a:off x="457200" y="5219700"/>
            <a:ext cx="1085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buNone/>
              <a:defRPr sz="1350" b="1">
                <a:solidFill>
                  <a:srgbClr val="344054"/>
                </a:solidFill>
                <a:latin typeface="Helvetica Neue"/>
                <a:ea typeface="Helvetica Neue"/>
                <a:cs typeface="Helvetica Neue"/>
              </a:defRPr>
            </a:pPr>
            <a:r>
              <a:rPr sz="1350" b="1">
                <a:solidFill>
                  <a:srgbClr val="344054"/>
                </a:solidFill>
                <a:latin typeface="Helvetica Neue"/>
                <a:ea typeface="Helvetica Neue"/>
                <a:cs typeface="Helvetica Neue"/>
              </a:rPr>
              <a:t>Code checks: Retrieval, Grounding, and Operations · Reviewer checks: Product</a:t>
            </a:r>
          </a:p>
        </p:txBody>
      </p:sp>
      <p:sp>
        <p:nvSpPr>
          <p:cNvPr id="24" name="">
            <a:extLst xmlns:a="http://schemas.openxmlformats.org/drawingml/2006/main">
              <a:ext uri="{FF2B5EF4-FFF2-40B4-BE49-F238E27FC236}">
                <a16:creationId xmlns:a16="http://schemas.microsoft.com/office/drawing/2014/main" id="{4C39101A-94C4-48DC-82B6-88D1BEEA99D4}"/>
              </a:ext>
            </a:extLst>
          </p:cNvPr>
          <p:cNvSpPr>
            <a:spLocks xmlns:a="http://schemas.openxmlformats.org/drawingml/2006/main" noGrp="1"/>
          </p:cNvSpPr>
          <p:nvPr/>
        </p:nvSpPr>
        <p:spPr>
          <a:xfrm xmlns:a="http://schemas.openxmlformats.org/drawingml/2006/main">
            <a:off x="457200" y="5638800"/>
            <a:ext cx="1085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1">
                <a:solidFill>
                  <a:srgbClr val="315F9F"/>
                </a:solidFill>
                <a:latin typeface="Helvetica Neue"/>
                <a:ea typeface="Helvetica Neue"/>
                <a:cs typeface="Helvetica Neue"/>
              </a:defRPr>
            </a:pPr>
            <a:r>
              <a:rPr sz="1275" b="1">
                <a:solidFill>
                  <a:srgbClr val="315F9F"/>
                </a:solidFill>
                <a:latin typeface="Helvetica Neue"/>
                <a:ea typeface="Helvetica Neue"/>
                <a:cs typeface="Helvetica Neue"/>
              </a:rPr>
              <a:t>Run the same set after a retrieval, prompt, model, schema, or source-rule change.</a:t>
            </a:r>
          </a:p>
        </p:txBody>
      </p:sp>
    </p:spTree>
    <p:extLst>
      <p:ext uri="{BB962C8B-B14F-4D97-AF65-F5344CB8AC3E}">
        <p14:creationId xmlns:p14="http://schemas.microsoft.com/office/powerpoint/2010/main" val="1483308295"/>
      </p:ext>
    </p:extLst>
  </p:cSld>
</p:sld>
</file>

<file path=ppt/slides/slide10.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DCB3F631-F107-449F-8532-F0F6CF09ED9C}"/>
              </a:ext>
            </a:extLst>
          </p:cNvPr>
          <p:cNvSpPr>
            <a:spLocks xmlns:a="http://schemas.openxmlformats.org/drawingml/2006/main" noGrp="1"/>
          </p:cNvSpPr>
          <p:nvPr/>
        </p:nvSpPr>
        <p:spPr>
          <a:xfrm xmlns:a="http://schemas.openxmlformats.org/drawingml/2006/main">
            <a:off x="457200" y="361950"/>
            <a:ext cx="1104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000" b="1">
                <a:solidFill>
                  <a:srgbClr val="101828"/>
                </a:solidFill>
                <a:latin typeface="Helvetica Neue"/>
                <a:ea typeface="Helvetica Neue"/>
                <a:cs typeface="Helvetica Neue"/>
              </a:defRPr>
            </a:pPr>
            <a:r>
              <a:rPr sz="3000" b="1">
                <a:solidFill>
                  <a:srgbClr val="101828"/>
                </a:solidFill>
                <a:latin typeface="Helvetica Neue"/>
                <a:ea typeface="Helvetica Neue"/>
                <a:cs typeface="Helvetica Neue"/>
              </a:rPr>
              <a:t>What must V1 do, and what is good enough to ship?</a:t>
            </a:r>
          </a:p>
        </p:txBody>
      </p:sp>
      <p:sp>
        <p:nvSpPr>
          <p:cNvPr id="2" name="">
            <a:extLst xmlns:a="http://schemas.openxmlformats.org/drawingml/2006/main">
              <a:ext uri="{FF2B5EF4-FFF2-40B4-BE49-F238E27FC236}">
                <a16:creationId xmlns:a16="http://schemas.microsoft.com/office/drawing/2014/main" id="{FA2C5372-4CF1-4AE4-A3CD-4E138F754CA8}"/>
              </a:ext>
            </a:extLst>
          </p:cNvPr>
          <p:cNvSpPr>
            <a:spLocks xmlns:a="http://schemas.openxmlformats.org/drawingml/2006/main" noGrp="1"/>
          </p:cNvSpPr>
          <p:nvPr/>
        </p:nvSpPr>
        <p:spPr>
          <a:xfrm xmlns:a="http://schemas.openxmlformats.org/drawingml/2006/main">
            <a:off x="457200" y="6324600"/>
            <a:ext cx="108585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3" name="">
            <a:extLst xmlns:a="http://schemas.openxmlformats.org/drawingml/2006/main">
              <a:ext uri="{FF2B5EF4-FFF2-40B4-BE49-F238E27FC236}">
                <a16:creationId xmlns:a16="http://schemas.microsoft.com/office/drawing/2014/main" id="{4839D6B0-80AA-4FCC-9C2D-6D215827FBA5}"/>
              </a:ext>
            </a:extLst>
          </p:cNvPr>
          <p:cNvSpPr>
            <a:spLocks xmlns:a="http://schemas.openxmlformats.org/drawingml/2006/main" noGrp="1"/>
          </p:cNvSpPr>
          <p:nvPr/>
        </p:nvSpPr>
        <p:spPr>
          <a:xfrm xmlns:a="http://schemas.openxmlformats.org/drawingml/2006/main">
            <a:off x="10744200" y="645795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1">
                <a:solidFill>
                  <a:srgbClr val="667085"/>
                </a:solidFill>
                <a:latin typeface="Helvetica Neue"/>
                <a:ea typeface="Helvetica Neue"/>
                <a:cs typeface="Helvetica Neue"/>
              </a:defRPr>
            </a:pPr>
            <a:r>
              <a:rPr sz="975" b="1">
                <a:solidFill>
                  <a:srgbClr val="667085"/>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82E64302-6EE1-4371-AB23-0D77F5FE7F75}"/>
              </a:ext>
            </a:extLst>
          </p:cNvPr>
          <p:cNvSpPr>
            <a:spLocks xmlns:a="http://schemas.openxmlformats.org/drawingml/2006/main" noGrp="1"/>
          </p:cNvSpPr>
          <p:nvPr/>
        </p:nvSpPr>
        <p:spPr>
          <a:xfrm xmlns:a="http://schemas.openxmlformats.org/drawingml/2006/main">
            <a:off x="457200" y="1466850"/>
            <a:ext cx="10858500" cy="952500"/>
          </a:xfrm>
          <a:prstGeom xmlns:a="http://schemas.openxmlformats.org/drawingml/2006/main" prst="roundRect">
            <a:avLst>
              <a:gd name="adj" fmla="val 16000"/>
            </a:avLst>
          </a:prstGeom>
          <a:solidFill xmlns:a="http://schemas.openxmlformats.org/drawingml/2006/main">
            <a:srgbClr val="E8F0FB"/>
          </a:solidFill>
          <a:ln xmlns:a="http://schemas.openxmlformats.org/drawingml/2006/main" w="9525">
            <a:solidFill>
              <a:srgbClr val="9CB5D5"/>
            </a:solidFill>
            <a:prstDash val="solid"/>
          </a:ln>
        </p:spPr>
      </p:sp>
      <p:sp>
        <p:nvSpPr>
          <p:cNvPr id="5" name="">
            <a:extLst xmlns:a="http://schemas.openxmlformats.org/drawingml/2006/main">
              <a:ext uri="{FF2B5EF4-FFF2-40B4-BE49-F238E27FC236}">
                <a16:creationId xmlns:a16="http://schemas.microsoft.com/office/drawing/2014/main" id="{4A1BEC42-0504-4404-8738-11D6F8F404B8}"/>
              </a:ext>
            </a:extLst>
          </p:cNvPr>
          <p:cNvSpPr>
            <a:spLocks xmlns:a="http://schemas.openxmlformats.org/drawingml/2006/main" noGrp="1"/>
          </p:cNvSpPr>
          <p:nvPr/>
        </p:nvSpPr>
        <p:spPr>
          <a:xfrm xmlns:a="http://schemas.openxmlformats.org/drawingml/2006/main">
            <a:off x="685800" y="165735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p xmlns:a="http://schemas.openxmlformats.org/drawingml/2006/main">
            <a:pPr algn="l">
              <a:buNone/>
              <a:defRPr sz="1275" b="1">
                <a:solidFill>
                  <a:srgbClr val="315F9F"/>
                </a:solidFill>
                <a:latin typeface="Helvetica Neue"/>
                <a:ea typeface="Helvetica Neue"/>
                <a:cs typeface="Helvetica Neue"/>
              </a:defRPr>
            </a:pPr>
            <a:r>
              <a:rPr sz="1275" b="1">
                <a:solidFill>
                  <a:srgbClr val="315F9F"/>
                </a:solidFill>
                <a:latin typeface="Helvetica Neue"/>
                <a:ea typeface="Helvetica Neue"/>
                <a:cs typeface="Helvetica Neue"/>
              </a:rPr>
              <a:t>An AIVC principal prepares for a company discussion</a:t>
            </a:r>
          </a:p>
        </p:txBody>
      </p:sp>
      <p:sp>
        <p:nvSpPr>
          <p:cNvPr id="6" name="">
            <a:extLst xmlns:a="http://schemas.openxmlformats.org/drawingml/2006/main">
              <a:ext uri="{FF2B5EF4-FFF2-40B4-BE49-F238E27FC236}">
                <a16:creationId xmlns:a16="http://schemas.microsoft.com/office/drawing/2014/main" id="{58AABA6B-7522-4752-984B-13A58F66327C}"/>
              </a:ext>
            </a:extLst>
          </p:cNvPr>
          <p:cNvSpPr>
            <a:spLocks xmlns:a="http://schemas.openxmlformats.org/drawingml/2006/main" noGrp="1"/>
          </p:cNvSpPr>
          <p:nvPr/>
        </p:nvSpPr>
        <p:spPr>
          <a:xfrm xmlns:a="http://schemas.openxmlformats.org/drawingml/2006/main">
            <a:off x="685800" y="1952625"/>
            <a:ext cx="1009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1">
                <a:solidFill>
                  <a:srgbClr val="101828"/>
                </a:solidFill>
                <a:latin typeface="Helvetica Neue"/>
                <a:ea typeface="Helvetica Neue"/>
                <a:cs typeface="Helvetica Neue"/>
              </a:defRPr>
            </a:pPr>
            <a:r>
              <a:rPr sz="1425" b="1">
                <a:solidFill>
                  <a:srgbClr val="101828"/>
                </a:solidFill>
                <a:latin typeface="Helvetica Neue"/>
                <a:ea typeface="Helvetica Neue"/>
                <a:cs typeface="Helvetica Neue"/>
              </a:rPr>
              <a:t>His information is spread across several systems. He needs current evidence before he uses his judgment.</a:t>
            </a:r>
          </a:p>
        </p:txBody>
      </p:sp>
      <p:sp>
        <p:nvSpPr>
          <p:cNvPr id="7" name="">
            <a:extLst xmlns:a="http://schemas.openxmlformats.org/drawingml/2006/main">
              <a:ext uri="{FF2B5EF4-FFF2-40B4-BE49-F238E27FC236}">
                <a16:creationId xmlns:a16="http://schemas.microsoft.com/office/drawing/2014/main" id="{B2253D5B-CB83-4217-B157-E169C1C86900}"/>
              </a:ext>
            </a:extLst>
          </p:cNvPr>
          <p:cNvSpPr>
            <a:spLocks xmlns:a="http://schemas.openxmlformats.org/drawingml/2006/main" noGrp="1"/>
          </p:cNvSpPr>
          <p:nvPr/>
        </p:nvSpPr>
        <p:spPr>
          <a:xfrm xmlns:a="http://schemas.openxmlformats.org/drawingml/2006/main">
            <a:off x="457200" y="2781300"/>
            <a:ext cx="2571750" cy="2038350"/>
          </a:xfrm>
          <a:prstGeom xmlns:a="http://schemas.openxmlformats.org/drawingml/2006/main" prst="roundRect">
            <a:avLst>
              <a:gd name="adj" fmla="val 7477"/>
            </a:avLst>
          </a:prstGeom>
          <a:solidFill xmlns:a="http://schemas.openxmlformats.org/drawingml/2006/main">
            <a:srgbClr val="FFFFFF"/>
          </a:solidFill>
          <a:ln xmlns:a="http://schemas.openxmlformats.org/drawingml/2006/main" w="9525">
            <a:solidFill>
              <a:srgbClr val="D0D5DD"/>
            </a:solidFill>
            <a:prstDash val="solid"/>
          </a:ln>
        </p:spPr>
      </p:sp>
      <p:sp>
        <p:nvSpPr>
          <p:cNvPr id="8" name="">
            <a:extLst xmlns:a="http://schemas.openxmlformats.org/drawingml/2006/main">
              <a:ext uri="{FF2B5EF4-FFF2-40B4-BE49-F238E27FC236}">
                <a16:creationId xmlns:a16="http://schemas.microsoft.com/office/drawing/2014/main" id="{9B98B8DF-CD87-4BEC-BD37-808E72CD6957}"/>
              </a:ext>
            </a:extLst>
          </p:cNvPr>
          <p:cNvSpPr>
            <a:spLocks xmlns:a="http://schemas.openxmlformats.org/drawingml/2006/main" noGrp="1"/>
          </p:cNvSpPr>
          <p:nvPr/>
        </p:nvSpPr>
        <p:spPr>
          <a:xfrm xmlns:a="http://schemas.openxmlformats.org/drawingml/2006/main">
            <a:off x="666750" y="30099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l">
              <a:buNone/>
              <a:defRPr sz="1050" b="1">
                <a:solidFill>
                  <a:srgbClr val="315F9F"/>
                </a:solidFill>
                <a:latin typeface="Helvetica Neue"/>
                <a:ea typeface="Helvetica Neue"/>
                <a:cs typeface="Helvetica Neue"/>
              </a:defRPr>
            </a:pPr>
            <a:r>
              <a:rPr sz="1050" b="1">
                <a:solidFill>
                  <a:srgbClr val="315F9F"/>
                </a:solidFill>
                <a:latin typeface="Helvetica Neue"/>
                <a:ea typeface="Helvetica Neue"/>
                <a:cs typeface="Helvetica Neue"/>
              </a:rPr>
              <a:t>SPEED</a:t>
            </a:r>
          </a:p>
        </p:txBody>
      </p:sp>
      <p:sp>
        <p:nvSpPr>
          <p:cNvPr id="9" name="">
            <a:extLst xmlns:a="http://schemas.openxmlformats.org/drawingml/2006/main">
              <a:ext uri="{FF2B5EF4-FFF2-40B4-BE49-F238E27FC236}">
                <a16:creationId xmlns:a16="http://schemas.microsoft.com/office/drawing/2014/main" id="{CCEE06AE-D800-407A-A0B0-2475AB3FC0AF}"/>
              </a:ext>
            </a:extLst>
          </p:cNvPr>
          <p:cNvSpPr>
            <a:spLocks xmlns:a="http://schemas.openxmlformats.org/drawingml/2006/main" noGrp="1"/>
          </p:cNvSpPr>
          <p:nvPr/>
        </p:nvSpPr>
        <p:spPr>
          <a:xfrm xmlns:a="http://schemas.openxmlformats.org/drawingml/2006/main">
            <a:off x="666750" y="3371850"/>
            <a:ext cx="2143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908"/>
          </a:bodyPr>
          <a:lstStyle xmlns:a="http://schemas.openxmlformats.org/drawingml/2006/main"/>
          <a:p xmlns:a="http://schemas.openxmlformats.org/drawingml/2006/main">
            <a:pPr algn="l">
              <a:buNone/>
              <a:defRPr sz="3525" b="1">
                <a:solidFill>
                  <a:srgbClr val="101828"/>
                </a:solidFill>
                <a:latin typeface="Helvetica Neue"/>
                <a:ea typeface="Helvetica Neue"/>
                <a:cs typeface="Helvetica Neue"/>
              </a:defRPr>
            </a:pPr>
            <a:r>
              <a:rPr sz="3525" b="1">
                <a:solidFill>
                  <a:srgbClr val="101828"/>
                </a:solidFill>
                <a:latin typeface="Helvetica Neue"/>
                <a:ea typeface="Helvetica Neue"/>
                <a:cs typeface="Helvetica Neue"/>
              </a:rPr>
              <a:t>≤30 sec</a:t>
            </a:r>
          </a:p>
        </p:txBody>
      </p:sp>
      <p:sp>
        <p:nvSpPr>
          <p:cNvPr id="10" name="">
            <a:extLst xmlns:a="http://schemas.openxmlformats.org/drawingml/2006/main">
              <a:ext uri="{FF2B5EF4-FFF2-40B4-BE49-F238E27FC236}">
                <a16:creationId xmlns:a16="http://schemas.microsoft.com/office/drawing/2014/main" id="{032B57AF-1BAF-46D8-8B4E-B24061CB2A26}"/>
              </a:ext>
            </a:extLst>
          </p:cNvPr>
          <p:cNvSpPr>
            <a:spLocks xmlns:a="http://schemas.openxmlformats.org/drawingml/2006/main" noGrp="1"/>
          </p:cNvSpPr>
          <p:nvPr/>
        </p:nvSpPr>
        <p:spPr>
          <a:xfrm xmlns:a="http://schemas.openxmlformats.org/drawingml/2006/main">
            <a:off x="666750" y="41433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0">
                <a:solidFill>
                  <a:srgbClr val="667085"/>
                </a:solidFill>
                <a:latin typeface="Helvetica Neue"/>
                <a:ea typeface="Helvetica Neue"/>
                <a:cs typeface="Helvetica Neue"/>
              </a:defRPr>
            </a:pPr>
            <a:r>
              <a:rPr sz="1200" b="0">
                <a:solidFill>
                  <a:srgbClr val="667085"/>
                </a:solidFill>
                <a:latin typeface="Helvetica Neue"/>
                <a:ea typeface="Helvetica Neue"/>
                <a:cs typeface="Helvetica Neue"/>
              </a:rPr>
              <a:t>Brief target for each company</a:t>
            </a:r>
          </a:p>
        </p:txBody>
      </p:sp>
      <p:sp>
        <p:nvSpPr>
          <p:cNvPr id="11" name="">
            <a:extLst xmlns:a="http://schemas.openxmlformats.org/drawingml/2006/main">
              <a:ext uri="{FF2B5EF4-FFF2-40B4-BE49-F238E27FC236}">
                <a16:creationId xmlns:a16="http://schemas.microsoft.com/office/drawing/2014/main" id="{C54EE160-B2FE-4724-B4DB-29B4F6C94ED8}"/>
              </a:ext>
            </a:extLst>
          </p:cNvPr>
          <p:cNvSpPr>
            <a:spLocks xmlns:a="http://schemas.openxmlformats.org/drawingml/2006/main" noGrp="1"/>
          </p:cNvSpPr>
          <p:nvPr/>
        </p:nvSpPr>
        <p:spPr>
          <a:xfrm xmlns:a="http://schemas.openxmlformats.org/drawingml/2006/main">
            <a:off x="3219450" y="2781300"/>
            <a:ext cx="2571750" cy="2038350"/>
          </a:xfrm>
          <a:prstGeom xmlns:a="http://schemas.openxmlformats.org/drawingml/2006/main" prst="roundRect">
            <a:avLst>
              <a:gd name="adj" fmla="val 7477"/>
            </a:avLst>
          </a:prstGeom>
          <a:solidFill xmlns:a="http://schemas.openxmlformats.org/drawingml/2006/main">
            <a:srgbClr val="FFFFFF"/>
          </a:solidFill>
          <a:ln xmlns:a="http://schemas.openxmlformats.org/drawingml/2006/main" w="9525">
            <a:solidFill>
              <a:srgbClr val="D0D5DD"/>
            </a:solidFill>
            <a:prstDash val="solid"/>
          </a:ln>
        </p:spPr>
      </p:sp>
      <p:sp>
        <p:nvSpPr>
          <p:cNvPr id="12" name="">
            <a:extLst xmlns:a="http://schemas.openxmlformats.org/drawingml/2006/main">
              <a:ext uri="{FF2B5EF4-FFF2-40B4-BE49-F238E27FC236}">
                <a16:creationId xmlns:a16="http://schemas.microsoft.com/office/drawing/2014/main" id="{E103A2B5-5C9B-4684-88A5-D7E54E104F02}"/>
              </a:ext>
            </a:extLst>
          </p:cNvPr>
          <p:cNvSpPr>
            <a:spLocks xmlns:a="http://schemas.openxmlformats.org/drawingml/2006/main" noGrp="1"/>
          </p:cNvSpPr>
          <p:nvPr/>
        </p:nvSpPr>
        <p:spPr>
          <a:xfrm xmlns:a="http://schemas.openxmlformats.org/drawingml/2006/main">
            <a:off x="3429000" y="30099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l">
              <a:buNone/>
              <a:defRPr sz="1050" b="1">
                <a:solidFill>
                  <a:srgbClr val="315F9F"/>
                </a:solidFill>
                <a:latin typeface="Helvetica Neue"/>
                <a:ea typeface="Helvetica Neue"/>
                <a:cs typeface="Helvetica Neue"/>
              </a:defRPr>
            </a:pPr>
            <a:r>
              <a:rPr sz="1050" b="1">
                <a:solidFill>
                  <a:srgbClr val="315F9F"/>
                </a:solidFill>
                <a:latin typeface="Helvetica Neue"/>
                <a:ea typeface="Helvetica Neue"/>
                <a:cs typeface="Helvetica Neue"/>
              </a:rPr>
              <a:t>SOURCE CHECK</a:t>
            </a:r>
          </a:p>
        </p:txBody>
      </p:sp>
      <p:sp>
        <p:nvSpPr>
          <p:cNvPr id="13" name="">
            <a:extLst xmlns:a="http://schemas.openxmlformats.org/drawingml/2006/main">
              <a:ext uri="{FF2B5EF4-FFF2-40B4-BE49-F238E27FC236}">
                <a16:creationId xmlns:a16="http://schemas.microsoft.com/office/drawing/2014/main" id="{9FCDF1D5-5421-492D-BFC5-2AC7138E96FF}"/>
              </a:ext>
            </a:extLst>
          </p:cNvPr>
          <p:cNvSpPr>
            <a:spLocks xmlns:a="http://schemas.openxmlformats.org/drawingml/2006/main" noGrp="1"/>
          </p:cNvSpPr>
          <p:nvPr/>
        </p:nvSpPr>
        <p:spPr>
          <a:xfrm xmlns:a="http://schemas.openxmlformats.org/drawingml/2006/main">
            <a:off x="3429000" y="3371850"/>
            <a:ext cx="2143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525" b="1">
                <a:solidFill>
                  <a:srgbClr val="101828"/>
                </a:solidFill>
                <a:latin typeface="Helvetica Neue"/>
                <a:ea typeface="Helvetica Neue"/>
                <a:cs typeface="Helvetica Neue"/>
              </a:defRPr>
            </a:pPr>
            <a:r>
              <a:rPr sz="2850" b="1">
                <a:solidFill>
                  <a:srgbClr val="101828"/>
                </a:solidFill>
                <a:latin typeface="Helvetica Neue"/>
                <a:ea typeface="Helvetica Neue"/>
                <a:cs typeface="Helvetica Neue"/>
              </a:rPr>
              <a:t>Required</a:t>
            </a:r>
          </a:p>
        </p:txBody>
      </p:sp>
      <p:sp>
        <p:nvSpPr>
          <p:cNvPr id="14" name="">
            <a:extLst xmlns:a="http://schemas.openxmlformats.org/drawingml/2006/main">
              <a:ext uri="{FF2B5EF4-FFF2-40B4-BE49-F238E27FC236}">
                <a16:creationId xmlns:a16="http://schemas.microsoft.com/office/drawing/2014/main" id="{96F3C4E3-ACED-4D21-A3E1-834E7E3DD175}"/>
              </a:ext>
            </a:extLst>
          </p:cNvPr>
          <p:cNvSpPr>
            <a:spLocks xmlns:a="http://schemas.openxmlformats.org/drawingml/2006/main" noGrp="1"/>
          </p:cNvSpPr>
          <p:nvPr/>
        </p:nvSpPr>
        <p:spPr>
          <a:xfrm xmlns:a="http://schemas.openxmlformats.org/drawingml/2006/main">
            <a:off x="3429000" y="41433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0">
                <a:solidFill>
                  <a:srgbClr val="667085"/>
                </a:solidFill>
                <a:latin typeface="Helvetica Neue"/>
                <a:ea typeface="Helvetica Neue"/>
                <a:cs typeface="Helvetica Neue"/>
              </a:defRPr>
            </a:pPr>
            <a:r>
              <a:rPr sz="1200" b="0">
                <a:solidFill>
                  <a:srgbClr val="667085"/>
                </a:solidFill>
                <a:latin typeface="Helvetica Neue"/>
                <a:ea typeface="Helvetica Neue"/>
                <a:cs typeface="Helvetica Neue"/>
              </a:rPr>
              <a:t>Source, date, excerpt, and original record</a:t>
            </a:r>
          </a:p>
        </p:txBody>
      </p:sp>
      <p:sp>
        <p:nvSpPr>
          <p:cNvPr id="15" name="">
            <a:extLst xmlns:a="http://schemas.openxmlformats.org/drawingml/2006/main">
              <a:ext uri="{FF2B5EF4-FFF2-40B4-BE49-F238E27FC236}">
                <a16:creationId xmlns:a16="http://schemas.microsoft.com/office/drawing/2014/main" id="{A7E65777-4F36-4020-AF7C-22F413271467}"/>
              </a:ext>
            </a:extLst>
          </p:cNvPr>
          <p:cNvSpPr>
            <a:spLocks xmlns:a="http://schemas.openxmlformats.org/drawingml/2006/main" noGrp="1"/>
          </p:cNvSpPr>
          <p:nvPr/>
        </p:nvSpPr>
        <p:spPr>
          <a:xfrm xmlns:a="http://schemas.openxmlformats.org/drawingml/2006/main">
            <a:off x="5981700" y="2781300"/>
            <a:ext cx="2571750" cy="2038350"/>
          </a:xfrm>
          <a:prstGeom xmlns:a="http://schemas.openxmlformats.org/drawingml/2006/main" prst="roundRect">
            <a:avLst>
              <a:gd name="adj" fmla="val 7477"/>
            </a:avLst>
          </a:prstGeom>
          <a:solidFill xmlns:a="http://schemas.openxmlformats.org/drawingml/2006/main">
            <a:srgbClr val="FFFFFF"/>
          </a:solidFill>
          <a:ln xmlns:a="http://schemas.openxmlformats.org/drawingml/2006/main" w="9525">
            <a:solidFill>
              <a:srgbClr val="D0D5DD"/>
            </a:solidFill>
            <a:prstDash val="solid"/>
          </a:ln>
        </p:spPr>
      </p:sp>
      <p:sp>
        <p:nvSpPr>
          <p:cNvPr id="16" name="">
            <a:extLst xmlns:a="http://schemas.openxmlformats.org/drawingml/2006/main">
              <a:ext uri="{FF2B5EF4-FFF2-40B4-BE49-F238E27FC236}">
                <a16:creationId xmlns:a16="http://schemas.microsoft.com/office/drawing/2014/main" id="{468EA405-4A26-4F28-9A03-279E84257E69}"/>
              </a:ext>
            </a:extLst>
          </p:cNvPr>
          <p:cNvSpPr>
            <a:spLocks xmlns:a="http://schemas.openxmlformats.org/drawingml/2006/main" noGrp="1"/>
          </p:cNvSpPr>
          <p:nvPr/>
        </p:nvSpPr>
        <p:spPr>
          <a:xfrm xmlns:a="http://schemas.openxmlformats.org/drawingml/2006/main">
            <a:off x="6191250" y="30099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l">
              <a:buNone/>
              <a:defRPr sz="1050" b="1">
                <a:solidFill>
                  <a:srgbClr val="315F9F"/>
                </a:solidFill>
                <a:latin typeface="Helvetica Neue"/>
                <a:ea typeface="Helvetica Neue"/>
                <a:cs typeface="Helvetica Neue"/>
              </a:defRPr>
            </a:pPr>
            <a:r>
              <a:rPr sz="1050" b="1">
                <a:solidFill>
                  <a:srgbClr val="315F9F"/>
                </a:solidFill>
                <a:latin typeface="Helvetica Neue"/>
                <a:ea typeface="Helvetica Neue"/>
                <a:cs typeface="Helvetica Neue"/>
              </a:rPr>
              <a:t>ISOLATION</a:t>
            </a:r>
          </a:p>
        </p:txBody>
      </p:sp>
      <p:sp>
        <p:nvSpPr>
          <p:cNvPr id="17" name="">
            <a:extLst xmlns:a="http://schemas.openxmlformats.org/drawingml/2006/main">
              <a:ext uri="{FF2B5EF4-FFF2-40B4-BE49-F238E27FC236}">
                <a16:creationId xmlns:a16="http://schemas.microsoft.com/office/drawing/2014/main" id="{D8BE85FE-503D-42CD-9E11-C9853F789DE1}"/>
              </a:ext>
            </a:extLst>
          </p:cNvPr>
          <p:cNvSpPr>
            <a:spLocks xmlns:a="http://schemas.openxmlformats.org/drawingml/2006/main" noGrp="1"/>
          </p:cNvSpPr>
          <p:nvPr/>
        </p:nvSpPr>
        <p:spPr>
          <a:xfrm xmlns:a="http://schemas.openxmlformats.org/drawingml/2006/main">
            <a:off x="6191250" y="3371850"/>
            <a:ext cx="2143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908"/>
          </a:bodyPr>
          <a:lstStyle xmlns:a="http://schemas.openxmlformats.org/drawingml/2006/main"/>
          <a:p xmlns:a="http://schemas.openxmlformats.org/drawingml/2006/main">
            <a:pPr algn="l">
              <a:buNone/>
              <a:defRPr sz="3525" b="1">
                <a:solidFill>
                  <a:srgbClr val="101828"/>
                </a:solidFill>
                <a:latin typeface="Helvetica Neue"/>
                <a:ea typeface="Helvetica Neue"/>
                <a:cs typeface="Helvetica Neue"/>
              </a:defRPr>
            </a:pPr>
            <a:r>
              <a:rPr sz="3525" b="1">
                <a:solidFill>
                  <a:srgbClr val="101828"/>
                </a:solidFill>
                <a:latin typeface="Helvetica Neue"/>
                <a:ea typeface="Helvetica Neue"/>
                <a:cs typeface="Helvetica Neue"/>
              </a:rPr>
              <a:t>0</a:t>
            </a:r>
          </a:p>
        </p:txBody>
      </p:sp>
      <p:sp>
        <p:nvSpPr>
          <p:cNvPr id="18" name="">
            <a:extLst xmlns:a="http://schemas.openxmlformats.org/drawingml/2006/main">
              <a:ext uri="{FF2B5EF4-FFF2-40B4-BE49-F238E27FC236}">
                <a16:creationId xmlns:a16="http://schemas.microsoft.com/office/drawing/2014/main" id="{8B3D565A-3552-4FDC-9339-4D2454B4C0FA}"/>
              </a:ext>
            </a:extLst>
          </p:cNvPr>
          <p:cNvSpPr>
            <a:spLocks xmlns:a="http://schemas.openxmlformats.org/drawingml/2006/main" noGrp="1"/>
          </p:cNvSpPr>
          <p:nvPr/>
        </p:nvSpPr>
        <p:spPr>
          <a:xfrm xmlns:a="http://schemas.openxmlformats.org/drawingml/2006/main">
            <a:off x="6191250" y="41433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0">
                <a:solidFill>
                  <a:srgbClr val="667085"/>
                </a:solidFill>
                <a:latin typeface="Helvetica Neue"/>
                <a:ea typeface="Helvetica Neue"/>
                <a:cs typeface="Helvetica Neue"/>
              </a:defRPr>
            </a:pPr>
            <a:r>
              <a:rPr sz="1200" b="0">
                <a:solidFill>
                  <a:srgbClr val="667085"/>
                </a:solidFill>
                <a:latin typeface="Helvetica Neue"/>
                <a:ea typeface="Helvetica Neue"/>
                <a:cs typeface="Helvetica Neue"/>
              </a:rPr>
              <a:t>Records from another company</a:t>
            </a:r>
          </a:p>
        </p:txBody>
      </p:sp>
      <p:sp>
        <p:nvSpPr>
          <p:cNvPr id="19" name="">
            <a:extLst xmlns:a="http://schemas.openxmlformats.org/drawingml/2006/main">
              <a:ext uri="{FF2B5EF4-FFF2-40B4-BE49-F238E27FC236}">
                <a16:creationId xmlns:a16="http://schemas.microsoft.com/office/drawing/2014/main" id="{21909835-C000-476D-BE4E-86B6A009FC7F}"/>
              </a:ext>
            </a:extLst>
          </p:cNvPr>
          <p:cNvSpPr>
            <a:spLocks xmlns:a="http://schemas.openxmlformats.org/drawingml/2006/main" noGrp="1"/>
          </p:cNvSpPr>
          <p:nvPr/>
        </p:nvSpPr>
        <p:spPr>
          <a:xfrm xmlns:a="http://schemas.openxmlformats.org/drawingml/2006/main">
            <a:off x="8743950" y="2781300"/>
            <a:ext cx="2571750" cy="2038350"/>
          </a:xfrm>
          <a:prstGeom xmlns:a="http://schemas.openxmlformats.org/drawingml/2006/main" prst="roundRect">
            <a:avLst>
              <a:gd name="adj" fmla="val 7477"/>
            </a:avLst>
          </a:prstGeom>
          <a:solidFill xmlns:a="http://schemas.openxmlformats.org/drawingml/2006/main">
            <a:srgbClr val="FFFFFF"/>
          </a:solidFill>
          <a:ln xmlns:a="http://schemas.openxmlformats.org/drawingml/2006/main" w="9525">
            <a:solidFill>
              <a:srgbClr val="D0D5DD"/>
            </a:solidFill>
            <a:prstDash val="solid"/>
          </a:ln>
        </p:spPr>
      </p:sp>
      <p:sp>
        <p:nvSpPr>
          <p:cNvPr id="20" name="">
            <a:extLst xmlns:a="http://schemas.openxmlformats.org/drawingml/2006/main">
              <a:ext uri="{FF2B5EF4-FFF2-40B4-BE49-F238E27FC236}">
                <a16:creationId xmlns:a16="http://schemas.microsoft.com/office/drawing/2014/main" id="{14D12D1C-71C7-4D5E-841E-35CE6D175B78}"/>
              </a:ext>
            </a:extLst>
          </p:cNvPr>
          <p:cNvSpPr>
            <a:spLocks xmlns:a="http://schemas.openxmlformats.org/drawingml/2006/main" noGrp="1"/>
          </p:cNvSpPr>
          <p:nvPr/>
        </p:nvSpPr>
        <p:spPr>
          <a:xfrm xmlns:a="http://schemas.openxmlformats.org/drawingml/2006/main">
            <a:off x="8953500" y="30099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l">
              <a:buNone/>
              <a:defRPr sz="1050" b="1">
                <a:solidFill>
                  <a:srgbClr val="315F9F"/>
                </a:solidFill>
                <a:latin typeface="Helvetica Neue"/>
                <a:ea typeface="Helvetica Neue"/>
                <a:cs typeface="Helvetica Neue"/>
              </a:defRPr>
            </a:pPr>
            <a:r>
              <a:rPr sz="1050" b="1">
                <a:solidFill>
                  <a:srgbClr val="315F9F"/>
                </a:solidFill>
                <a:latin typeface="Helvetica Neue"/>
                <a:ea typeface="Helvetica Neue"/>
                <a:cs typeface="Helvetica Neue"/>
              </a:rPr>
              <a:t>USEFULNESS</a:t>
            </a:r>
          </a:p>
        </p:txBody>
      </p:sp>
      <p:sp>
        <p:nvSpPr>
          <p:cNvPr id="21" name="">
            <a:extLst xmlns:a="http://schemas.openxmlformats.org/drawingml/2006/main">
              <a:ext uri="{FF2B5EF4-FFF2-40B4-BE49-F238E27FC236}">
                <a16:creationId xmlns:a16="http://schemas.microsoft.com/office/drawing/2014/main" id="{F686A3A3-BAF9-4CEC-BA6B-8E7459E7CB1A}"/>
              </a:ext>
            </a:extLst>
          </p:cNvPr>
          <p:cNvSpPr>
            <a:spLocks xmlns:a="http://schemas.openxmlformats.org/drawingml/2006/main" noGrp="1"/>
          </p:cNvSpPr>
          <p:nvPr/>
        </p:nvSpPr>
        <p:spPr>
          <a:xfrm xmlns:a="http://schemas.openxmlformats.org/drawingml/2006/main">
            <a:off x="8953500" y="3371850"/>
            <a:ext cx="2143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908"/>
          </a:bodyPr>
          <a:lstStyle xmlns:a="http://schemas.openxmlformats.org/drawingml/2006/main"/>
          <a:p xmlns:a="http://schemas.openxmlformats.org/drawingml/2006/main">
            <a:pPr algn="l">
              <a:buNone/>
              <a:defRPr sz="3525" b="1">
                <a:solidFill>
                  <a:srgbClr val="101828"/>
                </a:solidFill>
                <a:latin typeface="Helvetica Neue"/>
                <a:ea typeface="Helvetica Neue"/>
                <a:cs typeface="Helvetica Neue"/>
              </a:defRPr>
            </a:pPr>
            <a:r>
              <a:rPr sz="3525" b="1">
                <a:solidFill>
                  <a:srgbClr val="101828"/>
                </a:solidFill>
                <a:latin typeface="Helvetica Neue"/>
                <a:ea typeface="Helvetica Neue"/>
                <a:cs typeface="Helvetica Neue"/>
              </a:rPr>
              <a:t>≥4/5</a:t>
            </a:r>
          </a:p>
        </p:txBody>
      </p:sp>
      <p:sp>
        <p:nvSpPr>
          <p:cNvPr id="22" name="">
            <a:extLst xmlns:a="http://schemas.openxmlformats.org/drawingml/2006/main">
              <a:ext uri="{FF2B5EF4-FFF2-40B4-BE49-F238E27FC236}">
                <a16:creationId xmlns:a16="http://schemas.microsoft.com/office/drawing/2014/main" id="{98A790D2-D307-426F-AFF6-4F296FCAF988}"/>
              </a:ext>
            </a:extLst>
          </p:cNvPr>
          <p:cNvSpPr>
            <a:spLocks xmlns:a="http://schemas.openxmlformats.org/drawingml/2006/main" noGrp="1"/>
          </p:cNvSpPr>
          <p:nvPr/>
        </p:nvSpPr>
        <p:spPr>
          <a:xfrm xmlns:a="http://schemas.openxmlformats.org/drawingml/2006/main">
            <a:off x="8953500" y="41433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0">
                <a:solidFill>
                  <a:srgbClr val="667085"/>
                </a:solidFill>
                <a:latin typeface="Helvetica Neue"/>
                <a:ea typeface="Helvetica Neue"/>
                <a:cs typeface="Helvetica Neue"/>
              </a:defRPr>
            </a:pPr>
            <a:r>
              <a:rPr sz="1200" b="0">
                <a:solidFill>
                  <a:srgbClr val="667085"/>
                </a:solidFill>
                <a:latin typeface="Helvetica Neue"/>
                <a:ea typeface="Helvetica Neue"/>
                <a:cs typeface="Helvetica Neue"/>
              </a:rPr>
              <a:t>Pilot target; not measured</a:t>
            </a:r>
          </a:p>
        </p:txBody>
      </p:sp>
      <p:sp>
        <p:nvSpPr>
          <p:cNvPr id="23" name="">
            <a:extLst xmlns:a="http://schemas.openxmlformats.org/drawingml/2006/main">
              <a:ext uri="{FF2B5EF4-FFF2-40B4-BE49-F238E27FC236}">
                <a16:creationId xmlns:a16="http://schemas.microsoft.com/office/drawing/2014/main" id="{25EC7D7C-6E01-4D17-AA83-D2DB3D6F5810}"/>
              </a:ext>
            </a:extLst>
          </p:cNvPr>
          <p:cNvSpPr>
            <a:spLocks xmlns:a="http://schemas.openxmlformats.org/drawingml/2006/main" noGrp="1"/>
          </p:cNvSpPr>
          <p:nvPr/>
        </p:nvSpPr>
        <p:spPr>
          <a:xfrm xmlns:a="http://schemas.openxmlformats.org/drawingml/2006/main">
            <a:off x="457200" y="5219700"/>
            <a:ext cx="1085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buNone/>
              <a:defRPr sz="1350" b="1">
                <a:solidFill>
                  <a:srgbClr val="344054"/>
                </a:solidFill>
                <a:latin typeface="Helvetica Neue"/>
                <a:ea typeface="Helvetica Neue"/>
                <a:cs typeface="Helvetica Neue"/>
              </a:defRPr>
            </a:pPr>
            <a:r>
              <a:rPr sz="1350" b="1">
                <a:solidFill>
                  <a:srgbClr val="344054"/>
                </a:solidFill>
                <a:latin typeface="Helvetica Neue"/>
                <a:ea typeface="Helvetica Neue"/>
                <a:cs typeface="Helvetica Neue"/>
              </a:rPr>
              <a:t>Core stories: get a brief · understand the company · check a statement · report a problem</a:t>
            </a:r>
          </a:p>
        </p:txBody>
      </p:sp>
      <p:sp>
        <p:nvSpPr>
          <p:cNvPr id="24" name="">
            <a:extLst xmlns:a="http://schemas.openxmlformats.org/drawingml/2006/main">
              <a:ext uri="{FF2B5EF4-FFF2-40B4-BE49-F238E27FC236}">
                <a16:creationId xmlns:a16="http://schemas.microsoft.com/office/drawing/2014/main" id="{4C39101A-94C4-48DC-82B6-88D1BEEA99D4}"/>
              </a:ext>
            </a:extLst>
          </p:cNvPr>
          <p:cNvSpPr>
            <a:spLocks xmlns:a="http://schemas.openxmlformats.org/drawingml/2006/main" noGrp="1"/>
          </p:cNvSpPr>
          <p:nvPr/>
        </p:nvSpPr>
        <p:spPr>
          <a:xfrm xmlns:a="http://schemas.openxmlformats.org/drawingml/2006/main">
            <a:off x="457200" y="5638800"/>
            <a:ext cx="1085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1">
                <a:solidFill>
                  <a:srgbClr val="315F9F"/>
                </a:solidFill>
                <a:latin typeface="Helvetica Neue"/>
                <a:ea typeface="Helvetica Neue"/>
                <a:cs typeface="Helvetica Neue"/>
              </a:defRPr>
            </a:pPr>
            <a:r>
              <a:rPr sz="1275" b="1">
                <a:solidFill>
                  <a:srgbClr val="315F9F"/>
                </a:solidFill>
                <a:latin typeface="Helvetica Neue"/>
                <a:ea typeface="Helvetica Neue"/>
                <a:cs typeface="Helvetica Neue"/>
              </a:rPr>
              <a:t>Good enough means a small internal pilot with approved sources, a reference set, validated source access, and a feedback owner.</a:t>
            </a:r>
          </a:p>
        </p:txBody>
      </p:sp>
    </p:spTree>
    <p:extLst>
      <p:ext uri="{BB962C8B-B14F-4D97-AF65-F5344CB8AC3E}">
        <p14:creationId xmlns:p14="http://schemas.microsoft.com/office/powerpoint/2010/main" val="1483308295"/>
      </p:ext>
    </p:extLst>
  </p:cSld>
</p:sld>
</file>

<file path=ppt/slides/slide11.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D90E6CAA-500E-48FE-9B53-5F49A30A4FA3}"/>
              </a:ext>
            </a:extLst>
          </p:cNvPr>
          <p:cNvSpPr>
            <a:spLocks xmlns:a="http://schemas.openxmlformats.org/drawingml/2006/main" noGrp="1"/>
          </p:cNvSpPr>
          <p:nvPr/>
        </p:nvSpPr>
        <p:spPr>
          <a:xfrm xmlns:a="http://schemas.openxmlformats.org/drawingml/2006/main">
            <a:off x="457200" y="361950"/>
            <a:ext cx="1104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000" b="1">
                <a:solidFill>
                  <a:srgbClr val="101828"/>
                </a:solidFill>
                <a:latin typeface="Helvetica Neue"/>
                <a:ea typeface="Helvetica Neue"/>
                <a:cs typeface="Helvetica Neue"/>
              </a:defRPr>
            </a:pPr>
            <a:r>
              <a:rPr sz="2700" b="1">
                <a:solidFill>
                  <a:srgbClr val="101828"/>
                </a:solidFill>
                <a:latin typeface="Helvetica Neue"/>
                <a:ea typeface="Helvetica Neue"/>
                <a:cs typeface="Helvetica Neue"/>
              </a:rPr>
              <a:t>What runs today, and what is planned?</a:t>
            </a:r>
          </a:p>
        </p:txBody>
      </p:sp>
      <p:sp>
        <p:nvSpPr>
          <p:cNvPr id="2" name="">
            <a:extLst xmlns:a="http://schemas.openxmlformats.org/drawingml/2006/main">
              <a:ext uri="{FF2B5EF4-FFF2-40B4-BE49-F238E27FC236}">
                <a16:creationId xmlns:a16="http://schemas.microsoft.com/office/drawing/2014/main" id="{EF65C2A4-B64B-4D22-95C8-408BF13E2BC9}"/>
              </a:ext>
            </a:extLst>
          </p:cNvPr>
          <p:cNvSpPr>
            <a:spLocks xmlns:a="http://schemas.openxmlformats.org/drawingml/2006/main" noGrp="1"/>
          </p:cNvSpPr>
          <p:nvPr/>
        </p:nvSpPr>
        <p:spPr>
          <a:xfrm xmlns:a="http://schemas.openxmlformats.org/drawingml/2006/main">
            <a:off x="457200" y="6324600"/>
            <a:ext cx="108585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3" name="">
            <a:extLst xmlns:a="http://schemas.openxmlformats.org/drawingml/2006/main">
              <a:ext uri="{FF2B5EF4-FFF2-40B4-BE49-F238E27FC236}">
                <a16:creationId xmlns:a16="http://schemas.microsoft.com/office/drawing/2014/main" id="{80FF9FAF-5706-4922-868C-E24C4C573577}"/>
              </a:ext>
            </a:extLst>
          </p:cNvPr>
          <p:cNvSpPr>
            <a:spLocks xmlns:a="http://schemas.openxmlformats.org/drawingml/2006/main" noGrp="1"/>
          </p:cNvSpPr>
          <p:nvPr/>
        </p:nvSpPr>
        <p:spPr>
          <a:xfrm xmlns:a="http://schemas.openxmlformats.org/drawingml/2006/main">
            <a:off x="10744200" y="645795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1">
                <a:solidFill>
                  <a:srgbClr val="667085"/>
                </a:solidFill>
                <a:latin typeface="Helvetica Neue"/>
                <a:ea typeface="Helvetica Neue"/>
                <a:cs typeface="Helvetica Neue"/>
              </a:defRPr>
            </a:pPr>
            <a:r>
              <a:rPr sz="975" b="1">
                <a:solidFill>
                  <a:srgbClr val="667085"/>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685A96E9-6F50-4414-A07D-C76C7C79E4EB}"/>
              </a:ext>
            </a:extLst>
          </p:cNvPr>
          <p:cNvSpPr>
            <a:spLocks xmlns:a="http://schemas.openxmlformats.org/drawingml/2006/main" noGrp="1"/>
          </p:cNvSpPr>
          <p:nvPr/>
        </p:nvSpPr>
        <p:spPr>
          <a:xfrm xmlns:a="http://schemas.openxmlformats.org/drawingml/2006/main">
            <a:off x="457200" y="1485900"/>
            <a:ext cx="5219700" cy="4343400"/>
          </a:xfrm>
          <a:prstGeom xmlns:a="http://schemas.openxmlformats.org/drawingml/2006/main" prst="roundRect">
            <a:avLst>
              <a:gd name="adj" fmla="val 3947"/>
            </a:avLst>
          </a:prstGeom>
          <a:solidFill xmlns:a="http://schemas.openxmlformats.org/drawingml/2006/main">
            <a:srgbClr val="FFFFFF"/>
          </a:solidFill>
          <a:ln xmlns:a="http://schemas.openxmlformats.org/drawingml/2006/main" w="9525">
            <a:solidFill>
              <a:srgbClr val="D0D5DD"/>
            </a:solidFill>
            <a:prstDash val="solid"/>
          </a:ln>
        </p:spPr>
      </p:sp>
      <p:sp>
        <p:nvSpPr>
          <p:cNvPr id="5" name="">
            <a:extLst xmlns:a="http://schemas.openxmlformats.org/drawingml/2006/main">
              <a:ext uri="{FF2B5EF4-FFF2-40B4-BE49-F238E27FC236}">
                <a16:creationId xmlns:a16="http://schemas.microsoft.com/office/drawing/2014/main" id="{CC29C1BE-B33B-46AA-942D-A837CDBDCB70}"/>
              </a:ext>
            </a:extLst>
          </p:cNvPr>
          <p:cNvSpPr>
            <a:spLocks xmlns:a="http://schemas.openxmlformats.org/drawingml/2006/main" noGrp="1"/>
          </p:cNvSpPr>
          <p:nvPr/>
        </p:nvSpPr>
        <p:spPr>
          <a:xfrm xmlns:a="http://schemas.openxmlformats.org/drawingml/2006/main">
            <a:off x="685800" y="1714500"/>
            <a:ext cx="1428750" cy="285750"/>
          </a:xfrm>
          <a:prstGeom xmlns:a="http://schemas.openxmlformats.org/drawingml/2006/main" prst="roundRect">
            <a:avLst>
              <a:gd name="adj" fmla="val 50000"/>
            </a:avLst>
          </a:prstGeom>
          <a:solidFill xmlns:a="http://schemas.openxmlformats.org/drawingml/2006/main">
            <a:srgbClr val="EAF7F1"/>
          </a:solidFill>
          <a:ln xmlns:a="http://schemas.openxmlformats.org/drawingml/2006/main" w="9525">
            <a:solidFill>
              <a:srgbClr val="A9DFC9"/>
            </a:solidFill>
            <a:prstDash val="solid"/>
          </a:ln>
        </p:spPr>
      </p:sp>
      <p:sp>
        <p:nvSpPr>
          <p:cNvPr id="6" name="">
            <a:extLst xmlns:a="http://schemas.openxmlformats.org/drawingml/2006/main">
              <a:ext uri="{FF2B5EF4-FFF2-40B4-BE49-F238E27FC236}">
                <a16:creationId xmlns:a16="http://schemas.microsoft.com/office/drawing/2014/main" id="{6C4A0D09-9F63-4B9A-84FC-C3CD0BD85944}"/>
              </a:ext>
            </a:extLst>
          </p:cNvPr>
          <p:cNvSpPr>
            <a:spLocks xmlns:a="http://schemas.openxmlformats.org/drawingml/2006/main" noGrp="1"/>
          </p:cNvSpPr>
          <p:nvPr/>
        </p:nvSpPr>
        <p:spPr>
          <a:xfrm xmlns:a="http://schemas.openxmlformats.org/drawingml/2006/main">
            <a:off x="800100" y="1762125"/>
            <a:ext cx="12001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7857"/>
          </a:bodyPr>
          <a:lstStyle xmlns:a="http://schemas.openxmlformats.org/drawingml/2006/main"/>
          <a:p xmlns:a="http://schemas.openxmlformats.org/drawingml/2006/main">
            <a:pPr algn="l">
              <a:buNone/>
              <a:defRPr sz="1050" b="1">
                <a:solidFill>
                  <a:srgbClr val="247A59"/>
                </a:solidFill>
                <a:latin typeface="Helvetica Neue"/>
                <a:ea typeface="Helvetica Neue"/>
                <a:cs typeface="Helvetica Neue"/>
              </a:defRPr>
            </a:pPr>
            <a:r>
              <a:rPr sz="1050" b="1">
                <a:solidFill>
                  <a:srgbClr val="247A59"/>
                </a:solidFill>
                <a:latin typeface="Helvetica Neue"/>
                <a:ea typeface="Helvetica Neue"/>
                <a:cs typeface="Helvetica Neue"/>
              </a:rPr>
              <a:t>RUNS TODAY</a:t>
            </a:r>
          </a:p>
        </p:txBody>
      </p:sp>
      <p:sp>
        <p:nvSpPr>
          <p:cNvPr id="7" name="">
            <a:extLst xmlns:a="http://schemas.openxmlformats.org/drawingml/2006/main">
              <a:ext uri="{FF2B5EF4-FFF2-40B4-BE49-F238E27FC236}">
                <a16:creationId xmlns:a16="http://schemas.microsoft.com/office/drawing/2014/main" id="{DE53C278-8683-4E98-84E7-96A510C3F44E}"/>
              </a:ext>
            </a:extLst>
          </p:cNvPr>
          <p:cNvSpPr>
            <a:spLocks xmlns:a="http://schemas.openxmlformats.org/drawingml/2006/main" noGrp="1"/>
          </p:cNvSpPr>
          <p:nvPr/>
        </p:nvSpPr>
        <p:spPr>
          <a:xfrm xmlns:a="http://schemas.openxmlformats.org/drawingml/2006/main">
            <a:off x="685800" y="2266950"/>
            <a:ext cx="266700" cy="266700"/>
          </a:xfrm>
          <a:prstGeom xmlns:a="http://schemas.openxmlformats.org/drawingml/2006/main" prst="roundRect">
            <a:avLst>
              <a:gd name="adj" fmla="val 50000"/>
            </a:avLst>
          </a:prstGeom>
          <a:solidFill xmlns:a="http://schemas.openxmlformats.org/drawingml/2006/main">
            <a:srgbClr val="EAF7F1"/>
          </a:solidFill>
          <a:ln xmlns:a="http://schemas.openxmlformats.org/drawingml/2006/main" w="9525">
            <a:solidFill>
              <a:srgbClr val="A9DFC9"/>
            </a:solidFill>
            <a:prstDash val="solid"/>
          </a:ln>
        </p:spPr>
      </p:sp>
      <p:sp>
        <p:nvSpPr>
          <p:cNvPr id="8" name="">
            <a:extLst xmlns:a="http://schemas.openxmlformats.org/drawingml/2006/main">
              <a:ext uri="{FF2B5EF4-FFF2-40B4-BE49-F238E27FC236}">
                <a16:creationId xmlns:a16="http://schemas.microsoft.com/office/drawing/2014/main" id="{C03B9381-0A59-414C-BEEB-8E714A7336CF}"/>
              </a:ext>
            </a:extLst>
          </p:cNvPr>
          <p:cNvSpPr>
            <a:spLocks xmlns:a="http://schemas.openxmlformats.org/drawingml/2006/main" noGrp="1"/>
          </p:cNvSpPr>
          <p:nvPr/>
        </p:nvSpPr>
        <p:spPr>
          <a:xfrm xmlns:a="http://schemas.openxmlformats.org/drawingml/2006/main">
            <a:off x="742950" y="2295525"/>
            <a:ext cx="171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a:solidFill>
                  <a:srgbClr val="247A59"/>
                </a:solidFill>
                <a:latin typeface="Helvetica Neue"/>
                <a:ea typeface="Helvetica Neue"/>
                <a:cs typeface="Helvetica Neue"/>
              </a:defRPr>
            </a:pPr>
            <a:r>
              <a:rPr sz="1200" b="1">
                <a:solidFill>
                  <a:srgbClr val="247A59"/>
                </a:solidFill>
                <a:latin typeface="Helvetica Neue"/>
                <a:ea typeface="Helvetica Neue"/>
                <a:cs typeface="Helvetica Neue"/>
              </a:rPr>
              <a:t>✓</a:t>
            </a:r>
          </a:p>
        </p:txBody>
      </p:sp>
      <p:sp>
        <p:nvSpPr>
          <p:cNvPr id="9" name="">
            <a:extLst xmlns:a="http://schemas.openxmlformats.org/drawingml/2006/main">
              <a:ext uri="{FF2B5EF4-FFF2-40B4-BE49-F238E27FC236}">
                <a16:creationId xmlns:a16="http://schemas.microsoft.com/office/drawing/2014/main" id="{1B2FE6B0-320C-417E-8A1A-879419763A56}"/>
              </a:ext>
            </a:extLst>
          </p:cNvPr>
          <p:cNvSpPr>
            <a:spLocks xmlns:a="http://schemas.openxmlformats.org/drawingml/2006/main" noGrp="1"/>
          </p:cNvSpPr>
          <p:nvPr/>
        </p:nvSpPr>
        <p:spPr>
          <a:xfrm xmlns:a="http://schemas.openxmlformats.org/drawingml/2006/main">
            <a:off x="1104900" y="2247900"/>
            <a:ext cx="4152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7544"/>
          </a:bodyPr>
          <a:lstStyle xmlns:a="http://schemas.openxmlformats.org/drawingml/2006/main"/>
          <a:p xmlns:a="http://schemas.openxmlformats.org/drawingml/2006/main">
            <a:pPr algn="l">
              <a:buNone/>
              <a:defRPr sz="1425" b="1">
                <a:solidFill>
                  <a:srgbClr val="101828"/>
                </a:solidFill>
                <a:latin typeface="Helvetica Neue"/>
                <a:ea typeface="Helvetica Neue"/>
                <a:cs typeface="Helvetica Neue"/>
              </a:defRPr>
            </a:pPr>
            <a:r>
              <a:rPr sz="1425" b="1">
                <a:solidFill>
                  <a:srgbClr val="101828"/>
                </a:solidFill>
                <a:latin typeface="Helvetica Neue"/>
                <a:ea typeface="Helvetica Neue"/>
                <a:cs typeface="Helvetica Neue"/>
              </a:rPr>
              <a:t>Interface and API routes</a:t>
            </a:r>
          </a:p>
        </p:txBody>
      </p:sp>
      <p:sp>
        <p:nvSpPr>
          <p:cNvPr id="10" name="">
            <a:extLst xmlns:a="http://schemas.openxmlformats.org/drawingml/2006/main">
              <a:ext uri="{FF2B5EF4-FFF2-40B4-BE49-F238E27FC236}">
                <a16:creationId xmlns:a16="http://schemas.microsoft.com/office/drawing/2014/main" id="{97B51185-F006-48A4-A1C8-28FF6BD765B9}"/>
              </a:ext>
            </a:extLst>
          </p:cNvPr>
          <p:cNvSpPr>
            <a:spLocks xmlns:a="http://schemas.openxmlformats.org/drawingml/2006/main" noGrp="1"/>
          </p:cNvSpPr>
          <p:nvPr/>
        </p:nvSpPr>
        <p:spPr>
          <a:xfrm xmlns:a="http://schemas.openxmlformats.org/drawingml/2006/main">
            <a:off x="1104900" y="2533650"/>
            <a:ext cx="4152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E612B173-A7EC-4AE9-BA73-C0E5AFE0B9BA}"/>
              </a:ext>
            </a:extLst>
          </p:cNvPr>
          <p:cNvSpPr>
            <a:spLocks xmlns:a="http://schemas.openxmlformats.org/drawingml/2006/main" noGrp="1"/>
          </p:cNvSpPr>
          <p:nvPr/>
        </p:nvSpPr>
        <p:spPr>
          <a:xfrm xmlns:a="http://schemas.openxmlformats.org/drawingml/2006/main">
            <a:off x="685800" y="2724150"/>
            <a:ext cx="266700" cy="266700"/>
          </a:xfrm>
          <a:prstGeom xmlns:a="http://schemas.openxmlformats.org/drawingml/2006/main" prst="roundRect">
            <a:avLst>
              <a:gd name="adj" fmla="val 50000"/>
            </a:avLst>
          </a:prstGeom>
          <a:solidFill xmlns:a="http://schemas.openxmlformats.org/drawingml/2006/main">
            <a:srgbClr val="EAF7F1"/>
          </a:solidFill>
          <a:ln xmlns:a="http://schemas.openxmlformats.org/drawingml/2006/main" w="9525">
            <a:solidFill>
              <a:srgbClr val="A9DFC9"/>
            </a:solidFill>
            <a:prstDash val="solid"/>
          </a:ln>
        </p:spPr>
      </p:sp>
      <p:sp>
        <p:nvSpPr>
          <p:cNvPr id="12" name="">
            <a:extLst xmlns:a="http://schemas.openxmlformats.org/drawingml/2006/main">
              <a:ext uri="{FF2B5EF4-FFF2-40B4-BE49-F238E27FC236}">
                <a16:creationId xmlns:a16="http://schemas.microsoft.com/office/drawing/2014/main" id="{4BEEC2F2-A405-4817-AF78-149C32ABC816}"/>
              </a:ext>
            </a:extLst>
          </p:cNvPr>
          <p:cNvSpPr>
            <a:spLocks xmlns:a="http://schemas.openxmlformats.org/drawingml/2006/main" noGrp="1"/>
          </p:cNvSpPr>
          <p:nvPr/>
        </p:nvSpPr>
        <p:spPr>
          <a:xfrm xmlns:a="http://schemas.openxmlformats.org/drawingml/2006/main">
            <a:off x="742950" y="2752725"/>
            <a:ext cx="171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a:solidFill>
                  <a:srgbClr val="247A59"/>
                </a:solidFill>
                <a:latin typeface="Helvetica Neue"/>
                <a:ea typeface="Helvetica Neue"/>
                <a:cs typeface="Helvetica Neue"/>
              </a:defRPr>
            </a:pPr>
            <a:r>
              <a:rPr sz="1200" b="1">
                <a:solidFill>
                  <a:srgbClr val="247A59"/>
                </a:solidFill>
                <a:latin typeface="Helvetica Neue"/>
                <a:ea typeface="Helvetica Neue"/>
                <a:cs typeface="Helvetica Neue"/>
              </a:rPr>
              <a:t>✓</a:t>
            </a:r>
          </a:p>
        </p:txBody>
      </p:sp>
      <p:sp>
        <p:nvSpPr>
          <p:cNvPr id="13" name="">
            <a:extLst xmlns:a="http://schemas.openxmlformats.org/drawingml/2006/main">
              <a:ext uri="{FF2B5EF4-FFF2-40B4-BE49-F238E27FC236}">
                <a16:creationId xmlns:a16="http://schemas.microsoft.com/office/drawing/2014/main" id="{049E349C-8886-4F72-895A-080D41700841}"/>
              </a:ext>
            </a:extLst>
          </p:cNvPr>
          <p:cNvSpPr>
            <a:spLocks xmlns:a="http://schemas.openxmlformats.org/drawingml/2006/main" noGrp="1"/>
          </p:cNvSpPr>
          <p:nvPr/>
        </p:nvSpPr>
        <p:spPr>
          <a:xfrm xmlns:a="http://schemas.openxmlformats.org/drawingml/2006/main">
            <a:off x="1104900" y="2705100"/>
            <a:ext cx="4152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7544"/>
          </a:bodyPr>
          <a:lstStyle xmlns:a="http://schemas.openxmlformats.org/drawingml/2006/main"/>
          <a:p xmlns:a="http://schemas.openxmlformats.org/drawingml/2006/main">
            <a:pPr algn="l">
              <a:buNone/>
              <a:defRPr sz="1425" b="1">
                <a:solidFill>
                  <a:srgbClr val="101828"/>
                </a:solidFill>
                <a:latin typeface="Helvetica Neue"/>
                <a:ea typeface="Helvetica Neue"/>
                <a:cs typeface="Helvetica Neue"/>
              </a:defRPr>
            </a:pPr>
            <a:r>
              <a:rPr sz="1425" b="1">
                <a:solidFill>
                  <a:srgbClr val="101828"/>
                </a:solidFill>
                <a:latin typeface="Helvetica Neue"/>
                <a:ea typeface="Helvetica Neue"/>
                <a:cs typeface="Helvetica Neue"/>
              </a:rPr>
              <a:t>PostgreSQL schema and file import</a:t>
            </a:r>
          </a:p>
        </p:txBody>
      </p:sp>
      <p:sp>
        <p:nvSpPr>
          <p:cNvPr id="14" name="">
            <a:extLst xmlns:a="http://schemas.openxmlformats.org/drawingml/2006/main">
              <a:ext uri="{FF2B5EF4-FFF2-40B4-BE49-F238E27FC236}">
                <a16:creationId xmlns:a16="http://schemas.microsoft.com/office/drawing/2014/main" id="{FC908AEA-2316-4C8A-A666-4AA153866861}"/>
              </a:ext>
            </a:extLst>
          </p:cNvPr>
          <p:cNvSpPr>
            <a:spLocks xmlns:a="http://schemas.openxmlformats.org/drawingml/2006/main" noGrp="1"/>
          </p:cNvSpPr>
          <p:nvPr/>
        </p:nvSpPr>
        <p:spPr>
          <a:xfrm xmlns:a="http://schemas.openxmlformats.org/drawingml/2006/main">
            <a:off x="1104900" y="2990850"/>
            <a:ext cx="4152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r>
              <a:t/>
            </a:r>
          </a:p>
        </p:txBody>
      </p:sp>
      <p:sp>
        <p:nvSpPr>
          <p:cNvPr id="15" name="">
            <a:extLst xmlns:a="http://schemas.openxmlformats.org/drawingml/2006/main">
              <a:ext uri="{FF2B5EF4-FFF2-40B4-BE49-F238E27FC236}">
                <a16:creationId xmlns:a16="http://schemas.microsoft.com/office/drawing/2014/main" id="{68621680-B99C-4BF6-845E-85CB22E48266}"/>
              </a:ext>
            </a:extLst>
          </p:cNvPr>
          <p:cNvSpPr>
            <a:spLocks xmlns:a="http://schemas.openxmlformats.org/drawingml/2006/main" noGrp="1"/>
          </p:cNvSpPr>
          <p:nvPr/>
        </p:nvSpPr>
        <p:spPr>
          <a:xfrm xmlns:a="http://schemas.openxmlformats.org/drawingml/2006/main">
            <a:off x="685800" y="3181350"/>
            <a:ext cx="266700" cy="266700"/>
          </a:xfrm>
          <a:prstGeom xmlns:a="http://schemas.openxmlformats.org/drawingml/2006/main" prst="roundRect">
            <a:avLst>
              <a:gd name="adj" fmla="val 50000"/>
            </a:avLst>
          </a:prstGeom>
          <a:solidFill xmlns:a="http://schemas.openxmlformats.org/drawingml/2006/main">
            <a:srgbClr val="EAF7F1"/>
          </a:solidFill>
          <a:ln xmlns:a="http://schemas.openxmlformats.org/drawingml/2006/main" w="9525">
            <a:solidFill>
              <a:srgbClr val="A9DFC9"/>
            </a:solidFill>
            <a:prstDash val="solid"/>
          </a:ln>
        </p:spPr>
      </p:sp>
      <p:sp>
        <p:nvSpPr>
          <p:cNvPr id="16" name="">
            <a:extLst xmlns:a="http://schemas.openxmlformats.org/drawingml/2006/main">
              <a:ext uri="{FF2B5EF4-FFF2-40B4-BE49-F238E27FC236}">
                <a16:creationId xmlns:a16="http://schemas.microsoft.com/office/drawing/2014/main" id="{5975CE81-A386-4156-8944-6514F223EB08}"/>
              </a:ext>
            </a:extLst>
          </p:cNvPr>
          <p:cNvSpPr>
            <a:spLocks xmlns:a="http://schemas.openxmlformats.org/drawingml/2006/main" noGrp="1"/>
          </p:cNvSpPr>
          <p:nvPr/>
        </p:nvSpPr>
        <p:spPr>
          <a:xfrm xmlns:a="http://schemas.openxmlformats.org/drawingml/2006/main">
            <a:off x="742950" y="3209925"/>
            <a:ext cx="171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a:solidFill>
                  <a:srgbClr val="247A59"/>
                </a:solidFill>
                <a:latin typeface="Helvetica Neue"/>
                <a:ea typeface="Helvetica Neue"/>
                <a:cs typeface="Helvetica Neue"/>
              </a:defRPr>
            </a:pPr>
            <a:r>
              <a:rPr sz="1200" b="1">
                <a:solidFill>
                  <a:srgbClr val="247A59"/>
                </a:solidFill>
                <a:latin typeface="Helvetica Neue"/>
                <a:ea typeface="Helvetica Neue"/>
                <a:cs typeface="Helvetica Neue"/>
              </a:rPr>
              <a:t>✓</a:t>
            </a:r>
          </a:p>
        </p:txBody>
      </p:sp>
      <p:sp>
        <p:nvSpPr>
          <p:cNvPr id="17" name="">
            <a:extLst xmlns:a="http://schemas.openxmlformats.org/drawingml/2006/main">
              <a:ext uri="{FF2B5EF4-FFF2-40B4-BE49-F238E27FC236}">
                <a16:creationId xmlns:a16="http://schemas.microsoft.com/office/drawing/2014/main" id="{59DB7FFD-012D-4084-9042-F42B6A456FC9}"/>
              </a:ext>
            </a:extLst>
          </p:cNvPr>
          <p:cNvSpPr>
            <a:spLocks xmlns:a="http://schemas.openxmlformats.org/drawingml/2006/main" noGrp="1"/>
          </p:cNvSpPr>
          <p:nvPr/>
        </p:nvSpPr>
        <p:spPr>
          <a:xfrm xmlns:a="http://schemas.openxmlformats.org/drawingml/2006/main">
            <a:off x="1104900" y="3162300"/>
            <a:ext cx="4152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7544"/>
          </a:bodyPr>
          <a:lstStyle xmlns:a="http://schemas.openxmlformats.org/drawingml/2006/main"/>
          <a:p xmlns:a="http://schemas.openxmlformats.org/drawingml/2006/main">
            <a:pPr algn="l">
              <a:buNone/>
              <a:defRPr sz="1425" b="1">
                <a:solidFill>
                  <a:srgbClr val="101828"/>
                </a:solidFill>
                <a:latin typeface="Helvetica Neue"/>
                <a:ea typeface="Helvetica Neue"/>
                <a:cs typeface="Helvetica Neue"/>
              </a:defRPr>
            </a:pPr>
            <a:r>
              <a:rPr sz="1425" b="1">
                <a:solidFill>
                  <a:srgbClr val="101828"/>
                </a:solidFill>
                <a:latin typeface="Helvetica Neue"/>
                <a:ea typeface="Helvetica Neue"/>
                <a:cs typeface="Helvetica Neue"/>
              </a:rPr>
              <a:t>OpenAI embeddings and repeat-import control</a:t>
            </a:r>
          </a:p>
        </p:txBody>
      </p:sp>
      <p:sp>
        <p:nvSpPr>
          <p:cNvPr id="18" name="">
            <a:extLst xmlns:a="http://schemas.openxmlformats.org/drawingml/2006/main">
              <a:ext uri="{FF2B5EF4-FFF2-40B4-BE49-F238E27FC236}">
                <a16:creationId xmlns:a16="http://schemas.microsoft.com/office/drawing/2014/main" id="{9EE911C2-60EA-4D64-ADFB-9C0D32EA7A8F}"/>
              </a:ext>
            </a:extLst>
          </p:cNvPr>
          <p:cNvSpPr>
            <a:spLocks xmlns:a="http://schemas.openxmlformats.org/drawingml/2006/main" noGrp="1"/>
          </p:cNvSpPr>
          <p:nvPr/>
        </p:nvSpPr>
        <p:spPr>
          <a:xfrm xmlns:a="http://schemas.openxmlformats.org/drawingml/2006/main">
            <a:off x="1104900" y="3448050"/>
            <a:ext cx="4152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r>
              <a:t/>
            </a:r>
          </a:p>
        </p:txBody>
      </p:sp>
      <p:sp>
        <p:nvSpPr>
          <p:cNvPr id="19" name="">
            <a:extLst xmlns:a="http://schemas.openxmlformats.org/drawingml/2006/main">
              <a:ext uri="{FF2B5EF4-FFF2-40B4-BE49-F238E27FC236}">
                <a16:creationId xmlns:a16="http://schemas.microsoft.com/office/drawing/2014/main" id="{13A374E0-12CE-473D-B264-DF803B1B3121}"/>
              </a:ext>
            </a:extLst>
          </p:cNvPr>
          <p:cNvSpPr>
            <a:spLocks xmlns:a="http://schemas.openxmlformats.org/drawingml/2006/main" noGrp="1"/>
          </p:cNvSpPr>
          <p:nvPr/>
        </p:nvSpPr>
        <p:spPr>
          <a:xfrm xmlns:a="http://schemas.openxmlformats.org/drawingml/2006/main">
            <a:off x="685800" y="3638550"/>
            <a:ext cx="266700" cy="266700"/>
          </a:xfrm>
          <a:prstGeom xmlns:a="http://schemas.openxmlformats.org/drawingml/2006/main" prst="roundRect">
            <a:avLst>
              <a:gd name="adj" fmla="val 50000"/>
            </a:avLst>
          </a:prstGeom>
          <a:solidFill xmlns:a="http://schemas.openxmlformats.org/drawingml/2006/main">
            <a:srgbClr val="EAF7F1"/>
          </a:solidFill>
          <a:ln xmlns:a="http://schemas.openxmlformats.org/drawingml/2006/main" w="9525">
            <a:solidFill>
              <a:srgbClr val="A9DFC9"/>
            </a:solidFill>
            <a:prstDash val="solid"/>
          </a:ln>
        </p:spPr>
      </p:sp>
      <p:sp>
        <p:nvSpPr>
          <p:cNvPr id="20" name="">
            <a:extLst xmlns:a="http://schemas.openxmlformats.org/drawingml/2006/main">
              <a:ext uri="{FF2B5EF4-FFF2-40B4-BE49-F238E27FC236}">
                <a16:creationId xmlns:a16="http://schemas.microsoft.com/office/drawing/2014/main" id="{82E8644C-357A-42C4-A9E2-8D942C679D9E}"/>
              </a:ext>
            </a:extLst>
          </p:cNvPr>
          <p:cNvSpPr>
            <a:spLocks xmlns:a="http://schemas.openxmlformats.org/drawingml/2006/main" noGrp="1"/>
          </p:cNvSpPr>
          <p:nvPr/>
        </p:nvSpPr>
        <p:spPr>
          <a:xfrm xmlns:a="http://schemas.openxmlformats.org/drawingml/2006/main">
            <a:off x="742950" y="3667125"/>
            <a:ext cx="171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a:solidFill>
                  <a:srgbClr val="247A59"/>
                </a:solidFill>
                <a:latin typeface="Helvetica Neue"/>
                <a:ea typeface="Helvetica Neue"/>
                <a:cs typeface="Helvetica Neue"/>
              </a:defRPr>
            </a:pPr>
            <a:r>
              <a:rPr sz="1200" b="1">
                <a:solidFill>
                  <a:srgbClr val="247A59"/>
                </a:solidFill>
                <a:latin typeface="Helvetica Neue"/>
                <a:ea typeface="Helvetica Neue"/>
                <a:cs typeface="Helvetica Neue"/>
              </a:rPr>
              <a:t>✓</a:t>
            </a:r>
          </a:p>
        </p:txBody>
      </p:sp>
      <p:sp>
        <p:nvSpPr>
          <p:cNvPr id="21" name="">
            <a:extLst xmlns:a="http://schemas.openxmlformats.org/drawingml/2006/main">
              <a:ext uri="{FF2B5EF4-FFF2-40B4-BE49-F238E27FC236}">
                <a16:creationId xmlns:a16="http://schemas.microsoft.com/office/drawing/2014/main" id="{5C472E48-41BE-48B1-9388-CD31E3C9EE4A}"/>
              </a:ext>
            </a:extLst>
          </p:cNvPr>
          <p:cNvSpPr>
            <a:spLocks xmlns:a="http://schemas.openxmlformats.org/drawingml/2006/main" noGrp="1"/>
          </p:cNvSpPr>
          <p:nvPr/>
        </p:nvSpPr>
        <p:spPr>
          <a:xfrm xmlns:a="http://schemas.openxmlformats.org/drawingml/2006/main">
            <a:off x="1104900" y="3619500"/>
            <a:ext cx="4152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7544"/>
          </a:bodyPr>
          <a:lstStyle xmlns:a="http://schemas.openxmlformats.org/drawingml/2006/main"/>
          <a:p xmlns:a="http://schemas.openxmlformats.org/drawingml/2006/main">
            <a:pPr algn="l">
              <a:buNone/>
              <a:defRPr sz="1425" b="1">
                <a:solidFill>
                  <a:srgbClr val="101828"/>
                </a:solidFill>
                <a:latin typeface="Helvetica Neue"/>
                <a:ea typeface="Helvetica Neue"/>
                <a:cs typeface="Helvetica Neue"/>
              </a:defRPr>
            </a:pPr>
            <a:r>
              <a:rPr sz="1425" b="1">
                <a:solidFill>
                  <a:srgbClr val="101828"/>
                </a:solidFill>
                <a:latin typeface="Helvetica Neue"/>
                <a:ea typeface="Helvetica Neue"/>
                <a:cs typeface="Helvetica Neue"/>
              </a:rPr>
              <a:t>Company-scoped retrieval and gpt-5.6-sol</a:t>
            </a:r>
          </a:p>
        </p:txBody>
      </p:sp>
      <p:sp>
        <p:nvSpPr>
          <p:cNvPr id="22" name="">
            <a:extLst xmlns:a="http://schemas.openxmlformats.org/drawingml/2006/main">
              <a:ext uri="{FF2B5EF4-FFF2-40B4-BE49-F238E27FC236}">
                <a16:creationId xmlns:a16="http://schemas.microsoft.com/office/drawing/2014/main" id="{EF1B4B12-A52A-4E4C-BAA9-3BAC2F5D9972}"/>
              </a:ext>
            </a:extLst>
          </p:cNvPr>
          <p:cNvSpPr>
            <a:spLocks xmlns:a="http://schemas.openxmlformats.org/drawingml/2006/main" noGrp="1"/>
          </p:cNvSpPr>
          <p:nvPr/>
        </p:nvSpPr>
        <p:spPr>
          <a:xfrm xmlns:a="http://schemas.openxmlformats.org/drawingml/2006/main">
            <a:off x="1104900" y="3905250"/>
            <a:ext cx="4152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r>
              <a:t/>
            </a:r>
          </a:p>
        </p:txBody>
      </p:sp>
      <p:sp>
        <p:nvSpPr>
          <p:cNvPr id="23" name="">
            <a:extLst xmlns:a="http://schemas.openxmlformats.org/drawingml/2006/main">
              <a:ext uri="{FF2B5EF4-FFF2-40B4-BE49-F238E27FC236}">
                <a16:creationId xmlns:a16="http://schemas.microsoft.com/office/drawing/2014/main" id="{33741759-6443-44CC-A10F-B90743822CFE}"/>
              </a:ext>
            </a:extLst>
          </p:cNvPr>
          <p:cNvSpPr>
            <a:spLocks xmlns:a="http://schemas.openxmlformats.org/drawingml/2006/main" noGrp="1"/>
          </p:cNvSpPr>
          <p:nvPr/>
        </p:nvSpPr>
        <p:spPr>
          <a:xfrm xmlns:a="http://schemas.openxmlformats.org/drawingml/2006/main">
            <a:off x="685800" y="4095750"/>
            <a:ext cx="266700" cy="266700"/>
          </a:xfrm>
          <a:prstGeom xmlns:a="http://schemas.openxmlformats.org/drawingml/2006/main" prst="roundRect">
            <a:avLst>
              <a:gd name="adj" fmla="val 50000"/>
            </a:avLst>
          </a:prstGeom>
          <a:solidFill xmlns:a="http://schemas.openxmlformats.org/drawingml/2006/main">
            <a:srgbClr val="EAF7F1"/>
          </a:solidFill>
          <a:ln xmlns:a="http://schemas.openxmlformats.org/drawingml/2006/main" w="9525">
            <a:solidFill>
              <a:srgbClr val="A9DFC9"/>
            </a:solidFill>
            <a:prstDash val="solid"/>
          </a:ln>
        </p:spPr>
      </p:sp>
      <p:sp>
        <p:nvSpPr>
          <p:cNvPr id="24" name="">
            <a:extLst xmlns:a="http://schemas.openxmlformats.org/drawingml/2006/main">
              <a:ext uri="{FF2B5EF4-FFF2-40B4-BE49-F238E27FC236}">
                <a16:creationId xmlns:a16="http://schemas.microsoft.com/office/drawing/2014/main" id="{AB907E69-39BA-4CC1-8FD2-4E5B52C5A90C}"/>
              </a:ext>
            </a:extLst>
          </p:cNvPr>
          <p:cNvSpPr>
            <a:spLocks xmlns:a="http://schemas.openxmlformats.org/drawingml/2006/main" noGrp="1"/>
          </p:cNvSpPr>
          <p:nvPr/>
        </p:nvSpPr>
        <p:spPr>
          <a:xfrm xmlns:a="http://schemas.openxmlformats.org/drawingml/2006/main">
            <a:off x="742950" y="4124325"/>
            <a:ext cx="171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a:solidFill>
                  <a:srgbClr val="247A59"/>
                </a:solidFill>
                <a:latin typeface="Helvetica Neue"/>
                <a:ea typeface="Helvetica Neue"/>
                <a:cs typeface="Helvetica Neue"/>
              </a:defRPr>
            </a:pPr>
            <a:r>
              <a:rPr sz="1200" b="1">
                <a:solidFill>
                  <a:srgbClr val="247A59"/>
                </a:solidFill>
                <a:latin typeface="Helvetica Neue"/>
                <a:ea typeface="Helvetica Neue"/>
                <a:cs typeface="Helvetica Neue"/>
              </a:rPr>
              <a:t>✓</a:t>
            </a:r>
          </a:p>
        </p:txBody>
      </p:sp>
      <p:sp>
        <p:nvSpPr>
          <p:cNvPr id="25" name="">
            <a:extLst xmlns:a="http://schemas.openxmlformats.org/drawingml/2006/main">
              <a:ext uri="{FF2B5EF4-FFF2-40B4-BE49-F238E27FC236}">
                <a16:creationId xmlns:a16="http://schemas.microsoft.com/office/drawing/2014/main" id="{E6B2F385-472E-4D2F-AC6E-4CBF8A780C78}"/>
              </a:ext>
            </a:extLst>
          </p:cNvPr>
          <p:cNvSpPr>
            <a:spLocks xmlns:a="http://schemas.openxmlformats.org/drawingml/2006/main" noGrp="1"/>
          </p:cNvSpPr>
          <p:nvPr/>
        </p:nvSpPr>
        <p:spPr>
          <a:xfrm xmlns:a="http://schemas.openxmlformats.org/drawingml/2006/main">
            <a:off x="1104900" y="4076700"/>
            <a:ext cx="4152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7544"/>
          </a:bodyPr>
          <a:lstStyle xmlns:a="http://schemas.openxmlformats.org/drawingml/2006/main"/>
          <a:p xmlns:a="http://schemas.openxmlformats.org/drawingml/2006/main">
            <a:pPr algn="l">
              <a:buNone/>
              <a:defRPr sz="1425" b="1">
                <a:solidFill>
                  <a:srgbClr val="101828"/>
                </a:solidFill>
                <a:latin typeface="Helvetica Neue"/>
                <a:ea typeface="Helvetica Neue"/>
                <a:cs typeface="Helvetica Neue"/>
              </a:defRPr>
            </a:pPr>
            <a:r>
              <a:rPr sz="1425" b="1">
                <a:solidFill>
                  <a:srgbClr val="101828"/>
                </a:solidFill>
                <a:latin typeface="Helvetica Neue"/>
                <a:ea typeface="Helvetica Neue"/>
                <a:cs typeface="Helvetica Neue"/>
              </a:rPr>
              <a:t>Strict schema, citations, and source drill-down</a:t>
            </a:r>
          </a:p>
        </p:txBody>
      </p:sp>
      <p:sp>
        <p:nvSpPr>
          <p:cNvPr id="26" name="">
            <a:extLst xmlns:a="http://schemas.openxmlformats.org/drawingml/2006/main">
              <a:ext uri="{FF2B5EF4-FFF2-40B4-BE49-F238E27FC236}">
                <a16:creationId xmlns:a16="http://schemas.microsoft.com/office/drawing/2014/main" id="{A4A0DB9C-186C-4B5C-A333-E8E632450401}"/>
              </a:ext>
            </a:extLst>
          </p:cNvPr>
          <p:cNvSpPr>
            <a:spLocks xmlns:a="http://schemas.openxmlformats.org/drawingml/2006/main" noGrp="1"/>
          </p:cNvSpPr>
          <p:nvPr/>
        </p:nvSpPr>
        <p:spPr>
          <a:xfrm xmlns:a="http://schemas.openxmlformats.org/drawingml/2006/main">
            <a:off x="1104900" y="4362450"/>
            <a:ext cx="4152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r>
              <a:t/>
            </a:r>
          </a:p>
        </p:txBody>
      </p:sp>
      <p:sp>
        <p:nvSpPr>
          <p:cNvPr id="27" name="">
            <a:extLst xmlns:a="http://schemas.openxmlformats.org/drawingml/2006/main">
              <a:ext uri="{FF2B5EF4-FFF2-40B4-BE49-F238E27FC236}">
                <a16:creationId xmlns:a16="http://schemas.microsoft.com/office/drawing/2014/main" id="{CD8FE40C-07C3-4860-AFAD-62721E67A5A9}"/>
              </a:ext>
            </a:extLst>
          </p:cNvPr>
          <p:cNvSpPr>
            <a:spLocks xmlns:a="http://schemas.openxmlformats.org/drawingml/2006/main" noGrp="1"/>
          </p:cNvSpPr>
          <p:nvPr/>
        </p:nvSpPr>
        <p:spPr>
          <a:xfrm xmlns:a="http://schemas.openxmlformats.org/drawingml/2006/main">
            <a:off x="685800" y="4552950"/>
            <a:ext cx="266700" cy="266700"/>
          </a:xfrm>
          <a:prstGeom xmlns:a="http://schemas.openxmlformats.org/drawingml/2006/main" prst="roundRect">
            <a:avLst>
              <a:gd name="adj" fmla="val 50000"/>
            </a:avLst>
          </a:prstGeom>
          <a:solidFill xmlns:a="http://schemas.openxmlformats.org/drawingml/2006/main">
            <a:srgbClr val="EAF7F1"/>
          </a:solidFill>
          <a:ln xmlns:a="http://schemas.openxmlformats.org/drawingml/2006/main" w="9525">
            <a:solidFill>
              <a:srgbClr val="A9DFC9"/>
            </a:solidFill>
            <a:prstDash val="solid"/>
          </a:ln>
        </p:spPr>
      </p:sp>
      <p:sp>
        <p:nvSpPr>
          <p:cNvPr id="28" name="">
            <a:extLst xmlns:a="http://schemas.openxmlformats.org/drawingml/2006/main">
              <a:ext uri="{FF2B5EF4-FFF2-40B4-BE49-F238E27FC236}">
                <a16:creationId xmlns:a16="http://schemas.microsoft.com/office/drawing/2014/main" id="{240D9B71-DFC8-477C-9D82-9CA578FF2CA8}"/>
              </a:ext>
            </a:extLst>
          </p:cNvPr>
          <p:cNvSpPr>
            <a:spLocks xmlns:a="http://schemas.openxmlformats.org/drawingml/2006/main" noGrp="1"/>
          </p:cNvSpPr>
          <p:nvPr/>
        </p:nvSpPr>
        <p:spPr>
          <a:xfrm xmlns:a="http://schemas.openxmlformats.org/drawingml/2006/main">
            <a:off x="742950" y="4581525"/>
            <a:ext cx="171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a:solidFill>
                  <a:srgbClr val="247A59"/>
                </a:solidFill>
                <a:latin typeface="Helvetica Neue"/>
                <a:ea typeface="Helvetica Neue"/>
                <a:cs typeface="Helvetica Neue"/>
              </a:defRPr>
            </a:pPr>
            <a:r>
              <a:rPr sz="1200" b="1">
                <a:solidFill>
                  <a:srgbClr val="247A59"/>
                </a:solidFill>
                <a:latin typeface="Helvetica Neue"/>
                <a:ea typeface="Helvetica Neue"/>
                <a:cs typeface="Helvetica Neue"/>
              </a:rPr>
              <a:t>✓</a:t>
            </a:r>
          </a:p>
        </p:txBody>
      </p:sp>
      <p:sp>
        <p:nvSpPr>
          <p:cNvPr id="29" name="">
            <a:extLst xmlns:a="http://schemas.openxmlformats.org/drawingml/2006/main">
              <a:ext uri="{FF2B5EF4-FFF2-40B4-BE49-F238E27FC236}">
                <a16:creationId xmlns:a16="http://schemas.microsoft.com/office/drawing/2014/main" id="{FF6354B8-5995-4C82-B3CC-540234CDFD0D}"/>
              </a:ext>
            </a:extLst>
          </p:cNvPr>
          <p:cNvSpPr>
            <a:spLocks xmlns:a="http://schemas.openxmlformats.org/drawingml/2006/main" noGrp="1"/>
          </p:cNvSpPr>
          <p:nvPr/>
        </p:nvSpPr>
        <p:spPr>
          <a:xfrm xmlns:a="http://schemas.openxmlformats.org/drawingml/2006/main">
            <a:off x="1104900" y="4533900"/>
            <a:ext cx="4152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7544"/>
          </a:bodyPr>
          <a:lstStyle xmlns:a="http://schemas.openxmlformats.org/drawingml/2006/main"/>
          <a:p xmlns:a="http://schemas.openxmlformats.org/drawingml/2006/main">
            <a:pPr algn="l">
              <a:buNone/>
              <a:defRPr sz="1425" b="1">
                <a:solidFill>
                  <a:srgbClr val="101828"/>
                </a:solidFill>
                <a:latin typeface="Helvetica Neue"/>
                <a:ea typeface="Helvetica Neue"/>
                <a:cs typeface="Helvetica Neue"/>
              </a:defRPr>
            </a:pPr>
            <a:r>
              <a:rPr sz="1425" b="1">
                <a:solidFill>
                  <a:srgbClr val="101828"/>
                </a:solidFill>
                <a:latin typeface="Helvetica Neue"/>
                <a:ea typeface="Helvetica Neue"/>
                <a:cs typeface="Helvetica Neue"/>
              </a:rPr>
              <a:t>Local fallback and saved brief audit</a:t>
            </a:r>
          </a:p>
        </p:txBody>
      </p:sp>
      <p:sp>
        <p:nvSpPr>
          <p:cNvPr id="30" name="">
            <a:extLst xmlns:a="http://schemas.openxmlformats.org/drawingml/2006/main">
              <a:ext uri="{FF2B5EF4-FFF2-40B4-BE49-F238E27FC236}">
                <a16:creationId xmlns:a16="http://schemas.microsoft.com/office/drawing/2014/main" id="{329B6427-62E0-482F-97D3-63254171C4AD}"/>
              </a:ext>
            </a:extLst>
          </p:cNvPr>
          <p:cNvSpPr>
            <a:spLocks xmlns:a="http://schemas.openxmlformats.org/drawingml/2006/main" noGrp="1"/>
          </p:cNvSpPr>
          <p:nvPr/>
        </p:nvSpPr>
        <p:spPr>
          <a:xfrm xmlns:a="http://schemas.openxmlformats.org/drawingml/2006/main">
            <a:off x="1104900" y="4819650"/>
            <a:ext cx="4152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r>
              <a:t/>
            </a:r>
          </a:p>
        </p:txBody>
      </p:sp>
      <p:sp>
        <p:nvSpPr>
          <p:cNvPr id="31" name="">
            <a:extLst xmlns:a="http://schemas.openxmlformats.org/drawingml/2006/main">
              <a:ext uri="{FF2B5EF4-FFF2-40B4-BE49-F238E27FC236}">
                <a16:creationId xmlns:a16="http://schemas.microsoft.com/office/drawing/2014/main" id="{A1275246-0B5E-4F0B-B242-D7609D78ED76}"/>
              </a:ext>
            </a:extLst>
          </p:cNvPr>
          <p:cNvSpPr>
            <a:spLocks xmlns:a="http://schemas.openxmlformats.org/drawingml/2006/main" noGrp="1"/>
          </p:cNvSpPr>
          <p:nvPr/>
        </p:nvSpPr>
        <p:spPr>
          <a:xfrm xmlns:a="http://schemas.openxmlformats.org/drawingml/2006/main">
            <a:off x="685800" y="5010150"/>
            <a:ext cx="266700" cy="266700"/>
          </a:xfrm>
          <a:prstGeom xmlns:a="http://schemas.openxmlformats.org/drawingml/2006/main" prst="roundRect">
            <a:avLst>
              <a:gd name="adj" fmla="val 50000"/>
            </a:avLst>
          </a:prstGeom>
          <a:solidFill xmlns:a="http://schemas.openxmlformats.org/drawingml/2006/main">
            <a:srgbClr val="EAF7F1"/>
          </a:solidFill>
          <a:ln xmlns:a="http://schemas.openxmlformats.org/drawingml/2006/main" w="9525">
            <a:solidFill>
              <a:srgbClr val="A9DFC9"/>
            </a:solidFill>
            <a:prstDash val="solid"/>
          </a:ln>
        </p:spPr>
      </p:sp>
      <p:sp>
        <p:nvSpPr>
          <p:cNvPr id="32" name="">
            <a:extLst xmlns:a="http://schemas.openxmlformats.org/drawingml/2006/main">
              <a:ext uri="{FF2B5EF4-FFF2-40B4-BE49-F238E27FC236}">
                <a16:creationId xmlns:a16="http://schemas.microsoft.com/office/drawing/2014/main" id="{6C41D126-2EA4-4C3D-9014-D4D23225A808}"/>
              </a:ext>
            </a:extLst>
          </p:cNvPr>
          <p:cNvSpPr>
            <a:spLocks xmlns:a="http://schemas.openxmlformats.org/drawingml/2006/main" noGrp="1"/>
          </p:cNvSpPr>
          <p:nvPr/>
        </p:nvSpPr>
        <p:spPr>
          <a:xfrm xmlns:a="http://schemas.openxmlformats.org/drawingml/2006/main">
            <a:off x="742950" y="5038725"/>
            <a:ext cx="171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a:solidFill>
                  <a:srgbClr val="247A59"/>
                </a:solidFill>
                <a:latin typeface="Helvetica Neue"/>
                <a:ea typeface="Helvetica Neue"/>
                <a:cs typeface="Helvetica Neue"/>
              </a:defRPr>
            </a:pPr>
            <a:r>
              <a:rPr sz="1200" b="1">
                <a:solidFill>
                  <a:srgbClr val="247A59"/>
                </a:solidFill>
                <a:latin typeface="Helvetica Neue"/>
                <a:ea typeface="Helvetica Neue"/>
                <a:cs typeface="Helvetica Neue"/>
              </a:rPr>
              <a:t>✓</a:t>
            </a:r>
          </a:p>
        </p:txBody>
      </p:sp>
      <p:sp>
        <p:nvSpPr>
          <p:cNvPr id="33" name="">
            <a:extLst xmlns:a="http://schemas.openxmlformats.org/drawingml/2006/main">
              <a:ext uri="{FF2B5EF4-FFF2-40B4-BE49-F238E27FC236}">
                <a16:creationId xmlns:a16="http://schemas.microsoft.com/office/drawing/2014/main" id="{169CFD4E-A3DD-411F-AA46-D2AC09D3F113}"/>
              </a:ext>
            </a:extLst>
          </p:cNvPr>
          <p:cNvSpPr>
            <a:spLocks xmlns:a="http://schemas.openxmlformats.org/drawingml/2006/main" noGrp="1"/>
          </p:cNvSpPr>
          <p:nvPr/>
        </p:nvSpPr>
        <p:spPr>
          <a:xfrm xmlns:a="http://schemas.openxmlformats.org/drawingml/2006/main">
            <a:off x="1104900" y="4991100"/>
            <a:ext cx="4152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7544"/>
          </a:bodyPr>
          <a:lstStyle xmlns:a="http://schemas.openxmlformats.org/drawingml/2006/main"/>
          <a:p xmlns:a="http://schemas.openxmlformats.org/drawingml/2006/main">
            <a:pPr algn="l">
              <a:buNone/>
              <a:defRPr sz="1425" b="1">
                <a:solidFill>
                  <a:srgbClr val="101828"/>
                </a:solidFill>
                <a:latin typeface="Helvetica Neue"/>
                <a:ea typeface="Helvetica Neue"/>
                <a:cs typeface="Helvetica Neue"/>
              </a:defRPr>
            </a:pPr>
            <a:r>
              <a:rPr sz="1425" b="1">
                <a:solidFill>
                  <a:srgbClr val="101828"/>
                </a:solidFill>
                <a:latin typeface="Helvetica Neue"/>
                <a:ea typeface="Helvetica Neue"/>
                <a:cs typeface="Helvetica Neue"/>
              </a:rPr>
              <a:t>Good, Bad, and Wrong feedback capture</a:t>
            </a:r>
          </a:p>
        </p:txBody>
      </p:sp>
      <p:sp>
        <p:nvSpPr>
          <p:cNvPr id="34" name="">
            <a:extLst xmlns:a="http://schemas.openxmlformats.org/drawingml/2006/main">
              <a:ext uri="{FF2B5EF4-FFF2-40B4-BE49-F238E27FC236}">
                <a16:creationId xmlns:a16="http://schemas.microsoft.com/office/drawing/2014/main" id="{56CE7EB0-3F29-4D3F-B156-2B90B615CA29}"/>
              </a:ext>
            </a:extLst>
          </p:cNvPr>
          <p:cNvSpPr>
            <a:spLocks xmlns:a="http://schemas.openxmlformats.org/drawingml/2006/main" noGrp="1"/>
          </p:cNvSpPr>
          <p:nvPr/>
        </p:nvSpPr>
        <p:spPr>
          <a:xfrm xmlns:a="http://schemas.openxmlformats.org/drawingml/2006/main">
            <a:off x="1104900" y="5276850"/>
            <a:ext cx="4152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r>
              <a:t/>
            </a:r>
          </a:p>
        </p:txBody>
      </p:sp>
      <p:sp>
        <p:nvSpPr>
          <p:cNvPr id="35" name="">
            <a:extLst xmlns:a="http://schemas.openxmlformats.org/drawingml/2006/main">
              <a:ext uri="{FF2B5EF4-FFF2-40B4-BE49-F238E27FC236}">
                <a16:creationId xmlns:a16="http://schemas.microsoft.com/office/drawing/2014/main" id="{0156AC8E-7EBB-4E1C-AAA4-F25E6FA6D44C}"/>
              </a:ext>
            </a:extLst>
          </p:cNvPr>
          <p:cNvSpPr>
            <a:spLocks xmlns:a="http://schemas.openxmlformats.org/drawingml/2006/main" noGrp="1"/>
          </p:cNvSpPr>
          <p:nvPr/>
        </p:nvSpPr>
        <p:spPr>
          <a:xfrm xmlns:a="http://schemas.openxmlformats.org/drawingml/2006/main">
            <a:off x="5905500" y="1485900"/>
            <a:ext cx="5410200" cy="4343400"/>
          </a:xfrm>
          <a:prstGeom xmlns:a="http://schemas.openxmlformats.org/drawingml/2006/main" prst="roundRect">
            <a:avLst>
              <a:gd name="adj" fmla="val 3947"/>
            </a:avLst>
          </a:prstGeom>
          <a:solidFill xmlns:a="http://schemas.openxmlformats.org/drawingml/2006/main">
            <a:srgbClr val="F2F4F7"/>
          </a:solidFill>
          <a:ln xmlns:a="http://schemas.openxmlformats.org/drawingml/2006/main" w="9525">
            <a:solidFill>
              <a:srgbClr val="D0D5DD"/>
            </a:solidFill>
            <a:prstDash val="solid"/>
          </a:ln>
        </p:spPr>
      </p:sp>
      <p:sp>
        <p:nvSpPr>
          <p:cNvPr id="36" name="">
            <a:extLst xmlns:a="http://schemas.openxmlformats.org/drawingml/2006/main">
              <a:ext uri="{FF2B5EF4-FFF2-40B4-BE49-F238E27FC236}">
                <a16:creationId xmlns:a16="http://schemas.microsoft.com/office/drawing/2014/main" id="{E8036B47-CE47-4FF4-A4D9-7A84C31F61DD}"/>
              </a:ext>
            </a:extLst>
          </p:cNvPr>
          <p:cNvSpPr>
            <a:spLocks xmlns:a="http://schemas.openxmlformats.org/drawingml/2006/main" noGrp="1"/>
          </p:cNvSpPr>
          <p:nvPr/>
        </p:nvSpPr>
        <p:spPr>
          <a:xfrm xmlns:a="http://schemas.openxmlformats.org/drawingml/2006/main">
            <a:off x="6134100" y="1714500"/>
            <a:ext cx="1809750" cy="285750"/>
          </a:xfrm>
          <a:prstGeom xmlns:a="http://schemas.openxmlformats.org/drawingml/2006/main" prst="roundRect">
            <a:avLst>
              <a:gd name="adj" fmla="val 50000"/>
            </a:avLst>
          </a:prstGeom>
          <a:solidFill xmlns:a="http://schemas.openxmlformats.org/drawingml/2006/main">
            <a:srgbClr val="FFF4E5"/>
          </a:solidFill>
          <a:ln xmlns:a="http://schemas.openxmlformats.org/drawingml/2006/main" w="9525">
            <a:solidFill>
              <a:srgbClr val="F4C78E"/>
            </a:solidFill>
            <a:prstDash val="solid"/>
          </a:ln>
        </p:spPr>
      </p:sp>
      <p:sp>
        <p:nvSpPr>
          <p:cNvPr id="37" name="">
            <a:extLst xmlns:a="http://schemas.openxmlformats.org/drawingml/2006/main">
              <a:ext uri="{FF2B5EF4-FFF2-40B4-BE49-F238E27FC236}">
                <a16:creationId xmlns:a16="http://schemas.microsoft.com/office/drawing/2014/main" id="{1B2960AD-1486-4714-AECB-C71207E1F6A4}"/>
              </a:ext>
            </a:extLst>
          </p:cNvPr>
          <p:cNvSpPr>
            <a:spLocks xmlns:a="http://schemas.openxmlformats.org/drawingml/2006/main" noGrp="1"/>
          </p:cNvSpPr>
          <p:nvPr/>
        </p:nvSpPr>
        <p:spPr>
          <a:xfrm xmlns:a="http://schemas.openxmlformats.org/drawingml/2006/main">
            <a:off x="6248400" y="1762125"/>
            <a:ext cx="15811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7857"/>
          </a:bodyPr>
          <a:lstStyle xmlns:a="http://schemas.openxmlformats.org/drawingml/2006/main"/>
          <a:p xmlns:a="http://schemas.openxmlformats.org/drawingml/2006/main">
            <a:pPr algn="l">
              <a:buNone/>
              <a:defRPr sz="1050" b="1">
                <a:solidFill>
                  <a:srgbClr val="B54708"/>
                </a:solidFill>
                <a:latin typeface="Helvetica Neue"/>
                <a:ea typeface="Helvetica Neue"/>
                <a:cs typeface="Helvetica Neue"/>
              </a:defRPr>
            </a:pPr>
            <a:r>
              <a:rPr sz="1050" b="1">
                <a:solidFill>
                  <a:srgbClr val="B54708"/>
                </a:solidFill>
                <a:latin typeface="Helvetica Neue"/>
                <a:ea typeface="Helvetica Neue"/>
                <a:cs typeface="Helvetica Neue"/>
              </a:rPr>
              <a:t>DEMO BOUNDARY</a:t>
            </a:r>
          </a:p>
        </p:txBody>
      </p:sp>
      <p:sp>
        <p:nvSpPr>
          <p:cNvPr id="38" name="">
            <a:extLst xmlns:a="http://schemas.openxmlformats.org/drawingml/2006/main">
              <a:ext uri="{FF2B5EF4-FFF2-40B4-BE49-F238E27FC236}">
                <a16:creationId xmlns:a16="http://schemas.microsoft.com/office/drawing/2014/main" id="{618CDEE8-CD3F-4DBF-BC1C-80E64C71901F}"/>
              </a:ext>
            </a:extLst>
          </p:cNvPr>
          <p:cNvSpPr>
            <a:spLocks xmlns:a="http://schemas.openxmlformats.org/drawingml/2006/main" noGrp="1"/>
          </p:cNvSpPr>
          <p:nvPr/>
        </p:nvSpPr>
        <p:spPr>
          <a:xfrm xmlns:a="http://schemas.openxmlformats.org/drawingml/2006/main">
            <a:off x="6153150" y="2362200"/>
            <a:ext cx="76200" cy="76200"/>
          </a:xfrm>
          <a:prstGeom xmlns:a="http://schemas.openxmlformats.org/drawingml/2006/main" prst="roundRect">
            <a:avLst>
              <a:gd name="adj" fmla="val 50000"/>
            </a:avLst>
          </a:prstGeom>
          <a:solidFill xmlns:a="http://schemas.openxmlformats.org/drawingml/2006/main">
            <a:srgbClr val="B54708"/>
          </a:solidFill>
          <a:ln xmlns:a="http://schemas.openxmlformats.org/drawingml/2006/main" w="9525">
            <a:solidFill>
              <a:srgbClr val="B54708"/>
            </a:solidFill>
            <a:prstDash val="solid"/>
          </a:ln>
        </p:spPr>
      </p:sp>
      <p:sp>
        <p:nvSpPr>
          <p:cNvPr id="39" name="">
            <a:extLst xmlns:a="http://schemas.openxmlformats.org/drawingml/2006/main">
              <a:ext uri="{FF2B5EF4-FFF2-40B4-BE49-F238E27FC236}">
                <a16:creationId xmlns:a16="http://schemas.microsoft.com/office/drawing/2014/main" id="{098399F3-F9ED-4555-80C8-6CDC3A2ABF5E}"/>
              </a:ext>
            </a:extLst>
          </p:cNvPr>
          <p:cNvSpPr>
            <a:spLocks xmlns:a="http://schemas.openxmlformats.org/drawingml/2006/main" noGrp="1"/>
          </p:cNvSpPr>
          <p:nvPr/>
        </p:nvSpPr>
        <p:spPr>
          <a:xfrm xmlns:a="http://schemas.openxmlformats.org/drawingml/2006/main">
            <a:off x="6362700" y="2295525"/>
            <a:ext cx="4648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344054"/>
                </a:solidFill>
                <a:latin typeface="Helvetica Neue"/>
                <a:ea typeface="Helvetica Neue"/>
                <a:cs typeface="Helvetica Neue"/>
              </a:defRPr>
            </a:pPr>
            <a:r>
              <a:rPr sz="1275" b="0">
                <a:solidFill>
                  <a:srgbClr val="344054"/>
                </a:solidFill>
                <a:latin typeface="Helvetica Neue"/>
                <a:ea typeface="Helvetica Neue"/>
                <a:cs typeface="Helvetica Neue"/>
              </a:rPr>
              <a:t>10 fictional companies</a:t>
            </a:r>
          </a:p>
        </p:txBody>
      </p:sp>
      <p:sp>
        <p:nvSpPr>
          <p:cNvPr id="40" name="">
            <a:extLst xmlns:a="http://schemas.openxmlformats.org/drawingml/2006/main">
              <a:ext uri="{FF2B5EF4-FFF2-40B4-BE49-F238E27FC236}">
                <a16:creationId xmlns:a16="http://schemas.microsoft.com/office/drawing/2014/main" id="{08A9FCAC-8F3D-418D-B6A1-F89B906AF108}"/>
              </a:ext>
            </a:extLst>
          </p:cNvPr>
          <p:cNvSpPr>
            <a:spLocks xmlns:a="http://schemas.openxmlformats.org/drawingml/2006/main" noGrp="1"/>
          </p:cNvSpPr>
          <p:nvPr/>
        </p:nvSpPr>
        <p:spPr>
          <a:xfrm xmlns:a="http://schemas.openxmlformats.org/drawingml/2006/main">
            <a:off x="6153150" y="2819400"/>
            <a:ext cx="76200" cy="76200"/>
          </a:xfrm>
          <a:prstGeom xmlns:a="http://schemas.openxmlformats.org/drawingml/2006/main" prst="roundRect">
            <a:avLst>
              <a:gd name="adj" fmla="val 50000"/>
            </a:avLst>
          </a:prstGeom>
          <a:solidFill xmlns:a="http://schemas.openxmlformats.org/drawingml/2006/main">
            <a:srgbClr val="B54708"/>
          </a:solidFill>
          <a:ln xmlns:a="http://schemas.openxmlformats.org/drawingml/2006/main" w="9525">
            <a:solidFill>
              <a:srgbClr val="B54708"/>
            </a:solidFill>
            <a:prstDash val="solid"/>
          </a:ln>
        </p:spPr>
      </p:sp>
      <p:sp>
        <p:nvSpPr>
          <p:cNvPr id="41" name="">
            <a:extLst xmlns:a="http://schemas.openxmlformats.org/drawingml/2006/main">
              <a:ext uri="{FF2B5EF4-FFF2-40B4-BE49-F238E27FC236}">
                <a16:creationId xmlns:a16="http://schemas.microsoft.com/office/drawing/2014/main" id="{B89A3839-1695-415E-ADAD-3FC055C1718F}"/>
              </a:ext>
            </a:extLst>
          </p:cNvPr>
          <p:cNvSpPr>
            <a:spLocks xmlns:a="http://schemas.openxmlformats.org/drawingml/2006/main" noGrp="1"/>
          </p:cNvSpPr>
          <p:nvPr/>
        </p:nvSpPr>
        <p:spPr>
          <a:xfrm xmlns:a="http://schemas.openxmlformats.org/drawingml/2006/main">
            <a:off x="6362700" y="2752725"/>
            <a:ext cx="4648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344054"/>
                </a:solidFill>
                <a:latin typeface="Helvetica Neue"/>
                <a:ea typeface="Helvetica Neue"/>
                <a:cs typeface="Helvetica Neue"/>
              </a:defRPr>
            </a:pPr>
            <a:r>
              <a:rPr sz="1275" b="0">
                <a:solidFill>
                  <a:srgbClr val="344054"/>
                </a:solidFill>
                <a:latin typeface="Helvetica Neue"/>
                <a:ea typeface="Helvetica Neue"/>
                <a:cs typeface="Helvetica Neue"/>
              </a:rPr>
              <a:t>Deterministic templates remain as the failure fallback</a:t>
            </a:r>
          </a:p>
        </p:txBody>
      </p:sp>
      <p:sp>
        <p:nvSpPr>
          <p:cNvPr id="42" name="">
            <a:extLst xmlns:a="http://schemas.openxmlformats.org/drawingml/2006/main">
              <a:ext uri="{FF2B5EF4-FFF2-40B4-BE49-F238E27FC236}">
                <a16:creationId xmlns:a16="http://schemas.microsoft.com/office/drawing/2014/main" id="{94BA962C-B23C-46F0-B890-7AF5E8CC6C28}"/>
              </a:ext>
            </a:extLst>
          </p:cNvPr>
          <p:cNvSpPr>
            <a:spLocks xmlns:a="http://schemas.openxmlformats.org/drawingml/2006/main" noGrp="1"/>
          </p:cNvSpPr>
          <p:nvPr/>
        </p:nvSpPr>
        <p:spPr>
          <a:xfrm xmlns:a="http://schemas.openxmlformats.org/drawingml/2006/main">
            <a:off x="6153150" y="3276600"/>
            <a:ext cx="76200" cy="76200"/>
          </a:xfrm>
          <a:prstGeom xmlns:a="http://schemas.openxmlformats.org/drawingml/2006/main" prst="roundRect">
            <a:avLst>
              <a:gd name="adj" fmla="val 50000"/>
            </a:avLst>
          </a:prstGeom>
          <a:solidFill xmlns:a="http://schemas.openxmlformats.org/drawingml/2006/main">
            <a:srgbClr val="B54708"/>
          </a:solidFill>
          <a:ln xmlns:a="http://schemas.openxmlformats.org/drawingml/2006/main" w="9525">
            <a:solidFill>
              <a:srgbClr val="B54708"/>
            </a:solidFill>
            <a:prstDash val="solid"/>
          </a:ln>
        </p:spPr>
      </p:sp>
      <p:sp>
        <p:nvSpPr>
          <p:cNvPr id="43" name="">
            <a:extLst xmlns:a="http://schemas.openxmlformats.org/drawingml/2006/main">
              <a:ext uri="{FF2B5EF4-FFF2-40B4-BE49-F238E27FC236}">
                <a16:creationId xmlns:a16="http://schemas.microsoft.com/office/drawing/2014/main" id="{9536D5C5-691D-46F0-83CE-BA6B9D8F4D6D}"/>
              </a:ext>
            </a:extLst>
          </p:cNvPr>
          <p:cNvSpPr>
            <a:spLocks xmlns:a="http://schemas.openxmlformats.org/drawingml/2006/main" noGrp="1"/>
          </p:cNvSpPr>
          <p:nvPr/>
        </p:nvSpPr>
        <p:spPr>
          <a:xfrm xmlns:a="http://schemas.openxmlformats.org/drawingml/2006/main">
            <a:off x="6362700" y="3209925"/>
            <a:ext cx="4648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344054"/>
                </a:solidFill>
                <a:latin typeface="Helvetica Neue"/>
                <a:ea typeface="Helvetica Neue"/>
                <a:cs typeface="Helvetica Neue"/>
              </a:defRPr>
            </a:pPr>
            <a:r>
              <a:rPr sz="1275" b="0">
                <a:solidFill>
                  <a:srgbClr val="344054"/>
                </a:solidFill>
                <a:latin typeface="Helvetica Neue"/>
                <a:ea typeface="Helvetica Neue"/>
                <a:cs typeface="Helvetica Neue"/>
              </a:rPr>
              <a:t>Static files, local PostgreSQL, and a fixed date</a:t>
            </a:r>
          </a:p>
        </p:txBody>
      </p:sp>
      <p:sp>
        <p:nvSpPr>
          <p:cNvPr id="44" name="">
            <a:extLst xmlns:a="http://schemas.openxmlformats.org/drawingml/2006/main">
              <a:ext uri="{FF2B5EF4-FFF2-40B4-BE49-F238E27FC236}">
                <a16:creationId xmlns:a16="http://schemas.microsoft.com/office/drawing/2014/main" id="{7B9A0E37-CACC-4EFD-836F-5AF091EEEDCF}"/>
              </a:ext>
            </a:extLst>
          </p:cNvPr>
          <p:cNvSpPr>
            <a:spLocks xmlns:a="http://schemas.openxmlformats.org/drawingml/2006/main" noGrp="1"/>
          </p:cNvSpPr>
          <p:nvPr/>
        </p:nvSpPr>
        <p:spPr>
          <a:xfrm xmlns:a="http://schemas.openxmlformats.org/drawingml/2006/main">
            <a:off x="6153150" y="3733800"/>
            <a:ext cx="76200" cy="76200"/>
          </a:xfrm>
          <a:prstGeom xmlns:a="http://schemas.openxmlformats.org/drawingml/2006/main" prst="roundRect">
            <a:avLst>
              <a:gd name="adj" fmla="val 50000"/>
            </a:avLst>
          </a:prstGeom>
          <a:solidFill xmlns:a="http://schemas.openxmlformats.org/drawingml/2006/main">
            <a:srgbClr val="B54708"/>
          </a:solidFill>
          <a:ln xmlns:a="http://schemas.openxmlformats.org/drawingml/2006/main" w="9525">
            <a:solidFill>
              <a:srgbClr val="B54708"/>
            </a:solidFill>
            <a:prstDash val="solid"/>
          </a:ln>
        </p:spPr>
      </p:sp>
      <p:sp>
        <p:nvSpPr>
          <p:cNvPr id="45" name="">
            <a:extLst xmlns:a="http://schemas.openxmlformats.org/drawingml/2006/main">
              <a:ext uri="{FF2B5EF4-FFF2-40B4-BE49-F238E27FC236}">
                <a16:creationId xmlns:a16="http://schemas.microsoft.com/office/drawing/2014/main" id="{D0354110-2FB3-4544-9BF4-14A3A73CAB95}"/>
              </a:ext>
            </a:extLst>
          </p:cNvPr>
          <p:cNvSpPr>
            <a:spLocks xmlns:a="http://schemas.openxmlformats.org/drawingml/2006/main" noGrp="1"/>
          </p:cNvSpPr>
          <p:nvPr/>
        </p:nvSpPr>
        <p:spPr>
          <a:xfrm xmlns:a="http://schemas.openxmlformats.org/drawingml/2006/main">
            <a:off x="6362700" y="3667125"/>
            <a:ext cx="4648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344054"/>
                </a:solidFill>
                <a:latin typeface="Helvetica Neue"/>
                <a:ea typeface="Helvetica Neue"/>
                <a:cs typeface="Helvetica Neue"/>
              </a:defRPr>
            </a:pPr>
            <a:r>
              <a:rPr sz="1275" b="0">
                <a:solidFill>
                  <a:srgbClr val="344054"/>
                </a:solidFill>
                <a:latin typeface="Helvetica Neue"/>
                <a:ea typeface="Helvetica Neue"/>
                <a:cs typeface="Helvetica Neue"/>
              </a:rPr>
              <a:t>OpenAI embeddings use fictional demo text</a:t>
            </a:r>
          </a:p>
        </p:txBody>
      </p:sp>
      <p:sp>
        <p:nvSpPr>
          <p:cNvPr id="46" name="">
            <a:extLst xmlns:a="http://schemas.openxmlformats.org/drawingml/2006/main">
              <a:ext uri="{FF2B5EF4-FFF2-40B4-BE49-F238E27FC236}">
                <a16:creationId xmlns:a16="http://schemas.microsoft.com/office/drawing/2014/main" id="{5B4CB06D-F6A2-46FA-B243-DA73C237D185}"/>
              </a:ext>
            </a:extLst>
          </p:cNvPr>
          <p:cNvSpPr>
            <a:spLocks xmlns:a="http://schemas.openxmlformats.org/drawingml/2006/main" noGrp="1"/>
          </p:cNvSpPr>
          <p:nvPr/>
        </p:nvSpPr>
        <p:spPr>
          <a:xfrm xmlns:a="http://schemas.openxmlformats.org/drawingml/2006/main">
            <a:off x="6153150" y="4191000"/>
            <a:ext cx="76200" cy="76200"/>
          </a:xfrm>
          <a:prstGeom xmlns:a="http://schemas.openxmlformats.org/drawingml/2006/main" prst="roundRect">
            <a:avLst>
              <a:gd name="adj" fmla="val 50000"/>
            </a:avLst>
          </a:prstGeom>
          <a:solidFill xmlns:a="http://schemas.openxmlformats.org/drawingml/2006/main">
            <a:srgbClr val="B54708"/>
          </a:solidFill>
          <a:ln xmlns:a="http://schemas.openxmlformats.org/drawingml/2006/main" w="9525">
            <a:solidFill>
              <a:srgbClr val="B54708"/>
            </a:solidFill>
            <a:prstDash val="solid"/>
          </a:ln>
        </p:spPr>
      </p:sp>
      <p:sp>
        <p:nvSpPr>
          <p:cNvPr id="47" name="">
            <a:extLst xmlns:a="http://schemas.openxmlformats.org/drawingml/2006/main">
              <a:ext uri="{FF2B5EF4-FFF2-40B4-BE49-F238E27FC236}">
                <a16:creationId xmlns:a16="http://schemas.microsoft.com/office/drawing/2014/main" id="{63C9D8ED-30F2-4E3E-AD9B-AB4BC1017ABE}"/>
              </a:ext>
            </a:extLst>
          </p:cNvPr>
          <p:cNvSpPr>
            <a:spLocks xmlns:a="http://schemas.openxmlformats.org/drawingml/2006/main" noGrp="1"/>
          </p:cNvSpPr>
          <p:nvPr/>
        </p:nvSpPr>
        <p:spPr>
          <a:xfrm xmlns:a="http://schemas.openxmlformats.org/drawingml/2006/main">
            <a:off x="6362700" y="4124325"/>
            <a:ext cx="4648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344054"/>
                </a:solidFill>
                <a:latin typeface="Helvetica Neue"/>
                <a:ea typeface="Helvetica Neue"/>
                <a:cs typeface="Helvetica Neue"/>
              </a:defRPr>
            </a:pPr>
            <a:r>
              <a:rPr sz="1275" b="0">
                <a:solidFill>
                  <a:srgbClr val="344054"/>
                </a:solidFill>
                <a:latin typeface="Helvetica Neue"/>
                <a:ea typeface="Helvetica Neue"/>
                <a:cs typeface="Helvetica Neue"/>
              </a:rPr>
              <a:t>gpt-5.6-sol and Responses API are active for briefs</a:t>
            </a:r>
          </a:p>
        </p:txBody>
      </p:sp>
      <p:sp>
        <p:nvSpPr>
          <p:cNvPr id="48" name="">
            <a:extLst xmlns:a="http://schemas.openxmlformats.org/drawingml/2006/main">
              <a:ext uri="{FF2B5EF4-FFF2-40B4-BE49-F238E27FC236}">
                <a16:creationId xmlns:a16="http://schemas.microsoft.com/office/drawing/2014/main" id="{F8355BF9-C88B-4D73-8354-02EE9009C6D6}"/>
              </a:ext>
            </a:extLst>
          </p:cNvPr>
          <p:cNvSpPr>
            <a:spLocks xmlns:a="http://schemas.openxmlformats.org/drawingml/2006/main" noGrp="1"/>
          </p:cNvSpPr>
          <p:nvPr/>
        </p:nvSpPr>
        <p:spPr>
          <a:xfrm xmlns:a="http://schemas.openxmlformats.org/drawingml/2006/main">
            <a:off x="6153150" y="4648200"/>
            <a:ext cx="76200" cy="76200"/>
          </a:xfrm>
          <a:prstGeom xmlns:a="http://schemas.openxmlformats.org/drawingml/2006/main" prst="roundRect">
            <a:avLst>
              <a:gd name="adj" fmla="val 50000"/>
            </a:avLst>
          </a:prstGeom>
          <a:solidFill xmlns:a="http://schemas.openxmlformats.org/drawingml/2006/main">
            <a:srgbClr val="B54708"/>
          </a:solidFill>
          <a:ln xmlns:a="http://schemas.openxmlformats.org/drawingml/2006/main" w="9525">
            <a:solidFill>
              <a:srgbClr val="B54708"/>
            </a:solidFill>
            <a:prstDash val="solid"/>
          </a:ln>
        </p:spPr>
      </p:sp>
      <p:sp>
        <p:nvSpPr>
          <p:cNvPr id="49" name="">
            <a:extLst xmlns:a="http://schemas.openxmlformats.org/drawingml/2006/main">
              <a:ext uri="{FF2B5EF4-FFF2-40B4-BE49-F238E27FC236}">
                <a16:creationId xmlns:a16="http://schemas.microsoft.com/office/drawing/2014/main" id="{42E33EBE-F4FC-4200-BE63-29A8041FA684}"/>
              </a:ext>
            </a:extLst>
          </p:cNvPr>
          <p:cNvSpPr>
            <a:spLocks xmlns:a="http://schemas.openxmlformats.org/drawingml/2006/main" noGrp="1"/>
          </p:cNvSpPr>
          <p:nvPr/>
        </p:nvSpPr>
        <p:spPr>
          <a:xfrm xmlns:a="http://schemas.openxmlformats.org/drawingml/2006/main">
            <a:off x="6362700" y="4581525"/>
            <a:ext cx="4648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344054"/>
                </a:solidFill>
                <a:latin typeface="Helvetica Neue"/>
                <a:ea typeface="Helvetica Neue"/>
                <a:cs typeface="Helvetica Neue"/>
              </a:defRPr>
            </a:pPr>
            <a:r>
              <a:rPr sz="1275" b="0">
                <a:solidFill>
                  <a:srgbClr val="344054"/>
                </a:solidFill>
                <a:latin typeface="Helvetica Neue"/>
                <a:ea typeface="Helvetica Neue"/>
                <a:cs typeface="Helvetica Neue"/>
              </a:rPr>
              <a:t>No live connectors or public-filings adapter</a:t>
            </a:r>
          </a:p>
        </p:txBody>
      </p:sp>
      <p:sp>
        <p:nvSpPr>
          <p:cNvPr id="50" name="">
            <a:extLst xmlns:a="http://schemas.openxmlformats.org/drawingml/2006/main">
              <a:ext uri="{FF2B5EF4-FFF2-40B4-BE49-F238E27FC236}">
                <a16:creationId xmlns:a16="http://schemas.microsoft.com/office/drawing/2014/main" id="{323388CF-7281-4DF1-A442-E2A94DB705AB}"/>
              </a:ext>
            </a:extLst>
          </p:cNvPr>
          <p:cNvSpPr>
            <a:spLocks xmlns:a="http://schemas.openxmlformats.org/drawingml/2006/main" noGrp="1"/>
          </p:cNvSpPr>
          <p:nvPr/>
        </p:nvSpPr>
        <p:spPr>
          <a:xfrm xmlns:a="http://schemas.openxmlformats.org/drawingml/2006/main">
            <a:off x="6153150" y="5105400"/>
            <a:ext cx="76200" cy="76200"/>
          </a:xfrm>
          <a:prstGeom xmlns:a="http://schemas.openxmlformats.org/drawingml/2006/main" prst="roundRect">
            <a:avLst>
              <a:gd name="adj" fmla="val 50000"/>
            </a:avLst>
          </a:prstGeom>
          <a:solidFill xmlns:a="http://schemas.openxmlformats.org/drawingml/2006/main">
            <a:srgbClr val="B54708"/>
          </a:solidFill>
          <a:ln xmlns:a="http://schemas.openxmlformats.org/drawingml/2006/main" w="9525">
            <a:solidFill>
              <a:srgbClr val="B54708"/>
            </a:solidFill>
            <a:prstDash val="solid"/>
          </a:ln>
        </p:spPr>
      </p:sp>
      <p:sp>
        <p:nvSpPr>
          <p:cNvPr id="51" name="">
            <a:extLst xmlns:a="http://schemas.openxmlformats.org/drawingml/2006/main">
              <a:ext uri="{FF2B5EF4-FFF2-40B4-BE49-F238E27FC236}">
                <a16:creationId xmlns:a16="http://schemas.microsoft.com/office/drawing/2014/main" id="{AEEC6469-660B-4EB7-877D-E5FB3002905F}"/>
              </a:ext>
            </a:extLst>
          </p:cNvPr>
          <p:cNvSpPr>
            <a:spLocks xmlns:a="http://schemas.openxmlformats.org/drawingml/2006/main" noGrp="1"/>
          </p:cNvSpPr>
          <p:nvPr/>
        </p:nvSpPr>
        <p:spPr>
          <a:xfrm xmlns:a="http://schemas.openxmlformats.org/drawingml/2006/main">
            <a:off x="6362700" y="5038725"/>
            <a:ext cx="4648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8"/>
          </a:bodyPr>
          <a:lstStyle xmlns:a="http://schemas.openxmlformats.org/drawingml/2006/main"/>
          <a:p xmlns:a="http://schemas.openxmlformats.org/drawingml/2006/main">
            <a:pPr algn="l">
              <a:buNone/>
              <a:defRPr sz="1275" b="0">
                <a:solidFill>
                  <a:srgbClr val="344054"/>
                </a:solidFill>
                <a:latin typeface="Helvetica Neue"/>
                <a:ea typeface="Helvetica Neue"/>
                <a:cs typeface="Helvetica Neue"/>
              </a:defRPr>
            </a:pPr>
            <a:r>
              <a:rPr sz="1275" b="0">
                <a:solidFill>
                  <a:srgbClr val="344054"/>
                </a:solidFill>
                <a:latin typeface="Helvetica Neue"/>
                <a:ea typeface="Helvetica Neue"/>
                <a:cs typeface="Helvetica Neue"/>
              </a:rPr>
              <a:t>No sign-in, access rules, schedule, webhook, or reviewer screen</a:t>
            </a:r>
          </a:p>
        </p:txBody>
      </p:sp>
      <p:sp>
        <p:nvSpPr>
          <p:cNvPr id="52" name="">
            <a:extLst xmlns:a="http://schemas.openxmlformats.org/drawingml/2006/main">
              <a:ext uri="{FF2B5EF4-FFF2-40B4-BE49-F238E27FC236}">
                <a16:creationId xmlns:a16="http://schemas.microsoft.com/office/drawing/2014/main" id="{AC2FCDB2-CCE1-4F3F-81ED-1CB32DC4F115}"/>
              </a:ext>
            </a:extLst>
          </p:cNvPr>
          <p:cNvSpPr>
            <a:spLocks xmlns:a="http://schemas.openxmlformats.org/drawingml/2006/main" noGrp="1"/>
          </p:cNvSpPr>
          <p:nvPr/>
        </p:nvSpPr>
        <p:spPr>
          <a:xfrm xmlns:a="http://schemas.openxmlformats.org/drawingml/2006/main">
            <a:off x="6134100" y="54102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375"/>
          </a:bodyPr>
          <a:lstStyle xmlns:a="http://schemas.openxmlformats.org/drawingml/2006/main"/>
          <a:p xmlns:a="http://schemas.openxmlformats.org/drawingml/2006/main">
            <a:pPr algn="l">
              <a:buNone/>
              <a:defRPr sz="1200" b="1">
                <a:solidFill>
                  <a:srgbClr val="B54708"/>
                </a:solidFill>
                <a:latin typeface="Helvetica Neue"/>
                <a:ea typeface="Helvetica Neue"/>
                <a:cs typeface="Helvetica Neue"/>
              </a:defRPr>
            </a:pPr>
            <a:r>
              <a:rPr sz="1200" b="1">
                <a:solidFill>
                  <a:srgbClr val="B54708"/>
                </a:solidFill>
                <a:latin typeface="Helvetica Neue"/>
                <a:ea typeface="Helvetica Neue"/>
                <a:cs typeface="Helvetica Neue"/>
              </a:rPr>
              <a:t>OpenAI receives fictional text only. It receives no raw JSON or unrelated company records.</a:t>
            </a:r>
          </a:p>
        </p:txBody>
      </p:sp>
    </p:spTree>
    <p:extLst>
      <p:ext uri="{BB962C8B-B14F-4D97-AF65-F5344CB8AC3E}">
        <p14:creationId xmlns:p14="http://schemas.microsoft.com/office/powerpoint/2010/main" val="26650751"/>
      </p:ext>
    </p:extLst>
  </p:cSld>
</p:sld>
</file>

<file path=ppt/slides/slide12.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B48A21C7-CE03-4BC4-898F-2976E47ACF7A}"/>
              </a:ext>
            </a:extLst>
          </p:cNvPr>
          <p:cNvSpPr>
            <a:spLocks xmlns:a="http://schemas.openxmlformats.org/drawingml/2006/main" noGrp="1"/>
          </p:cNvSpPr>
          <p:nvPr/>
        </p:nvSpPr>
        <p:spPr>
          <a:xfrm xmlns:a="http://schemas.openxmlformats.org/drawingml/2006/main">
            <a:off x="457200" y="361950"/>
            <a:ext cx="1104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554"/>
          </a:bodyPr>
          <a:lstStyle xmlns:a="http://schemas.openxmlformats.org/drawingml/2006/main"/>
          <a:p xmlns:a="http://schemas.openxmlformats.org/drawingml/2006/main">
            <a:pPr algn="l">
              <a:buNone/>
              <a:defRPr sz="3000" b="1">
                <a:solidFill>
                  <a:srgbClr val="101828"/>
                </a:solidFill>
                <a:latin typeface="Helvetica Neue"/>
                <a:ea typeface="Helvetica Neue"/>
                <a:cs typeface="Helvetica Neue"/>
              </a:defRPr>
            </a:pPr>
            <a:r>
              <a:rPr sz="3000" b="1">
                <a:solidFill>
                  <a:srgbClr val="101828"/>
                </a:solidFill>
                <a:latin typeface="Helvetica Neue"/>
                <a:ea typeface="Helvetica Neue"/>
                <a:cs typeface="Helvetica Neue"/>
              </a:rPr>
              <a:t>How would two people reach an internal pilot in eight weeks?</a:t>
            </a:r>
          </a:p>
        </p:txBody>
      </p:sp>
      <p:sp>
        <p:nvSpPr>
          <p:cNvPr id="2" name="">
            <a:extLst xmlns:a="http://schemas.openxmlformats.org/drawingml/2006/main">
              <a:ext uri="{FF2B5EF4-FFF2-40B4-BE49-F238E27FC236}">
                <a16:creationId xmlns:a16="http://schemas.microsoft.com/office/drawing/2014/main" id="{09B70858-4A35-41AC-BA4E-97385B0D613C}"/>
              </a:ext>
            </a:extLst>
          </p:cNvPr>
          <p:cNvSpPr>
            <a:spLocks xmlns:a="http://schemas.openxmlformats.org/drawingml/2006/main" noGrp="1"/>
          </p:cNvSpPr>
          <p:nvPr/>
        </p:nvSpPr>
        <p:spPr>
          <a:xfrm xmlns:a="http://schemas.openxmlformats.org/drawingml/2006/main">
            <a:off x="457200" y="6324600"/>
            <a:ext cx="108585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3" name="">
            <a:extLst xmlns:a="http://schemas.openxmlformats.org/drawingml/2006/main">
              <a:ext uri="{FF2B5EF4-FFF2-40B4-BE49-F238E27FC236}">
                <a16:creationId xmlns:a16="http://schemas.microsoft.com/office/drawing/2014/main" id="{6932D16F-3E93-49C8-A083-E6763E45CD17}"/>
              </a:ext>
            </a:extLst>
          </p:cNvPr>
          <p:cNvSpPr>
            <a:spLocks xmlns:a="http://schemas.openxmlformats.org/drawingml/2006/main" noGrp="1"/>
          </p:cNvSpPr>
          <p:nvPr/>
        </p:nvSpPr>
        <p:spPr>
          <a:xfrm xmlns:a="http://schemas.openxmlformats.org/drawingml/2006/main">
            <a:off x="10744200" y="645795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1">
                <a:solidFill>
                  <a:srgbClr val="667085"/>
                </a:solidFill>
                <a:latin typeface="Helvetica Neue"/>
                <a:ea typeface="Helvetica Neue"/>
                <a:cs typeface="Helvetica Neue"/>
              </a:defRPr>
            </a:pPr>
            <a:r>
              <a:rPr sz="975" b="1">
                <a:solidFill>
                  <a:srgbClr val="667085"/>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F6AA8900-8D83-489E-AEA5-4DF6BA250739}"/>
              </a:ext>
            </a:extLst>
          </p:cNvPr>
          <p:cNvSpPr>
            <a:spLocks xmlns:a="http://schemas.openxmlformats.org/drawingml/2006/main" noGrp="1"/>
          </p:cNvSpPr>
          <p:nvPr/>
        </p:nvSpPr>
        <p:spPr>
          <a:xfrm xmlns:a="http://schemas.openxmlformats.org/drawingml/2006/main">
            <a:off x="1057275" y="2324100"/>
            <a:ext cx="9001125" cy="0"/>
          </a:xfrm>
          <a:prstGeom xmlns:a="http://schemas.openxmlformats.org/drawingml/2006/main" prst="line">
            <a:avLst/>
          </a:prstGeom>
          <a:noFill xmlns:a="http://schemas.openxmlformats.org/drawingml/2006/main"/>
          <a:ln xmlns:a="http://schemas.openxmlformats.org/drawingml/2006/main" w="28575">
            <a:solidFill>
              <a:srgbClr val="9CB5D5"/>
            </a:solidFill>
            <a:prstDash val="solid"/>
          </a:ln>
        </p:spPr>
      </p:sp>
      <p:sp>
        <p:nvSpPr>
          <p:cNvPr id="5" name="">
            <a:extLst xmlns:a="http://schemas.openxmlformats.org/drawingml/2006/main">
              <a:ext uri="{FF2B5EF4-FFF2-40B4-BE49-F238E27FC236}">
                <a16:creationId xmlns:a16="http://schemas.microsoft.com/office/drawing/2014/main" id="{20A0FB16-277A-415B-B0A6-8E73C2815796}"/>
              </a:ext>
            </a:extLst>
          </p:cNvPr>
          <p:cNvSpPr>
            <a:spLocks xmlns:a="http://schemas.openxmlformats.org/drawingml/2006/main" noGrp="1"/>
          </p:cNvSpPr>
          <p:nvPr/>
        </p:nvSpPr>
        <p:spPr>
          <a:xfrm xmlns:a="http://schemas.openxmlformats.org/drawingml/2006/main">
            <a:off x="1476375" y="2171700"/>
            <a:ext cx="228600" cy="228600"/>
          </a:xfrm>
          <a:prstGeom xmlns:a="http://schemas.openxmlformats.org/drawingml/2006/main" prst="roundRect">
            <a:avLst>
              <a:gd name="adj" fmla="val 50000"/>
            </a:avLst>
          </a:prstGeom>
          <a:solidFill xmlns:a="http://schemas.openxmlformats.org/drawingml/2006/main">
            <a:srgbClr val="315F9F"/>
          </a:solidFill>
          <a:ln xmlns:a="http://schemas.openxmlformats.org/drawingml/2006/main" w="9525">
            <a:solidFill>
              <a:srgbClr val="315F9F"/>
            </a:solidFill>
            <a:prstDash val="solid"/>
          </a:ln>
        </p:spPr>
      </p:sp>
      <p:sp>
        <p:nvSpPr>
          <p:cNvPr id="6" name="">
            <a:extLst xmlns:a="http://schemas.openxmlformats.org/drawingml/2006/main">
              <a:ext uri="{FF2B5EF4-FFF2-40B4-BE49-F238E27FC236}">
                <a16:creationId xmlns:a16="http://schemas.microsoft.com/office/drawing/2014/main" id="{03049BA2-9994-4F21-94A5-B41BE3149E4E}"/>
              </a:ext>
            </a:extLst>
          </p:cNvPr>
          <p:cNvSpPr>
            <a:spLocks xmlns:a="http://schemas.openxmlformats.org/drawingml/2006/main" noGrp="1"/>
          </p:cNvSpPr>
          <p:nvPr/>
        </p:nvSpPr>
        <p:spPr>
          <a:xfrm xmlns:a="http://schemas.openxmlformats.org/drawingml/2006/main">
            <a:off x="457200" y="2609850"/>
            <a:ext cx="2457450" cy="2476500"/>
          </a:xfrm>
          <a:prstGeom xmlns:a="http://schemas.openxmlformats.org/drawingml/2006/main" prst="roundRect">
            <a:avLst>
              <a:gd name="adj" fmla="val 6202"/>
            </a:avLst>
          </a:prstGeom>
          <a:solidFill xmlns:a="http://schemas.openxmlformats.org/drawingml/2006/main">
            <a:srgbClr val="FFFFFF"/>
          </a:solidFill>
          <a:ln xmlns:a="http://schemas.openxmlformats.org/drawingml/2006/main" w="9525">
            <a:solidFill>
              <a:srgbClr val="D0D5DD"/>
            </a:solidFill>
            <a:prstDash val="solid"/>
          </a:ln>
        </p:spPr>
      </p:sp>
      <p:sp>
        <p:nvSpPr>
          <p:cNvPr id="7" name="">
            <a:extLst xmlns:a="http://schemas.openxmlformats.org/drawingml/2006/main">
              <a:ext uri="{FF2B5EF4-FFF2-40B4-BE49-F238E27FC236}">
                <a16:creationId xmlns:a16="http://schemas.microsoft.com/office/drawing/2014/main" id="{1F65D154-8701-4349-9AFF-7DA254E7C5CA}"/>
              </a:ext>
            </a:extLst>
          </p:cNvPr>
          <p:cNvSpPr>
            <a:spLocks xmlns:a="http://schemas.openxmlformats.org/drawingml/2006/main" noGrp="1"/>
          </p:cNvSpPr>
          <p:nvPr/>
        </p:nvSpPr>
        <p:spPr>
          <a:xfrm xmlns:a="http://schemas.openxmlformats.org/drawingml/2006/main">
            <a:off x="666750" y="28384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l">
              <a:buNone/>
              <a:defRPr sz="1050" b="1">
                <a:solidFill>
                  <a:srgbClr val="315F9F"/>
                </a:solidFill>
                <a:latin typeface="Helvetica Neue"/>
                <a:ea typeface="Helvetica Neue"/>
                <a:cs typeface="Helvetica Neue"/>
              </a:defRPr>
            </a:pPr>
            <a:r>
              <a:rPr sz="900" b="1">
                <a:solidFill>
                  <a:srgbClr val="315F9F"/>
                </a:solidFill>
                <a:latin typeface="Helvetica Neue"/>
                <a:ea typeface="Helvetica Neue"/>
                <a:cs typeface="Helvetica Neue"/>
              </a:rPr>
              <a:t>PROPOSED · WEEKS 1–2</a:t>
            </a:r>
          </a:p>
        </p:txBody>
      </p:sp>
      <p:sp>
        <p:nvSpPr>
          <p:cNvPr id="8" name="">
            <a:extLst xmlns:a="http://schemas.openxmlformats.org/drawingml/2006/main">
              <a:ext uri="{FF2B5EF4-FFF2-40B4-BE49-F238E27FC236}">
                <a16:creationId xmlns:a16="http://schemas.microsoft.com/office/drawing/2014/main" id="{C64C3219-E26B-4090-B4AC-9A1D699133EC}"/>
              </a:ext>
            </a:extLst>
          </p:cNvPr>
          <p:cNvSpPr>
            <a:spLocks xmlns:a="http://schemas.openxmlformats.org/drawingml/2006/main" noGrp="1"/>
          </p:cNvSpPr>
          <p:nvPr/>
        </p:nvSpPr>
        <p:spPr>
          <a:xfrm xmlns:a="http://schemas.openxmlformats.org/drawingml/2006/main">
            <a:off x="666750" y="3209925"/>
            <a:ext cx="2038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939"/>
          </a:bodyPr>
          <a:lstStyle xmlns:a="http://schemas.openxmlformats.org/drawingml/2006/main"/>
          <a:p xmlns:a="http://schemas.openxmlformats.org/drawingml/2006/main">
            <a:pPr algn="l">
              <a:buNone/>
              <a:defRPr sz="1650" b="1">
                <a:solidFill>
                  <a:srgbClr val="101828"/>
                </a:solidFill>
                <a:latin typeface="Helvetica Neue"/>
                <a:ea typeface="Helvetica Neue"/>
                <a:cs typeface="Helvetica Neue"/>
              </a:defRPr>
            </a:pPr>
            <a:r>
              <a:rPr sz="1650" b="1">
                <a:solidFill>
                  <a:srgbClr val="101828"/>
                </a:solidFill>
                <a:latin typeface="Helvetica Neue"/>
                <a:ea typeface="Helvetica Neue"/>
                <a:cs typeface="Helvetica Neue"/>
              </a:rPr>
              <a:t>Build one source-to-brief path</a:t>
            </a:r>
          </a:p>
        </p:txBody>
      </p:sp>
      <p:sp>
        <p:nvSpPr>
          <p:cNvPr id="9" name="">
            <a:extLst xmlns:a="http://schemas.openxmlformats.org/drawingml/2006/main">
              <a:ext uri="{FF2B5EF4-FFF2-40B4-BE49-F238E27FC236}">
                <a16:creationId xmlns:a16="http://schemas.microsoft.com/office/drawing/2014/main" id="{EF101CF2-9E15-45BA-BEE2-9A4742BA8580}"/>
              </a:ext>
            </a:extLst>
          </p:cNvPr>
          <p:cNvSpPr>
            <a:spLocks xmlns:a="http://schemas.openxmlformats.org/drawingml/2006/main" noGrp="1"/>
          </p:cNvSpPr>
          <p:nvPr/>
        </p:nvSpPr>
        <p:spPr>
          <a:xfrm xmlns:a="http://schemas.openxmlformats.org/drawingml/2006/main">
            <a:off x="666750" y="3876675"/>
            <a:ext cx="20383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344054"/>
                </a:solidFill>
                <a:latin typeface="Helvetica Neue"/>
                <a:ea typeface="Helvetica Neue"/>
                <a:cs typeface="Helvetica Neue"/>
              </a:defRPr>
            </a:pPr>
            <a:r>
              <a:rPr sz="1275" b="0">
                <a:solidFill>
                  <a:srgbClr val="344054"/>
                </a:solidFill>
                <a:latin typeface="Helvetica Neue"/>
                <a:ea typeface="Helvetica Neue"/>
                <a:cs typeface="Helvetica Neue"/>
              </a:rPr>
              <a:t>Reference answers</a:t>
            </a:r>
          </a:p>
          <a:p xmlns:a="http://schemas.openxmlformats.org/drawingml/2006/main">
            <a:pPr algn="l">
              <a:buNone/>
              <a:defRPr sz="1275" b="0">
                <a:solidFill>
                  <a:srgbClr val="344054"/>
                </a:solidFill>
                <a:latin typeface="Helvetica Neue"/>
                <a:ea typeface="Helvetica Neue"/>
                <a:cs typeface="Helvetica Neue"/>
              </a:defRPr>
            </a:pPr>
            <a:r>
              <a:rPr sz="1275" b="0">
                <a:solidFill>
                  <a:srgbClr val="344054"/>
                </a:solidFill>
                <a:latin typeface="Helvetica Neue"/>
                <a:ea typeface="Helvetica Neue"/>
                <a:cs typeface="Helvetica Neue"/>
              </a:rPr>
              <a:t>Source contract</a:t>
            </a:r>
          </a:p>
          <a:p xmlns:a="http://schemas.openxmlformats.org/drawingml/2006/main">
            <a:pPr algn="l">
              <a:buNone/>
              <a:defRPr sz="1275" b="0">
                <a:solidFill>
                  <a:srgbClr val="344054"/>
                </a:solidFill>
                <a:latin typeface="Helvetica Neue"/>
                <a:ea typeface="Helvetica Neue"/>
                <a:cs typeface="Helvetica Neue"/>
              </a:defRPr>
            </a:pPr>
            <a:r>
              <a:rPr sz="1275" b="0">
                <a:solidFill>
                  <a:srgbClr val="344054"/>
                </a:solidFill>
                <a:latin typeface="Helvetica Neue"/>
                <a:ea typeface="Helvetica Neue"/>
                <a:cs typeface="Helvetica Neue"/>
              </a:rPr>
              <a:t>One-company slice</a:t>
            </a:r>
          </a:p>
        </p:txBody>
      </p:sp>
      <p:sp>
        <p:nvSpPr>
          <p:cNvPr id="10" name="">
            <a:extLst xmlns:a="http://schemas.openxmlformats.org/drawingml/2006/main">
              <a:ext uri="{FF2B5EF4-FFF2-40B4-BE49-F238E27FC236}">
                <a16:creationId xmlns:a16="http://schemas.microsoft.com/office/drawing/2014/main" id="{7AB3725A-8499-4B9F-902D-1547D90E1C54}"/>
              </a:ext>
            </a:extLst>
          </p:cNvPr>
          <p:cNvSpPr>
            <a:spLocks xmlns:a="http://schemas.openxmlformats.org/drawingml/2006/main" noGrp="1"/>
          </p:cNvSpPr>
          <p:nvPr/>
        </p:nvSpPr>
        <p:spPr>
          <a:xfrm xmlns:a="http://schemas.openxmlformats.org/drawingml/2006/main">
            <a:off x="4210050" y="2171700"/>
            <a:ext cx="228600" cy="228600"/>
          </a:xfrm>
          <a:prstGeom xmlns:a="http://schemas.openxmlformats.org/drawingml/2006/main" prst="roundRect">
            <a:avLst>
              <a:gd name="adj" fmla="val 50000"/>
            </a:avLst>
          </a:prstGeom>
          <a:solidFill xmlns:a="http://schemas.openxmlformats.org/drawingml/2006/main">
            <a:srgbClr val="315F9F"/>
          </a:solidFill>
          <a:ln xmlns:a="http://schemas.openxmlformats.org/drawingml/2006/main" w="9525">
            <a:solidFill>
              <a:srgbClr val="315F9F"/>
            </a:solidFill>
            <a:prstDash val="solid"/>
          </a:ln>
        </p:spPr>
      </p:sp>
      <p:sp>
        <p:nvSpPr>
          <p:cNvPr id="11" name="">
            <a:extLst xmlns:a="http://schemas.openxmlformats.org/drawingml/2006/main">
              <a:ext uri="{FF2B5EF4-FFF2-40B4-BE49-F238E27FC236}">
                <a16:creationId xmlns:a16="http://schemas.microsoft.com/office/drawing/2014/main" id="{913AFA8F-4649-4DC7-8F2E-34007EF14B85}"/>
              </a:ext>
            </a:extLst>
          </p:cNvPr>
          <p:cNvSpPr>
            <a:spLocks xmlns:a="http://schemas.openxmlformats.org/drawingml/2006/main" noGrp="1"/>
          </p:cNvSpPr>
          <p:nvPr/>
        </p:nvSpPr>
        <p:spPr>
          <a:xfrm xmlns:a="http://schemas.openxmlformats.org/drawingml/2006/main">
            <a:off x="3190875" y="2609850"/>
            <a:ext cx="2457450" cy="2476500"/>
          </a:xfrm>
          <a:prstGeom xmlns:a="http://schemas.openxmlformats.org/drawingml/2006/main" prst="roundRect">
            <a:avLst>
              <a:gd name="adj" fmla="val 6202"/>
            </a:avLst>
          </a:prstGeom>
          <a:solidFill xmlns:a="http://schemas.openxmlformats.org/drawingml/2006/main">
            <a:srgbClr val="E8F0FB"/>
          </a:solidFill>
          <a:ln xmlns:a="http://schemas.openxmlformats.org/drawingml/2006/main" w="9525">
            <a:solidFill>
              <a:srgbClr val="9CB5D5"/>
            </a:solidFill>
            <a:prstDash val="solid"/>
          </a:ln>
        </p:spPr>
      </p:sp>
      <p:sp>
        <p:nvSpPr>
          <p:cNvPr id="12" name="">
            <a:extLst xmlns:a="http://schemas.openxmlformats.org/drawingml/2006/main">
              <a:ext uri="{FF2B5EF4-FFF2-40B4-BE49-F238E27FC236}">
                <a16:creationId xmlns:a16="http://schemas.microsoft.com/office/drawing/2014/main" id="{FA8820BD-E9D8-4EE0-91EF-A42C6781D2EC}"/>
              </a:ext>
            </a:extLst>
          </p:cNvPr>
          <p:cNvSpPr>
            <a:spLocks xmlns:a="http://schemas.openxmlformats.org/drawingml/2006/main" noGrp="1"/>
          </p:cNvSpPr>
          <p:nvPr/>
        </p:nvSpPr>
        <p:spPr>
          <a:xfrm xmlns:a="http://schemas.openxmlformats.org/drawingml/2006/main">
            <a:off x="3400425" y="28384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315F9F"/>
                </a:solidFill>
                <a:latin typeface="Helvetica Neue"/>
                <a:ea typeface="Helvetica Neue"/>
                <a:cs typeface="Helvetica Neue"/>
              </a:defRPr>
            </a:pPr>
            <a:r>
              <a:rPr sz="1050" b="1">
                <a:solidFill>
                  <a:srgbClr val="315F9F"/>
                </a:solidFill>
                <a:latin typeface="Helvetica Neue"/>
                <a:ea typeface="Helvetica Neue"/>
                <a:cs typeface="Helvetica Neue"/>
              </a:rPr>
              <a:t>WEEKS 3–4</a:t>
            </a:r>
          </a:p>
        </p:txBody>
      </p:sp>
      <p:sp>
        <p:nvSpPr>
          <p:cNvPr id="13" name="">
            <a:extLst xmlns:a="http://schemas.openxmlformats.org/drawingml/2006/main">
              <a:ext uri="{FF2B5EF4-FFF2-40B4-BE49-F238E27FC236}">
                <a16:creationId xmlns:a16="http://schemas.microsoft.com/office/drawing/2014/main" id="{D25C1FD4-F4A1-44A7-A1AC-BFCA9E9B513A}"/>
              </a:ext>
            </a:extLst>
          </p:cNvPr>
          <p:cNvSpPr>
            <a:spLocks xmlns:a="http://schemas.openxmlformats.org/drawingml/2006/main" noGrp="1"/>
          </p:cNvSpPr>
          <p:nvPr/>
        </p:nvSpPr>
        <p:spPr>
          <a:xfrm xmlns:a="http://schemas.openxmlformats.org/drawingml/2006/main">
            <a:off x="3400425" y="3209925"/>
            <a:ext cx="2038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939"/>
          </a:bodyPr>
          <a:lstStyle xmlns:a="http://schemas.openxmlformats.org/drawingml/2006/main"/>
          <a:p xmlns:a="http://schemas.openxmlformats.org/drawingml/2006/main">
            <a:pPr algn="l">
              <a:buNone/>
              <a:defRPr sz="1650" b="1">
                <a:solidFill>
                  <a:srgbClr val="101828"/>
                </a:solidFill>
                <a:latin typeface="Helvetica Neue"/>
                <a:ea typeface="Helvetica Neue"/>
                <a:cs typeface="Helvetica Neue"/>
              </a:defRPr>
            </a:pPr>
            <a:r>
              <a:rPr sz="1650" b="1">
                <a:solidFill>
                  <a:srgbClr val="101828"/>
                </a:solidFill>
                <a:latin typeface="Helvetica Neue"/>
                <a:ea typeface="Helvetica Neue"/>
                <a:cs typeface="Helvetica Neue"/>
              </a:rPr>
              <a:t>Connect one approved source</a:t>
            </a:r>
          </a:p>
        </p:txBody>
      </p:sp>
      <p:sp>
        <p:nvSpPr>
          <p:cNvPr id="14" name="">
            <a:extLst xmlns:a="http://schemas.openxmlformats.org/drawingml/2006/main">
              <a:ext uri="{FF2B5EF4-FFF2-40B4-BE49-F238E27FC236}">
                <a16:creationId xmlns:a16="http://schemas.microsoft.com/office/drawing/2014/main" id="{D6F8C5E2-CF81-455B-A842-DB2C25910D2D}"/>
              </a:ext>
            </a:extLst>
          </p:cNvPr>
          <p:cNvSpPr>
            <a:spLocks xmlns:a="http://schemas.openxmlformats.org/drawingml/2006/main" noGrp="1"/>
          </p:cNvSpPr>
          <p:nvPr/>
        </p:nvSpPr>
        <p:spPr>
          <a:xfrm xmlns:a="http://schemas.openxmlformats.org/drawingml/2006/main">
            <a:off x="3400425" y="3876675"/>
            <a:ext cx="20383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344054"/>
                </a:solidFill>
                <a:latin typeface="Helvetica Neue"/>
                <a:ea typeface="Helvetica Neue"/>
                <a:cs typeface="Helvetica Neue"/>
              </a:defRPr>
            </a:pPr>
            <a:r>
              <a:rPr sz="1275" b="0">
                <a:solidFill>
                  <a:srgbClr val="344054"/>
                </a:solidFill>
                <a:latin typeface="Helvetica Neue"/>
                <a:ea typeface="Helvetica Neue"/>
                <a:cs typeface="Helvetica Neue"/>
              </a:rPr>
              <a:t>Read-only connector</a:t>
            </a:r>
          </a:p>
          <a:p xmlns:a="http://schemas.openxmlformats.org/drawingml/2006/main">
            <a:pPr algn="l">
              <a:buNone/>
              <a:defRPr sz="1275" b="0">
                <a:solidFill>
                  <a:srgbClr val="344054"/>
                </a:solidFill>
                <a:latin typeface="Helvetica Neue"/>
                <a:ea typeface="Helvetica Neue"/>
                <a:cs typeface="Helvetica Neue"/>
              </a:defRPr>
            </a:pPr>
            <a:r>
              <a:rPr sz="1275" b="0">
                <a:solidFill>
                  <a:srgbClr val="344054"/>
                </a:solidFill>
                <a:latin typeface="Helvetica Neue"/>
                <a:ea typeface="Helvetica Neue"/>
                <a:cs typeface="Helvetica Neue"/>
              </a:rPr>
              <a:t>Incremental import</a:t>
            </a:r>
          </a:p>
          <a:p xmlns:a="http://schemas.openxmlformats.org/drawingml/2006/main">
            <a:pPr algn="l">
              <a:buNone/>
              <a:defRPr sz="1275" b="0">
                <a:solidFill>
                  <a:srgbClr val="344054"/>
                </a:solidFill>
                <a:latin typeface="Helvetica Neue"/>
                <a:ea typeface="Helvetica Neue"/>
                <a:cs typeface="Helvetica Neue"/>
              </a:defRPr>
            </a:pPr>
            <a:r>
              <a:rPr sz="1275" b="0">
                <a:solidFill>
                  <a:srgbClr val="344054"/>
                </a:solidFill>
                <a:latin typeface="Helvetica Neue"/>
                <a:ea typeface="Helvetica Neue"/>
                <a:cs typeface="Helvetica Neue"/>
              </a:rPr>
              <a:t>Company mapping check</a:t>
            </a:r>
          </a:p>
        </p:txBody>
      </p:sp>
      <p:sp>
        <p:nvSpPr>
          <p:cNvPr id="15" name="">
            <a:extLst xmlns:a="http://schemas.openxmlformats.org/drawingml/2006/main">
              <a:ext uri="{FF2B5EF4-FFF2-40B4-BE49-F238E27FC236}">
                <a16:creationId xmlns:a16="http://schemas.microsoft.com/office/drawing/2014/main" id="{008777A7-B3A0-4F97-B3F1-99FA5E7A7BC0}"/>
              </a:ext>
            </a:extLst>
          </p:cNvPr>
          <p:cNvSpPr>
            <a:spLocks xmlns:a="http://schemas.openxmlformats.org/drawingml/2006/main" noGrp="1"/>
          </p:cNvSpPr>
          <p:nvPr/>
        </p:nvSpPr>
        <p:spPr>
          <a:xfrm xmlns:a="http://schemas.openxmlformats.org/drawingml/2006/main">
            <a:off x="6943725" y="2171700"/>
            <a:ext cx="228600" cy="228600"/>
          </a:xfrm>
          <a:prstGeom xmlns:a="http://schemas.openxmlformats.org/drawingml/2006/main" prst="roundRect">
            <a:avLst>
              <a:gd name="adj" fmla="val 50000"/>
            </a:avLst>
          </a:prstGeom>
          <a:solidFill xmlns:a="http://schemas.openxmlformats.org/drawingml/2006/main">
            <a:srgbClr val="315F9F"/>
          </a:solidFill>
          <a:ln xmlns:a="http://schemas.openxmlformats.org/drawingml/2006/main" w="9525">
            <a:solidFill>
              <a:srgbClr val="315F9F"/>
            </a:solidFill>
            <a:prstDash val="solid"/>
          </a:ln>
        </p:spPr>
      </p:sp>
      <p:sp>
        <p:nvSpPr>
          <p:cNvPr id="16" name="">
            <a:extLst xmlns:a="http://schemas.openxmlformats.org/drawingml/2006/main">
              <a:ext uri="{FF2B5EF4-FFF2-40B4-BE49-F238E27FC236}">
                <a16:creationId xmlns:a16="http://schemas.microsoft.com/office/drawing/2014/main" id="{85A70862-469D-415E-AC13-2BF4C28F4C7B}"/>
              </a:ext>
            </a:extLst>
          </p:cNvPr>
          <p:cNvSpPr>
            <a:spLocks xmlns:a="http://schemas.openxmlformats.org/drawingml/2006/main" noGrp="1"/>
          </p:cNvSpPr>
          <p:nvPr/>
        </p:nvSpPr>
        <p:spPr>
          <a:xfrm xmlns:a="http://schemas.openxmlformats.org/drawingml/2006/main">
            <a:off x="5924550" y="2609850"/>
            <a:ext cx="2457450" cy="2476500"/>
          </a:xfrm>
          <a:prstGeom xmlns:a="http://schemas.openxmlformats.org/drawingml/2006/main" prst="roundRect">
            <a:avLst>
              <a:gd name="adj" fmla="val 6202"/>
            </a:avLst>
          </a:prstGeom>
          <a:solidFill xmlns:a="http://schemas.openxmlformats.org/drawingml/2006/main">
            <a:srgbClr val="FFFFFF"/>
          </a:solidFill>
          <a:ln xmlns:a="http://schemas.openxmlformats.org/drawingml/2006/main" w="9525">
            <a:solidFill>
              <a:srgbClr val="D0D5DD"/>
            </a:solidFill>
            <a:prstDash val="solid"/>
          </a:ln>
        </p:spPr>
      </p:sp>
      <p:sp>
        <p:nvSpPr>
          <p:cNvPr id="17" name="">
            <a:extLst xmlns:a="http://schemas.openxmlformats.org/drawingml/2006/main">
              <a:ext uri="{FF2B5EF4-FFF2-40B4-BE49-F238E27FC236}">
                <a16:creationId xmlns:a16="http://schemas.microsoft.com/office/drawing/2014/main" id="{2F40EFA4-B3E1-48E9-B048-F8D6BD7FAC88}"/>
              </a:ext>
            </a:extLst>
          </p:cNvPr>
          <p:cNvSpPr>
            <a:spLocks xmlns:a="http://schemas.openxmlformats.org/drawingml/2006/main" noGrp="1"/>
          </p:cNvSpPr>
          <p:nvPr/>
        </p:nvSpPr>
        <p:spPr>
          <a:xfrm xmlns:a="http://schemas.openxmlformats.org/drawingml/2006/main">
            <a:off x="6134100" y="28384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315F9F"/>
                </a:solidFill>
                <a:latin typeface="Helvetica Neue"/>
                <a:ea typeface="Helvetica Neue"/>
                <a:cs typeface="Helvetica Neue"/>
              </a:defRPr>
            </a:pPr>
            <a:r>
              <a:rPr sz="1050" b="1">
                <a:solidFill>
                  <a:srgbClr val="315F9F"/>
                </a:solidFill>
                <a:latin typeface="Helvetica Neue"/>
                <a:ea typeface="Helvetica Neue"/>
                <a:cs typeface="Helvetica Neue"/>
              </a:rPr>
              <a:t>WEEKS 5–6</a:t>
            </a:r>
          </a:p>
        </p:txBody>
      </p:sp>
      <p:sp>
        <p:nvSpPr>
          <p:cNvPr id="18" name="">
            <a:extLst xmlns:a="http://schemas.openxmlformats.org/drawingml/2006/main">
              <a:ext uri="{FF2B5EF4-FFF2-40B4-BE49-F238E27FC236}">
                <a16:creationId xmlns:a16="http://schemas.microsoft.com/office/drawing/2014/main" id="{F0D4F2DF-06EE-4F15-A3C6-C8D3A96833D5}"/>
              </a:ext>
            </a:extLst>
          </p:cNvPr>
          <p:cNvSpPr>
            <a:spLocks xmlns:a="http://schemas.openxmlformats.org/drawingml/2006/main" noGrp="1"/>
          </p:cNvSpPr>
          <p:nvPr/>
        </p:nvSpPr>
        <p:spPr>
          <a:xfrm xmlns:a="http://schemas.openxmlformats.org/drawingml/2006/main">
            <a:off x="6134100" y="3209925"/>
            <a:ext cx="2038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820"/>
          </a:bodyPr>
          <a:lstStyle xmlns:a="http://schemas.openxmlformats.org/drawingml/2006/main"/>
          <a:p xmlns:a="http://schemas.openxmlformats.org/drawingml/2006/main">
            <a:pPr algn="l">
              <a:buNone/>
              <a:defRPr sz="1650" b="1">
                <a:solidFill>
                  <a:srgbClr val="101828"/>
                </a:solidFill>
                <a:latin typeface="Helvetica Neue"/>
                <a:ea typeface="Helvetica Neue"/>
                <a:cs typeface="Helvetica Neue"/>
              </a:defRPr>
            </a:pPr>
            <a:r>
              <a:rPr sz="1650" b="1">
                <a:solidFill>
                  <a:srgbClr val="101828"/>
                </a:solidFill>
                <a:latin typeface="Helvetica Neue"/>
                <a:ea typeface="Helvetica Neue"/>
                <a:cs typeface="Helvetica Neue"/>
              </a:rPr>
              <a:t>Test retrieval and access</a:t>
            </a:r>
          </a:p>
        </p:txBody>
      </p:sp>
      <p:sp>
        <p:nvSpPr>
          <p:cNvPr id="19" name="">
            <a:extLst xmlns:a="http://schemas.openxmlformats.org/drawingml/2006/main">
              <a:ext uri="{FF2B5EF4-FFF2-40B4-BE49-F238E27FC236}">
                <a16:creationId xmlns:a16="http://schemas.microsoft.com/office/drawing/2014/main" id="{C5BE0EB4-D171-46D5-AE72-9983A065A3F5}"/>
              </a:ext>
            </a:extLst>
          </p:cNvPr>
          <p:cNvSpPr>
            <a:spLocks xmlns:a="http://schemas.openxmlformats.org/drawingml/2006/main" noGrp="1"/>
          </p:cNvSpPr>
          <p:nvPr/>
        </p:nvSpPr>
        <p:spPr>
          <a:xfrm xmlns:a="http://schemas.openxmlformats.org/drawingml/2006/main">
            <a:off x="6134100" y="3876675"/>
            <a:ext cx="20383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344054"/>
                </a:solidFill>
                <a:latin typeface="Helvetica Neue"/>
                <a:ea typeface="Helvetica Neue"/>
                <a:cs typeface="Helvetica Neue"/>
              </a:defRPr>
            </a:pPr>
            <a:r>
              <a:rPr sz="1275" b="0">
                <a:solidFill>
                  <a:srgbClr val="344054"/>
                </a:solidFill>
                <a:latin typeface="Helvetica Neue"/>
                <a:ea typeface="Helvetica Neue"/>
                <a:cs typeface="Helvetica Neue"/>
              </a:rPr>
              <a:t>Access checks</a:t>
            </a:r>
          </a:p>
          <a:p xmlns:a="http://schemas.openxmlformats.org/drawingml/2006/main">
            <a:pPr algn="l">
              <a:buNone/>
              <a:defRPr sz="1275" b="0">
                <a:solidFill>
                  <a:srgbClr val="344054"/>
                </a:solidFill>
                <a:latin typeface="Helvetica Neue"/>
                <a:ea typeface="Helvetica Neue"/>
                <a:cs typeface="Helvetica Neue"/>
              </a:defRPr>
            </a:pPr>
            <a:r>
              <a:rPr sz="1275" b="0">
                <a:solidFill>
                  <a:srgbClr val="344054"/>
                </a:solidFill>
                <a:latin typeface="Helvetica Neue"/>
                <a:ea typeface="Helvetica Neue"/>
                <a:cs typeface="Helvetica Neue"/>
              </a:rPr>
              <a:t>Evaluated retrieval</a:t>
            </a:r>
          </a:p>
          <a:p xmlns:a="http://schemas.openxmlformats.org/drawingml/2006/main">
            <a:pPr algn="l">
              <a:buNone/>
              <a:defRPr sz="1275" b="0">
                <a:solidFill>
                  <a:srgbClr val="344054"/>
                </a:solidFill>
                <a:latin typeface="Helvetica Neue"/>
                <a:ea typeface="Helvetica Neue"/>
                <a:cs typeface="Helvetica Neue"/>
              </a:defRPr>
            </a:pPr>
            <a:r>
              <a:rPr sz="1275" b="0">
                <a:solidFill>
                  <a:srgbClr val="344054"/>
                </a:solidFill>
                <a:latin typeface="Helvetica Neue"/>
                <a:ea typeface="Helvetica Neue"/>
                <a:cs typeface="Helvetica Neue"/>
              </a:rPr>
              <a:t>Generation and fallback evaluation</a:t>
            </a:r>
          </a:p>
        </p:txBody>
      </p:sp>
      <p:sp>
        <p:nvSpPr>
          <p:cNvPr id="20" name="">
            <a:extLst xmlns:a="http://schemas.openxmlformats.org/drawingml/2006/main">
              <a:ext uri="{FF2B5EF4-FFF2-40B4-BE49-F238E27FC236}">
                <a16:creationId xmlns:a16="http://schemas.microsoft.com/office/drawing/2014/main" id="{1A32A016-7301-49CD-B90A-7D57F4D0D685}"/>
              </a:ext>
            </a:extLst>
          </p:cNvPr>
          <p:cNvSpPr>
            <a:spLocks xmlns:a="http://schemas.openxmlformats.org/drawingml/2006/main" noGrp="1"/>
          </p:cNvSpPr>
          <p:nvPr/>
        </p:nvSpPr>
        <p:spPr>
          <a:xfrm xmlns:a="http://schemas.openxmlformats.org/drawingml/2006/main">
            <a:off x="9677400" y="2171700"/>
            <a:ext cx="228600" cy="228600"/>
          </a:xfrm>
          <a:prstGeom xmlns:a="http://schemas.openxmlformats.org/drawingml/2006/main" prst="roundRect">
            <a:avLst>
              <a:gd name="adj" fmla="val 50000"/>
            </a:avLst>
          </a:prstGeom>
          <a:solidFill xmlns:a="http://schemas.openxmlformats.org/drawingml/2006/main">
            <a:srgbClr val="315F9F"/>
          </a:solidFill>
          <a:ln xmlns:a="http://schemas.openxmlformats.org/drawingml/2006/main" w="9525">
            <a:solidFill>
              <a:srgbClr val="315F9F"/>
            </a:solidFill>
            <a:prstDash val="solid"/>
          </a:ln>
        </p:spPr>
      </p:sp>
      <p:sp>
        <p:nvSpPr>
          <p:cNvPr id="21" name="">
            <a:extLst xmlns:a="http://schemas.openxmlformats.org/drawingml/2006/main">
              <a:ext uri="{FF2B5EF4-FFF2-40B4-BE49-F238E27FC236}">
                <a16:creationId xmlns:a16="http://schemas.microsoft.com/office/drawing/2014/main" id="{99FCB468-F74B-4357-9A52-E37407197048}"/>
              </a:ext>
            </a:extLst>
          </p:cNvPr>
          <p:cNvSpPr>
            <a:spLocks xmlns:a="http://schemas.openxmlformats.org/drawingml/2006/main" noGrp="1"/>
          </p:cNvSpPr>
          <p:nvPr/>
        </p:nvSpPr>
        <p:spPr>
          <a:xfrm xmlns:a="http://schemas.openxmlformats.org/drawingml/2006/main">
            <a:off x="8658225" y="2609850"/>
            <a:ext cx="2457450" cy="2476500"/>
          </a:xfrm>
          <a:prstGeom xmlns:a="http://schemas.openxmlformats.org/drawingml/2006/main" prst="roundRect">
            <a:avLst>
              <a:gd name="adj" fmla="val 6202"/>
            </a:avLst>
          </a:prstGeom>
          <a:solidFill xmlns:a="http://schemas.openxmlformats.org/drawingml/2006/main">
            <a:srgbClr val="E8F0FB"/>
          </a:solidFill>
          <a:ln xmlns:a="http://schemas.openxmlformats.org/drawingml/2006/main" w="9525">
            <a:solidFill>
              <a:srgbClr val="9CB5D5"/>
            </a:solidFill>
            <a:prstDash val="solid"/>
          </a:ln>
        </p:spPr>
      </p:sp>
      <p:sp>
        <p:nvSpPr>
          <p:cNvPr id="22" name="">
            <a:extLst xmlns:a="http://schemas.openxmlformats.org/drawingml/2006/main">
              <a:ext uri="{FF2B5EF4-FFF2-40B4-BE49-F238E27FC236}">
                <a16:creationId xmlns:a16="http://schemas.microsoft.com/office/drawing/2014/main" id="{6E06FC1C-4C98-4854-B230-8BE2949563A6}"/>
              </a:ext>
            </a:extLst>
          </p:cNvPr>
          <p:cNvSpPr>
            <a:spLocks xmlns:a="http://schemas.openxmlformats.org/drawingml/2006/main" noGrp="1"/>
          </p:cNvSpPr>
          <p:nvPr/>
        </p:nvSpPr>
        <p:spPr>
          <a:xfrm xmlns:a="http://schemas.openxmlformats.org/drawingml/2006/main">
            <a:off x="8867775" y="28384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315F9F"/>
                </a:solidFill>
                <a:latin typeface="Helvetica Neue"/>
                <a:ea typeface="Helvetica Neue"/>
                <a:cs typeface="Helvetica Neue"/>
              </a:defRPr>
            </a:pPr>
            <a:r>
              <a:rPr sz="1050" b="1">
                <a:solidFill>
                  <a:srgbClr val="315F9F"/>
                </a:solidFill>
                <a:latin typeface="Helvetica Neue"/>
                <a:ea typeface="Helvetica Neue"/>
                <a:cs typeface="Helvetica Neue"/>
              </a:rPr>
              <a:t>WEEKS 7–8</a:t>
            </a:r>
          </a:p>
        </p:txBody>
      </p:sp>
      <p:sp>
        <p:nvSpPr>
          <p:cNvPr id="23" name="">
            <a:extLst xmlns:a="http://schemas.openxmlformats.org/drawingml/2006/main">
              <a:ext uri="{FF2B5EF4-FFF2-40B4-BE49-F238E27FC236}">
                <a16:creationId xmlns:a16="http://schemas.microsoft.com/office/drawing/2014/main" id="{3F5B3583-FB90-4EDE-95F5-3AE6193A1599}"/>
              </a:ext>
            </a:extLst>
          </p:cNvPr>
          <p:cNvSpPr>
            <a:spLocks xmlns:a="http://schemas.openxmlformats.org/drawingml/2006/main" noGrp="1"/>
          </p:cNvSpPr>
          <p:nvPr/>
        </p:nvSpPr>
        <p:spPr>
          <a:xfrm xmlns:a="http://schemas.openxmlformats.org/drawingml/2006/main">
            <a:off x="8867775" y="3209925"/>
            <a:ext cx="2038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939"/>
          </a:bodyPr>
          <a:lstStyle xmlns:a="http://schemas.openxmlformats.org/drawingml/2006/main"/>
          <a:p xmlns:a="http://schemas.openxmlformats.org/drawingml/2006/main">
            <a:pPr algn="l">
              <a:buNone/>
              <a:defRPr sz="1650" b="1">
                <a:solidFill>
                  <a:srgbClr val="101828"/>
                </a:solidFill>
                <a:latin typeface="Helvetica Neue"/>
                <a:ea typeface="Helvetica Neue"/>
                <a:cs typeface="Helvetica Neue"/>
              </a:defRPr>
            </a:pPr>
            <a:r>
              <a:rPr sz="1650" b="1">
                <a:solidFill>
                  <a:srgbClr val="101828"/>
                </a:solidFill>
                <a:latin typeface="Helvetica Neue"/>
                <a:ea typeface="Helvetica Neue"/>
                <a:cs typeface="Helvetica Neue"/>
              </a:rPr>
              <a:t>Run the pilot and scale test</a:t>
            </a:r>
          </a:p>
        </p:txBody>
      </p:sp>
      <p:sp>
        <p:nvSpPr>
          <p:cNvPr id="24" name="">
            <a:extLst xmlns:a="http://schemas.openxmlformats.org/drawingml/2006/main">
              <a:ext uri="{FF2B5EF4-FFF2-40B4-BE49-F238E27FC236}">
                <a16:creationId xmlns:a16="http://schemas.microsoft.com/office/drawing/2014/main" id="{2A76C785-0332-4439-89D8-4C92564AB60F}"/>
              </a:ext>
            </a:extLst>
          </p:cNvPr>
          <p:cNvSpPr>
            <a:spLocks xmlns:a="http://schemas.openxmlformats.org/drawingml/2006/main" noGrp="1"/>
          </p:cNvSpPr>
          <p:nvPr/>
        </p:nvSpPr>
        <p:spPr>
          <a:xfrm xmlns:a="http://schemas.openxmlformats.org/drawingml/2006/main">
            <a:off x="8867775" y="3876675"/>
            <a:ext cx="20383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344054"/>
                </a:solidFill>
                <a:latin typeface="Helvetica Neue"/>
                <a:ea typeface="Helvetica Neue"/>
                <a:cs typeface="Helvetica Neue"/>
              </a:defRPr>
            </a:pPr>
            <a:r>
              <a:rPr sz="1275" b="0">
                <a:solidFill>
                  <a:srgbClr val="344054"/>
                </a:solidFill>
                <a:latin typeface="Helvetica Neue"/>
                <a:ea typeface="Helvetica Neue"/>
                <a:cs typeface="Helvetica Neue"/>
              </a:rPr>
              <a:t>Reconciliation</a:t>
            </a:r>
          </a:p>
          <a:p xmlns:a="http://schemas.openxmlformats.org/drawingml/2006/main">
            <a:pPr algn="l">
              <a:buNone/>
              <a:defRPr sz="1275" b="0">
                <a:solidFill>
                  <a:srgbClr val="344054"/>
                </a:solidFill>
                <a:latin typeface="Helvetica Neue"/>
                <a:ea typeface="Helvetica Neue"/>
                <a:cs typeface="Helvetica Neue"/>
              </a:defRPr>
            </a:pPr>
            <a:r>
              <a:rPr sz="1275" b="0">
                <a:solidFill>
                  <a:srgbClr val="344054"/>
                </a:solidFill>
                <a:latin typeface="Helvetica Neue"/>
                <a:ea typeface="Helvetica Neue"/>
                <a:cs typeface="Helvetica Neue"/>
              </a:rPr>
              <a:t>Monitoring</a:t>
            </a:r>
          </a:p>
          <a:p xmlns:a="http://schemas.openxmlformats.org/drawingml/2006/main">
            <a:pPr algn="l">
              <a:buNone/>
              <a:defRPr sz="1275" b="0">
                <a:solidFill>
                  <a:srgbClr val="344054"/>
                </a:solidFill>
                <a:latin typeface="Helvetica Neue"/>
                <a:ea typeface="Helvetica Neue"/>
                <a:cs typeface="Helvetica Neue"/>
              </a:defRPr>
            </a:pPr>
            <a:r>
              <a:rPr sz="1275" b="0">
                <a:solidFill>
                  <a:srgbClr val="344054"/>
                </a:solidFill>
                <a:latin typeface="Helvetica Neue"/>
                <a:ea typeface="Helvetica Neue"/>
                <a:cs typeface="Helvetica Neue"/>
              </a:rPr>
              <a:t>250-company test and principal pilot</a:t>
            </a:r>
          </a:p>
        </p:txBody>
      </p:sp>
      <p:sp>
        <p:nvSpPr>
          <p:cNvPr id="25" name="">
            <a:extLst xmlns:a="http://schemas.openxmlformats.org/drawingml/2006/main">
              <a:ext uri="{FF2B5EF4-FFF2-40B4-BE49-F238E27FC236}">
                <a16:creationId xmlns:a16="http://schemas.microsoft.com/office/drawing/2014/main" id="{8FD243BD-D1D8-4D5E-9080-89BCC3F63E9D}"/>
              </a:ext>
            </a:extLst>
          </p:cNvPr>
          <p:cNvSpPr>
            <a:spLocks xmlns:a="http://schemas.openxmlformats.org/drawingml/2006/main" noGrp="1"/>
          </p:cNvSpPr>
          <p:nvPr/>
        </p:nvSpPr>
        <p:spPr>
          <a:xfrm xmlns:a="http://schemas.openxmlformats.org/drawingml/2006/main">
            <a:off x="457200" y="5391150"/>
            <a:ext cx="10858500" cy="628650"/>
          </a:xfrm>
          <a:prstGeom xmlns:a="http://schemas.openxmlformats.org/drawingml/2006/main" prst="roundRect">
            <a:avLst>
              <a:gd name="adj" fmla="val 21212"/>
            </a:avLst>
          </a:prstGeom>
          <a:solidFill xmlns:a="http://schemas.openxmlformats.org/drawingml/2006/main">
            <a:srgbClr val="F2F4F7"/>
          </a:solidFill>
          <a:ln xmlns:a="http://schemas.openxmlformats.org/drawingml/2006/main" w="9525">
            <a:solidFill>
              <a:srgbClr val="D0D5DD"/>
            </a:solidFill>
            <a:prstDash val="solid"/>
          </a:ln>
        </p:spPr>
      </p:sp>
      <p:sp>
        <p:nvSpPr>
          <p:cNvPr id="26" name="">
            <a:extLst xmlns:a="http://schemas.openxmlformats.org/drawingml/2006/main">
              <a:ext uri="{FF2B5EF4-FFF2-40B4-BE49-F238E27FC236}">
                <a16:creationId xmlns:a16="http://schemas.microsoft.com/office/drawing/2014/main" id="{6DBF2437-14B5-4A46-9FC0-D460E78897FD}"/>
              </a:ext>
            </a:extLst>
          </p:cNvPr>
          <p:cNvSpPr>
            <a:spLocks xmlns:a="http://schemas.openxmlformats.org/drawingml/2006/main" noGrp="1"/>
          </p:cNvSpPr>
          <p:nvPr/>
        </p:nvSpPr>
        <p:spPr>
          <a:xfrm xmlns:a="http://schemas.openxmlformats.org/drawingml/2006/main">
            <a:off x="666750" y="55816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buNone/>
              <a:defRPr sz="1200" b="1">
                <a:solidFill>
                  <a:srgbClr val="101828"/>
                </a:solidFill>
                <a:latin typeface="Helvetica Neue"/>
                <a:ea typeface="Helvetica Neue"/>
                <a:cs typeface="Helvetica Neue"/>
              </a:defRPr>
            </a:pPr>
            <a:r>
              <a:rPr sz="1200" b="1">
                <a:solidFill>
                  <a:srgbClr val="101828"/>
                </a:solidFill>
                <a:latin typeface="Helvetica Neue"/>
                <a:ea typeface="Helvetica Neue"/>
                <a:cs typeface="Helvetica Neue"/>
              </a:rPr>
              <a:t>PERSON 1 · Product and application</a:t>
            </a:r>
          </a:p>
        </p:txBody>
      </p:sp>
      <p:sp>
        <p:nvSpPr>
          <p:cNvPr id="27" name="">
            <a:extLst xmlns:a="http://schemas.openxmlformats.org/drawingml/2006/main">
              <a:ext uri="{FF2B5EF4-FFF2-40B4-BE49-F238E27FC236}">
                <a16:creationId xmlns:a16="http://schemas.microsoft.com/office/drawing/2014/main" id="{918CF25F-52C6-4E33-BCCB-F49769B2D014}"/>
              </a:ext>
            </a:extLst>
          </p:cNvPr>
          <p:cNvSpPr>
            <a:spLocks xmlns:a="http://schemas.openxmlformats.org/drawingml/2006/main" noGrp="1"/>
          </p:cNvSpPr>
          <p:nvPr/>
        </p:nvSpPr>
        <p:spPr>
          <a:xfrm xmlns:a="http://schemas.openxmlformats.org/drawingml/2006/main">
            <a:off x="4476750" y="558165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buNone/>
              <a:defRPr sz="1200" b="1">
                <a:solidFill>
                  <a:srgbClr val="101828"/>
                </a:solidFill>
                <a:latin typeface="Helvetica Neue"/>
                <a:ea typeface="Helvetica Neue"/>
                <a:cs typeface="Helvetica Neue"/>
              </a:defRPr>
            </a:pPr>
            <a:r>
              <a:rPr sz="1200" b="1">
                <a:solidFill>
                  <a:srgbClr val="101828"/>
                </a:solidFill>
                <a:latin typeface="Helvetica Neue"/>
                <a:ea typeface="Helvetica Neue"/>
                <a:cs typeface="Helvetica Neue"/>
              </a:rPr>
              <a:t>PERSON 2 · Data and platform</a:t>
            </a:r>
          </a:p>
        </p:txBody>
      </p:sp>
      <p:sp>
        <p:nvSpPr>
          <p:cNvPr id="28" name="">
            <a:extLst xmlns:a="http://schemas.openxmlformats.org/drawingml/2006/main">
              <a:ext uri="{FF2B5EF4-FFF2-40B4-BE49-F238E27FC236}">
                <a16:creationId xmlns:a16="http://schemas.microsoft.com/office/drawing/2014/main" id="{DB910F2C-EF3B-4B5A-AC88-78FDB08FE0C6}"/>
              </a:ext>
            </a:extLst>
          </p:cNvPr>
          <p:cNvSpPr>
            <a:spLocks xmlns:a="http://schemas.openxmlformats.org/drawingml/2006/main" noGrp="1"/>
          </p:cNvSpPr>
          <p:nvPr/>
        </p:nvSpPr>
        <p:spPr>
          <a:xfrm xmlns:a="http://schemas.openxmlformats.org/drawingml/2006/main">
            <a:off x="7953375" y="55816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buNone/>
              <a:defRPr sz="1200" b="1">
                <a:solidFill>
                  <a:srgbClr val="315F9F"/>
                </a:solidFill>
                <a:latin typeface="Helvetica Neue"/>
                <a:ea typeface="Helvetica Neue"/>
                <a:cs typeface="Helvetica Neue"/>
              </a:defRPr>
            </a:pPr>
            <a:r>
              <a:rPr sz="1200" b="1">
                <a:solidFill>
                  <a:srgbClr val="315F9F"/>
                </a:solidFill>
                <a:latin typeface="Helvetica Neue"/>
                <a:ea typeface="Helvetica Neue"/>
                <a:cs typeface="Helvetica Neue"/>
              </a:rPr>
              <a:t>SHARED · Source contract and evaluation set</a:t>
            </a:r>
          </a:p>
        </p:txBody>
      </p:sp>
    </p:spTree>
    <p:extLst>
      <p:ext uri="{BB962C8B-B14F-4D97-AF65-F5344CB8AC3E}">
        <p14:creationId xmlns:p14="http://schemas.microsoft.com/office/powerpoint/2010/main" val="1276192043"/>
      </p:ext>
    </p:extLst>
  </p:cSld>
</p:sld>
</file>

<file path=ppt/slides/slide13.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7D7DB73-AD97-4C88-8C7A-A4A75DE3DDCC}"/>
              </a:ext>
            </a:extLst>
          </p:cNvPr>
          <p:cNvSpPr>
            <a:spLocks xmlns:a="http://schemas.openxmlformats.org/drawingml/2006/main" noGrp="1"/>
          </p:cNvSpPr>
          <p:nvPr/>
        </p:nvSpPr>
        <p:spPr>
          <a:xfrm xmlns:a="http://schemas.openxmlformats.org/drawingml/2006/main">
            <a:off x="457200" y="361950"/>
            <a:ext cx="1104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000" b="1">
                <a:solidFill>
                  <a:srgbClr val="101828"/>
                </a:solidFill>
                <a:latin typeface="Helvetica Neue"/>
                <a:ea typeface="Helvetica Neue"/>
                <a:cs typeface="Helvetica Neue"/>
              </a:defRPr>
            </a:pPr>
            <a:r>
              <a:rPr sz="3000" b="1">
                <a:solidFill>
                  <a:srgbClr val="101828"/>
                </a:solidFill>
                <a:latin typeface="Helvetica Neue"/>
                <a:ea typeface="Helvetica Neue"/>
                <a:cs typeface="Helvetica Neue"/>
              </a:rPr>
              <a:t>What do I de-risk first, and what changes with more time?</a:t>
            </a:r>
          </a:p>
        </p:txBody>
      </p:sp>
      <p:sp>
        <p:nvSpPr>
          <p:cNvPr id="2" name="">
            <a:extLst xmlns:a="http://schemas.openxmlformats.org/drawingml/2006/main">
              <a:ext uri="{FF2B5EF4-FFF2-40B4-BE49-F238E27FC236}">
                <a16:creationId xmlns:a16="http://schemas.microsoft.com/office/drawing/2014/main" id="{1148B56E-B5D3-40D5-84C7-3298B3E762FB}"/>
              </a:ext>
            </a:extLst>
          </p:cNvPr>
          <p:cNvSpPr>
            <a:spLocks xmlns:a="http://schemas.openxmlformats.org/drawingml/2006/main" noGrp="1"/>
          </p:cNvSpPr>
          <p:nvPr/>
        </p:nvSpPr>
        <p:spPr>
          <a:xfrm xmlns:a="http://schemas.openxmlformats.org/drawingml/2006/main">
            <a:off x="457200" y="6324600"/>
            <a:ext cx="10858500" cy="0"/>
          </a:xfrm>
          <a:prstGeom xmlns:a="http://schemas.openxmlformats.org/drawingml/2006/main" prst="line">
            <a:avLst/>
          </a:prstGeom>
          <a:noFill xmlns:a="http://schemas.openxmlformats.org/drawingml/2006/main"/>
          <a:ln xmlns:a="http://schemas.openxmlformats.org/drawingml/2006/main" w="9525">
            <a:solidFill>
              <a:srgbClr val="D0D5DD"/>
            </a:solidFill>
            <a:prstDash val="solid"/>
          </a:ln>
        </p:spPr>
      </p:sp>
      <p:sp>
        <p:nvSpPr>
          <p:cNvPr id="3" name="">
            <a:extLst xmlns:a="http://schemas.openxmlformats.org/drawingml/2006/main">
              <a:ext uri="{FF2B5EF4-FFF2-40B4-BE49-F238E27FC236}">
                <a16:creationId xmlns:a16="http://schemas.microsoft.com/office/drawing/2014/main" id="{AB2D00DE-0653-4BEF-8506-56714A0FA028}"/>
              </a:ext>
            </a:extLst>
          </p:cNvPr>
          <p:cNvSpPr>
            <a:spLocks xmlns:a="http://schemas.openxmlformats.org/drawingml/2006/main" noGrp="1"/>
          </p:cNvSpPr>
          <p:nvPr/>
        </p:nvSpPr>
        <p:spPr>
          <a:xfrm xmlns:a="http://schemas.openxmlformats.org/drawingml/2006/main">
            <a:off x="10744200" y="645795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75" b="1">
                <a:solidFill>
                  <a:srgbClr val="667085"/>
                </a:solidFill>
                <a:latin typeface="Helvetica Neue"/>
                <a:ea typeface="Helvetica Neue"/>
                <a:cs typeface="Helvetica Neue"/>
              </a:defRPr>
            </a:pPr>
            <a:r>
              <a:rPr sz="975" b="1">
                <a:solidFill>
                  <a:srgbClr val="667085"/>
                </a:solidFill>
                <a:latin typeface="Helvetica Neue"/>
                <a:ea typeface="Helvetica Neue"/>
                <a:cs typeface="Helvetica Neue"/>
              </a:rPr>
              <a:t>13</a:t>
            </a:r>
          </a:p>
        </p:txBody>
      </p:sp>
      <p:sp>
        <p:nvSpPr>
          <p:cNvPr id="4" name="">
            <a:extLst xmlns:a="http://schemas.openxmlformats.org/drawingml/2006/main">
              <a:ext uri="{FF2B5EF4-FFF2-40B4-BE49-F238E27FC236}">
                <a16:creationId xmlns:a16="http://schemas.microsoft.com/office/drawing/2014/main" id="{84CA3562-EE1C-4D17-9AF1-23A0716F7861}"/>
              </a:ext>
            </a:extLst>
          </p:cNvPr>
          <p:cNvSpPr>
            <a:spLocks xmlns:a="http://schemas.openxmlformats.org/drawingml/2006/main" noGrp="1"/>
          </p:cNvSpPr>
          <p:nvPr/>
        </p:nvSpPr>
        <p:spPr>
          <a:xfrm xmlns:a="http://schemas.openxmlformats.org/drawingml/2006/main">
            <a:off x="457200" y="1504950"/>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184"/>
          </a:bodyPr>
          <a:lstStyle xmlns:a="http://schemas.openxmlformats.org/drawingml/2006/main"/>
          <a:p xmlns:a="http://schemas.openxmlformats.org/drawingml/2006/main">
            <a:pPr algn="l">
              <a:buNone/>
              <a:defRPr sz="2550" b="1">
                <a:solidFill>
                  <a:srgbClr val="315F9F"/>
                </a:solidFill>
                <a:latin typeface="Helvetica Neue"/>
                <a:ea typeface="Helvetica Neue"/>
                <a:cs typeface="Helvetica Neue"/>
              </a:defRPr>
            </a:pPr>
            <a:r>
              <a:rPr sz="2550" b="1">
                <a:solidFill>
                  <a:srgbClr val="315F9F"/>
                </a:solidFill>
                <a:latin typeface="Helvetica Neue"/>
                <a:ea typeface="Helvetica Neue"/>
                <a:cs typeface="Helvetica Neue"/>
              </a:rPr>
              <a:t>First risk: retrieve the right evidence and show when the answer is uncertain.</a:t>
            </a:r>
          </a:p>
        </p:txBody>
      </p:sp>
      <p:sp>
        <p:nvSpPr>
          <p:cNvPr id="5" name="">
            <a:extLst xmlns:a="http://schemas.openxmlformats.org/drawingml/2006/main">
              <a:ext uri="{FF2B5EF4-FFF2-40B4-BE49-F238E27FC236}">
                <a16:creationId xmlns:a16="http://schemas.microsoft.com/office/drawing/2014/main" id="{5562A5C6-60ED-4181-9E47-254F83779A64}"/>
              </a:ext>
            </a:extLst>
          </p:cNvPr>
          <p:cNvSpPr>
            <a:spLocks xmlns:a="http://schemas.openxmlformats.org/drawingml/2006/main" noGrp="1"/>
          </p:cNvSpPr>
          <p:nvPr/>
        </p:nvSpPr>
        <p:spPr>
          <a:xfrm xmlns:a="http://schemas.openxmlformats.org/drawingml/2006/main">
            <a:off x="457200" y="2400300"/>
            <a:ext cx="3333750" cy="2800350"/>
          </a:xfrm>
          <a:prstGeom xmlns:a="http://schemas.openxmlformats.org/drawingml/2006/main" prst="roundRect">
            <a:avLst>
              <a:gd name="adj" fmla="val 6122"/>
            </a:avLst>
          </a:prstGeom>
          <a:solidFill xmlns:a="http://schemas.openxmlformats.org/drawingml/2006/main">
            <a:srgbClr val="FFFFFF"/>
          </a:solidFill>
          <a:ln xmlns:a="http://schemas.openxmlformats.org/drawingml/2006/main" w="9525">
            <a:solidFill>
              <a:srgbClr val="D0D5DD"/>
            </a:solidFill>
            <a:prstDash val="solid"/>
          </a:ln>
        </p:spPr>
      </p:sp>
      <p:sp>
        <p:nvSpPr>
          <p:cNvPr id="6" name="">
            <a:extLst xmlns:a="http://schemas.openxmlformats.org/drawingml/2006/main">
              <a:ext uri="{FF2B5EF4-FFF2-40B4-BE49-F238E27FC236}">
                <a16:creationId xmlns:a16="http://schemas.microsoft.com/office/drawing/2014/main" id="{E612701B-CF09-4277-9DC9-F0E56890F11C}"/>
              </a:ext>
            </a:extLst>
          </p:cNvPr>
          <p:cNvSpPr>
            <a:spLocks xmlns:a="http://schemas.openxmlformats.org/drawingml/2006/main" noGrp="1"/>
          </p:cNvSpPr>
          <p:nvPr/>
        </p:nvSpPr>
        <p:spPr>
          <a:xfrm xmlns:a="http://schemas.openxmlformats.org/drawingml/2006/main">
            <a:off x="685800" y="26479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315F9F"/>
                </a:solidFill>
                <a:latin typeface="Helvetica Neue"/>
                <a:ea typeface="Helvetica Neue"/>
                <a:cs typeface="Helvetica Neue"/>
              </a:defRPr>
            </a:pPr>
            <a:r>
              <a:rPr sz="1050" b="1">
                <a:solidFill>
                  <a:srgbClr val="315F9F"/>
                </a:solidFill>
                <a:latin typeface="Helvetica Neue"/>
                <a:ea typeface="Helvetica Neue"/>
                <a:cs typeface="Helvetica Neue"/>
              </a:rPr>
              <a:t>FIRST PROTOTYPE</a:t>
            </a:r>
          </a:p>
        </p:txBody>
      </p:sp>
      <p:sp>
        <p:nvSpPr>
          <p:cNvPr id="7" name="">
            <a:extLst xmlns:a="http://schemas.openxmlformats.org/drawingml/2006/main">
              <a:ext uri="{FF2B5EF4-FFF2-40B4-BE49-F238E27FC236}">
                <a16:creationId xmlns:a16="http://schemas.microsoft.com/office/drawing/2014/main" id="{B233DDE3-C518-45BB-AFC1-EC711ACC02AE}"/>
              </a:ext>
            </a:extLst>
          </p:cNvPr>
          <p:cNvSpPr>
            <a:spLocks xmlns:a="http://schemas.openxmlformats.org/drawingml/2006/main" noGrp="1"/>
          </p:cNvSpPr>
          <p:nvPr/>
        </p:nvSpPr>
        <p:spPr>
          <a:xfrm xmlns:a="http://schemas.openxmlformats.org/drawingml/2006/main">
            <a:off x="685800" y="304800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435"/>
          </a:bodyPr>
          <a:lstStyle xmlns:a="http://schemas.openxmlformats.org/drawingml/2006/main"/>
          <a:p xmlns:a="http://schemas.openxmlformats.org/drawingml/2006/main">
            <a:pPr algn="l">
              <a:buNone/>
              <a:defRPr sz="1725" b="1">
                <a:solidFill>
                  <a:srgbClr val="101828"/>
                </a:solidFill>
                <a:latin typeface="Helvetica Neue"/>
                <a:ea typeface="Helvetica Neue"/>
                <a:cs typeface="Helvetica Neue"/>
              </a:defRPr>
            </a:pPr>
            <a:r>
              <a:rPr sz="1725" b="1">
                <a:solidFill>
                  <a:srgbClr val="101828"/>
                </a:solidFill>
                <a:latin typeface="Helvetica Neue"/>
                <a:ea typeface="Helvetica Neue"/>
                <a:cs typeface="Helvetica Neue"/>
              </a:rPr>
              <a:t>One company and one real source</a:t>
            </a:r>
          </a:p>
        </p:txBody>
      </p:sp>
      <p:sp>
        <p:nvSpPr>
          <p:cNvPr id="8" name="">
            <a:extLst xmlns:a="http://schemas.openxmlformats.org/drawingml/2006/main">
              <a:ext uri="{FF2B5EF4-FFF2-40B4-BE49-F238E27FC236}">
                <a16:creationId xmlns:a16="http://schemas.microsoft.com/office/drawing/2014/main" id="{A9A47721-2CAB-45CC-A0B0-A2173E47E46B}"/>
              </a:ext>
            </a:extLst>
          </p:cNvPr>
          <p:cNvSpPr>
            <a:spLocks xmlns:a="http://schemas.openxmlformats.org/drawingml/2006/main" noGrp="1"/>
          </p:cNvSpPr>
          <p:nvPr/>
        </p:nvSpPr>
        <p:spPr>
          <a:xfrm xmlns:a="http://schemas.openxmlformats.org/drawingml/2006/main">
            <a:off x="685800" y="3762375"/>
            <a:ext cx="28575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344054"/>
                </a:solidFill>
                <a:latin typeface="Helvetica Neue"/>
                <a:ea typeface="Helvetica Neue"/>
                <a:cs typeface="Helvetica Neue"/>
              </a:defRPr>
            </a:pPr>
            <a:r>
              <a:rPr sz="1275" b="0">
                <a:solidFill>
                  <a:srgbClr val="344054"/>
                </a:solidFill>
                <a:latin typeface="Helvetica Neue"/>
                <a:ea typeface="Helvetica Neue"/>
                <a:cs typeface="Helvetica Neue"/>
              </a:rPr>
              <a:t>One current fact</a:t>
            </a:r>
          </a:p>
          <a:p xmlns:a="http://schemas.openxmlformats.org/drawingml/2006/main">
            <a:pPr algn="l">
              <a:buNone/>
              <a:defRPr sz="1275" b="0">
                <a:solidFill>
                  <a:srgbClr val="344054"/>
                </a:solidFill>
                <a:latin typeface="Helvetica Neue"/>
                <a:ea typeface="Helvetica Neue"/>
                <a:cs typeface="Helvetica Neue"/>
              </a:defRPr>
            </a:pPr>
            <a:r>
              <a:rPr sz="1275" b="0">
                <a:solidFill>
                  <a:srgbClr val="344054"/>
                </a:solidFill>
                <a:latin typeface="Helvetica Neue"/>
                <a:ea typeface="Helvetica Neue"/>
                <a:cs typeface="Helvetica Neue"/>
              </a:rPr>
              <a:t>One true conflict</a:t>
            </a:r>
          </a:p>
          <a:p xmlns:a="http://schemas.openxmlformats.org/drawingml/2006/main">
            <a:pPr algn="l">
              <a:buNone/>
              <a:defRPr sz="1275" b="0">
                <a:solidFill>
                  <a:srgbClr val="344054"/>
                </a:solidFill>
                <a:latin typeface="Helvetica Neue"/>
                <a:ea typeface="Helvetica Neue"/>
                <a:cs typeface="Helvetica Neue"/>
              </a:defRPr>
            </a:pPr>
            <a:r>
              <a:rPr sz="1275" b="0">
                <a:solidFill>
                  <a:srgbClr val="344054"/>
                </a:solidFill>
                <a:latin typeface="Helvetica Neue"/>
                <a:ea typeface="Helvetica Neue"/>
                <a:cs typeface="Helvetica Neue"/>
              </a:rPr>
              <a:t>One missing fact</a:t>
            </a:r>
          </a:p>
          <a:p xmlns:a="http://schemas.openxmlformats.org/drawingml/2006/main">
            <a:pPr algn="l">
              <a:buNone/>
              <a:defRPr sz="1275" b="0">
                <a:solidFill>
                  <a:srgbClr val="344054"/>
                </a:solidFill>
                <a:latin typeface="Helvetica Neue"/>
                <a:ea typeface="Helvetica Neue"/>
                <a:cs typeface="Helvetica Neue"/>
              </a:defRPr>
            </a:pPr>
            <a:r>
              <a:rPr sz="1275" b="0">
                <a:solidFill>
                  <a:srgbClr val="344054"/>
                </a:solidFill>
                <a:latin typeface="Helvetica Neue"/>
                <a:ea typeface="Helvetica Neue"/>
                <a:cs typeface="Helvetica Neue"/>
              </a:rPr>
              <a:t>One changed source record</a:t>
            </a:r>
          </a:p>
          <a:p xmlns:a="http://schemas.openxmlformats.org/drawingml/2006/main">
            <a:pPr algn="l">
              <a:buNone/>
              <a:defRPr sz="1275" b="0">
                <a:solidFill>
                  <a:srgbClr val="344054"/>
                </a:solidFill>
                <a:latin typeface="Helvetica Neue"/>
                <a:ea typeface="Helvetica Neue"/>
                <a:cs typeface="Helvetica Neue"/>
              </a:defRPr>
            </a:pPr>
            <a:r>
              <a:rPr sz="1275" b="0">
                <a:solidFill>
                  <a:srgbClr val="344054"/>
                </a:solidFill>
                <a:latin typeface="Helvetica Neue"/>
                <a:ea typeface="Helvetica Neue"/>
                <a:cs typeface="Helvetica Neue"/>
              </a:rPr>
              <a:t>Reference answers</a:t>
            </a:r>
          </a:p>
        </p:txBody>
      </p:sp>
      <p:sp>
        <p:nvSpPr>
          <p:cNvPr id="9" name="">
            <a:extLst xmlns:a="http://schemas.openxmlformats.org/drawingml/2006/main">
              <a:ext uri="{FF2B5EF4-FFF2-40B4-BE49-F238E27FC236}">
                <a16:creationId xmlns:a16="http://schemas.microsoft.com/office/drawing/2014/main" id="{9A2149D0-122E-4662-9C67-860C2D3353C0}"/>
              </a:ext>
            </a:extLst>
          </p:cNvPr>
          <p:cNvSpPr>
            <a:spLocks xmlns:a="http://schemas.openxmlformats.org/drawingml/2006/main" noGrp="1"/>
          </p:cNvSpPr>
          <p:nvPr/>
        </p:nvSpPr>
        <p:spPr>
          <a:xfrm xmlns:a="http://schemas.openxmlformats.org/drawingml/2006/main">
            <a:off x="4095750" y="2400300"/>
            <a:ext cx="3333750" cy="2800350"/>
          </a:xfrm>
          <a:prstGeom xmlns:a="http://schemas.openxmlformats.org/drawingml/2006/main" prst="roundRect">
            <a:avLst>
              <a:gd name="adj" fmla="val 6122"/>
            </a:avLst>
          </a:prstGeom>
          <a:solidFill xmlns:a="http://schemas.openxmlformats.org/drawingml/2006/main">
            <a:srgbClr val="F2F4F7"/>
          </a:solidFill>
          <a:ln xmlns:a="http://schemas.openxmlformats.org/drawingml/2006/main" w="9525">
            <a:solidFill>
              <a:srgbClr val="D0D5DD"/>
            </a:solidFill>
            <a:prstDash val="solid"/>
          </a:ln>
        </p:spPr>
      </p:sp>
      <p:sp>
        <p:nvSpPr>
          <p:cNvPr id="10" name="">
            <a:extLst xmlns:a="http://schemas.openxmlformats.org/drawingml/2006/main">
              <a:ext uri="{FF2B5EF4-FFF2-40B4-BE49-F238E27FC236}">
                <a16:creationId xmlns:a16="http://schemas.microsoft.com/office/drawing/2014/main" id="{3B17A513-9371-40C5-979E-A976BA6D2B28}"/>
              </a:ext>
            </a:extLst>
          </p:cNvPr>
          <p:cNvSpPr>
            <a:spLocks xmlns:a="http://schemas.openxmlformats.org/drawingml/2006/main" noGrp="1"/>
          </p:cNvSpPr>
          <p:nvPr/>
        </p:nvSpPr>
        <p:spPr>
          <a:xfrm xmlns:a="http://schemas.openxmlformats.org/drawingml/2006/main">
            <a:off x="4324350" y="26479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315F9F"/>
                </a:solidFill>
                <a:latin typeface="Helvetica Neue"/>
                <a:ea typeface="Helvetica Neue"/>
                <a:cs typeface="Helvetica Neue"/>
              </a:defRPr>
            </a:pPr>
            <a:r>
              <a:rPr sz="1050" b="1">
                <a:solidFill>
                  <a:srgbClr val="315F9F"/>
                </a:solidFill>
                <a:latin typeface="Helvetica Neue"/>
                <a:ea typeface="Helvetica Neue"/>
                <a:cs typeface="Helvetica Neue"/>
              </a:rPr>
              <a:t>CRITICAL DEPENDENCIES</a:t>
            </a:r>
          </a:p>
        </p:txBody>
      </p:sp>
      <p:sp>
        <p:nvSpPr>
          <p:cNvPr id="11" name="">
            <a:extLst xmlns:a="http://schemas.openxmlformats.org/drawingml/2006/main">
              <a:ext uri="{FF2B5EF4-FFF2-40B4-BE49-F238E27FC236}">
                <a16:creationId xmlns:a16="http://schemas.microsoft.com/office/drawing/2014/main" id="{EAEF692C-81C5-4F80-BEF7-B65ABE382A68}"/>
              </a:ext>
            </a:extLst>
          </p:cNvPr>
          <p:cNvSpPr>
            <a:spLocks xmlns:a="http://schemas.openxmlformats.org/drawingml/2006/main" noGrp="1"/>
          </p:cNvSpPr>
          <p:nvPr/>
        </p:nvSpPr>
        <p:spPr>
          <a:xfrm xmlns:a="http://schemas.openxmlformats.org/drawingml/2006/main">
            <a:off x="4324350" y="304800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725" b="1">
                <a:solidFill>
                  <a:srgbClr val="101828"/>
                </a:solidFill>
                <a:latin typeface="Helvetica Neue"/>
                <a:ea typeface="Helvetica Neue"/>
                <a:cs typeface="Helvetica Neue"/>
              </a:defRPr>
            </a:pPr>
            <a:r>
              <a:rPr sz="1725" b="1">
                <a:solidFill>
                  <a:srgbClr val="101828"/>
                </a:solidFill>
                <a:latin typeface="Helvetica Neue"/>
                <a:ea typeface="Helvetica Neue"/>
                <a:cs typeface="Helvetica Neue"/>
              </a:rPr>
              <a:t>Access and ownership</a:t>
            </a:r>
          </a:p>
        </p:txBody>
      </p:sp>
      <p:sp>
        <p:nvSpPr>
          <p:cNvPr id="12" name="">
            <a:extLst xmlns:a="http://schemas.openxmlformats.org/drawingml/2006/main">
              <a:ext uri="{FF2B5EF4-FFF2-40B4-BE49-F238E27FC236}">
                <a16:creationId xmlns:a16="http://schemas.microsoft.com/office/drawing/2014/main" id="{16E21101-5479-4093-B7A3-67DC3D3F5AE8}"/>
              </a:ext>
            </a:extLst>
          </p:cNvPr>
          <p:cNvSpPr>
            <a:spLocks xmlns:a="http://schemas.openxmlformats.org/drawingml/2006/main" noGrp="1"/>
          </p:cNvSpPr>
          <p:nvPr/>
        </p:nvSpPr>
        <p:spPr>
          <a:xfrm xmlns:a="http://schemas.openxmlformats.org/drawingml/2006/main">
            <a:off x="4324350" y="3762375"/>
            <a:ext cx="28575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464"/>
          </a:bodyPr>
          <a:lstStyle xmlns:a="http://schemas.openxmlformats.org/drawingml/2006/main"/>
          <a:p xmlns:a="http://schemas.openxmlformats.org/drawingml/2006/main">
            <a:pPr algn="l">
              <a:buNone/>
              <a:defRPr sz="1275" b="0">
                <a:solidFill>
                  <a:srgbClr val="344054"/>
                </a:solidFill>
                <a:latin typeface="Helvetica Neue"/>
                <a:ea typeface="Helvetica Neue"/>
                <a:cs typeface="Helvetica Neue"/>
              </a:defRPr>
            </a:pPr>
            <a:r>
              <a:rPr sz="1275" b="0">
                <a:solidFill>
                  <a:srgbClr val="344054"/>
                </a:solidFill>
                <a:latin typeface="Helvetica Neue"/>
                <a:ea typeface="Helvetica Neue"/>
                <a:cs typeface="Helvetica Neue"/>
              </a:rPr>
              <a:t>Source owners</a:t>
            </a:r>
          </a:p>
          <a:p xmlns:a="http://schemas.openxmlformats.org/drawingml/2006/main">
            <a:pPr algn="l">
              <a:buNone/>
              <a:defRPr sz="1275" b="0">
                <a:solidFill>
                  <a:srgbClr val="344054"/>
                </a:solidFill>
                <a:latin typeface="Helvetica Neue"/>
                <a:ea typeface="Helvetica Neue"/>
                <a:cs typeface="Helvetica Neue"/>
              </a:defRPr>
            </a:pPr>
            <a:r>
              <a:rPr sz="1275" b="0">
                <a:solidFill>
                  <a:srgbClr val="344054"/>
                </a:solidFill>
                <a:latin typeface="Helvetica Neue"/>
                <a:ea typeface="Helvetica Neue"/>
                <a:cs typeface="Helvetica Neue"/>
              </a:rPr>
              <a:t>API access</a:t>
            </a:r>
          </a:p>
          <a:p xmlns:a="http://schemas.openxmlformats.org/drawingml/2006/main">
            <a:pPr algn="l">
              <a:buNone/>
              <a:defRPr sz="1275" b="0">
                <a:solidFill>
                  <a:srgbClr val="344054"/>
                </a:solidFill>
                <a:latin typeface="Helvetica Neue"/>
                <a:ea typeface="Helvetica Neue"/>
                <a:cs typeface="Helvetica Neue"/>
              </a:defRPr>
            </a:pPr>
            <a:r>
              <a:rPr sz="1275" b="0">
                <a:solidFill>
                  <a:srgbClr val="344054"/>
                </a:solidFill>
                <a:latin typeface="Helvetica Neue"/>
                <a:ea typeface="Helvetica Neue"/>
                <a:cs typeface="Helvetica Neue"/>
              </a:rPr>
              <a:t>Canonical company IDs</a:t>
            </a:r>
          </a:p>
          <a:p xmlns:a="http://schemas.openxmlformats.org/drawingml/2006/main">
            <a:pPr algn="l">
              <a:buNone/>
              <a:defRPr sz="1275" b="0">
                <a:solidFill>
                  <a:srgbClr val="344054"/>
                </a:solidFill>
                <a:latin typeface="Helvetica Neue"/>
                <a:ea typeface="Helvetica Neue"/>
                <a:cs typeface="Helvetica Neue"/>
              </a:defRPr>
            </a:pPr>
            <a:r>
              <a:rPr sz="1275" b="0">
                <a:solidFill>
                  <a:srgbClr val="344054"/>
                </a:solidFill>
                <a:latin typeface="Helvetica Neue"/>
                <a:ea typeface="Helvetica Neue"/>
                <a:cs typeface="Helvetica Neue"/>
              </a:rPr>
              <a:t>Access and retention rules</a:t>
            </a:r>
          </a:p>
          <a:p xmlns:a="http://schemas.openxmlformats.org/drawingml/2006/main">
            <a:pPr algn="l">
              <a:buNone/>
              <a:defRPr sz="1275" b="0">
                <a:solidFill>
                  <a:srgbClr val="344054"/>
                </a:solidFill>
                <a:latin typeface="Helvetica Neue"/>
                <a:ea typeface="Helvetica Neue"/>
                <a:cs typeface="Helvetica Neue"/>
              </a:defRPr>
            </a:pPr>
            <a:r>
              <a:rPr sz="1275" b="0">
                <a:solidFill>
                  <a:srgbClr val="344054"/>
                </a:solidFill>
                <a:latin typeface="Helvetica Neue"/>
                <a:ea typeface="Helvetica Neue"/>
                <a:cs typeface="Helvetica Neue"/>
              </a:rPr>
              <a:t>Model policy</a:t>
            </a:r>
          </a:p>
          <a:p xmlns:a="http://schemas.openxmlformats.org/drawingml/2006/main">
            <a:pPr algn="l">
              <a:buNone/>
              <a:defRPr sz="1275" b="0">
                <a:solidFill>
                  <a:srgbClr val="344054"/>
                </a:solidFill>
                <a:latin typeface="Helvetica Neue"/>
                <a:ea typeface="Helvetica Neue"/>
                <a:cs typeface="Helvetica Neue"/>
              </a:defRPr>
            </a:pPr>
            <a:r>
              <a:rPr sz="1275" b="0">
                <a:solidFill>
                  <a:srgbClr val="344054"/>
                </a:solidFill>
                <a:latin typeface="Helvetica Neue"/>
                <a:ea typeface="Helvetica Neue"/>
                <a:cs typeface="Helvetica Neue"/>
              </a:rPr>
              <a:t>Principal review</a:t>
            </a:r>
          </a:p>
        </p:txBody>
      </p:sp>
      <p:sp>
        <p:nvSpPr>
          <p:cNvPr id="13" name="">
            <a:extLst xmlns:a="http://schemas.openxmlformats.org/drawingml/2006/main">
              <a:ext uri="{FF2B5EF4-FFF2-40B4-BE49-F238E27FC236}">
                <a16:creationId xmlns:a16="http://schemas.microsoft.com/office/drawing/2014/main" id="{C58C9AB4-4295-4DBC-8C8F-775BFAD2D383}"/>
              </a:ext>
            </a:extLst>
          </p:cNvPr>
          <p:cNvSpPr>
            <a:spLocks xmlns:a="http://schemas.openxmlformats.org/drawingml/2006/main" noGrp="1"/>
          </p:cNvSpPr>
          <p:nvPr/>
        </p:nvSpPr>
        <p:spPr>
          <a:xfrm xmlns:a="http://schemas.openxmlformats.org/drawingml/2006/main">
            <a:off x="7734300" y="2400300"/>
            <a:ext cx="3333750" cy="2800350"/>
          </a:xfrm>
          <a:prstGeom xmlns:a="http://schemas.openxmlformats.org/drawingml/2006/main" prst="roundRect">
            <a:avLst>
              <a:gd name="adj" fmla="val 6122"/>
            </a:avLst>
          </a:prstGeom>
          <a:solidFill xmlns:a="http://schemas.openxmlformats.org/drawingml/2006/main">
            <a:srgbClr val="E8F0FB"/>
          </a:solidFill>
          <a:ln xmlns:a="http://schemas.openxmlformats.org/drawingml/2006/main" w="9525">
            <a:solidFill>
              <a:srgbClr val="9CB5D5"/>
            </a:solidFill>
            <a:prstDash val="solid"/>
          </a:ln>
        </p:spPr>
      </p:sp>
      <p:sp>
        <p:nvSpPr>
          <p:cNvPr id="14" name="">
            <a:extLst xmlns:a="http://schemas.openxmlformats.org/drawingml/2006/main">
              <a:ext uri="{FF2B5EF4-FFF2-40B4-BE49-F238E27FC236}">
                <a16:creationId xmlns:a16="http://schemas.microsoft.com/office/drawing/2014/main" id="{9AAB8465-872C-4C3C-AD42-A1827E2443DA}"/>
              </a:ext>
            </a:extLst>
          </p:cNvPr>
          <p:cNvSpPr>
            <a:spLocks xmlns:a="http://schemas.openxmlformats.org/drawingml/2006/main" noGrp="1"/>
          </p:cNvSpPr>
          <p:nvPr/>
        </p:nvSpPr>
        <p:spPr>
          <a:xfrm xmlns:a="http://schemas.openxmlformats.org/drawingml/2006/main">
            <a:off x="7962900" y="26479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a:solidFill>
                  <a:srgbClr val="315F9F"/>
                </a:solidFill>
                <a:latin typeface="Helvetica Neue"/>
                <a:ea typeface="Helvetica Neue"/>
                <a:cs typeface="Helvetica Neue"/>
              </a:defRPr>
            </a:pPr>
            <a:r>
              <a:rPr sz="1050" b="1">
                <a:solidFill>
                  <a:srgbClr val="315F9F"/>
                </a:solidFill>
                <a:latin typeface="Helvetica Neue"/>
                <a:ea typeface="Helvetica Neue"/>
                <a:cs typeface="Helvetica Neue"/>
              </a:rPr>
              <a:t>WITH MORE TIME</a:t>
            </a:r>
          </a:p>
        </p:txBody>
      </p:sp>
      <p:sp>
        <p:nvSpPr>
          <p:cNvPr id="15" name="">
            <a:extLst xmlns:a="http://schemas.openxmlformats.org/drawingml/2006/main">
              <a:ext uri="{FF2B5EF4-FFF2-40B4-BE49-F238E27FC236}">
                <a16:creationId xmlns:a16="http://schemas.microsoft.com/office/drawing/2014/main" id="{F20FEF94-1E54-482B-BA81-CD1C7288DD19}"/>
              </a:ext>
            </a:extLst>
          </p:cNvPr>
          <p:cNvSpPr>
            <a:spLocks xmlns:a="http://schemas.openxmlformats.org/drawingml/2006/main" noGrp="1"/>
          </p:cNvSpPr>
          <p:nvPr/>
        </p:nvSpPr>
        <p:spPr>
          <a:xfrm xmlns:a="http://schemas.openxmlformats.org/drawingml/2006/main">
            <a:off x="7962900" y="304800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725" b="1">
                <a:solidFill>
                  <a:srgbClr val="101828"/>
                </a:solidFill>
                <a:latin typeface="Helvetica Neue"/>
                <a:ea typeface="Helvetica Neue"/>
                <a:cs typeface="Helvetica Neue"/>
              </a:defRPr>
            </a:pPr>
            <a:r>
              <a:rPr sz="1725" b="1">
                <a:solidFill>
                  <a:srgbClr val="101828"/>
                </a:solidFill>
                <a:latin typeface="Helvetica Neue"/>
                <a:ea typeface="Helvetica Neue"/>
                <a:cs typeface="Helvetica Neue"/>
              </a:rPr>
              <a:t>Generalize and operate</a:t>
            </a:r>
          </a:p>
        </p:txBody>
      </p:sp>
      <p:sp>
        <p:nvSpPr>
          <p:cNvPr id="16" name="">
            <a:extLst xmlns:a="http://schemas.openxmlformats.org/drawingml/2006/main">
              <a:ext uri="{FF2B5EF4-FFF2-40B4-BE49-F238E27FC236}">
                <a16:creationId xmlns:a16="http://schemas.microsoft.com/office/drawing/2014/main" id="{57A04CC8-E1F2-4C4B-A6C1-119A2988EF63}"/>
              </a:ext>
            </a:extLst>
          </p:cNvPr>
          <p:cNvSpPr>
            <a:spLocks xmlns:a="http://schemas.openxmlformats.org/drawingml/2006/main" noGrp="1"/>
          </p:cNvSpPr>
          <p:nvPr/>
        </p:nvSpPr>
        <p:spPr>
          <a:xfrm xmlns:a="http://schemas.openxmlformats.org/drawingml/2006/main">
            <a:off x="7962900" y="3762375"/>
            <a:ext cx="28575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344054"/>
                </a:solidFill>
                <a:latin typeface="Helvetica Neue"/>
                <a:ea typeface="Helvetica Neue"/>
                <a:cs typeface="Helvetica Neue"/>
              </a:defRPr>
            </a:pPr>
            <a:r>
              <a:rPr sz="1275" b="0">
                <a:solidFill>
                  <a:srgbClr val="344054"/>
                </a:solidFill>
                <a:latin typeface="Helvetica Neue"/>
                <a:ea typeface="Helvetica Neue"/>
                <a:cs typeface="Helvetica Neue"/>
              </a:rPr>
              <a:t>Connectors and reconciliation</a:t>
            </a:r>
          </a:p>
          <a:p xmlns:a="http://schemas.openxmlformats.org/drawingml/2006/main">
            <a:pPr algn="l">
              <a:buNone/>
              <a:defRPr sz="1275" b="0">
                <a:solidFill>
                  <a:srgbClr val="344054"/>
                </a:solidFill>
                <a:latin typeface="Helvetica Neue"/>
                <a:ea typeface="Helvetica Neue"/>
                <a:cs typeface="Helvetica Neue"/>
              </a:defRPr>
            </a:pPr>
            <a:r>
              <a:rPr sz="1275" b="0">
                <a:solidFill>
                  <a:srgbClr val="344054"/>
                </a:solidFill>
                <a:latin typeface="Helvetica Neue"/>
                <a:ea typeface="Helvetica Neue"/>
                <a:cs typeface="Helvetica Neue"/>
              </a:rPr>
              <a:t>Access-aware retrieval</a:t>
            </a:r>
          </a:p>
          <a:p xmlns:a="http://schemas.openxmlformats.org/drawingml/2006/main">
            <a:pPr algn="l">
              <a:buNone/>
              <a:defRPr sz="1275" b="0">
                <a:solidFill>
                  <a:srgbClr val="344054"/>
                </a:solidFill>
                <a:latin typeface="Helvetica Neue"/>
                <a:ea typeface="Helvetica Neue"/>
                <a:cs typeface="Helvetica Neue"/>
              </a:defRPr>
            </a:pPr>
            <a:r>
              <a:rPr sz="1275" b="0">
                <a:solidFill>
                  <a:srgbClr val="344054"/>
                </a:solidFill>
                <a:latin typeface="Helvetica Neue"/>
                <a:ea typeface="Helvetica Neue"/>
                <a:cs typeface="Helvetica Neue"/>
              </a:rPr>
              <a:t>Retrieval and generation evaluation</a:t>
            </a:r>
          </a:p>
          <a:p xmlns:a="http://schemas.openxmlformats.org/drawingml/2006/main">
            <a:pPr algn="l">
              <a:buNone/>
              <a:defRPr sz="1275" b="0">
                <a:solidFill>
                  <a:srgbClr val="344054"/>
                </a:solidFill>
                <a:latin typeface="Helvetica Neue"/>
                <a:ea typeface="Helvetica Neue"/>
                <a:cs typeface="Helvetica Neue"/>
              </a:defRPr>
            </a:pPr>
            <a:r>
              <a:rPr sz="1275" b="0">
                <a:solidFill>
                  <a:srgbClr val="344054"/>
                </a:solidFill>
                <a:latin typeface="Helvetica Neue"/>
                <a:ea typeface="Helvetica Neue"/>
                <a:cs typeface="Helvetica Neue"/>
              </a:rPr>
              <a:t>Reviewer workflow and monitoring</a:t>
            </a:r>
          </a:p>
        </p:txBody>
      </p:sp>
      <p:sp>
        <p:nvSpPr>
          <p:cNvPr id="17" name="">
            <a:extLst xmlns:a="http://schemas.openxmlformats.org/drawingml/2006/main">
              <a:ext uri="{FF2B5EF4-FFF2-40B4-BE49-F238E27FC236}">
                <a16:creationId xmlns:a16="http://schemas.microsoft.com/office/drawing/2014/main" id="{8BBED693-7757-48A5-974E-73B0F60C6B41}"/>
              </a:ext>
            </a:extLst>
          </p:cNvPr>
          <p:cNvSpPr>
            <a:spLocks xmlns:a="http://schemas.openxmlformats.org/drawingml/2006/main" noGrp="1"/>
          </p:cNvSpPr>
          <p:nvPr/>
        </p:nvSpPr>
        <p:spPr>
          <a:xfrm xmlns:a="http://schemas.openxmlformats.org/drawingml/2006/main">
            <a:off x="457200" y="5514975"/>
            <a:ext cx="10858500" cy="533400"/>
          </a:xfrm>
          <a:prstGeom xmlns:a="http://schemas.openxmlformats.org/drawingml/2006/main" prst="roundRect">
            <a:avLst>
              <a:gd name="adj" fmla="val 25000"/>
            </a:avLst>
          </a:prstGeom>
          <a:solidFill xmlns:a="http://schemas.openxmlformats.org/drawingml/2006/main">
            <a:srgbClr val="101828"/>
          </a:solidFill>
          <a:ln xmlns:a="http://schemas.openxmlformats.org/drawingml/2006/main" w="9525">
            <a:solidFill>
              <a:srgbClr val="101828"/>
            </a:solidFill>
            <a:prstDash val="solid"/>
          </a:ln>
        </p:spPr>
      </p:sp>
      <p:sp>
        <p:nvSpPr>
          <p:cNvPr id="18" name="">
            <a:extLst xmlns:a="http://schemas.openxmlformats.org/drawingml/2006/main">
              <a:ext uri="{FF2B5EF4-FFF2-40B4-BE49-F238E27FC236}">
                <a16:creationId xmlns:a16="http://schemas.microsoft.com/office/drawing/2014/main" id="{87390179-8675-41A8-B68B-4764A48D41FE}"/>
              </a:ext>
            </a:extLst>
          </p:cNvPr>
          <p:cNvSpPr>
            <a:spLocks xmlns:a="http://schemas.openxmlformats.org/drawingml/2006/main" noGrp="1"/>
          </p:cNvSpPr>
          <p:nvPr/>
        </p:nvSpPr>
        <p:spPr>
          <a:xfrm xmlns:a="http://schemas.openxmlformats.org/drawingml/2006/main">
            <a:off x="685800" y="5676900"/>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1905"/>
          </a:bodyPr>
          <a:lstStyle xmlns:a="http://schemas.openxmlformats.org/drawingml/2006/main"/>
          <a:p xmlns:a="http://schemas.openxmlformats.org/drawingml/2006/main">
            <a:pPr algn="l">
              <a:buNone/>
              <a:defRPr sz="1050" b="1">
                <a:solidFill>
                  <a:srgbClr val="9CB5D5"/>
                </a:solidFill>
                <a:latin typeface="Helvetica Neue"/>
                <a:ea typeface="Helvetica Neue"/>
                <a:cs typeface="Helvetica Neue"/>
              </a:defRPr>
            </a:pPr>
            <a:r>
              <a:rPr sz="1050" b="1">
                <a:solidFill>
                  <a:srgbClr val="9CB5D5"/>
                </a:solidFill>
                <a:latin typeface="Helvetica Neue"/>
                <a:ea typeface="Helvetica Neue"/>
                <a:cs typeface="Helvetica Neue"/>
              </a:rPr>
              <a:t>NEXT DECISION</a:t>
            </a:r>
          </a:p>
        </p:txBody>
      </p:sp>
      <p:sp>
        <p:nvSpPr>
          <p:cNvPr id="19" name="">
            <a:extLst xmlns:a="http://schemas.openxmlformats.org/drawingml/2006/main">
              <a:ext uri="{FF2B5EF4-FFF2-40B4-BE49-F238E27FC236}">
                <a16:creationId xmlns:a16="http://schemas.microsoft.com/office/drawing/2014/main" id="{37CB83B3-D284-4081-B799-9D7848AC112B}"/>
              </a:ext>
            </a:extLst>
          </p:cNvPr>
          <p:cNvSpPr>
            <a:spLocks xmlns:a="http://schemas.openxmlformats.org/drawingml/2006/main" noGrp="1"/>
          </p:cNvSpPr>
          <p:nvPr/>
        </p:nvSpPr>
        <p:spPr>
          <a:xfrm xmlns:a="http://schemas.openxmlformats.org/drawingml/2006/main">
            <a:off x="2190750" y="5638800"/>
            <a:ext cx="876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Approve one source-to-brief pilot after source owners, access owners, and the AIVC principal confirm the test set.</a:t>
            </a:r>
          </a:p>
        </p:txBody>
      </p:sp>
    </p:spTree>
    <p:extLst>
      <p:ext uri="{BB962C8B-B14F-4D97-AF65-F5344CB8AC3E}">
        <p14:creationId xmlns:p14="http://schemas.microsoft.com/office/powerpoint/2010/main" val="15154762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2026-09-01T00:10:31.6580000Z</dcterms:created>
  <dcterms:modified xsi:type="dcterms:W3CDTF">2026-09-01T00:10:31.6580000Z</dcterms:modified>
</coreProperties>
</file>