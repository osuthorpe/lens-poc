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ff34088da7e45cb" /><Relationship Type="http://schemas.openxmlformats.org/officeDocument/2006/relationships/extended-properties" Target="/docProps/app.xml" Id="R70ff21254c944865" /><Relationship Type="http://schemas.openxmlformats.org/officeDocument/2006/relationships/officeDocument" Target="/ppt/presentation.xml" Id="R1e29e54341c5476a" /></Relationships>
</file>

<file path=ppt/presentation.xml><?xml version="1.0" encoding="utf-8"?>
<p:presentation xmlns:p="http://schemas.openxmlformats.org/presentationml/2006/main">
  <p:sldMasterIdLst>
    <p:sldMasterId xmlns:r="http://schemas.openxmlformats.org/officeDocument/2006/relationships" id="2147483648" r:id="R88a50a33176e4852"/>
  </p:sldMasterIdLst>
  <p:notesMasterIdLst>
    <p:notesMasterId xmlns:r="http://schemas.openxmlformats.org/officeDocument/2006/relationships" r:id="Rb58efab9cff4472b"/>
  </p:notesMasterIdLst>
  <p:sldIdLst>
    <p:sldId xmlns:r="http://schemas.openxmlformats.org/officeDocument/2006/relationships" id="256" r:id="R1372511d332c48e4"/>
    <p:sldId xmlns:r="http://schemas.openxmlformats.org/officeDocument/2006/relationships" id="257" r:id="Ra864fdb52707442b"/>
    <p:sldId xmlns:r="http://schemas.openxmlformats.org/officeDocument/2006/relationships" id="258" r:id="Rcec8a628e68f44bc"/>
    <p:sldId xmlns:r="http://schemas.openxmlformats.org/officeDocument/2006/relationships" id="259" r:id="R3559208efc5d4203"/>
    <p:sldId xmlns:r="http://schemas.openxmlformats.org/officeDocument/2006/relationships" id="260" r:id="Re4f7be25bdf74e92"/>
    <p:sldId xmlns:r="http://schemas.openxmlformats.org/officeDocument/2006/relationships" id="261" r:id="Rf8bfd2e02f104e5f"/>
    <p:sldId xmlns:r="http://schemas.openxmlformats.org/officeDocument/2006/relationships" id="262" r:id="R71a33f3fb7df49ee"/>
    <p:sldId xmlns:r="http://schemas.openxmlformats.org/officeDocument/2006/relationships" id="263" r:id="Rfef7b1c65c3f432e"/>
    <p:sldId xmlns:r="http://schemas.openxmlformats.org/officeDocument/2006/relationships" id="264" r:id="R003a7ea81aca4c72"/>
    <p:sldId xmlns:r="http://schemas.openxmlformats.org/officeDocument/2006/relationships" id="265" r:id="R2ab191b14c3c41f7"/>
    <p:sldId xmlns:r="http://schemas.openxmlformats.org/officeDocument/2006/relationships" id="266" r:id="R8bbf83dfbc1945a4"/>
    <p:sldId xmlns:r="http://schemas.openxmlformats.org/officeDocument/2006/relationships" id="267" r:id="Rc9de37b2fbf246a4"/>
    <p:sldId xmlns:r="http://schemas.openxmlformats.org/officeDocument/2006/relationships" id="268" r:id="Rb898ac1c333749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710b278abd147bb" /><Relationship Type="http://schemas.openxmlformats.org/officeDocument/2006/relationships/slideMaster" Target="/ppt/slideMasters/slideMaster1.xml" Id="R88a50a33176e4852" /><Relationship Type="http://schemas.openxmlformats.org/officeDocument/2006/relationships/notesMaster" Target="/ppt/notesMasters/notesMaster1.xml" Id="Rb58efab9cff4472b" /><Relationship Type="http://schemas.openxmlformats.org/officeDocument/2006/relationships/presProps" Target="/ppt/presProps.xml" Id="R26caf6695e8b4956" /><Relationship Type="http://schemas.openxmlformats.org/officeDocument/2006/relationships/tableStyles" Target="/ppt/tableStyles.xml" Id="R8a25c6ecdf1c49ff" /><Relationship Type="http://schemas.openxmlformats.org/officeDocument/2006/relationships/slide" Target="/ppt/slides/slide1.xml" Id="R1372511d332c48e4" /><Relationship Type="http://schemas.openxmlformats.org/officeDocument/2006/relationships/slide" Target="/ppt/slides/slide2.xml" Id="Ra864fdb52707442b" /><Relationship Type="http://schemas.openxmlformats.org/officeDocument/2006/relationships/slide" Target="/ppt/slides/slide3.xml" Id="Rcec8a628e68f44bc" /><Relationship Type="http://schemas.openxmlformats.org/officeDocument/2006/relationships/slide" Target="/ppt/slides/slide4.xml" Id="R3559208efc5d4203" /><Relationship Type="http://schemas.openxmlformats.org/officeDocument/2006/relationships/slide" Target="/ppt/slides/slide5.xml" Id="Re4f7be25bdf74e92" /><Relationship Type="http://schemas.openxmlformats.org/officeDocument/2006/relationships/slide" Target="/ppt/slides/slide6.xml" Id="Rf8bfd2e02f104e5f" /><Relationship Type="http://schemas.openxmlformats.org/officeDocument/2006/relationships/slide" Target="/ppt/slides/slide7.xml" Id="R71a33f3fb7df49ee" /><Relationship Type="http://schemas.openxmlformats.org/officeDocument/2006/relationships/slide" Target="/ppt/slides/slide8.xml" Id="Rfef7b1c65c3f432e" /><Relationship Type="http://schemas.openxmlformats.org/officeDocument/2006/relationships/slide" Target="/ppt/slides/slide9.xml" Id="R003a7ea81aca4c72" /><Relationship Type="http://schemas.openxmlformats.org/officeDocument/2006/relationships/slide" Target="/ppt/slides/slide10.xml" Id="R2ab191b14c3c41f7" /><Relationship Type="http://schemas.openxmlformats.org/officeDocument/2006/relationships/slide" Target="/ppt/slides/slide11.xml" Id="R8bbf83dfbc1945a4" /><Relationship Type="http://schemas.openxmlformats.org/officeDocument/2006/relationships/slide" Target="/ppt/slides/slide12.xml" Id="Rc9de37b2fbf246a4" /><Relationship Type="http://schemas.openxmlformats.org/officeDocument/2006/relationships/slide" Target="/ppt/slides/slide13.xml" Id="Rb898ac1c333749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3d2125470b4e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7265778a634173" /><Relationship Type="http://schemas.openxmlformats.org/officeDocument/2006/relationships/notesMaster" Target="/ppt/notesMasters/notesMaster1.xml" Id="Rd96e44711e2f46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b3205a794743eb" /><Relationship Type="http://schemas.openxmlformats.org/officeDocument/2006/relationships/notesMaster" Target="/ppt/notesMasters/notesMaster1.xml" Id="Redcab83673e548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1b91b435f34109" /><Relationship Type="http://schemas.openxmlformats.org/officeDocument/2006/relationships/notesMaster" Target="/ppt/notesMasters/notesMaster1.xml" Id="R4755dce2dcd843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e660e5d3b341c0" /><Relationship Type="http://schemas.openxmlformats.org/officeDocument/2006/relationships/notesMaster" Target="/ppt/notesMasters/notesMaster1.xml" Id="R1c5795360c1940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b054dd5045444d" /><Relationship Type="http://schemas.openxmlformats.org/officeDocument/2006/relationships/notesMaster" Target="/ppt/notesMasters/notesMaster1.xml" Id="R59abb923539445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65cdf6b0ed41fc" /><Relationship Type="http://schemas.openxmlformats.org/officeDocument/2006/relationships/notesMaster" Target="/ppt/notesMasters/notesMaster1.xml" Id="Rb23b7b6db27e41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27bcaafd7142a5" /><Relationship Type="http://schemas.openxmlformats.org/officeDocument/2006/relationships/notesMaster" Target="/ppt/notesMasters/notesMaster1.xml" Id="R3b38aa66ea3640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4349c2ae7a4f3c" /><Relationship Type="http://schemas.openxmlformats.org/officeDocument/2006/relationships/notesMaster" Target="/ppt/notesMasters/notesMaster1.xml" Id="Re48bf49156a1426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06e82a0ae547a1" /><Relationship Type="http://schemas.openxmlformats.org/officeDocument/2006/relationships/notesMaster" Target="/ppt/notesMasters/notesMaster1.xml" Id="R2c9781112c6d487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5a3933fe5049bb" /><Relationship Type="http://schemas.openxmlformats.org/officeDocument/2006/relationships/notesMaster" Target="/ppt/notesMasters/notesMaster1.xml" Id="R4db4e95bd20748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01cfc79edfa43d1" /><Relationship Type="http://schemas.openxmlformats.org/officeDocument/2006/relationships/notesMaster" Target="/ppt/notesMasters/notesMaster1.xml" Id="Rd79f5626ca13412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7d48fb25a740b1" /><Relationship Type="http://schemas.openxmlformats.org/officeDocument/2006/relationships/notesMaster" Target="/ppt/notesMasters/notesMaster1.xml" Id="R9c21d8b2bfef4b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5d423b8a594bb3" /><Relationship Type="http://schemas.openxmlformats.org/officeDocument/2006/relationships/notesMaster" Target="/ppt/notesMasters/notesMaster1.xml" Id="Rb5107d2a91a544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Lens is an internal company-intelligence interface. It uses 10 fictional companies and 59 fictional source records. Two companies represent the portfolio. Eight companies represent the pipeline. The app imports static CRM, meeting, Slack, and news files. It creates OpenAI embeddings, stores evidence in PostgreSQL, retrieves evidence for one company, and uses gpt-5.6-sol to create a source-supported brief. The principal can open the evidence and original record for each statement and can send feedback. The prototype has no live connectors and gives no investment recommendation.</a:t>
            </a:r>
          </a:p>
          <a:p xmlns:a="http://schemas.openxmlformats.org/drawingml/2006/main">
            <a:r>
              <a:t/>
            </a:r>
          </a:p>
          <a:p xmlns:a="http://schemas.openxmlformats.org/drawingml/2006/main">
            <a:r>
              <a:t>[Sources]</a:t>
            </a:r>
          </a:p>
          <a:p xmlns:a="http://schemas.openxmlformats.org/drawingml/2006/main">
            <a:r>
              <a:t>- /Users/alexthorpe/Documents/GitHub/AVIC/scripts/verify-embeddings.ts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importer maps every record to one known company. It keeps the original content and calculates a checksum. It creates structured facts and search chunks. It sends only fictional normalized chunk text to the OpenAI Embeddings API. It stores the model, dimension, input checksum, and creation time with each embedding. A repeat import does not request an embedding when this fingerprint is current. Public filings are a planned source only.</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/Users/alexthorpe/Documents/GitHub/AVIC/db/schema.sql</a:t>
            </a:r>
          </a:p>
          <a:p xmlns:a="http://schemas.openxmlformats.org/drawingml/2006/main">
            <a:r>
              <a:t>- /Users/alexthorpe/Documents/GitHub/AVIC/demo_data/manifest.json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95eb98106e42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ec5ec67df54152" /><Relationship Type="http://schemas.openxmlformats.org/officeDocument/2006/relationships/slideLayout" Target="/ppt/slideLayouts/slideLayout1.xml" Id="R4749e594489245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49e594489245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79522a2f634e8b" /><Relationship Type="http://schemas.openxmlformats.org/officeDocument/2006/relationships/notesSlide" Target="/ppt/notesSlides/notesSlide1.xml" Id="Ra5f3a977a1334b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5a4f52fef943f7" /><Relationship Type="http://schemas.openxmlformats.org/officeDocument/2006/relationships/notesSlide" Target="/ppt/notesSlides/notesSlide2.xml" Id="Rf1156d2e050742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afbd2290e34349" /><Relationship Type="http://schemas.openxmlformats.org/officeDocument/2006/relationships/image" Target="/ppt/media/image.jpeg" Id="Rb94da86ce9544af9" /><Relationship Type="http://schemas.openxmlformats.org/officeDocument/2006/relationships/notesSlide" Target="/ppt/notesSlides/notesSlide3.xml" Id="R1a7753d2473149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9fe77d56b914404" /><Relationship Type="http://schemas.openxmlformats.org/officeDocument/2006/relationships/notesSlide" Target="/ppt/notesSlides/notesSlide4.xml" Id="Rb60b79a0d0d042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dd1e4c219d429d" /><Relationship Type="http://schemas.openxmlformats.org/officeDocument/2006/relationships/image" Target="/ppt/media/image.png" Id="Ra80e808e43054a71" /><Relationship Type="http://schemas.openxmlformats.org/officeDocument/2006/relationships/notesSlide" Target="/ppt/notesSlides/notesSlide5.xml" Id="R97a87508dd2848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bb7c3a0e7e42e9" /><Relationship Type="http://schemas.openxmlformats.org/officeDocument/2006/relationships/notesSlide" Target="/ppt/notesSlides/notesSlide6.xml" Id="R377a04bd41aa4a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c5f94a5763f49d2" /><Relationship Type="http://schemas.openxmlformats.org/officeDocument/2006/relationships/notesSlide" Target="/ppt/notesSlides/notesSlide7.xml" Id="Rb3898d02a8504c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d95c66d26e04c95" /><Relationship Type="http://schemas.openxmlformats.org/officeDocument/2006/relationships/notesSlide" Target="/ppt/notesSlides/notesSlide8.xml" Id="R198712c1a2cd4a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d1293836b554843" /><Relationship Type="http://schemas.openxmlformats.org/officeDocument/2006/relationships/notesSlide" Target="/ppt/notesSlides/notesSlide9.xml" Id="R1ff40b172e354d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cabe80b5df4ceb" /><Relationship Type="http://schemas.openxmlformats.org/officeDocument/2006/relationships/notesSlide" Target="/ppt/notesSlides/notesSlide10.xml" Id="Rc5e97e6954c74d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03c15f8813f4aa5" /><Relationship Type="http://schemas.openxmlformats.org/officeDocument/2006/relationships/notesSlide" Target="/ppt/notesSlides/notesSlide11.xml" Id="R494906587583482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24d6e6808f14221" /><Relationship Type="http://schemas.openxmlformats.org/officeDocument/2006/relationships/notesSlide" Target="/ppt/notesSlides/notesSlide12.xml" Id="R216fe7b5330143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9c58a3129634dcf" /><Relationship Type="http://schemas.openxmlformats.org/officeDocument/2006/relationships/notesSlide" Target="/ppt/notesSlides/notesSlide13.xml" Id="Rf759481697e8440d"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b94da86ce9544af9"/>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4E38232-A601-4B33-99ED-19B54747F4B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is Lens?</a:t>
            </a:r>
          </a:p>
        </p:txBody>
      </p:sp>
      <p:sp>
        <p:nvSpPr>
          <p:cNvPr id="2" name="">
            <a:extLst xmlns:a="http://schemas.openxmlformats.org/drawingml/2006/main">
              <a:ext uri="{FF2B5EF4-FFF2-40B4-BE49-F238E27FC236}">
                <a16:creationId xmlns:a16="http://schemas.microsoft.com/office/drawing/2014/main" id="{9CF82D18-9423-4C8C-AF4D-EA6D1329C100}"/>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5357D0EB-B896-497B-BED0-F0C1C550C97F}"/>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87DAD644-55F4-4DAD-96B3-DC6C170A1372}"/>
              </a:ext>
            </a:extLst>
          </p:cNvPr>
          <p:cNvSpPr>
            <a:spLocks xmlns:a="http://schemas.openxmlformats.org/drawingml/2006/main" noGrp="1"/>
          </p:cNvSpPr>
          <p:nvPr/>
        </p:nvSpPr>
        <p:spPr>
          <a:xfrm xmlns:a="http://schemas.openxmlformats.org/drawingml/2006/main">
            <a:off x="4572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314023AE-B558-4188-A8C4-2414A5FEB0DC}"/>
              </a:ext>
            </a:extLst>
          </p:cNvPr>
          <p:cNvSpPr>
            <a:spLocks xmlns:a="http://schemas.openxmlformats.org/drawingml/2006/main" noGrp="1"/>
          </p:cNvSpPr>
          <p:nvPr/>
        </p:nvSpPr>
        <p:spPr>
          <a:xfrm xmlns:a="http://schemas.openxmlformats.org/drawingml/2006/main">
            <a:off x="6858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E1771CD-5CDF-4F6B-8D87-192966526F68}"/>
              </a:ext>
            </a:extLst>
          </p:cNvPr>
          <p:cNvSpPr>
            <a:spLocks xmlns:a="http://schemas.openxmlformats.org/drawingml/2006/main" noGrp="1"/>
          </p:cNvSpPr>
          <p:nvPr/>
        </p:nvSpPr>
        <p:spPr>
          <a:xfrm xmlns:a="http://schemas.openxmlformats.org/drawingml/2006/main">
            <a:off x="6858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fictional companies</a:t>
            </a:r>
          </a:p>
        </p:txBody>
      </p:sp>
      <p:sp>
        <p:nvSpPr>
          <p:cNvPr id="7" name="">
            <a:extLst xmlns:a="http://schemas.openxmlformats.org/drawingml/2006/main">
              <a:ext uri="{FF2B5EF4-FFF2-40B4-BE49-F238E27FC236}">
                <a16:creationId xmlns:a16="http://schemas.microsoft.com/office/drawing/2014/main" id="{37B25352-7D58-4731-93B8-9020F1ABEFF7}"/>
              </a:ext>
            </a:extLst>
          </p:cNvPr>
          <p:cNvSpPr>
            <a:spLocks xmlns:a="http://schemas.openxmlformats.org/drawingml/2006/main" noGrp="1"/>
          </p:cNvSpPr>
          <p:nvPr/>
        </p:nvSpPr>
        <p:spPr>
          <a:xfrm xmlns:a="http://schemas.openxmlformats.org/drawingml/2006/main">
            <a:off x="6858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2 portfolio and 8 pipeline</a:t>
            </a:r>
          </a:p>
        </p:txBody>
      </p:sp>
      <p:sp>
        <p:nvSpPr>
          <p:cNvPr id="8" name="">
            <a:extLst xmlns:a="http://schemas.openxmlformats.org/drawingml/2006/main">
              <a:ext uri="{FF2B5EF4-FFF2-40B4-BE49-F238E27FC236}">
                <a16:creationId xmlns:a16="http://schemas.microsoft.com/office/drawing/2014/main" id="{82E99601-794F-4030-A1A7-8FC7D141F1C2}"/>
              </a:ext>
            </a:extLst>
          </p:cNvPr>
          <p:cNvSpPr>
            <a:spLocks xmlns:a="http://schemas.openxmlformats.org/drawingml/2006/main" noGrp="1"/>
          </p:cNvSpPr>
          <p:nvPr/>
        </p:nvSpPr>
        <p:spPr>
          <a:xfrm xmlns:a="http://schemas.openxmlformats.org/drawingml/2006/main">
            <a:off x="32194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BD8EEEBF-ED4F-4DB0-B74E-485AC67C2648}"/>
              </a:ext>
            </a:extLst>
          </p:cNvPr>
          <p:cNvSpPr>
            <a:spLocks xmlns:a="http://schemas.openxmlformats.org/drawingml/2006/main" noGrp="1"/>
          </p:cNvSpPr>
          <p:nvPr/>
        </p:nvSpPr>
        <p:spPr>
          <a:xfrm xmlns:a="http://schemas.openxmlformats.org/drawingml/2006/main">
            <a:off x="34480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a:t>
            </a:r>
          </a:p>
        </p:txBody>
      </p:sp>
      <p:sp>
        <p:nvSpPr>
          <p:cNvPr id="10" name="">
            <a:extLst xmlns:a="http://schemas.openxmlformats.org/drawingml/2006/main">
              <a:ext uri="{FF2B5EF4-FFF2-40B4-BE49-F238E27FC236}">
                <a16:creationId xmlns:a16="http://schemas.microsoft.com/office/drawing/2014/main" id="{5F07C502-96F0-4528-9AA9-9508C99E1D73}"/>
              </a:ext>
            </a:extLst>
          </p:cNvPr>
          <p:cNvSpPr>
            <a:spLocks xmlns:a="http://schemas.openxmlformats.org/drawingml/2006/main" noGrp="1"/>
          </p:cNvSpPr>
          <p:nvPr/>
        </p:nvSpPr>
        <p:spPr>
          <a:xfrm xmlns:a="http://schemas.openxmlformats.org/drawingml/2006/main">
            <a:off x="34480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source records</a:t>
            </a:r>
          </a:p>
        </p:txBody>
      </p:sp>
      <p:sp>
        <p:nvSpPr>
          <p:cNvPr id="11" name="">
            <a:extLst xmlns:a="http://schemas.openxmlformats.org/drawingml/2006/main">
              <a:ext uri="{FF2B5EF4-FFF2-40B4-BE49-F238E27FC236}">
                <a16:creationId xmlns:a16="http://schemas.microsoft.com/office/drawing/2014/main" id="{D1DC854F-FB4F-485B-A83F-10B17B86FA5B}"/>
              </a:ext>
            </a:extLst>
          </p:cNvPr>
          <p:cNvSpPr>
            <a:spLocks xmlns:a="http://schemas.openxmlformats.org/drawingml/2006/main" noGrp="1"/>
          </p:cNvSpPr>
          <p:nvPr/>
        </p:nvSpPr>
        <p:spPr>
          <a:xfrm xmlns:a="http://schemas.openxmlformats.org/drawingml/2006/main">
            <a:off x="34480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7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CRM, meeting, Slack, and news</a:t>
            </a:r>
          </a:p>
        </p:txBody>
      </p:sp>
      <p:sp>
        <p:nvSpPr>
          <p:cNvPr id="12" name="">
            <a:extLst xmlns:a="http://schemas.openxmlformats.org/drawingml/2006/main">
              <a:ext uri="{FF2B5EF4-FFF2-40B4-BE49-F238E27FC236}">
                <a16:creationId xmlns:a16="http://schemas.microsoft.com/office/drawing/2014/main" id="{ABBA07DD-7C4B-4BA8-9FD7-C902B861D6E7}"/>
              </a:ext>
            </a:extLst>
          </p:cNvPr>
          <p:cNvSpPr>
            <a:spLocks xmlns:a="http://schemas.openxmlformats.org/drawingml/2006/main" noGrp="1"/>
          </p:cNvSpPr>
          <p:nvPr/>
        </p:nvSpPr>
        <p:spPr>
          <a:xfrm xmlns:a="http://schemas.openxmlformats.org/drawingml/2006/main">
            <a:off x="59817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56F624D3-AE3A-442B-8B1A-64819C6AAAAD}"/>
              </a:ext>
            </a:extLst>
          </p:cNvPr>
          <p:cNvSpPr>
            <a:spLocks xmlns:a="http://schemas.openxmlformats.org/drawingml/2006/main" noGrp="1"/>
          </p:cNvSpPr>
          <p:nvPr/>
        </p:nvSpPr>
        <p:spPr>
          <a:xfrm xmlns:a="http://schemas.openxmlformats.org/drawingml/2006/main">
            <a:off x="62103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59/59</a:t>
            </a:r>
          </a:p>
        </p:txBody>
      </p:sp>
      <p:sp>
        <p:nvSpPr>
          <p:cNvPr id="14" name="">
            <a:extLst xmlns:a="http://schemas.openxmlformats.org/drawingml/2006/main">
              <a:ext uri="{FF2B5EF4-FFF2-40B4-BE49-F238E27FC236}">
                <a16:creationId xmlns:a16="http://schemas.microsoft.com/office/drawing/2014/main" id="{1420C9FC-2AC7-416A-A2AE-55B2A3843175}"/>
              </a:ext>
            </a:extLst>
          </p:cNvPr>
          <p:cNvSpPr>
            <a:spLocks xmlns:a="http://schemas.openxmlformats.org/drawingml/2006/main" noGrp="1"/>
          </p:cNvSpPr>
          <p:nvPr/>
        </p:nvSpPr>
        <p:spPr>
          <a:xfrm xmlns:a="http://schemas.openxmlformats.org/drawingml/2006/main">
            <a:off x="62103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71"/>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chunks with OpenAI embeddings</a:t>
            </a:r>
          </a:p>
        </p:txBody>
      </p:sp>
      <p:sp>
        <p:nvSpPr>
          <p:cNvPr id="15" name="">
            <a:extLst xmlns:a="http://schemas.openxmlformats.org/drawingml/2006/main">
              <a:ext uri="{FF2B5EF4-FFF2-40B4-BE49-F238E27FC236}">
                <a16:creationId xmlns:a16="http://schemas.microsoft.com/office/drawing/2014/main" id="{F8ADA876-54C8-4B79-98D6-E924FCC1BCCE}"/>
              </a:ext>
            </a:extLst>
          </p:cNvPr>
          <p:cNvSpPr>
            <a:spLocks xmlns:a="http://schemas.openxmlformats.org/drawingml/2006/main" noGrp="1"/>
          </p:cNvSpPr>
          <p:nvPr/>
        </p:nvSpPr>
        <p:spPr>
          <a:xfrm xmlns:a="http://schemas.openxmlformats.org/drawingml/2006/main">
            <a:off x="62103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983"/>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One current embedding per chunk</a:t>
            </a:r>
          </a:p>
        </p:txBody>
      </p:sp>
      <p:sp>
        <p:nvSpPr>
          <p:cNvPr id="16" name="">
            <a:extLst xmlns:a="http://schemas.openxmlformats.org/drawingml/2006/main">
              <a:ext uri="{FF2B5EF4-FFF2-40B4-BE49-F238E27FC236}">
                <a16:creationId xmlns:a16="http://schemas.microsoft.com/office/drawing/2014/main" id="{867410BE-6050-42D8-9D7C-717BCC6356C1}"/>
              </a:ext>
            </a:extLst>
          </p:cNvPr>
          <p:cNvSpPr>
            <a:spLocks xmlns:a="http://schemas.openxmlformats.org/drawingml/2006/main" noGrp="1"/>
          </p:cNvSpPr>
          <p:nvPr/>
        </p:nvSpPr>
        <p:spPr>
          <a:xfrm xmlns:a="http://schemas.openxmlformats.org/drawingml/2006/main">
            <a:off x="87439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218C5DF-6CF6-48B8-B277-34D4DC67FE8B}"/>
              </a:ext>
            </a:extLst>
          </p:cNvPr>
          <p:cNvSpPr>
            <a:spLocks xmlns:a="http://schemas.openxmlformats.org/drawingml/2006/main" noGrp="1"/>
          </p:cNvSpPr>
          <p:nvPr/>
        </p:nvSpPr>
        <p:spPr>
          <a:xfrm xmlns:a="http://schemas.openxmlformats.org/drawingml/2006/main">
            <a:off x="89725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V1</a:t>
            </a:r>
          </a:p>
        </p:txBody>
      </p:sp>
      <p:sp>
        <p:nvSpPr>
          <p:cNvPr id="18" name="">
            <a:extLst xmlns:a="http://schemas.openxmlformats.org/drawingml/2006/main">
              <a:ext uri="{FF2B5EF4-FFF2-40B4-BE49-F238E27FC236}">
                <a16:creationId xmlns:a16="http://schemas.microsoft.com/office/drawing/2014/main" id="{C036AE3F-D1C4-4D0D-A35F-DFF5F7BF2432}"/>
              </a:ext>
            </a:extLst>
          </p:cNvPr>
          <p:cNvSpPr>
            <a:spLocks xmlns:a="http://schemas.openxmlformats.org/drawingml/2006/main" noGrp="1"/>
          </p:cNvSpPr>
          <p:nvPr/>
        </p:nvSpPr>
        <p:spPr>
          <a:xfrm xmlns:a="http://schemas.openxmlformats.org/drawingml/2006/main">
            <a:off x="89725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working prototype</a:t>
            </a:r>
          </a:p>
        </p:txBody>
      </p:sp>
      <p:sp>
        <p:nvSpPr>
          <p:cNvPr id="19" name="">
            <a:extLst xmlns:a="http://schemas.openxmlformats.org/drawingml/2006/main">
              <a:ext uri="{FF2B5EF4-FFF2-40B4-BE49-F238E27FC236}">
                <a16:creationId xmlns:a16="http://schemas.microsoft.com/office/drawing/2014/main" id="{3CA3273F-9072-42DE-948B-4BE817865220}"/>
              </a:ext>
            </a:extLst>
          </p:cNvPr>
          <p:cNvSpPr>
            <a:spLocks xmlns:a="http://schemas.openxmlformats.org/drawingml/2006/main" noGrp="1"/>
          </p:cNvSpPr>
          <p:nvPr/>
        </p:nvSpPr>
        <p:spPr>
          <a:xfrm xmlns:a="http://schemas.openxmlformats.org/drawingml/2006/main">
            <a:off x="89725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Source-supported briefs</a:t>
            </a:r>
          </a:p>
        </p:txBody>
      </p:sp>
      <p:sp>
        <p:nvSpPr>
          <p:cNvPr id="20" name="">
            <a:extLst xmlns:a="http://schemas.openxmlformats.org/drawingml/2006/main">
              <a:ext uri="{FF2B5EF4-FFF2-40B4-BE49-F238E27FC236}">
                <a16:creationId xmlns:a16="http://schemas.microsoft.com/office/drawing/2014/main" id="{BC696C22-8CC4-42C1-AE87-E04618B67F45}"/>
              </a:ext>
            </a:extLst>
          </p:cNvPr>
          <p:cNvSpPr>
            <a:spLocks xmlns:a="http://schemas.openxmlformats.org/drawingml/2006/main" noGrp="1"/>
          </p:cNvSpPr>
          <p:nvPr/>
        </p:nvSpPr>
        <p:spPr>
          <a:xfrm xmlns:a="http://schemas.openxmlformats.org/drawingml/2006/main">
            <a:off x="457200" y="3619500"/>
            <a:ext cx="10858500" cy="2038350"/>
          </a:xfrm>
          <a:prstGeom xmlns:a="http://schemas.openxmlformats.org/drawingml/2006/main" prst="roundRect">
            <a:avLst>
              <a:gd name="adj" fmla="val 8411"/>
            </a:avLst>
          </a:prstGeom>
          <a:solidFill xmlns:a="http://schemas.openxmlformats.org/drawingml/2006/main">
            <a:srgbClr val="E8F0FB"/>
          </a:solidFill>
          <a:ln xmlns:a="http://schemas.openxmlformats.org/drawingml/2006/main" w="9525">
            <a:solidFill>
              <a:srgbClr val="9CB5D5"/>
            </a:solidFill>
            <a:prstDash val="solid"/>
          </a:ln>
        </p:spPr>
      </p:sp>
      <p:sp>
        <p:nvSpPr>
          <p:cNvPr id="21" name="">
            <a:extLst xmlns:a="http://schemas.openxmlformats.org/drawingml/2006/main">
              <a:ext uri="{FF2B5EF4-FFF2-40B4-BE49-F238E27FC236}">
                <a16:creationId xmlns:a16="http://schemas.microsoft.com/office/drawing/2014/main" id="{01642584-EDEF-43BF-99E6-5BF978F0C444}"/>
              </a:ext>
            </a:extLst>
          </p:cNvPr>
          <p:cNvSpPr>
            <a:spLocks xmlns:a="http://schemas.openxmlformats.org/drawingml/2006/main" noGrp="1"/>
          </p:cNvSpPr>
          <p:nvPr/>
        </p:nvSpPr>
        <p:spPr>
          <a:xfrm xmlns:a="http://schemas.openxmlformats.org/drawingml/2006/main">
            <a:off x="742950" y="38766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What the prototype does</a:t>
            </a:r>
          </a:p>
        </p:txBody>
      </p:sp>
      <p:sp>
        <p:nvSpPr>
          <p:cNvPr id="22" name="">
            <a:extLst xmlns:a="http://schemas.openxmlformats.org/drawingml/2006/main">
              <a:ext uri="{FF2B5EF4-FFF2-40B4-BE49-F238E27FC236}">
                <a16:creationId xmlns:a16="http://schemas.microsoft.com/office/drawing/2014/main" id="{18919A00-4C98-4488-A084-4206A387CCFB}"/>
              </a:ext>
            </a:extLst>
          </p:cNvPr>
          <p:cNvSpPr>
            <a:spLocks xmlns:a="http://schemas.openxmlformats.org/drawingml/2006/main" noGrp="1"/>
          </p:cNvSpPr>
          <p:nvPr/>
        </p:nvSpPr>
        <p:spPr>
          <a:xfrm xmlns:a="http://schemas.openxmlformats.org/drawingml/2006/main">
            <a:off x="74295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3" name="">
            <a:extLst xmlns:a="http://schemas.openxmlformats.org/drawingml/2006/main">
              <a:ext uri="{FF2B5EF4-FFF2-40B4-BE49-F238E27FC236}">
                <a16:creationId xmlns:a16="http://schemas.microsoft.com/office/drawing/2014/main" id="{27A3D507-5D5C-4554-892E-A568CD05BFA9}"/>
              </a:ext>
            </a:extLst>
          </p:cNvPr>
          <p:cNvSpPr>
            <a:spLocks xmlns:a="http://schemas.openxmlformats.org/drawingml/2006/main" noGrp="1"/>
          </p:cNvSpPr>
          <p:nvPr/>
        </p:nvSpPr>
        <p:spPr>
          <a:xfrm xmlns:a="http://schemas.openxmlformats.org/drawingml/2006/main">
            <a:off x="80010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4" name="">
            <a:extLst xmlns:a="http://schemas.openxmlformats.org/drawingml/2006/main">
              <a:ext uri="{FF2B5EF4-FFF2-40B4-BE49-F238E27FC236}">
                <a16:creationId xmlns:a16="http://schemas.microsoft.com/office/drawing/2014/main" id="{77C3477F-C2B0-47D9-9B9A-0E325FC48695}"/>
              </a:ext>
            </a:extLst>
          </p:cNvPr>
          <p:cNvSpPr>
            <a:spLocks xmlns:a="http://schemas.openxmlformats.org/drawingml/2006/main" noGrp="1"/>
          </p:cNvSpPr>
          <p:nvPr/>
        </p:nvSpPr>
        <p:spPr>
          <a:xfrm xmlns:a="http://schemas.openxmlformats.org/drawingml/2006/main">
            <a:off x="1162050" y="4343400"/>
            <a:ext cx="4343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Builds one current brief from selected evidence</a:t>
            </a:r>
          </a:p>
        </p:txBody>
      </p:sp>
      <p:sp>
        <p:nvSpPr>
          <p:cNvPr id="25" name="">
            <a:extLst xmlns:a="http://schemas.openxmlformats.org/drawingml/2006/main">
              <a:ext uri="{FF2B5EF4-FFF2-40B4-BE49-F238E27FC236}">
                <a16:creationId xmlns:a16="http://schemas.microsoft.com/office/drawing/2014/main" id="{02C2EE5B-BD3B-4F9C-8687-99BBB16AD392}"/>
              </a:ext>
            </a:extLst>
          </p:cNvPr>
          <p:cNvSpPr>
            <a:spLocks xmlns:a="http://schemas.openxmlformats.org/drawingml/2006/main" noGrp="1"/>
          </p:cNvSpPr>
          <p:nvPr/>
        </p:nvSpPr>
        <p:spPr>
          <a:xfrm xmlns:a="http://schemas.openxmlformats.org/drawingml/2006/main">
            <a:off x="1162050" y="4629150"/>
            <a:ext cx="434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The principal can open each statement, source excerpt, and original record.</a:t>
            </a:r>
          </a:p>
        </p:txBody>
      </p:sp>
      <p:sp>
        <p:nvSpPr>
          <p:cNvPr id="26" name="">
            <a:extLst xmlns:a="http://schemas.openxmlformats.org/drawingml/2006/main">
              <a:ext uri="{FF2B5EF4-FFF2-40B4-BE49-F238E27FC236}">
                <a16:creationId xmlns:a16="http://schemas.microsoft.com/office/drawing/2014/main" id="{5031F99B-19F7-481F-8767-3BE4ABAF7DDA}"/>
              </a:ext>
            </a:extLst>
          </p:cNvPr>
          <p:cNvSpPr>
            <a:spLocks xmlns:a="http://schemas.openxmlformats.org/drawingml/2006/main" noGrp="1"/>
          </p:cNvSpPr>
          <p:nvPr/>
        </p:nvSpPr>
        <p:spPr>
          <a:xfrm xmlns:a="http://schemas.openxmlformats.org/drawingml/2006/main">
            <a:off x="590550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7" name="">
            <a:extLst xmlns:a="http://schemas.openxmlformats.org/drawingml/2006/main">
              <a:ext uri="{FF2B5EF4-FFF2-40B4-BE49-F238E27FC236}">
                <a16:creationId xmlns:a16="http://schemas.microsoft.com/office/drawing/2014/main" id="{612BAD4C-E725-46B0-A148-5CC6F7910A93}"/>
              </a:ext>
            </a:extLst>
          </p:cNvPr>
          <p:cNvSpPr>
            <a:spLocks xmlns:a="http://schemas.openxmlformats.org/drawingml/2006/main" noGrp="1"/>
          </p:cNvSpPr>
          <p:nvPr/>
        </p:nvSpPr>
        <p:spPr>
          <a:xfrm xmlns:a="http://schemas.openxmlformats.org/drawingml/2006/main">
            <a:off x="596265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8" name="">
            <a:extLst xmlns:a="http://schemas.openxmlformats.org/drawingml/2006/main">
              <a:ext uri="{FF2B5EF4-FFF2-40B4-BE49-F238E27FC236}">
                <a16:creationId xmlns:a16="http://schemas.microsoft.com/office/drawing/2014/main" id="{0E74E3D3-7DB7-4D0F-B262-FDAFC9F547F6}"/>
              </a:ext>
            </a:extLst>
          </p:cNvPr>
          <p:cNvSpPr>
            <a:spLocks xmlns:a="http://schemas.openxmlformats.org/drawingml/2006/main" noGrp="1"/>
          </p:cNvSpPr>
          <p:nvPr/>
        </p:nvSpPr>
        <p:spPr>
          <a:xfrm xmlns:a="http://schemas.openxmlformats.org/drawingml/2006/main">
            <a:off x="6324600" y="4343400"/>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Keeps judgment with the AIVC principal</a:t>
            </a:r>
          </a:p>
        </p:txBody>
      </p:sp>
      <p:sp>
        <p:nvSpPr>
          <p:cNvPr id="29" name="">
            <a:extLst xmlns:a="http://schemas.openxmlformats.org/drawingml/2006/main">
              <a:ext uri="{FF2B5EF4-FFF2-40B4-BE49-F238E27FC236}">
                <a16:creationId xmlns:a16="http://schemas.microsoft.com/office/drawing/2014/main" id="{B6EF0259-EF9B-41A4-8B53-D27D1B390215}"/>
              </a:ext>
            </a:extLst>
          </p:cNvPr>
          <p:cNvSpPr>
            <a:spLocks xmlns:a="http://schemas.openxmlformats.org/drawingml/2006/main" noGrp="1"/>
          </p:cNvSpPr>
          <p:nvPr/>
        </p:nvSpPr>
        <p:spPr>
          <a:xfrm xmlns:a="http://schemas.openxmlformats.org/drawingml/2006/main">
            <a:off x="6324600" y="4629150"/>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20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The app shows conflicts and missing data. It does not give investment advice.</a:t>
            </a:r>
          </a:p>
        </p:txBody>
      </p:sp>
      <p:sp>
        <p:nvSpPr>
          <p:cNvPr id="30" name="">
            <a:extLst xmlns:a="http://schemas.openxmlformats.org/drawingml/2006/main">
              <a:ext uri="{FF2B5EF4-FFF2-40B4-BE49-F238E27FC236}">
                <a16:creationId xmlns:a16="http://schemas.microsoft.com/office/drawing/2014/main" id="{4AE642AA-8B13-4653-9E09-F49AFB9EDFD2}"/>
              </a:ext>
            </a:extLst>
          </p:cNvPr>
          <p:cNvSpPr>
            <a:spLocks xmlns:a="http://schemas.openxmlformats.org/drawingml/2006/main" noGrp="1"/>
          </p:cNvSpPr>
          <p:nvPr/>
        </p:nvSpPr>
        <p:spPr>
          <a:xfrm xmlns:a="http://schemas.openxmlformats.org/drawingml/2006/main">
            <a:off x="742950" y="52197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FICTIONAL DEMO DATA ONLY · NO LIVE CONNECTORS · NO INVESTMENT RECOMMENDATIONS</a:t>
            </a:r>
          </a:p>
        </p:txBody>
      </p:sp>
    </p:spTree>
    <p:extLst>
      <p:ext uri="{BB962C8B-B14F-4D97-AF65-F5344CB8AC3E}">
        <p14:creationId xmlns:p14="http://schemas.microsoft.com/office/powerpoint/2010/main" val="217603439"/>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429"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430"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431"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432"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444"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445"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447" name=""/>
          <p:cNvPicPr>
            <a:picLocks xmlns:a="http://schemas.openxmlformats.org/drawingml/2006/main" noChangeAspect="1"/>
          </p:cNvPicPr>
          <p:nvPr/>
        </p:nvPicPr>
        <p:blipFill>
          <a:blip xmlns:r="http://schemas.openxmlformats.org/officeDocument/2006/relationships" xmlns:a="http://schemas.openxmlformats.org/drawingml/2006/main" r:embed="Ra80e808e43054a71"/>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DB7B3EEB-D638-4724-AAF7-119C489C9CD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How do source records become searchable evidence?</a:t>
            </a:r>
          </a:p>
        </p:txBody>
      </p:sp>
      <p:sp>
        <p:nvSpPr>
          <p:cNvPr id="2" name="">
            <a:extLst xmlns:a="http://schemas.openxmlformats.org/drawingml/2006/main">
              <a:ext uri="{FF2B5EF4-FFF2-40B4-BE49-F238E27FC236}">
                <a16:creationId xmlns:a16="http://schemas.microsoft.com/office/drawing/2014/main" id="{09705ED1-D51F-46D6-86F2-64D21DC0D084}"/>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06B9AC04-D709-4811-8011-6CBF5DDBDCB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24A84428-21BF-430B-AB26-3A6B26D5C7DF}"/>
              </a:ext>
            </a:extLst>
          </p:cNvPr>
          <p:cNvSpPr>
            <a:spLocks xmlns:a="http://schemas.openxmlformats.org/drawingml/2006/main" noGrp="1"/>
          </p:cNvSpPr>
          <p:nvPr/>
        </p:nvSpPr>
        <p:spPr>
          <a:xfrm xmlns:a="http://schemas.openxmlformats.org/drawingml/2006/main">
            <a:off x="457200" y="13525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V1 uses file adapters. Public filings are a target source, but the prototype has no filing adapter.</a:t>
            </a:r>
          </a:p>
        </p:txBody>
      </p:sp>
      <p:sp>
        <p:nvSpPr>
          <p:cNvPr id="5" name="">
            <a:extLst xmlns:a="http://schemas.openxmlformats.org/drawingml/2006/main">
              <a:ext uri="{FF2B5EF4-FFF2-40B4-BE49-F238E27FC236}">
                <a16:creationId xmlns:a16="http://schemas.microsoft.com/office/drawing/2014/main" id="{896AB9F0-C69D-4A69-808D-6EF2BA8CD82A}"/>
              </a:ext>
            </a:extLst>
          </p:cNvPr>
          <p:cNvSpPr>
            <a:spLocks xmlns:a="http://schemas.openxmlformats.org/drawingml/2006/main" noGrp="1"/>
          </p:cNvSpPr>
          <p:nvPr/>
        </p:nvSpPr>
        <p:spPr>
          <a:xfrm xmlns:a="http://schemas.openxmlformats.org/drawingml/2006/main">
            <a:off x="457200" y="20002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5A55690E-0B75-4171-92B6-19446C212B93}"/>
              </a:ext>
            </a:extLst>
          </p:cNvPr>
          <p:cNvSpPr>
            <a:spLocks xmlns:a="http://schemas.openxmlformats.org/drawingml/2006/main" noGrp="1"/>
          </p:cNvSpPr>
          <p:nvPr/>
        </p:nvSpPr>
        <p:spPr>
          <a:xfrm xmlns:a="http://schemas.openxmlformats.org/drawingml/2006/main">
            <a:off x="561975" y="20574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1DFBEFDC-1AD1-482F-BA2B-A1477C59E296}"/>
              </a:ext>
            </a:extLst>
          </p:cNvPr>
          <p:cNvSpPr>
            <a:spLocks xmlns:a="http://schemas.openxmlformats.org/drawingml/2006/main" noGrp="1"/>
          </p:cNvSpPr>
          <p:nvPr/>
        </p:nvSpPr>
        <p:spPr>
          <a:xfrm xmlns:a="http://schemas.openxmlformats.org/drawingml/2006/main">
            <a:off x="971550" y="20288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Read and validate one source record</a:t>
            </a:r>
          </a:p>
        </p:txBody>
      </p:sp>
      <p:sp>
        <p:nvSpPr>
          <p:cNvPr id="8" name="">
            <a:extLst xmlns:a="http://schemas.openxmlformats.org/drawingml/2006/main">
              <a:ext uri="{FF2B5EF4-FFF2-40B4-BE49-F238E27FC236}">
                <a16:creationId xmlns:a16="http://schemas.microsoft.com/office/drawing/2014/main" id="{42D004A4-470B-427C-9F30-0D4084329D3B}"/>
              </a:ext>
            </a:extLst>
          </p:cNvPr>
          <p:cNvSpPr>
            <a:spLocks xmlns:a="http://schemas.openxmlformats.org/drawingml/2006/main" noGrp="1"/>
          </p:cNvSpPr>
          <p:nvPr/>
        </p:nvSpPr>
        <p:spPr>
          <a:xfrm xmlns:a="http://schemas.openxmlformats.org/drawingml/2006/main">
            <a:off x="619125" y="23717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9" name="">
            <a:extLst xmlns:a="http://schemas.openxmlformats.org/drawingml/2006/main">
              <a:ext uri="{FF2B5EF4-FFF2-40B4-BE49-F238E27FC236}">
                <a16:creationId xmlns:a16="http://schemas.microsoft.com/office/drawing/2014/main" id="{A8A8914F-BE10-4304-B4E7-B45DA4C1C63E}"/>
              </a:ext>
            </a:extLst>
          </p:cNvPr>
          <p:cNvSpPr>
            <a:spLocks xmlns:a="http://schemas.openxmlformats.org/drawingml/2006/main" noGrp="1"/>
          </p:cNvSpPr>
          <p:nvPr/>
        </p:nvSpPr>
        <p:spPr>
          <a:xfrm xmlns:a="http://schemas.openxmlformats.org/drawingml/2006/main">
            <a:off x="457200" y="27241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744DA04E-E782-4241-A00D-8BDB6C1710A7}"/>
              </a:ext>
            </a:extLst>
          </p:cNvPr>
          <p:cNvSpPr>
            <a:spLocks xmlns:a="http://schemas.openxmlformats.org/drawingml/2006/main" noGrp="1"/>
          </p:cNvSpPr>
          <p:nvPr/>
        </p:nvSpPr>
        <p:spPr>
          <a:xfrm xmlns:a="http://schemas.openxmlformats.org/drawingml/2006/main">
            <a:off x="561975" y="27813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DF9E2949-2E8A-485A-BB75-2DF646A1DC1B}"/>
              </a:ext>
            </a:extLst>
          </p:cNvPr>
          <p:cNvSpPr>
            <a:spLocks xmlns:a="http://schemas.openxmlformats.org/drawingml/2006/main" noGrp="1"/>
          </p:cNvSpPr>
          <p:nvPr/>
        </p:nvSpPr>
        <p:spPr>
          <a:xfrm xmlns:a="http://schemas.openxmlformats.org/drawingml/2006/main">
            <a:off x="971550" y="27527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Assign a known company ID</a:t>
            </a:r>
          </a:p>
        </p:txBody>
      </p:sp>
      <p:sp>
        <p:nvSpPr>
          <p:cNvPr id="12" name="">
            <a:extLst xmlns:a="http://schemas.openxmlformats.org/drawingml/2006/main">
              <a:ext uri="{FF2B5EF4-FFF2-40B4-BE49-F238E27FC236}">
                <a16:creationId xmlns:a16="http://schemas.microsoft.com/office/drawing/2014/main" id="{BA392708-9950-446C-9ADA-FBD2E6F519AB}"/>
              </a:ext>
            </a:extLst>
          </p:cNvPr>
          <p:cNvSpPr>
            <a:spLocks xmlns:a="http://schemas.openxmlformats.org/drawingml/2006/main" noGrp="1"/>
          </p:cNvSpPr>
          <p:nvPr/>
        </p:nvSpPr>
        <p:spPr>
          <a:xfrm xmlns:a="http://schemas.openxmlformats.org/drawingml/2006/main">
            <a:off x="619125" y="30956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3" name="">
            <a:extLst xmlns:a="http://schemas.openxmlformats.org/drawingml/2006/main">
              <a:ext uri="{FF2B5EF4-FFF2-40B4-BE49-F238E27FC236}">
                <a16:creationId xmlns:a16="http://schemas.microsoft.com/office/drawing/2014/main" id="{4AF011EC-1C83-4C78-B335-F8C94918CC8D}"/>
              </a:ext>
            </a:extLst>
          </p:cNvPr>
          <p:cNvSpPr>
            <a:spLocks xmlns:a="http://schemas.openxmlformats.org/drawingml/2006/main" noGrp="1"/>
          </p:cNvSpPr>
          <p:nvPr/>
        </p:nvSpPr>
        <p:spPr>
          <a:xfrm xmlns:a="http://schemas.openxmlformats.org/drawingml/2006/main">
            <a:off x="457200" y="34480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267B03D7-4FFF-4222-8023-4B9CA2C306D3}"/>
              </a:ext>
            </a:extLst>
          </p:cNvPr>
          <p:cNvSpPr>
            <a:spLocks xmlns:a="http://schemas.openxmlformats.org/drawingml/2006/main" noGrp="1"/>
          </p:cNvSpPr>
          <p:nvPr/>
        </p:nvSpPr>
        <p:spPr>
          <a:xfrm xmlns:a="http://schemas.openxmlformats.org/drawingml/2006/main">
            <a:off x="561975" y="35052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E878125C-7399-406D-BC38-0734C61BE00C}"/>
              </a:ext>
            </a:extLst>
          </p:cNvPr>
          <p:cNvSpPr>
            <a:spLocks xmlns:a="http://schemas.openxmlformats.org/drawingml/2006/main" noGrp="1"/>
          </p:cNvSpPr>
          <p:nvPr/>
        </p:nvSpPr>
        <p:spPr>
          <a:xfrm xmlns:a="http://schemas.openxmlformats.org/drawingml/2006/main">
            <a:off x="971550" y="34766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Keep the original content, dates, and source location</a:t>
            </a:r>
          </a:p>
        </p:txBody>
      </p:sp>
      <p:sp>
        <p:nvSpPr>
          <p:cNvPr id="16" name="">
            <a:extLst xmlns:a="http://schemas.openxmlformats.org/drawingml/2006/main">
              <a:ext uri="{FF2B5EF4-FFF2-40B4-BE49-F238E27FC236}">
                <a16:creationId xmlns:a16="http://schemas.microsoft.com/office/drawing/2014/main" id="{D7561669-D96D-4F99-AAE4-AE64D61FD29B}"/>
              </a:ext>
            </a:extLst>
          </p:cNvPr>
          <p:cNvSpPr>
            <a:spLocks xmlns:a="http://schemas.openxmlformats.org/drawingml/2006/main" noGrp="1"/>
          </p:cNvSpPr>
          <p:nvPr/>
        </p:nvSpPr>
        <p:spPr>
          <a:xfrm xmlns:a="http://schemas.openxmlformats.org/drawingml/2006/main">
            <a:off x="619125" y="38195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7" name="">
            <a:extLst xmlns:a="http://schemas.openxmlformats.org/drawingml/2006/main">
              <a:ext uri="{FF2B5EF4-FFF2-40B4-BE49-F238E27FC236}">
                <a16:creationId xmlns:a16="http://schemas.microsoft.com/office/drawing/2014/main" id="{5969D8FE-F79D-4F30-8530-3ED39A96BD24}"/>
              </a:ext>
            </a:extLst>
          </p:cNvPr>
          <p:cNvSpPr>
            <a:spLocks xmlns:a="http://schemas.openxmlformats.org/drawingml/2006/main" noGrp="1"/>
          </p:cNvSpPr>
          <p:nvPr/>
        </p:nvSpPr>
        <p:spPr>
          <a:xfrm xmlns:a="http://schemas.openxmlformats.org/drawingml/2006/main">
            <a:off x="457200" y="41719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DE72449E-1384-407C-AC51-A2662CEB52CA}"/>
              </a:ext>
            </a:extLst>
          </p:cNvPr>
          <p:cNvSpPr>
            <a:spLocks xmlns:a="http://schemas.openxmlformats.org/drawingml/2006/main" noGrp="1"/>
          </p:cNvSpPr>
          <p:nvPr/>
        </p:nvSpPr>
        <p:spPr>
          <a:xfrm xmlns:a="http://schemas.openxmlformats.org/drawingml/2006/main">
            <a:off x="561975" y="42291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D786C1E8-153D-4E33-BBE6-7D81EB56046E}"/>
              </a:ext>
            </a:extLst>
          </p:cNvPr>
          <p:cNvSpPr>
            <a:spLocks xmlns:a="http://schemas.openxmlformats.org/drawingml/2006/main" noGrp="1"/>
          </p:cNvSpPr>
          <p:nvPr/>
        </p:nvSpPr>
        <p:spPr>
          <a:xfrm xmlns:a="http://schemas.openxmlformats.org/drawingml/2006/main">
            <a:off x="971550" y="42005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Normalize the text and calculate a checksum</a:t>
            </a:r>
          </a:p>
        </p:txBody>
      </p:sp>
      <p:sp>
        <p:nvSpPr>
          <p:cNvPr id="20" name="">
            <a:extLst xmlns:a="http://schemas.openxmlformats.org/drawingml/2006/main">
              <a:ext uri="{FF2B5EF4-FFF2-40B4-BE49-F238E27FC236}">
                <a16:creationId xmlns:a16="http://schemas.microsoft.com/office/drawing/2014/main" id="{FCCB409B-36D1-4D07-8523-93405C75454C}"/>
              </a:ext>
            </a:extLst>
          </p:cNvPr>
          <p:cNvSpPr>
            <a:spLocks xmlns:a="http://schemas.openxmlformats.org/drawingml/2006/main" noGrp="1"/>
          </p:cNvSpPr>
          <p:nvPr/>
        </p:nvSpPr>
        <p:spPr>
          <a:xfrm xmlns:a="http://schemas.openxmlformats.org/drawingml/2006/main">
            <a:off x="619125" y="45434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21" name="">
            <a:extLst xmlns:a="http://schemas.openxmlformats.org/drawingml/2006/main">
              <a:ext uri="{FF2B5EF4-FFF2-40B4-BE49-F238E27FC236}">
                <a16:creationId xmlns:a16="http://schemas.microsoft.com/office/drawing/2014/main" id="{C901AFB4-3CC6-4EF1-99E3-CA08389983BB}"/>
              </a:ext>
            </a:extLst>
          </p:cNvPr>
          <p:cNvSpPr>
            <a:spLocks xmlns:a="http://schemas.openxmlformats.org/drawingml/2006/main" noGrp="1"/>
          </p:cNvSpPr>
          <p:nvPr/>
        </p:nvSpPr>
        <p:spPr>
          <a:xfrm xmlns:a="http://schemas.openxmlformats.org/drawingml/2006/main">
            <a:off x="457200" y="48958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2" name="">
            <a:extLst xmlns:a="http://schemas.openxmlformats.org/drawingml/2006/main">
              <a:ext uri="{FF2B5EF4-FFF2-40B4-BE49-F238E27FC236}">
                <a16:creationId xmlns:a16="http://schemas.microsoft.com/office/drawing/2014/main" id="{39B717AD-6170-4CFF-BB81-8BC5838DFFBA}"/>
              </a:ext>
            </a:extLst>
          </p:cNvPr>
          <p:cNvSpPr>
            <a:spLocks xmlns:a="http://schemas.openxmlformats.org/drawingml/2006/main" noGrp="1"/>
          </p:cNvSpPr>
          <p:nvPr/>
        </p:nvSpPr>
        <p:spPr>
          <a:xfrm xmlns:a="http://schemas.openxmlformats.org/drawingml/2006/main">
            <a:off x="561975" y="49530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28DAAB14-613C-43B8-BDF1-18A66C092515}"/>
              </a:ext>
            </a:extLst>
          </p:cNvPr>
          <p:cNvSpPr>
            <a:spLocks xmlns:a="http://schemas.openxmlformats.org/drawingml/2006/main" noGrp="1"/>
          </p:cNvSpPr>
          <p:nvPr/>
        </p:nvSpPr>
        <p:spPr>
          <a:xfrm xmlns:a="http://schemas.openxmlformats.org/drawingml/2006/main">
            <a:off x="971550" y="49244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03"/>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Create facts, chunks, search text, and OpenAI embeddings</a:t>
            </a:r>
          </a:p>
        </p:txBody>
      </p:sp>
      <p:sp>
        <p:nvSpPr>
          <p:cNvPr id="24" name="">
            <a:extLst xmlns:a="http://schemas.openxmlformats.org/drawingml/2006/main">
              <a:ext uri="{FF2B5EF4-FFF2-40B4-BE49-F238E27FC236}">
                <a16:creationId xmlns:a16="http://schemas.microsoft.com/office/drawing/2014/main" id="{AE4B2134-0E03-439A-A505-DE179D4F8A78}"/>
              </a:ext>
            </a:extLst>
          </p:cNvPr>
          <p:cNvSpPr>
            <a:spLocks xmlns:a="http://schemas.openxmlformats.org/drawingml/2006/main" noGrp="1"/>
          </p:cNvSpPr>
          <p:nvPr/>
        </p:nvSpPr>
        <p:spPr>
          <a:xfrm xmlns:a="http://schemas.openxmlformats.org/drawingml/2006/main">
            <a:off x="5857875" y="1866900"/>
            <a:ext cx="2571750" cy="3429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0B4CBE1-89EE-44EE-983C-A9759975B102}"/>
              </a:ext>
            </a:extLst>
          </p:cNvPr>
          <p:cNvSpPr>
            <a:spLocks xmlns:a="http://schemas.openxmlformats.org/drawingml/2006/main" noGrp="1"/>
          </p:cNvSpPr>
          <p:nvPr/>
        </p:nvSpPr>
        <p:spPr>
          <a:xfrm xmlns:a="http://schemas.openxmlformats.org/drawingml/2006/main">
            <a:off x="6086475" y="2095500"/>
            <a:ext cx="146685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6" name="">
            <a:extLst xmlns:a="http://schemas.openxmlformats.org/drawingml/2006/main">
              <a:ext uri="{FF2B5EF4-FFF2-40B4-BE49-F238E27FC236}">
                <a16:creationId xmlns:a16="http://schemas.microsoft.com/office/drawing/2014/main" id="{65E29143-C486-4B9C-992D-E9D30EFD7418}"/>
              </a:ext>
            </a:extLst>
          </p:cNvPr>
          <p:cNvSpPr>
            <a:spLocks xmlns:a="http://schemas.openxmlformats.org/drawingml/2006/main" noGrp="1"/>
          </p:cNvSpPr>
          <p:nvPr/>
        </p:nvSpPr>
        <p:spPr>
          <a:xfrm xmlns:a="http://schemas.openxmlformats.org/drawingml/2006/main">
            <a:off x="6200775" y="2143125"/>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STRUCTURED</a:t>
            </a:r>
          </a:p>
        </p:txBody>
      </p:sp>
      <p:sp>
        <p:nvSpPr>
          <p:cNvPr id="27" name="">
            <a:extLst xmlns:a="http://schemas.openxmlformats.org/drawingml/2006/main">
              <a:ext uri="{FF2B5EF4-FFF2-40B4-BE49-F238E27FC236}">
                <a16:creationId xmlns:a16="http://schemas.microsoft.com/office/drawing/2014/main" id="{DFDCA77A-5E0E-43A6-BB0A-56BF2DE0DC4A}"/>
              </a:ext>
            </a:extLst>
          </p:cNvPr>
          <p:cNvSpPr>
            <a:spLocks xmlns:a="http://schemas.openxmlformats.org/drawingml/2006/main" noGrp="1"/>
          </p:cNvSpPr>
          <p:nvPr/>
        </p:nvSpPr>
        <p:spPr>
          <a:xfrm xmlns:a="http://schemas.openxmlformats.org/drawingml/2006/main">
            <a:off x="6086475"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8" name="">
            <a:extLst xmlns:a="http://schemas.openxmlformats.org/drawingml/2006/main">
              <a:ext uri="{FF2B5EF4-FFF2-40B4-BE49-F238E27FC236}">
                <a16:creationId xmlns:a16="http://schemas.microsoft.com/office/drawing/2014/main" id="{6B7F2038-5230-4C6D-B7BE-2F1B21A08219}"/>
              </a:ext>
            </a:extLst>
          </p:cNvPr>
          <p:cNvSpPr>
            <a:spLocks xmlns:a="http://schemas.openxmlformats.org/drawingml/2006/main" noGrp="1"/>
          </p:cNvSpPr>
          <p:nvPr/>
        </p:nvSpPr>
        <p:spPr>
          <a:xfrm xmlns:a="http://schemas.openxmlformats.org/drawingml/2006/main">
            <a:off x="6296025" y="262890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1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Companies and relationships</a:t>
            </a:r>
          </a:p>
        </p:txBody>
      </p:sp>
      <p:sp>
        <p:nvSpPr>
          <p:cNvPr id="29" name="">
            <a:extLst xmlns:a="http://schemas.openxmlformats.org/drawingml/2006/main">
              <a:ext uri="{FF2B5EF4-FFF2-40B4-BE49-F238E27FC236}">
                <a16:creationId xmlns:a16="http://schemas.microsoft.com/office/drawing/2014/main" id="{5D0A1E6A-DDE2-4B51-9CA3-BB600382FAFD}"/>
              </a:ext>
            </a:extLst>
          </p:cNvPr>
          <p:cNvSpPr>
            <a:spLocks xmlns:a="http://schemas.openxmlformats.org/drawingml/2006/main" noGrp="1"/>
          </p:cNvSpPr>
          <p:nvPr/>
        </p:nvSpPr>
        <p:spPr>
          <a:xfrm xmlns:a="http://schemas.openxmlformats.org/drawingml/2006/main">
            <a:off x="6086475"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0" name="">
            <a:extLst xmlns:a="http://schemas.openxmlformats.org/drawingml/2006/main">
              <a:ext uri="{FF2B5EF4-FFF2-40B4-BE49-F238E27FC236}">
                <a16:creationId xmlns:a16="http://schemas.microsoft.com/office/drawing/2014/main" id="{8C9C2D3B-3862-47DC-8DCC-CDD999C31758}"/>
              </a:ext>
            </a:extLst>
          </p:cNvPr>
          <p:cNvSpPr>
            <a:spLocks xmlns:a="http://schemas.openxmlformats.org/drawingml/2006/main" noGrp="1"/>
          </p:cNvSpPr>
          <p:nvPr/>
        </p:nvSpPr>
        <p:spPr>
          <a:xfrm xmlns:a="http://schemas.openxmlformats.org/drawingml/2006/main">
            <a:off x="6296025" y="3143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7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Facts, values, and dates</a:t>
            </a:r>
          </a:p>
        </p:txBody>
      </p:sp>
      <p:sp>
        <p:nvSpPr>
          <p:cNvPr id="31" name="">
            <a:extLst xmlns:a="http://schemas.openxmlformats.org/drawingml/2006/main">
              <a:ext uri="{FF2B5EF4-FFF2-40B4-BE49-F238E27FC236}">
                <a16:creationId xmlns:a16="http://schemas.microsoft.com/office/drawing/2014/main" id="{F482ED8D-B68B-44E4-87AC-903197BE6FCE}"/>
              </a:ext>
            </a:extLst>
          </p:cNvPr>
          <p:cNvSpPr>
            <a:spLocks xmlns:a="http://schemas.openxmlformats.org/drawingml/2006/main" noGrp="1"/>
          </p:cNvSpPr>
          <p:nvPr/>
        </p:nvSpPr>
        <p:spPr>
          <a:xfrm xmlns:a="http://schemas.openxmlformats.org/drawingml/2006/main">
            <a:off x="6086475"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2" name="">
            <a:extLst xmlns:a="http://schemas.openxmlformats.org/drawingml/2006/main">
              <a:ext uri="{FF2B5EF4-FFF2-40B4-BE49-F238E27FC236}">
                <a16:creationId xmlns:a16="http://schemas.microsoft.com/office/drawing/2014/main" id="{D94107E3-D67A-4E88-B122-31CFD386E0DA}"/>
              </a:ext>
            </a:extLst>
          </p:cNvPr>
          <p:cNvSpPr>
            <a:spLocks xmlns:a="http://schemas.openxmlformats.org/drawingml/2006/main" noGrp="1"/>
          </p:cNvSpPr>
          <p:nvPr/>
        </p:nvSpPr>
        <p:spPr>
          <a:xfrm xmlns:a="http://schemas.openxmlformats.org/drawingml/2006/main">
            <a:off x="6296025" y="3657600"/>
            <a:ext cx="1885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identity and verification data</a:t>
            </a:r>
          </a:p>
        </p:txBody>
      </p:sp>
      <p:sp>
        <p:nvSpPr>
          <p:cNvPr id="33" name="">
            <a:extLst xmlns:a="http://schemas.openxmlformats.org/drawingml/2006/main">
              <a:ext uri="{FF2B5EF4-FFF2-40B4-BE49-F238E27FC236}">
                <a16:creationId xmlns:a16="http://schemas.microsoft.com/office/drawing/2014/main" id="{59FA7323-BC67-4C89-AEB0-3B13FB5C5ADD}"/>
              </a:ext>
            </a:extLst>
          </p:cNvPr>
          <p:cNvSpPr>
            <a:spLocks xmlns:a="http://schemas.openxmlformats.org/drawingml/2006/main" noGrp="1"/>
          </p:cNvSpPr>
          <p:nvPr/>
        </p:nvSpPr>
        <p:spPr>
          <a:xfrm xmlns:a="http://schemas.openxmlformats.org/drawingml/2006/main">
            <a:off x="6086475" y="4352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4" name="">
            <a:extLst xmlns:a="http://schemas.openxmlformats.org/drawingml/2006/main">
              <a:ext uri="{FF2B5EF4-FFF2-40B4-BE49-F238E27FC236}">
                <a16:creationId xmlns:a16="http://schemas.microsoft.com/office/drawing/2014/main" id="{1259E530-E8A2-41EA-8346-C57BFB7E85BB}"/>
              </a:ext>
            </a:extLst>
          </p:cNvPr>
          <p:cNvSpPr>
            <a:spLocks xmlns:a="http://schemas.openxmlformats.org/drawingml/2006/main" noGrp="1"/>
          </p:cNvSpPr>
          <p:nvPr/>
        </p:nvSpPr>
        <p:spPr>
          <a:xfrm xmlns:a="http://schemas.openxmlformats.org/drawingml/2006/main">
            <a:off x="6296025" y="4286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Brief runs and feedback</a:t>
            </a:r>
          </a:p>
        </p:txBody>
      </p:sp>
      <p:sp>
        <p:nvSpPr>
          <p:cNvPr id="35" name="">
            <a:extLst xmlns:a="http://schemas.openxmlformats.org/drawingml/2006/main">
              <a:ext uri="{FF2B5EF4-FFF2-40B4-BE49-F238E27FC236}">
                <a16:creationId xmlns:a16="http://schemas.microsoft.com/office/drawing/2014/main" id="{008F0A80-4D98-430F-966E-9CC4CF3626B3}"/>
              </a:ext>
            </a:extLst>
          </p:cNvPr>
          <p:cNvSpPr>
            <a:spLocks xmlns:a="http://schemas.openxmlformats.org/drawingml/2006/main" noGrp="1"/>
          </p:cNvSpPr>
          <p:nvPr/>
        </p:nvSpPr>
        <p:spPr>
          <a:xfrm xmlns:a="http://schemas.openxmlformats.org/drawingml/2006/main">
            <a:off x="8667750" y="1866900"/>
            <a:ext cx="2647950" cy="3429000"/>
          </a:xfrm>
          <a:prstGeom xmlns:a="http://schemas.openxmlformats.org/drawingml/2006/main" prst="roundRect">
            <a:avLst>
              <a:gd name="adj" fmla="val 6475"/>
            </a:avLst>
          </a:prstGeom>
          <a:solidFill xmlns:a="http://schemas.openxmlformats.org/drawingml/2006/main">
            <a:srgbClr val="E8F0FB"/>
          </a:solidFill>
          <a:ln xmlns:a="http://schemas.openxmlformats.org/drawingml/2006/main" w="9525">
            <a:solidFill>
              <a:srgbClr val="9CB5D5"/>
            </a:solidFill>
            <a:prstDash val="solid"/>
          </a:ln>
        </p:spPr>
      </p:sp>
      <p:sp>
        <p:nvSpPr>
          <p:cNvPr id="36" name="">
            <a:extLst xmlns:a="http://schemas.openxmlformats.org/drawingml/2006/main">
              <a:ext uri="{FF2B5EF4-FFF2-40B4-BE49-F238E27FC236}">
                <a16:creationId xmlns:a16="http://schemas.microsoft.com/office/drawing/2014/main" id="{9C168A5B-B590-44D1-B806-F5F395BC196C}"/>
              </a:ext>
            </a:extLst>
          </p:cNvPr>
          <p:cNvSpPr>
            <a:spLocks xmlns:a="http://schemas.openxmlformats.org/drawingml/2006/main" noGrp="1"/>
          </p:cNvSpPr>
          <p:nvPr/>
        </p:nvSpPr>
        <p:spPr>
          <a:xfrm xmlns:a="http://schemas.openxmlformats.org/drawingml/2006/main">
            <a:off x="8896350" y="2095500"/>
            <a:ext cx="1714500" cy="2857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9CB5D5"/>
            </a:solidFill>
            <a:prstDash val="solid"/>
          </a:ln>
        </p:spPr>
      </p:sp>
      <p:sp>
        <p:nvSpPr>
          <p:cNvPr id="37" name="">
            <a:extLst xmlns:a="http://schemas.openxmlformats.org/drawingml/2006/main">
              <a:ext uri="{FF2B5EF4-FFF2-40B4-BE49-F238E27FC236}">
                <a16:creationId xmlns:a16="http://schemas.microsoft.com/office/drawing/2014/main" id="{202E3F51-1461-462E-A2C6-5F8626BC9D9C}"/>
              </a:ext>
            </a:extLst>
          </p:cNvPr>
          <p:cNvSpPr>
            <a:spLocks xmlns:a="http://schemas.openxmlformats.org/drawingml/2006/main" noGrp="1"/>
          </p:cNvSpPr>
          <p:nvPr/>
        </p:nvSpPr>
        <p:spPr>
          <a:xfrm xmlns:a="http://schemas.openxmlformats.org/drawingml/2006/main">
            <a:off x="9010650" y="2143125"/>
            <a:ext cx="1485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UNSTRUCTURED</a:t>
            </a:r>
          </a:p>
        </p:txBody>
      </p:sp>
      <p:sp>
        <p:nvSpPr>
          <p:cNvPr id="38" name="">
            <a:extLst xmlns:a="http://schemas.openxmlformats.org/drawingml/2006/main">
              <a:ext uri="{FF2B5EF4-FFF2-40B4-BE49-F238E27FC236}">
                <a16:creationId xmlns:a16="http://schemas.microsoft.com/office/drawing/2014/main" id="{B502E35D-8EB6-40A1-908B-46F01167CEE2}"/>
              </a:ext>
            </a:extLst>
          </p:cNvPr>
          <p:cNvSpPr>
            <a:spLocks xmlns:a="http://schemas.openxmlformats.org/drawingml/2006/main" noGrp="1"/>
          </p:cNvSpPr>
          <p:nvPr/>
        </p:nvSpPr>
        <p:spPr>
          <a:xfrm xmlns:a="http://schemas.openxmlformats.org/drawingml/2006/main">
            <a:off x="8896350"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9" name="">
            <a:extLst xmlns:a="http://schemas.openxmlformats.org/drawingml/2006/main">
              <a:ext uri="{FF2B5EF4-FFF2-40B4-BE49-F238E27FC236}">
                <a16:creationId xmlns:a16="http://schemas.microsoft.com/office/drawing/2014/main" id="{24C4359B-11DC-4514-982F-3577788DC549}"/>
              </a:ext>
            </a:extLst>
          </p:cNvPr>
          <p:cNvSpPr>
            <a:spLocks xmlns:a="http://schemas.openxmlformats.org/drawingml/2006/main" noGrp="1"/>
          </p:cNvSpPr>
          <p:nvPr/>
        </p:nvSpPr>
        <p:spPr>
          <a:xfrm xmlns:a="http://schemas.openxmlformats.org/drawingml/2006/main">
            <a:off x="9105900" y="26289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16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Original JSON and Markdown</a:t>
            </a:r>
          </a:p>
        </p:txBody>
      </p:sp>
      <p:sp>
        <p:nvSpPr>
          <p:cNvPr id="40" name="">
            <a:extLst xmlns:a="http://schemas.openxmlformats.org/drawingml/2006/main">
              <a:ext uri="{FF2B5EF4-FFF2-40B4-BE49-F238E27FC236}">
                <a16:creationId xmlns:a16="http://schemas.microsoft.com/office/drawing/2014/main" id="{FAA29960-54C0-4E28-8FBC-E7E6FFDFF2F7}"/>
              </a:ext>
            </a:extLst>
          </p:cNvPr>
          <p:cNvSpPr>
            <a:spLocks xmlns:a="http://schemas.openxmlformats.org/drawingml/2006/main" noGrp="1"/>
          </p:cNvSpPr>
          <p:nvPr/>
        </p:nvSpPr>
        <p:spPr>
          <a:xfrm xmlns:a="http://schemas.openxmlformats.org/drawingml/2006/main">
            <a:off x="8896350"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1" name="">
            <a:extLst xmlns:a="http://schemas.openxmlformats.org/drawingml/2006/main">
              <a:ext uri="{FF2B5EF4-FFF2-40B4-BE49-F238E27FC236}">
                <a16:creationId xmlns:a16="http://schemas.microsoft.com/office/drawing/2014/main" id="{7702A8CE-DF25-4A6F-A9FC-D7D0911E0A49}"/>
              </a:ext>
            </a:extLst>
          </p:cNvPr>
          <p:cNvSpPr>
            <a:spLocks xmlns:a="http://schemas.openxmlformats.org/drawingml/2006/main" noGrp="1"/>
          </p:cNvSpPr>
          <p:nvPr/>
        </p:nvSpPr>
        <p:spPr>
          <a:xfrm xmlns:a="http://schemas.openxmlformats.org/drawingml/2006/main">
            <a:off x="9105900" y="31432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Normalized source text</a:t>
            </a:r>
          </a:p>
        </p:txBody>
      </p:sp>
      <p:sp>
        <p:nvSpPr>
          <p:cNvPr id="42" name="">
            <a:extLst xmlns:a="http://schemas.openxmlformats.org/drawingml/2006/main">
              <a:ext uri="{FF2B5EF4-FFF2-40B4-BE49-F238E27FC236}">
                <a16:creationId xmlns:a16="http://schemas.microsoft.com/office/drawing/2014/main" id="{298CF7C7-3CD4-4558-BDC0-52F948A4E676}"/>
              </a:ext>
            </a:extLst>
          </p:cNvPr>
          <p:cNvSpPr>
            <a:spLocks xmlns:a="http://schemas.openxmlformats.org/drawingml/2006/main" noGrp="1"/>
          </p:cNvSpPr>
          <p:nvPr/>
        </p:nvSpPr>
        <p:spPr>
          <a:xfrm xmlns:a="http://schemas.openxmlformats.org/drawingml/2006/main">
            <a:off x="8896350"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3" name="">
            <a:extLst xmlns:a="http://schemas.openxmlformats.org/drawingml/2006/main">
              <a:ext uri="{FF2B5EF4-FFF2-40B4-BE49-F238E27FC236}">
                <a16:creationId xmlns:a16="http://schemas.microsoft.com/office/drawing/2014/main" id="{C7BE4148-2E18-44CF-B9F2-A708B72C673B}"/>
              </a:ext>
            </a:extLst>
          </p:cNvPr>
          <p:cNvSpPr>
            <a:spLocks xmlns:a="http://schemas.openxmlformats.org/drawingml/2006/main" noGrp="1"/>
          </p:cNvSpPr>
          <p:nvPr/>
        </p:nvSpPr>
        <p:spPr>
          <a:xfrm xmlns:a="http://schemas.openxmlformats.org/drawingml/2006/main">
            <a:off x="9105900" y="36576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609"/>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 chunks and search text</a:t>
            </a:r>
          </a:p>
        </p:txBody>
      </p:sp>
      <p:sp>
        <p:nvSpPr>
          <p:cNvPr id="44" name="">
            <a:extLst xmlns:a="http://schemas.openxmlformats.org/drawingml/2006/main">
              <a:ext uri="{FF2B5EF4-FFF2-40B4-BE49-F238E27FC236}">
                <a16:creationId xmlns:a16="http://schemas.microsoft.com/office/drawing/2014/main" id="{D364477A-E7B2-485F-B991-59280566C2C4}"/>
              </a:ext>
            </a:extLst>
          </p:cNvPr>
          <p:cNvSpPr>
            <a:spLocks xmlns:a="http://schemas.openxmlformats.org/drawingml/2006/main" noGrp="1"/>
          </p:cNvSpPr>
          <p:nvPr/>
        </p:nvSpPr>
        <p:spPr>
          <a:xfrm xmlns:a="http://schemas.openxmlformats.org/drawingml/2006/main">
            <a:off x="8896350" y="42386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5" name="">
            <a:extLst xmlns:a="http://schemas.openxmlformats.org/drawingml/2006/main">
              <a:ext uri="{FF2B5EF4-FFF2-40B4-BE49-F238E27FC236}">
                <a16:creationId xmlns:a16="http://schemas.microsoft.com/office/drawing/2014/main" id="{F2169384-31B1-4D6C-A1AB-F5694A39F46F}"/>
              </a:ext>
            </a:extLst>
          </p:cNvPr>
          <p:cNvSpPr>
            <a:spLocks xmlns:a="http://schemas.openxmlformats.org/drawingml/2006/main" noGrp="1"/>
          </p:cNvSpPr>
          <p:nvPr/>
        </p:nvSpPr>
        <p:spPr>
          <a:xfrm xmlns:a="http://schemas.openxmlformats.org/drawingml/2006/main">
            <a:off x="9105900" y="4171950"/>
            <a:ext cx="1981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a:t>
            </a:r>
          </a:p>
        </p:txBody>
      </p:sp>
      <p:sp>
        <p:nvSpPr>
          <p:cNvPr id="46" name="">
            <a:extLst xmlns:a="http://schemas.openxmlformats.org/drawingml/2006/main">
              <a:ext uri="{FF2B5EF4-FFF2-40B4-BE49-F238E27FC236}">
                <a16:creationId xmlns:a16="http://schemas.microsoft.com/office/drawing/2014/main" id="{8B7D4F15-8AAA-4EBF-AFFB-776DC5EA727A}"/>
              </a:ext>
            </a:extLst>
          </p:cNvPr>
          <p:cNvSpPr>
            <a:spLocks xmlns:a="http://schemas.openxmlformats.org/drawingml/2006/main" noGrp="1"/>
          </p:cNvSpPr>
          <p:nvPr/>
        </p:nvSpPr>
        <p:spPr>
          <a:xfrm xmlns:a="http://schemas.openxmlformats.org/drawingml/2006/main">
            <a:off x="5857875" y="5524500"/>
            <a:ext cx="5457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75"/>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Checksums and embedding fingerprints avoid duplicates and repeat API calls. Production also needs authenticated connectors, incremental import, deletion handling, schedules, and access rules.</a:t>
            </a:r>
          </a:p>
        </p:txBody>
      </p:sp>
    </p:spTree>
    <p:extLst>
      <p:ext uri="{BB962C8B-B14F-4D97-AF65-F5344CB8AC3E}">
        <p14:creationId xmlns:p14="http://schemas.microsoft.com/office/powerpoint/2010/main" val="1181973846"/>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retrieve and write the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The company filter runs first. The system ranks only evidence for the selected company.</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HARD COMPANY FILTER</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Rank up to 30 records with initial heuristics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text match</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embedding</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source quality</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497"/>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recency</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Retrieve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PostgreSQL full-text and embedding similarity</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Build</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gpt-5.6-sol uses retrieved evidence.
Strict schema.
Local fallback.</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and save</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77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source IDs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values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company isolation</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mode and source ranks</a:t>
            </a:r>
          </a:p>
        </p:txBody>
      </p:sp>
      <p:cxnSp>
        <p:nvCxnSpPr>
          <p:cNvPr id="339"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340"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OpenAI embeddings, source-supported Responses generation, a fixed query, and initial weights.</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TARGET: tune retrieval, the prompt, and reasoning effort with reviewed questions.</a:t>
            </a:r>
          </a:p>
        </p:txBody>
      </p:sp>
    </p:spTree>
    <p:extLst>
      <p:ext uri="{BB962C8B-B14F-4D97-AF65-F5344CB8AC3E}">
        <p14:creationId xmlns:p14="http://schemas.microsoft.com/office/powerpoint/2010/main" val="111413319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RUNS NOW</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THE BRIEF</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HARDENING</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app serves the interface, brief routes, evidence, and feedback.</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store holds evidence, embeddings, brief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fictional files make the demo repeatable without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text-embedding-3-large and gpt-5.6-sol</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retrieve evidence. GPT-5.6 Sol writes the source-supported brief now.</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 retrieval, prompts, and model settings. Keep low effort unless a test shows a quality gain.</a:t>
            </a:r>
          </a:p>
        </p:txBody>
      </p:sp>
    </p:spTree>
    <p:extLst>
      <p:ext uri="{BB962C8B-B14F-4D97-AF65-F5344CB8AC3E}">
        <p14:creationId xmlns:p14="http://schemas.microsoft.com/office/powerpoint/2010/main" val="436145467"/>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did I test Lens?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91 checks pass: 69 app tests and 22 live checks. Two live GPT briefs finish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Claim cites retrieved evidence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Number matches a cited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84"/>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Principal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Invalid output uses fallback</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Changed source changes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Grounding, and Operations · Reviewer checks: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schema, or source-rule change.</a:t>
            </a:r>
          </a:p>
        </p:txBody>
      </p:sp>
    </p:spTree>
    <p:extLst>
      <p:ext uri="{BB962C8B-B14F-4D97-AF65-F5344CB8AC3E}">
        <p14:creationId xmlns:p14="http://schemas.microsoft.com/office/powerpoint/2010/main" val="1483308295"/>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13</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2026-09-01T00:22:03.0380000Z</dcterms:created>
  <dcterms:modified xsi:type="dcterms:W3CDTF">2026-09-01T00:22:03.0380000Z</dcterms:modified>
</coreProperties>
</file>