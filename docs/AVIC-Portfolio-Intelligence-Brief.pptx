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281c50b14f446dd" /><Relationship Type="http://schemas.openxmlformats.org/officeDocument/2006/relationships/extended-properties" Target="/docProps/app.xml" Id="R52a8e71db2ab4ff2" /><Relationship Type="http://schemas.openxmlformats.org/officeDocument/2006/relationships/officeDocument" Target="/ppt/presentation.xml" Id="Rcfaa970024c34595" /></Relationships>
</file>

<file path=ppt/presentation.xml><?xml version="1.0" encoding="utf-8"?>
<p:presentation xmlns:p="http://schemas.openxmlformats.org/presentationml/2006/main">
  <p:sldMasterIdLst>
    <p:sldMasterId xmlns:r="http://schemas.openxmlformats.org/officeDocument/2006/relationships" id="2147483648" r:id="Rd02e71a8567d4297"/>
  </p:sldMasterIdLst>
  <p:notesMasterIdLst>
    <p:notesMasterId xmlns:r="http://schemas.openxmlformats.org/officeDocument/2006/relationships" r:id="R3d3a98c7d5a44b21"/>
  </p:notesMasterIdLst>
  <p:sldIdLst>
    <p:sldId xmlns:r="http://schemas.openxmlformats.org/officeDocument/2006/relationships" id="256" r:id="R04a49e85fbbc43c5"/>
    <p:sldId xmlns:r="http://schemas.openxmlformats.org/officeDocument/2006/relationships" id="257" r:id="R2ead53493d8d4331"/>
    <p:sldId xmlns:r="http://schemas.openxmlformats.org/officeDocument/2006/relationships" id="258" r:id="R326f5a2c063849f7"/>
    <p:sldId xmlns:r="http://schemas.openxmlformats.org/officeDocument/2006/relationships" id="259" r:id="R013bb9e948344376"/>
    <p:sldId xmlns:r="http://schemas.openxmlformats.org/officeDocument/2006/relationships" id="260" r:id="R032ef100e65940c5"/>
    <p:sldId xmlns:r="http://schemas.openxmlformats.org/officeDocument/2006/relationships" id="261" r:id="R85cd60057b58447e"/>
    <p:sldId xmlns:r="http://schemas.openxmlformats.org/officeDocument/2006/relationships" id="262" r:id="R0562e76f4d6243a3"/>
    <p:sldId xmlns:r="http://schemas.openxmlformats.org/officeDocument/2006/relationships" id="263" r:id="Rae81ef0d84cd437c"/>
    <p:sldId xmlns:r="http://schemas.openxmlformats.org/officeDocument/2006/relationships" id="264" r:id="R81cdd1edc90048ee"/>
    <p:sldId xmlns:r="http://schemas.openxmlformats.org/officeDocument/2006/relationships" id="265" r:id="R5421a2dadcf64aff"/>
    <p:sldId xmlns:r="http://schemas.openxmlformats.org/officeDocument/2006/relationships" id="266" r:id="Rc555590593e34167"/>
    <p:sldId xmlns:r="http://schemas.openxmlformats.org/officeDocument/2006/relationships" id="267" r:id="Rdd64a1de86e3458c"/>
    <p:sldId xmlns:r="http://schemas.openxmlformats.org/officeDocument/2006/relationships" id="268" r:id="R8e5f72e408b34f1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4308688e7454f74" /><Relationship Type="http://schemas.openxmlformats.org/officeDocument/2006/relationships/slideMaster" Target="/ppt/slideMasters/slideMaster1.xml" Id="Rd02e71a8567d4297" /><Relationship Type="http://schemas.openxmlformats.org/officeDocument/2006/relationships/notesMaster" Target="/ppt/notesMasters/notesMaster1.xml" Id="R3d3a98c7d5a44b21" /><Relationship Type="http://schemas.openxmlformats.org/officeDocument/2006/relationships/presProps" Target="/ppt/presProps.xml" Id="R86c3e1d5d8d344c4" /><Relationship Type="http://schemas.openxmlformats.org/officeDocument/2006/relationships/tableStyles" Target="/ppt/tableStyles.xml" Id="Re97ecf08ad1d4c64" /><Relationship Type="http://schemas.openxmlformats.org/officeDocument/2006/relationships/slide" Target="/ppt/slides/slide1.xml" Id="R04a49e85fbbc43c5" /><Relationship Type="http://schemas.openxmlformats.org/officeDocument/2006/relationships/slide" Target="/ppt/slides/slide2.xml" Id="R2ead53493d8d4331" /><Relationship Type="http://schemas.openxmlformats.org/officeDocument/2006/relationships/slide" Target="/ppt/slides/slide3.xml" Id="R326f5a2c063849f7" /><Relationship Type="http://schemas.openxmlformats.org/officeDocument/2006/relationships/slide" Target="/ppt/slides/slide4.xml" Id="R013bb9e948344376" /><Relationship Type="http://schemas.openxmlformats.org/officeDocument/2006/relationships/slide" Target="/ppt/slides/slide5.xml" Id="R032ef100e65940c5" /><Relationship Type="http://schemas.openxmlformats.org/officeDocument/2006/relationships/slide" Target="/ppt/slides/slide6.xml" Id="R85cd60057b58447e" /><Relationship Type="http://schemas.openxmlformats.org/officeDocument/2006/relationships/slide" Target="/ppt/slides/slide7.xml" Id="R0562e76f4d6243a3" /><Relationship Type="http://schemas.openxmlformats.org/officeDocument/2006/relationships/slide" Target="/ppt/slides/slide8.xml" Id="Rae81ef0d84cd437c" /><Relationship Type="http://schemas.openxmlformats.org/officeDocument/2006/relationships/slide" Target="/ppt/slides/slide9.xml" Id="R81cdd1edc90048ee" /><Relationship Type="http://schemas.openxmlformats.org/officeDocument/2006/relationships/slide" Target="/ppt/slides/slide10.xml" Id="R5421a2dadcf64aff" /><Relationship Type="http://schemas.openxmlformats.org/officeDocument/2006/relationships/slide" Target="/ppt/slides/slide11.xml" Id="Rc555590593e34167" /><Relationship Type="http://schemas.openxmlformats.org/officeDocument/2006/relationships/slide" Target="/ppt/slides/slide12.xml" Id="Rdd64a1de86e3458c" /><Relationship Type="http://schemas.openxmlformats.org/officeDocument/2006/relationships/slide" Target="/ppt/slides/slide13.xml" Id="R8e5f72e408b34f1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58255d9bf3f4ad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793bf275ba74722" /><Relationship Type="http://schemas.openxmlformats.org/officeDocument/2006/relationships/notesMaster" Target="/ppt/notesMasters/notesMaster1.xml" Id="R4cb71cb1d5a24ab7" /></Relationships>
</file>

<file path=ppt/notesSlides/_rels/notesSlide2.xml.rels>&#65279;<?xml version="1.0" encoding="utf-8"?><Relationships xmlns="http://schemas.openxmlformats.org/package/2006/relationships"><Relationship Type="http://schemas.openxmlformats.org/officeDocument/2006/relationships/slide" Target="/ppt/slides/slide2.xml" Id="Rf0fec3be06324a11" /><Relationship Type="http://schemas.openxmlformats.org/officeDocument/2006/relationships/notesMaster" Target="/ppt/notesMasters/notesMaster1.xml" Id="R15c9c2c345ea4861" /></Relationships>
</file>

<file path=ppt/notesSlides/_rels/notesSlide3.xml.rels>&#65279;<?xml version="1.0" encoding="utf-8"?><Relationships xmlns="http://schemas.openxmlformats.org/package/2006/relationships"><Relationship Type="http://schemas.openxmlformats.org/officeDocument/2006/relationships/slide" Target="/ppt/slides/slide3.xml" Id="R86bca10059634bdb" /><Relationship Type="http://schemas.openxmlformats.org/officeDocument/2006/relationships/notesMaster" Target="/ppt/notesMasters/notesMaster1.xml" Id="Rb1943e8dc1d740ed" /></Relationships>
</file>

<file path=ppt/notesSlides/_rels/notesSlide4.xml.rels>&#65279;<?xml version="1.0" encoding="utf-8"?><Relationships xmlns="http://schemas.openxmlformats.org/package/2006/relationships"><Relationship Type="http://schemas.openxmlformats.org/officeDocument/2006/relationships/slide" Target="/ppt/slides/slide4.xml" Id="R87f56bd6f0be4fbe" /><Relationship Type="http://schemas.openxmlformats.org/officeDocument/2006/relationships/notesMaster" Target="/ppt/notesMasters/notesMaster1.xml" Id="R632ed70400b048f0" /></Relationships>
</file>

<file path=ppt/notesSlides/_rels/notesSlide5.xml.rels>&#65279;<?xml version="1.0" encoding="utf-8"?><Relationships xmlns="http://schemas.openxmlformats.org/package/2006/relationships"><Relationship Type="http://schemas.openxmlformats.org/officeDocument/2006/relationships/slide" Target="/ppt/slides/slide5.xml" Id="R32e72386956c4593" /><Relationship Type="http://schemas.openxmlformats.org/officeDocument/2006/relationships/notesMaster" Target="/ppt/notesMasters/notesMaster1.xml" Id="R225e465a4aa34bc5" /></Relationships>
</file>

<file path=ppt/notesSlides/_rels/notesSlide6.xml.rels>&#65279;<?xml version="1.0" encoding="utf-8"?><Relationships xmlns="http://schemas.openxmlformats.org/package/2006/relationships"><Relationship Type="http://schemas.openxmlformats.org/officeDocument/2006/relationships/slide" Target="/ppt/slides/slide6.xml" Id="Rdfcd4b5775874fbd" /><Relationship Type="http://schemas.openxmlformats.org/officeDocument/2006/relationships/notesMaster" Target="/ppt/notesMasters/notesMaster1.xml" Id="R72afad78e9314423" /></Relationships>
</file>

<file path=ppt/notesSlides/_rels/notesSlide7.xml.rels>&#65279;<?xml version="1.0" encoding="utf-8"?><Relationships xmlns="http://schemas.openxmlformats.org/package/2006/relationships"><Relationship Type="http://schemas.openxmlformats.org/officeDocument/2006/relationships/slide" Target="/ppt/slides/slide7.xml" Id="R7c55317125f448f3" /><Relationship Type="http://schemas.openxmlformats.org/officeDocument/2006/relationships/notesMaster" Target="/ppt/notesMasters/notesMaster1.xml" Id="R6c5f847d9d804b6a" /></Relationships>
</file>

<file path=ppt/notesSlides/_rels/notesSlide8.xml.rels>&#65279;<?xml version="1.0" encoding="utf-8"?><Relationships xmlns="http://schemas.openxmlformats.org/package/2006/relationships"><Relationship Type="http://schemas.openxmlformats.org/officeDocument/2006/relationships/slide" Target="/ppt/slides/slide8.xml" Id="R63f5e0a981374096" /><Relationship Type="http://schemas.openxmlformats.org/officeDocument/2006/relationships/notesMaster" Target="/ppt/notesMasters/notesMaster1.xml" Id="Rb96e139486a44eb3" /></Relationships>
</file>

<file path=ppt/notesSlides/_rels/notesSlide9.xml.rels>&#65279;<?xml version="1.0" encoding="utf-8"?><Relationships xmlns="http://schemas.openxmlformats.org/package/2006/relationships"><Relationship Type="http://schemas.openxmlformats.org/officeDocument/2006/relationships/slide" Target="/ppt/slides/slide9.xml" Id="R210e3f5866314df0" /><Relationship Type="http://schemas.openxmlformats.org/officeDocument/2006/relationships/notesMaster" Target="/ppt/notesMasters/notesMaster1.xml" Id="R2dc00bfa65e8410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9b97cba19fe41ed" /><Relationship Type="http://schemas.openxmlformats.org/officeDocument/2006/relationships/notesMaster" Target="/ppt/notesMasters/notesMaster1.xml" Id="R3765cac36caa414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56e217c92a54eab" /><Relationship Type="http://schemas.openxmlformats.org/officeDocument/2006/relationships/notesMaster" Target="/ppt/notesMasters/notesMaster1.xml" Id="R4ec4d94f126544e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5b06693042b4edf" /><Relationship Type="http://schemas.openxmlformats.org/officeDocument/2006/relationships/notesMaster" Target="/ppt/notesMasters/notesMaster1.xml" Id="Rf5a5c493e80e4ea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4fc537faba74432" /><Relationship Type="http://schemas.openxmlformats.org/officeDocument/2006/relationships/notesMaster" Target="/ppt/notesMasters/notesMaster1.xml" Id="Rcf193135ce724d7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with the answer: AVIC is a working local prototype that builds a company brief from imported evidence. Production freshness and access control are not part of this build.</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 /Users/alexthorpe/Documents/GitHub/AVIC/README.md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brief defines the intended user and company universe. The 90-minute value is a scenario estimate. The 30-second value is the product target.</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desktop flow. RC selects a company, scans the brief, opens the evidence and original source, and sends feedback without changing context.</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/Users/alexthorpe/Documents/GitHub/AVIC/app/page.tsx</a:t>
            </a:r>
          </a:p>
          <a:p xmlns:a="http://schemas.openxmlformats.org/drawingml/2006/main">
            <a:r>
              <a:t>- /private/tmp/avic-deck-wide-main.png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current checkout has 10 curated companies, 59 source records, and 59 current OpenAI embeddings. It has 46 passing automated tests. The live checks include one embedding smoke check and 19 V1 checks. The source checks validate IDs and company scope. They do not prove semantic support.</a:t>
            </a:r>
          </a:p>
          <a:p xmlns:a="http://schemas.openxmlformats.org/drawingml/2006/main">
            <a:r>
              <a:t/>
            </a:r>
          </a:p>
          <a:p xmlns:a="http://schemas.openxmlformats.org/drawingml/2006/main">
            <a:r>
              <a:t>[Sources]</a:t>
            </a:r>
          </a:p>
          <a:p xmlns:a="http://schemas.openxmlformats.org/drawingml/2006/main">
            <a:r>
              <a:t>- /Users/alexthorpe/Documents/GitHub/AVIC/scripts/verify-embeddings.ts</a:t>
            </a:r>
          </a:p>
          <a:p xmlns:a="http://schemas.openxmlformats.org/drawingml/2006/main">
            <a:r>
              <a:t>- /Users/alexthorpe/Documents/GitHub/AVIC/scripts/verify-v1.ts</a:t>
            </a:r>
          </a:p>
          <a:p xmlns:a="http://schemas.openxmlformats.org/drawingml/2006/main">
            <a:r>
              <a:t>- /Users/alexthorpe/Documents/GitHub/AVIC/tests</a:t>
            </a:r>
          </a:p>
          <a:p xmlns:a="http://schemas.openxmlformats.org/drawingml/2006/main">
            <a:r>
              <a:t>- /Users/alexthorpe/Documents/GitHub/AVIC/db/schema.sql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file import validates each company ID and keeps the source record. It calculates checksums, creates chunks, and sends fictional chunk text to the OpenAI Embeddings API. PostgreSQL stores the returned embeddings. A brief request sends one fixed query to the same API. SQL then filters by company and ranks up to 30 source records. Fixed local rules create the brief. The service checks citations and company isolation. It saves the brief and ranked source records. It does not call a source system or a generation model during the request.</a:t>
            </a:r>
          </a:p>
          <a:p xmlns:a="http://schemas.openxmlformats.org/drawingml/2006/main">
            <a:r>
              <a:t/>
            </a:r>
          </a:p>
          <a:p xmlns:a="http://schemas.openxmlformats.org/drawingml/2006/main">
            <a:r>
              <a:t>[Sources]</a:t>
            </a:r>
          </a:p>
          <a:p xmlns:a="http://schemas.openxmlformats.org/drawingml/2006/main">
            <a:r>
              <a:t>- /Users/alexthorpe/Documents/GitHub/AVIC/lib/embeddings.ts</a:t>
            </a:r>
          </a:p>
          <a:p xmlns:a="http://schemas.openxmlformats.org/drawingml/2006/main">
            <a:r>
              <a:t>- /Users/alexthorpe/Documents/GitHub/AVIC/lib/ingestion.ts</a:t>
            </a:r>
          </a:p>
          <a:p xmlns:a="http://schemas.openxmlformats.org/drawingml/2006/main">
            <a:r>
              <a:t>- /Users/alexthorpe/Documents/GitHub/AVIC/lib/retrieval.ts</a:t>
            </a:r>
          </a:p>
          <a:p xmlns:a="http://schemas.openxmlformats.org/drawingml/2006/main">
            <a:r>
              <a:t>- /Users/alexthorpe/Documents/GitHub/AVIC/lib/brief.ts</a:t>
            </a:r>
          </a:p>
          <a:p xmlns:a="http://schemas.openxmlformats.org/drawingml/2006/main">
            <a:r>
              <a:t>- /Users/alexthorpe/Documents/GitHub/AVIC/app/api/briefs/route.ts</a:t>
            </a:r>
          </a:p>
          <a:p xmlns:a="http://schemas.openxmlformats.org/drawingml/2006/main">
            <a:r>
              <a:t>- /Users/alexthorpe/Documents/GitHub/AVIC/db/schema.sql</a:t>
            </a:r>
          </a:p>
          <a:p xmlns:a="http://schemas.openxmlformats.org/drawingml/2006/main">
            <a:r>
              <a:t>- https://developers.openai.com/api/docs/models/text-embedding-3-large</a:t>
            </a:r>
          </a:p>
          <a:p xmlns:a="http://schemas.openxmlformats.org/drawingml/2006/main">
            <a:r>
              <a:t>- https://developers.openai.com/api/reference/ruby/resources/embeddings/methods/create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importer maps every record to one known company. It keeps the original content and calculates a checksum. It creates structured facts and search chunks. It sends only fictional normalized chunk text to the OpenAI Embeddings API. It stores the model, dimension, input checksum, and creation time with each embedding. A repeat import does not request an embedding when this fingerprint is current. Public filings are a planned source only.</a:t>
            </a:r>
          </a:p>
          <a:p xmlns:a="http://schemas.openxmlformats.org/drawingml/2006/main">
            <a:r>
              <a:t/>
            </a:r>
          </a:p>
          <a:p xmlns:a="http://schemas.openxmlformats.org/drawingml/2006/main">
            <a:r>
              <a:t>[Sources]</a:t>
            </a:r>
          </a:p>
          <a:p xmlns:a="http://schemas.openxmlformats.org/drawingml/2006/main">
            <a:r>
              <a:t>- /Users/alexthorpe/Documents/GitHub/AVIC/lib/embeddings.ts</a:t>
            </a:r>
          </a:p>
          <a:p xmlns:a="http://schemas.openxmlformats.org/drawingml/2006/main">
            <a:r>
              <a:t>- /Users/alexthorpe/Documents/GitHub/AVIC/lib/ingestion.ts</a:t>
            </a:r>
          </a:p>
          <a:p xmlns:a="http://schemas.openxmlformats.org/drawingml/2006/main">
            <a:r>
              <a:t>- /Users/alexthorpe/Documents/GitHub/AVIC/db/schema.sql</a:t>
            </a:r>
          </a:p>
          <a:p xmlns:a="http://schemas.openxmlformats.org/drawingml/2006/main">
            <a:r>
              <a:t>- /Users/alexthorpe/Documents/GitHub/AVIC/demo_data/manifest.json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request contains only a company ID. The server uses one fixed retrieval query. OpenAI creates the query embedding. SQL filters source records and chunks by the selected company before scoring. The score is 38 percent full-text rank, 32 percent embedding similarity, 20 percent source quality, and 10 percent recency. The query returns up to 30 source records. Fixed templates or one generic rule write the brief. No generation model runs.</a:t>
            </a:r>
          </a:p>
          <a:p xmlns:a="http://schemas.openxmlformats.org/drawingml/2006/main">
            <a:r>
              <a:t/>
            </a:r>
          </a:p>
          <a:p xmlns:a="http://schemas.openxmlformats.org/drawingml/2006/main">
            <a:r>
              <a:t>[Sources]</a:t>
            </a:r>
          </a:p>
          <a:p xmlns:a="http://schemas.openxmlformats.org/drawingml/2006/main">
            <a:r>
              <a:t>- /Users/alexthorpe/Documents/GitHub/AVIC/lib/embeddings.ts</a:t>
            </a:r>
          </a:p>
          <a:p xmlns:a="http://schemas.openxmlformats.org/drawingml/2006/main">
            <a:r>
              <a:t>- /Users/alexthorpe/Documents/GitHub/AVIC/lib/retrieval.ts</a:t>
            </a:r>
          </a:p>
          <a:p xmlns:a="http://schemas.openxmlformats.org/drawingml/2006/main">
            <a:r>
              <a:t>- /Users/alexthorpe/Documents/GitHub/AVIC/lib/brief.ts</a:t>
            </a:r>
          </a:p>
          <a:p xmlns:a="http://schemas.openxmlformats.org/drawingml/2006/main">
            <a:r>
              <a:t>- /Users/alexthorpe/Documents/GitHub/AVIC/app/api/briefs/route.ts</a:t>
            </a:r>
          </a:p>
          <a:p xmlns:a="http://schemas.openxmlformats.org/drawingml/2006/main">
            <a:r>
              <a:t>- https://developers.openai.com/api/docs/models/text-embedding-3-large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active retrieval model is text-embedding-3-large with 1,536 dimensions. OpenAI identifies it as its most capable embedding model. The brief engine uses fixed local rules and does not use a generation model. A later evaluated version can use gpt-5.6-sol through the Responses API for grounded generation.</a:t>
            </a:r>
          </a:p>
          <a:p xmlns:a="http://schemas.openxmlformats.org/drawingml/2006/main">
            <a:r>
              <a:t/>
            </a:r>
          </a:p>
          <a:p xmlns:a="http://schemas.openxmlformats.org/drawingml/2006/main">
            <a:r>
              <a:t>[Sources]</a:t>
            </a:r>
          </a:p>
          <a:p xmlns:a="http://schemas.openxmlformats.org/drawingml/2006/main">
            <a:r>
              <a:t>- /Users/alexthorpe/Documents/GitHub/AVIC/package.json</a:t>
            </a:r>
          </a:p>
          <a:p xmlns:a="http://schemas.openxmlformats.org/drawingml/2006/main">
            <a:r>
              <a:t>- /Users/alexthorpe/Documents/GitHub/AVIC/lib/embeddings.ts</a:t>
            </a:r>
          </a:p>
          <a:p xmlns:a="http://schemas.openxmlformats.org/drawingml/2006/main">
            <a:r>
              <a:t>- /Users/alexthorpe/Documents/GitHub/AVIC/db/schema.sql</a:t>
            </a:r>
          </a:p>
          <a:p xmlns:a="http://schemas.openxmlformats.org/drawingml/2006/main">
            <a:r>
              <a:t>- /Users/alexthorpe/Documents/GitHub/AVIC/lib/brief.ts</a:t>
            </a:r>
          </a:p>
          <a:p xmlns:a="http://schemas.openxmlformats.org/drawingml/2006/main">
            <a:r>
              <a:t>- https://developers.openai.com/api/docs/models/text-embedding-3-large</a:t>
            </a:r>
          </a:p>
          <a:p xmlns:a="http://schemas.openxmlformats.org/drawingml/2006/main">
            <a:r>
              <a:t>- https://developers.openai.com/api/docs/models/gpt-5.6-sol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checks are proposed acceptance targets. Retrieval uses code checks for must-find evidence in the first 30 results and zero records from another company. Grounding uses a source-ID check and a reviewer check. Product evaluation measures response time and RC usefulness. Operations evaluation tests repeat import and source-change behavior. Run the same set after each retrieval rule, embedding model, generation rule, or source rule change.</a:t>
            </a:r>
          </a:p>
          <a:p xmlns:a="http://schemas.openxmlformats.org/drawingml/2006/main">
            <a:r>
              <a:t/>
            </a:r>
          </a:p>
          <a:p xmlns:a="http://schemas.openxmlformats.org/drawingml/2006/main">
            <a:r>
              <a:t>[Sources]</a:t>
            </a:r>
          </a:p>
          <a:p xmlns:a="http://schemas.openxmlformats.org/drawingml/2006/main">
            <a:r>
              <a:t>- /Users/alexthorpe/Documents/GitHub/AVIC/docs/prd-v1.md</a:t>
            </a:r>
          </a:p>
          <a:p xmlns:a="http://schemas.openxmlformats.org/drawingml/2006/main">
            <a:r>
              <a:t>- /Users/alexthorpe/Documents/GitHub/AVIC/lib/retrieval.ts</a:t>
            </a:r>
          </a:p>
          <a:p xmlns:a="http://schemas.openxmlformats.org/drawingml/2006/main">
            <a:r>
              <a:t>- /Users/alexthorpe/Documents/GitHub/AVIC/lib/brief.ts</a:t>
            </a:r>
          </a:p>
          <a:p xmlns:a="http://schemas.openxmlformats.org/drawingml/2006/main">
            <a:r>
              <a:t>- /Users/alexthorpe/Documents/GitHub/AVIC/lib/ingestion.ts</a:t>
            </a:r>
          </a:p>
          <a:p xmlns:a="http://schemas.openxmlformats.org/drawingml/2006/main">
            <a:r>
              <a:t>- /Users/alexthorpe/Documents/GitHub/AVIC/scripts/verify-v1.ts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V1 acceptance criteria, not current production service levels. The 4 out of 5 usefulness score is a pilot target and has not been measured.</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 /Users/alexthorpe/Documents/GitHub/AVIC/scripts/verify-v1.ts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defines the current boundary. The app implements the interface, API routes, file import, PostgreSQL storage, OpenAI embeddings, company-scoped retrieval, fixed brief generation, source drill-down, saved brief runs, and feedback capture. It uses 10 fictional companies, static source files, a local database, and a fixed reference date. It sends fictional chunk and query text to the OpenAI Embeddings API. Live connectors, public filings, sign-in, source access enforcement, schedules, webhooks, reviewer tools, gpt-5.6-sol, and the Responses API are not active.</a:t>
            </a:r>
          </a:p>
          <a:p xmlns:a="http://schemas.openxmlformats.org/drawingml/2006/main">
            <a:r>
              <a:t/>
            </a:r>
          </a:p>
          <a:p xmlns:a="http://schemas.openxmlformats.org/drawingml/2006/main">
            <a:r>
              <a:t>[Sources]</a:t>
            </a:r>
          </a:p>
          <a:p xmlns:a="http://schemas.openxmlformats.org/drawingml/2006/main">
            <a:r>
              <a:t>- /Users/alexthorpe/Documents/GitHub/AVIC/app/page.tsx</a:t>
            </a:r>
          </a:p>
          <a:p xmlns:a="http://schemas.openxmlformats.org/drawingml/2006/main">
            <a:r>
              <a:t>- /Users/alexthorpe/Documents/GitHub/AVIC/lib/embeddings.ts</a:t>
            </a:r>
          </a:p>
          <a:p xmlns:a="http://schemas.openxmlformats.org/drawingml/2006/main">
            <a:r>
              <a:t>- /Users/alexthorpe/Documents/GitHub/AVIC/lib/ingestion.ts</a:t>
            </a:r>
          </a:p>
          <a:p xmlns:a="http://schemas.openxmlformats.org/drawingml/2006/main">
            <a:r>
              <a:t>- /Users/alexthorpe/Documents/GitHub/AVIC/lib/retrieval.ts</a:t>
            </a:r>
          </a:p>
          <a:p xmlns:a="http://schemas.openxmlformats.org/drawingml/2006/main">
            <a:r>
              <a:t>- /Users/alexthorpe/Documents/GitHub/AVIC/lib/brief.ts</a:t>
            </a:r>
          </a:p>
          <a:p xmlns:a="http://schemas.openxmlformats.org/drawingml/2006/main">
            <a:r>
              <a:t>- /Users/alexthorpe/Documents/GitHub/AVIC/db/schema.sql</a:t>
            </a:r>
          </a:p>
          <a:p xmlns:a="http://schemas.openxmlformats.org/drawingml/2006/main">
            <a:r>
              <a:t>- https://developers.openai.com/api/docs/models/text-embedding-3-large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proposed plan for two people. The 250-company test appears in weeks 7 and 8 because it has not been run. The plan depends on source access, company IDs, access rules, and RC review time.</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 /Users/alexthorpe/Documents/GitHub/AVIC/docs/architecture.md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risk is evidence retrieval, not model choice. The next slice should use one approved source and a small reference answer set. The decision is whether to approve that source-to-brief pilot after the named owners confirm access and evaluation conditions.</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 /Users/alexthorpe/Documents/GitHub/AVIC/docs/architecture.md</a:t>
            </a:r>
          </a:p>
          <a:p xmlns:a="http://schemas.openxmlformats.org/drawingml/2006/main">
            <a:r>
              <a:t>- /Users/alexthorpe/Documents/GitHub/AVIC/lib/retrieval.ts</a:t>
            </a:r>
          </a:p>
          <a:p xmlns:a="http://schemas.openxmlformats.org/drawingml/2006/main">
            <a:r>
              <a:t>- /Users/alexthorpe/Documents/GitHub/AVIC/scripts/verify-v1.ts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bea9f920f7a4fe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5bc264e91774bbb" /><Relationship Type="http://schemas.openxmlformats.org/officeDocument/2006/relationships/slideLayout" Target="/ppt/slideLayouts/slideLayout1.xml" Id="R49905dda250b4e2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9905dda250b4e2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853dd9d6c8144d7" /><Relationship Type="http://schemas.openxmlformats.org/officeDocument/2006/relationships/notesSlide" Target="/ppt/notesSlides/notesSlide1.xml" Id="R381fd61d8a42491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a40051341bd4442" /><Relationship Type="http://schemas.openxmlformats.org/officeDocument/2006/relationships/notesSlide" Target="/ppt/notesSlides/notesSlide2.xml" Id="Rbad4c1ad1c8b43e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863581427634a33" /><Relationship Type="http://schemas.openxmlformats.org/officeDocument/2006/relationships/image" Target="/ppt/media/image.jpeg" Id="Rb2c1f4bc312244ea" /><Relationship Type="http://schemas.openxmlformats.org/officeDocument/2006/relationships/notesSlide" Target="/ppt/notesSlides/notesSlide3.xml" Id="R35b08dc145b1482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5c05267f60b4e1f" /><Relationship Type="http://schemas.openxmlformats.org/officeDocument/2006/relationships/notesSlide" Target="/ppt/notesSlides/notesSlide4.xml" Id="Re167681e31dc44e6"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c403c9487eb64456" /><Relationship Type="http://schemas.openxmlformats.org/officeDocument/2006/relationships/notesSlide" Target="/ppt/notesSlides/notesSlide5.xml" Id="R4c4713d276ac48c1"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5d70447eeaa4f34" /><Relationship Type="http://schemas.openxmlformats.org/officeDocument/2006/relationships/notesSlide" Target="/ppt/notesSlides/notesSlide6.xml" Id="Rb2ba4555dd60487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0f7881f7cd24a8d" /><Relationship Type="http://schemas.openxmlformats.org/officeDocument/2006/relationships/notesSlide" Target="/ppt/notesSlides/notesSlide7.xml" Id="R4858954e244c4ec4"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e2246de601974de5" /><Relationship Type="http://schemas.openxmlformats.org/officeDocument/2006/relationships/notesSlide" Target="/ppt/notesSlides/notesSlide8.xml" Id="R8395ebf0ec5449be"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1409af93d3c468c" /><Relationship Type="http://schemas.openxmlformats.org/officeDocument/2006/relationships/notesSlide" Target="/ppt/notesSlides/notesSlide9.xml" Id="Ra66efae62a6840c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1c98c678ce594764" /><Relationship Type="http://schemas.openxmlformats.org/officeDocument/2006/relationships/notesSlide" Target="/ppt/notesSlides/notesSlide10.xml" Id="R5eea8ed9b34c42c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77fc5e1f83d34475" /><Relationship Type="http://schemas.openxmlformats.org/officeDocument/2006/relationships/notesSlide" Target="/ppt/notesSlides/notesSlide11.xml" Id="R385edfe2e8e644e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db2ab076f6d44769" /><Relationship Type="http://schemas.openxmlformats.org/officeDocument/2006/relationships/notesSlide" Target="/ppt/notesSlides/notesSlide12.xml" Id="Ra21b8c2ca660415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e260e006ab964547" /><Relationship Type="http://schemas.openxmlformats.org/officeDocument/2006/relationships/notesSlide" Target="/ppt/notesSlides/notesSlide13.xml" Id="Rbd0b5ac6c5c44234" /></Relationships>
</file>

<file path=ppt/slides/slide1.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5DD1145-7B96-46D8-A68A-0CBA18A7E141}"/>
              </a:ext>
            </a:extLst>
          </p:cNvPr>
          <p:cNvSpPr>
            <a:spLocks xmlns:a="http://schemas.openxmlformats.org/drawingml/2006/main" noGrp="1"/>
          </p:cNvSpPr>
          <p:nvPr/>
        </p:nvSpPr>
        <p:spPr>
          <a:xfrm xmlns:a="http://schemas.openxmlformats.org/drawingml/2006/main">
            <a:off x="457200" y="438150"/>
            <a:ext cx="2857500" cy="285750"/>
          </a:xfrm>
          <a:prstGeom xmlns:a="http://schemas.openxmlformats.org/drawingml/2006/main" prst="roundRect">
            <a:avLst>
              <a:gd name="adj" fmla="val 50000"/>
            </a:avLst>
          </a:prstGeom>
          <a:solidFill xmlns:a="http://schemas.openxmlformats.org/drawingml/2006/main">
            <a:srgbClr val="E8F0FB"/>
          </a:solidFill>
          <a:ln xmlns:a="http://schemas.openxmlformats.org/drawingml/2006/main" w="9525">
            <a:solidFill>
              <a:srgbClr val="9CB5D5"/>
            </a:solidFill>
            <a:prstDash val="solid"/>
          </a:ln>
        </p:spPr>
      </p:sp>
      <p:sp>
        <p:nvSpPr>
          <p:cNvPr id="2" name="">
            <a:extLst xmlns:a="http://schemas.openxmlformats.org/drawingml/2006/main">
              <a:ext uri="{FF2B5EF4-FFF2-40B4-BE49-F238E27FC236}">
                <a16:creationId xmlns:a16="http://schemas.microsoft.com/office/drawing/2014/main" id="{2FFE115D-EF2A-4F10-AB7C-5AE00E3147F6}"/>
              </a:ext>
            </a:extLst>
          </p:cNvPr>
          <p:cNvSpPr>
            <a:spLocks xmlns:a="http://schemas.openxmlformats.org/drawingml/2006/main" noGrp="1"/>
          </p:cNvSpPr>
          <p:nvPr/>
        </p:nvSpPr>
        <p:spPr>
          <a:xfrm xmlns:a="http://schemas.openxmlformats.org/drawingml/2006/main">
            <a:off x="571500" y="485775"/>
            <a:ext cx="26289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857"/>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WORKING LOCAL PROTOTYPE</a:t>
            </a:r>
          </a:p>
        </p:txBody>
      </p:sp>
      <p:sp>
        <p:nvSpPr>
          <p:cNvPr id="3" name="">
            <a:extLst xmlns:a="http://schemas.openxmlformats.org/drawingml/2006/main">
              <a:ext uri="{FF2B5EF4-FFF2-40B4-BE49-F238E27FC236}">
                <a16:creationId xmlns:a16="http://schemas.microsoft.com/office/drawing/2014/main" id="{4B7B49EE-4D40-41E7-A8F1-C2E8C4E1DB9A}"/>
              </a:ext>
            </a:extLst>
          </p:cNvPr>
          <p:cNvSpPr>
            <a:spLocks xmlns:a="http://schemas.openxmlformats.org/drawingml/2006/main" noGrp="1"/>
          </p:cNvSpPr>
          <p:nvPr/>
        </p:nvSpPr>
        <p:spPr>
          <a:xfrm xmlns:a="http://schemas.openxmlformats.org/drawingml/2006/main">
            <a:off x="457200" y="1524000"/>
            <a:ext cx="82867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5100" b="1">
                <a:solidFill>
                  <a:srgbClr val="101828"/>
                </a:solidFill>
                <a:latin typeface="Helvetica Neue"/>
                <a:ea typeface="Helvetica Neue"/>
                <a:cs typeface="Helvetica Neue"/>
              </a:defRPr>
            </a:pPr>
            <a:r>
              <a:rPr sz="3450" b="1">
                <a:solidFill>
                  <a:srgbClr val="101828"/>
                </a:solidFill>
                <a:latin typeface="Helvetica Neue"/>
                <a:ea typeface="Helvetica Neue"/>
                <a:cs typeface="Helvetica Neue"/>
              </a:rPr>
              <a:t>AVIC</a:t>
            </a:r>
          </a:p>
          <a:p xmlns:a="http://schemas.openxmlformats.org/drawingml/2006/main">
            <a:pPr algn="l">
              <a:buNone/>
              <a:defRPr sz="5100" b="1">
                <a:solidFill>
                  <a:srgbClr val="101828"/>
                </a:solidFill>
                <a:latin typeface="Helvetica Neue"/>
                <a:ea typeface="Helvetica Neue"/>
                <a:cs typeface="Helvetica Neue"/>
              </a:defRPr>
            </a:pPr>
            <a:r>
              <a:rPr sz="3450" b="1">
                <a:solidFill>
                  <a:srgbClr val="101828"/>
                </a:solidFill>
                <a:latin typeface="Helvetica Neue"/>
                <a:ea typeface="Helvetica Neue"/>
                <a:cs typeface="Helvetica Neue"/>
              </a:rPr>
              <a:t>Portfolio intelligence for AIVC</a:t>
            </a:r>
          </a:p>
        </p:txBody>
      </p:sp>
      <p:sp>
        <p:nvSpPr>
          <p:cNvPr id="4" name="">
            <a:extLst xmlns:a="http://schemas.openxmlformats.org/drawingml/2006/main">
              <a:ext uri="{FF2B5EF4-FFF2-40B4-BE49-F238E27FC236}">
                <a16:creationId xmlns:a16="http://schemas.microsoft.com/office/drawing/2014/main" id="{A9B41661-5E1A-4F92-ADD3-F4CFD9277153}"/>
              </a:ext>
            </a:extLst>
          </p:cNvPr>
          <p:cNvSpPr>
            <a:spLocks xmlns:a="http://schemas.openxmlformats.org/drawingml/2006/main" noGrp="1"/>
          </p:cNvSpPr>
          <p:nvPr/>
        </p:nvSpPr>
        <p:spPr>
          <a:xfrm xmlns:a="http://schemas.openxmlformats.org/drawingml/2006/main">
            <a:off x="495300" y="3695700"/>
            <a:ext cx="7239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98"/>
          </a:bodyPr>
          <a:lstStyle xmlns:a="http://schemas.openxmlformats.org/drawingml/2006/main"/>
          <a:p xmlns:a="http://schemas.openxmlformats.org/drawingml/2006/main">
            <a:pPr algn="l">
              <a:buNone/>
              <a:defRPr sz="2100" b="1">
                <a:solidFill>
                  <a:srgbClr val="315F9F"/>
                </a:solidFill>
                <a:latin typeface="Helvetica Neue"/>
                <a:ea typeface="Helvetica Neue"/>
                <a:cs typeface="Helvetica Neue"/>
              </a:defRPr>
            </a:pPr>
            <a:r>
              <a:rPr sz="2025" b="1">
                <a:solidFill>
                  <a:srgbClr val="315F9F"/>
                </a:solidFill>
                <a:latin typeface="Helvetica Neue"/>
                <a:ea typeface="Helvetica Neue"/>
                <a:cs typeface="Helvetica Neue"/>
              </a:rPr>
              <a:t>Company briefs from imported evidence in 30 seconds or less</a:t>
            </a:r>
          </a:p>
        </p:txBody>
      </p:sp>
      <p:sp>
        <p:nvSpPr>
          <p:cNvPr id="5" name="">
            <a:extLst xmlns:a="http://schemas.openxmlformats.org/drawingml/2006/main">
              <a:ext uri="{FF2B5EF4-FFF2-40B4-BE49-F238E27FC236}">
                <a16:creationId xmlns:a16="http://schemas.microsoft.com/office/drawing/2014/main" id="{BE02645B-87CB-4B29-92D6-00F251442053}"/>
              </a:ext>
            </a:extLst>
          </p:cNvPr>
          <p:cNvSpPr>
            <a:spLocks xmlns:a="http://schemas.openxmlformats.org/drawingml/2006/main" noGrp="1"/>
          </p:cNvSpPr>
          <p:nvPr/>
        </p:nvSpPr>
        <p:spPr>
          <a:xfrm xmlns:a="http://schemas.openxmlformats.org/drawingml/2006/main">
            <a:off x="457200" y="485775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6" name="">
            <a:extLst xmlns:a="http://schemas.openxmlformats.org/drawingml/2006/main">
              <a:ext uri="{FF2B5EF4-FFF2-40B4-BE49-F238E27FC236}">
                <a16:creationId xmlns:a16="http://schemas.microsoft.com/office/drawing/2014/main" id="{8EEB971D-6B6E-42B3-96FB-E8FE4C8AD317}"/>
              </a:ext>
            </a:extLst>
          </p:cNvPr>
          <p:cNvSpPr>
            <a:spLocks xmlns:a="http://schemas.openxmlformats.org/drawingml/2006/main" noGrp="1"/>
          </p:cNvSpPr>
          <p:nvPr/>
        </p:nvSpPr>
        <p:spPr>
          <a:xfrm xmlns:a="http://schemas.openxmlformats.org/drawingml/2006/main">
            <a:off x="457200" y="5162550"/>
            <a:ext cx="7429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344054"/>
                </a:solidFill>
                <a:latin typeface="Helvetica Neue"/>
                <a:ea typeface="Helvetica Neue"/>
                <a:cs typeface="Helvetica Neue"/>
              </a:defRPr>
            </a:pPr>
            <a:r>
              <a:rPr sz="1425" b="0">
                <a:solidFill>
                  <a:srgbClr val="344054"/>
                </a:solidFill>
                <a:latin typeface="Helvetica Neue"/>
                <a:ea typeface="Helvetica Neue"/>
                <a:cs typeface="Helvetica Neue"/>
              </a:rPr>
              <a:t>Technical challenge · Product, architecture, and pilot plan</a:t>
            </a:r>
          </a:p>
        </p:txBody>
      </p:sp>
      <p:sp>
        <p:nvSpPr>
          <p:cNvPr id="7" name="">
            <a:extLst xmlns:a="http://schemas.openxmlformats.org/drawingml/2006/main">
              <a:ext uri="{FF2B5EF4-FFF2-40B4-BE49-F238E27FC236}">
                <a16:creationId xmlns:a16="http://schemas.microsoft.com/office/drawing/2014/main" id="{F6A76C5E-3CD4-4748-AEF7-31A1D2F83BAC}"/>
              </a:ext>
            </a:extLst>
          </p:cNvPr>
          <p:cNvSpPr>
            <a:spLocks xmlns:a="http://schemas.openxmlformats.org/drawingml/2006/main" noGrp="1"/>
          </p:cNvSpPr>
          <p:nvPr/>
        </p:nvSpPr>
        <p:spPr>
          <a:xfrm xmlns:a="http://schemas.openxmlformats.org/drawingml/2006/main">
            <a:off x="9525000" y="5162550"/>
            <a:ext cx="1790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r">
              <a:buNone/>
              <a:defRPr sz="1125" b="1">
                <a:solidFill>
                  <a:srgbClr val="667085"/>
                </a:solidFill>
                <a:latin typeface="Helvetica Neue"/>
                <a:ea typeface="Helvetica Neue"/>
                <a:cs typeface="Helvetica Neue"/>
              </a:defRPr>
            </a:pPr>
            <a:r>
              <a:rPr sz="1125" b="1">
                <a:solidFill>
                  <a:srgbClr val="667085"/>
                </a:solidFill>
                <a:latin typeface="Helvetica Neue"/>
                <a:ea typeface="Helvetica Neue"/>
                <a:cs typeface="Helvetica Neue"/>
              </a:rPr>
              <a:t>31 AUG 2026</a:t>
            </a:r>
          </a:p>
        </p:txBody>
      </p:sp>
      <p:sp>
        <p:nvSpPr>
          <p:cNvPr id="8" name="">
            <a:extLst xmlns:a="http://schemas.openxmlformats.org/drawingml/2006/main">
              <a:ext uri="{FF2B5EF4-FFF2-40B4-BE49-F238E27FC236}">
                <a16:creationId xmlns:a16="http://schemas.microsoft.com/office/drawing/2014/main" id="{E291299B-C5FE-4207-A40C-B9127CBC5E53}"/>
              </a:ext>
            </a:extLst>
          </p:cNvPr>
          <p:cNvSpPr>
            <a:spLocks xmlns:a="http://schemas.openxmlformats.org/drawingml/2006/main" noGrp="1"/>
          </p:cNvSpPr>
          <p:nvPr/>
        </p:nvSpPr>
        <p:spPr>
          <a:xfrm xmlns:a="http://schemas.openxmlformats.org/drawingml/2006/main">
            <a:off x="457200" y="6172200"/>
            <a:ext cx="76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125" b="1">
                <a:solidFill>
                  <a:srgbClr val="667085"/>
                </a:solidFill>
                <a:latin typeface="Helvetica Neue"/>
                <a:ea typeface="Helvetica Neue"/>
                <a:cs typeface="Helvetica Neue"/>
              </a:defRPr>
            </a:pPr>
            <a:r>
              <a:rPr sz="1125" b="1">
                <a:solidFill>
                  <a:srgbClr val="667085"/>
                </a:solidFill>
                <a:latin typeface="Helvetica Neue"/>
                <a:ea typeface="Helvetica Neue"/>
                <a:cs typeface="Helvetica Neue"/>
              </a:rPr>
              <a:t>AVIC</a:t>
            </a:r>
          </a:p>
        </p:txBody>
      </p:sp>
    </p:spTree>
    <p:extLst>
      <p:ext uri="{BB962C8B-B14F-4D97-AF65-F5344CB8AC3E}">
        <p14:creationId xmlns:p14="http://schemas.microsoft.com/office/powerpoint/2010/main" val="614579951"/>
      </p:ext>
    </p:extLst>
  </p:cSld>
</p:sld>
</file>

<file path=ppt/slides/slide2.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B6C65EB2-113E-4627-87F2-A71ECC3D3678}"/>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What job is AVIC replacing?</a:t>
            </a:r>
          </a:p>
        </p:txBody>
      </p:sp>
      <p:sp>
        <p:nvSpPr>
          <p:cNvPr id="2" name="">
            <a:extLst xmlns:a="http://schemas.openxmlformats.org/drawingml/2006/main">
              <a:ext uri="{FF2B5EF4-FFF2-40B4-BE49-F238E27FC236}">
                <a16:creationId xmlns:a16="http://schemas.microsoft.com/office/drawing/2014/main" id="{38E579A2-9FB9-4372-9154-19087DC39425}"/>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1F77AA71-D3C2-4C98-AFAC-E5412A1AB528}"/>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02</a:t>
            </a:r>
          </a:p>
        </p:txBody>
      </p:sp>
      <p:sp>
        <p:nvSpPr>
          <p:cNvPr id="4" name="">
            <a:extLst xmlns:a="http://schemas.openxmlformats.org/drawingml/2006/main">
              <a:ext uri="{FF2B5EF4-FFF2-40B4-BE49-F238E27FC236}">
                <a16:creationId xmlns:a16="http://schemas.microsoft.com/office/drawing/2014/main" id="{8DCF48F3-450F-4130-95CF-94099BB78493}"/>
              </a:ext>
            </a:extLst>
          </p:cNvPr>
          <p:cNvSpPr>
            <a:spLocks xmlns:a="http://schemas.openxmlformats.org/drawingml/2006/main" noGrp="1"/>
          </p:cNvSpPr>
          <p:nvPr/>
        </p:nvSpPr>
        <p:spPr>
          <a:xfrm xmlns:a="http://schemas.openxmlformats.org/drawingml/2006/main">
            <a:off x="457200" y="1600200"/>
            <a:ext cx="10287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250" b="1">
                <a:solidFill>
                  <a:srgbClr val="101828"/>
                </a:solidFill>
                <a:latin typeface="Helvetica Neue"/>
                <a:ea typeface="Helvetica Neue"/>
                <a:cs typeface="Helvetica Neue"/>
              </a:defRPr>
            </a:pPr>
            <a:r>
              <a:rPr sz="1725" b="1">
                <a:solidFill>
                  <a:srgbClr val="101828"/>
                </a:solidFill>
                <a:latin typeface="Helvetica Neue"/>
                <a:ea typeface="Helvetica Neue"/>
                <a:cs typeface="Helvetica Neue"/>
              </a:rPr>
              <a:t>RC prepares for discussions across about 50 portfolio companies and 200 pipeline companies.</a:t>
            </a:r>
          </a:p>
        </p:txBody>
      </p:sp>
      <p:sp>
        <p:nvSpPr>
          <p:cNvPr id="5" name="">
            <a:extLst xmlns:a="http://schemas.openxmlformats.org/drawingml/2006/main">
              <a:ext uri="{FF2B5EF4-FFF2-40B4-BE49-F238E27FC236}">
                <a16:creationId xmlns:a16="http://schemas.microsoft.com/office/drawing/2014/main" id="{248F95D8-6C94-47AD-A1EB-CF294B2AA4EB}"/>
              </a:ext>
            </a:extLst>
          </p:cNvPr>
          <p:cNvSpPr>
            <a:spLocks xmlns:a="http://schemas.openxmlformats.org/drawingml/2006/main" noGrp="1"/>
          </p:cNvSpPr>
          <p:nvPr/>
        </p:nvSpPr>
        <p:spPr>
          <a:xfrm xmlns:a="http://schemas.openxmlformats.org/drawingml/2006/main">
            <a:off x="457200" y="2238375"/>
            <a:ext cx="1028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889"/>
          </a:bodyPr>
          <a:lstStyle xmlns:a="http://schemas.openxmlformats.org/drawingml/2006/main"/>
          <a:p xmlns:a="http://schemas.openxmlformats.org/drawingml/2006/main">
            <a:pPr algn="l">
              <a:buNone/>
              <a:defRPr sz="1425" b="0">
                <a:solidFill>
                  <a:srgbClr val="667085"/>
                </a:solidFill>
                <a:latin typeface="Helvetica Neue"/>
                <a:ea typeface="Helvetica Neue"/>
                <a:cs typeface="Helvetica Neue"/>
              </a:defRPr>
            </a:pPr>
            <a:r>
              <a:rPr sz="1350" b="0">
                <a:solidFill>
                  <a:srgbClr val="667085"/>
                </a:solidFill>
                <a:latin typeface="Helvetica Neue"/>
                <a:ea typeface="Helvetica Neue"/>
                <a:cs typeface="Helvetica Neue"/>
              </a:rPr>
              <a:t>The facts are spread across CRM records, meeting notes, Slack, filings, and news. RC must find the latest value, check the source, and see what is missing.</a:t>
            </a:r>
          </a:p>
        </p:txBody>
      </p:sp>
      <p:sp>
        <p:nvSpPr>
          <p:cNvPr id="6" name="">
            <a:extLst xmlns:a="http://schemas.openxmlformats.org/drawingml/2006/main">
              <a:ext uri="{FF2B5EF4-FFF2-40B4-BE49-F238E27FC236}">
                <a16:creationId xmlns:a16="http://schemas.microsoft.com/office/drawing/2014/main" id="{D90417FF-1C78-4630-A7F8-6EC28C547754}"/>
              </a:ext>
            </a:extLst>
          </p:cNvPr>
          <p:cNvSpPr>
            <a:spLocks xmlns:a="http://schemas.openxmlformats.org/drawingml/2006/main" noGrp="1"/>
          </p:cNvSpPr>
          <p:nvPr/>
        </p:nvSpPr>
        <p:spPr>
          <a:xfrm xmlns:a="http://schemas.openxmlformats.org/drawingml/2006/main">
            <a:off x="457200" y="3219450"/>
            <a:ext cx="3381375" cy="2247900"/>
          </a:xfrm>
          <a:prstGeom xmlns:a="http://schemas.openxmlformats.org/drawingml/2006/main" prst="roundRect">
            <a:avLst>
              <a:gd name="adj" fmla="val 7627"/>
            </a:avLst>
          </a:prstGeom>
          <a:solidFill xmlns:a="http://schemas.openxmlformats.org/drawingml/2006/main">
            <a:srgbClr val="FFFFFF"/>
          </a:solidFill>
          <a:ln xmlns:a="http://schemas.openxmlformats.org/drawingml/2006/main" w="9525">
            <a:solidFill>
              <a:srgbClr val="D0D5DD"/>
            </a:solidFill>
            <a:prstDash val="solid"/>
          </a:ln>
        </p:spPr>
      </p:sp>
      <p:sp>
        <p:nvSpPr>
          <p:cNvPr id="7" name="">
            <a:extLst xmlns:a="http://schemas.openxmlformats.org/drawingml/2006/main">
              <a:ext uri="{FF2B5EF4-FFF2-40B4-BE49-F238E27FC236}">
                <a16:creationId xmlns:a16="http://schemas.microsoft.com/office/drawing/2014/main" id="{F0950B1F-A28C-4568-A076-E5A6E0933D1B}"/>
              </a:ext>
            </a:extLst>
          </p:cNvPr>
          <p:cNvSpPr>
            <a:spLocks xmlns:a="http://schemas.openxmlformats.org/drawingml/2006/main" noGrp="1"/>
          </p:cNvSpPr>
          <p:nvPr/>
        </p:nvSpPr>
        <p:spPr>
          <a:xfrm xmlns:a="http://schemas.openxmlformats.org/drawingml/2006/main">
            <a:off x="457200" y="3219450"/>
            <a:ext cx="76200" cy="2247900"/>
          </a:xfrm>
          <a:prstGeom xmlns:a="http://schemas.openxmlformats.org/drawingml/2006/main" prst="rect">
            <a:avLst/>
          </a:prstGeom>
          <a:solidFill xmlns:a="http://schemas.openxmlformats.org/drawingml/2006/main">
            <a:srgbClr val="315F9F"/>
          </a:solidFill>
          <a:ln xmlns:a="http://schemas.openxmlformats.org/drawingml/2006/main" w="9525">
            <a:solidFill>
              <a:srgbClr val="315F9F"/>
            </a:solidFill>
            <a:prstDash val="solid"/>
          </a:ln>
        </p:spPr>
      </p:sp>
      <p:sp>
        <p:nvSpPr>
          <p:cNvPr id="8" name="">
            <a:extLst xmlns:a="http://schemas.openxmlformats.org/drawingml/2006/main">
              <a:ext uri="{FF2B5EF4-FFF2-40B4-BE49-F238E27FC236}">
                <a16:creationId xmlns:a16="http://schemas.microsoft.com/office/drawing/2014/main" id="{6E8B5CB9-5258-49AF-98CB-CA7024CCD3D5}"/>
              </a:ext>
            </a:extLst>
          </p:cNvPr>
          <p:cNvSpPr>
            <a:spLocks xmlns:a="http://schemas.openxmlformats.org/drawingml/2006/main" noGrp="1"/>
          </p:cNvSpPr>
          <p:nvPr/>
        </p:nvSpPr>
        <p:spPr>
          <a:xfrm xmlns:a="http://schemas.openxmlformats.org/drawingml/2006/main">
            <a:off x="742950" y="3505200"/>
            <a:ext cx="2857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274"/>
          </a:bodyPr>
          <a:lstStyle xmlns:a="http://schemas.openxmlformats.org/drawingml/2006/main"/>
          <a:p xmlns:a="http://schemas.openxmlformats.org/drawingml/2006/main">
            <a:pPr algn="l">
              <a:buNone/>
              <a:defRPr sz="5100" b="1">
                <a:solidFill>
                  <a:srgbClr val="101828"/>
                </a:solidFill>
                <a:latin typeface="Helvetica Neue"/>
                <a:ea typeface="Helvetica Neue"/>
                <a:cs typeface="Helvetica Neue"/>
              </a:defRPr>
            </a:pPr>
            <a:r>
              <a:rPr sz="5100" b="1">
                <a:solidFill>
                  <a:srgbClr val="101828"/>
                </a:solidFill>
                <a:latin typeface="Helvetica Neue"/>
                <a:ea typeface="Helvetica Neue"/>
                <a:cs typeface="Helvetica Neue"/>
              </a:rPr>
              <a:t>≈250</a:t>
            </a:r>
          </a:p>
        </p:txBody>
      </p:sp>
      <p:sp>
        <p:nvSpPr>
          <p:cNvPr id="9" name="">
            <a:extLst xmlns:a="http://schemas.openxmlformats.org/drawingml/2006/main">
              <a:ext uri="{FF2B5EF4-FFF2-40B4-BE49-F238E27FC236}">
                <a16:creationId xmlns:a16="http://schemas.microsoft.com/office/drawing/2014/main" id="{35DB3E8C-2A1E-4CB1-A446-D1C965CC3246}"/>
              </a:ext>
            </a:extLst>
          </p:cNvPr>
          <p:cNvSpPr>
            <a:spLocks xmlns:a="http://schemas.openxmlformats.org/drawingml/2006/main" noGrp="1"/>
          </p:cNvSpPr>
          <p:nvPr/>
        </p:nvSpPr>
        <p:spPr>
          <a:xfrm xmlns:a="http://schemas.openxmlformats.org/drawingml/2006/main">
            <a:off x="742950" y="441960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344054"/>
                </a:solidFill>
                <a:latin typeface="Helvetica Neue"/>
                <a:ea typeface="Helvetica Neue"/>
                <a:cs typeface="Helvetica Neue"/>
              </a:defRPr>
            </a:pPr>
            <a:r>
              <a:rPr sz="1650" b="1">
                <a:solidFill>
                  <a:srgbClr val="344054"/>
                </a:solidFill>
                <a:latin typeface="Helvetica Neue"/>
                <a:ea typeface="Helvetica Neue"/>
                <a:cs typeface="Helvetica Neue"/>
              </a:rPr>
              <a:t>companies in scope</a:t>
            </a:r>
          </a:p>
        </p:txBody>
      </p:sp>
      <p:sp>
        <p:nvSpPr>
          <p:cNvPr id="10" name="">
            <a:extLst xmlns:a="http://schemas.openxmlformats.org/drawingml/2006/main">
              <a:ext uri="{FF2B5EF4-FFF2-40B4-BE49-F238E27FC236}">
                <a16:creationId xmlns:a16="http://schemas.microsoft.com/office/drawing/2014/main" id="{D5053B9A-8BFE-4CFB-BD23-363424E0793F}"/>
              </a:ext>
            </a:extLst>
          </p:cNvPr>
          <p:cNvSpPr>
            <a:spLocks xmlns:a="http://schemas.openxmlformats.org/drawingml/2006/main" noGrp="1"/>
          </p:cNvSpPr>
          <p:nvPr/>
        </p:nvSpPr>
        <p:spPr>
          <a:xfrm xmlns:a="http://schemas.openxmlformats.org/drawingml/2006/main">
            <a:off x="742950" y="495300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About 50 portfolio + 200 pipeline</a:t>
            </a:r>
          </a:p>
        </p:txBody>
      </p:sp>
      <p:sp>
        <p:nvSpPr>
          <p:cNvPr id="11" name="">
            <a:extLst xmlns:a="http://schemas.openxmlformats.org/drawingml/2006/main">
              <a:ext uri="{FF2B5EF4-FFF2-40B4-BE49-F238E27FC236}">
                <a16:creationId xmlns:a16="http://schemas.microsoft.com/office/drawing/2014/main" id="{56AC5EA8-248C-47B4-958B-AE6E911531FB}"/>
              </a:ext>
            </a:extLst>
          </p:cNvPr>
          <p:cNvSpPr>
            <a:spLocks xmlns:a="http://schemas.openxmlformats.org/drawingml/2006/main" noGrp="1"/>
          </p:cNvSpPr>
          <p:nvPr/>
        </p:nvSpPr>
        <p:spPr>
          <a:xfrm xmlns:a="http://schemas.openxmlformats.org/drawingml/2006/main">
            <a:off x="3933825" y="3219450"/>
            <a:ext cx="3381375" cy="2247900"/>
          </a:xfrm>
          <a:prstGeom xmlns:a="http://schemas.openxmlformats.org/drawingml/2006/main" prst="roundRect">
            <a:avLst>
              <a:gd name="adj" fmla="val 7627"/>
            </a:avLst>
          </a:prstGeom>
          <a:solidFill xmlns:a="http://schemas.openxmlformats.org/drawingml/2006/main">
            <a:srgbClr val="FFFFFF"/>
          </a:solidFill>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0DD683D5-383D-4FAC-92FD-68867DEDD7D7}"/>
              </a:ext>
            </a:extLst>
          </p:cNvPr>
          <p:cNvSpPr>
            <a:spLocks xmlns:a="http://schemas.openxmlformats.org/drawingml/2006/main" noGrp="1"/>
          </p:cNvSpPr>
          <p:nvPr/>
        </p:nvSpPr>
        <p:spPr>
          <a:xfrm xmlns:a="http://schemas.openxmlformats.org/drawingml/2006/main">
            <a:off x="3933825" y="3219450"/>
            <a:ext cx="76200" cy="2247900"/>
          </a:xfrm>
          <a:prstGeom xmlns:a="http://schemas.openxmlformats.org/drawingml/2006/main" prst="rect">
            <a:avLst/>
          </a:prstGeom>
          <a:solidFill xmlns:a="http://schemas.openxmlformats.org/drawingml/2006/main">
            <a:srgbClr val="5D7FB4"/>
          </a:solidFill>
          <a:ln xmlns:a="http://schemas.openxmlformats.org/drawingml/2006/main" w="9525">
            <a:solidFill>
              <a:srgbClr val="5D7FB4"/>
            </a:solidFill>
            <a:prstDash val="solid"/>
          </a:ln>
        </p:spPr>
      </p:sp>
      <p:sp>
        <p:nvSpPr>
          <p:cNvPr id="13" name="">
            <a:extLst xmlns:a="http://schemas.openxmlformats.org/drawingml/2006/main">
              <a:ext uri="{FF2B5EF4-FFF2-40B4-BE49-F238E27FC236}">
                <a16:creationId xmlns:a16="http://schemas.microsoft.com/office/drawing/2014/main" id="{2F025FB5-141F-4754-8532-8F42CEAA8B70}"/>
              </a:ext>
            </a:extLst>
          </p:cNvPr>
          <p:cNvSpPr>
            <a:spLocks xmlns:a="http://schemas.openxmlformats.org/drawingml/2006/main" noGrp="1"/>
          </p:cNvSpPr>
          <p:nvPr/>
        </p:nvSpPr>
        <p:spPr>
          <a:xfrm xmlns:a="http://schemas.openxmlformats.org/drawingml/2006/main">
            <a:off x="4219575" y="3505200"/>
            <a:ext cx="2857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274"/>
          </a:bodyPr>
          <a:lstStyle xmlns:a="http://schemas.openxmlformats.org/drawingml/2006/main"/>
          <a:p xmlns:a="http://schemas.openxmlformats.org/drawingml/2006/main">
            <a:pPr algn="l">
              <a:buNone/>
              <a:defRPr sz="5100" b="1">
                <a:solidFill>
                  <a:srgbClr val="101828"/>
                </a:solidFill>
                <a:latin typeface="Helvetica Neue"/>
                <a:ea typeface="Helvetica Neue"/>
                <a:cs typeface="Helvetica Neue"/>
              </a:defRPr>
            </a:pPr>
            <a:r>
              <a:rPr sz="5100" b="1">
                <a:solidFill>
                  <a:srgbClr val="101828"/>
                </a:solidFill>
                <a:latin typeface="Helvetica Neue"/>
                <a:ea typeface="Helvetica Neue"/>
                <a:cs typeface="Helvetica Neue"/>
              </a:rPr>
              <a:t>90 min</a:t>
            </a:r>
          </a:p>
        </p:txBody>
      </p:sp>
      <p:sp>
        <p:nvSpPr>
          <p:cNvPr id="14" name="">
            <a:extLst xmlns:a="http://schemas.openxmlformats.org/drawingml/2006/main">
              <a:ext uri="{FF2B5EF4-FFF2-40B4-BE49-F238E27FC236}">
                <a16:creationId xmlns:a16="http://schemas.microsoft.com/office/drawing/2014/main" id="{7DD042B3-963F-43BD-8B6B-A49D74611D41}"/>
              </a:ext>
            </a:extLst>
          </p:cNvPr>
          <p:cNvSpPr>
            <a:spLocks xmlns:a="http://schemas.openxmlformats.org/drawingml/2006/main" noGrp="1"/>
          </p:cNvSpPr>
          <p:nvPr/>
        </p:nvSpPr>
        <p:spPr>
          <a:xfrm xmlns:a="http://schemas.openxmlformats.org/drawingml/2006/main">
            <a:off x="4219575" y="441960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344054"/>
                </a:solidFill>
                <a:latin typeface="Helvetica Neue"/>
                <a:ea typeface="Helvetica Neue"/>
                <a:cs typeface="Helvetica Neue"/>
              </a:defRPr>
            </a:pPr>
            <a:r>
              <a:rPr sz="1650" b="1">
                <a:solidFill>
                  <a:srgbClr val="344054"/>
                </a:solidFill>
                <a:latin typeface="Helvetica Neue"/>
                <a:ea typeface="Helvetica Neue"/>
                <a:cs typeface="Helvetica Neue"/>
              </a:rPr>
              <a:t>manual preparation</a:t>
            </a:r>
          </a:p>
        </p:txBody>
      </p:sp>
      <p:sp>
        <p:nvSpPr>
          <p:cNvPr id="15" name="">
            <a:extLst xmlns:a="http://schemas.openxmlformats.org/drawingml/2006/main">
              <a:ext uri="{FF2B5EF4-FFF2-40B4-BE49-F238E27FC236}">
                <a16:creationId xmlns:a16="http://schemas.microsoft.com/office/drawing/2014/main" id="{1353F715-1736-4DA9-A1CF-98E50CB58DCE}"/>
              </a:ext>
            </a:extLst>
          </p:cNvPr>
          <p:cNvSpPr>
            <a:spLocks xmlns:a="http://schemas.openxmlformats.org/drawingml/2006/main" noGrp="1"/>
          </p:cNvSpPr>
          <p:nvPr/>
        </p:nvSpPr>
        <p:spPr>
          <a:xfrm xmlns:a="http://schemas.openxmlformats.org/drawingml/2006/main">
            <a:off x="4219575" y="495300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22"/>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Scenario estimate; not a measured baseline</a:t>
            </a:r>
          </a:p>
        </p:txBody>
      </p:sp>
      <p:sp>
        <p:nvSpPr>
          <p:cNvPr id="16" name="">
            <a:extLst xmlns:a="http://schemas.openxmlformats.org/drawingml/2006/main">
              <a:ext uri="{FF2B5EF4-FFF2-40B4-BE49-F238E27FC236}">
                <a16:creationId xmlns:a16="http://schemas.microsoft.com/office/drawing/2014/main" id="{577AC155-9844-4BC8-896D-32BD07441E24}"/>
              </a:ext>
            </a:extLst>
          </p:cNvPr>
          <p:cNvSpPr>
            <a:spLocks xmlns:a="http://schemas.openxmlformats.org/drawingml/2006/main" noGrp="1"/>
          </p:cNvSpPr>
          <p:nvPr/>
        </p:nvSpPr>
        <p:spPr>
          <a:xfrm xmlns:a="http://schemas.openxmlformats.org/drawingml/2006/main">
            <a:off x="7410450" y="3219450"/>
            <a:ext cx="3381375" cy="2247900"/>
          </a:xfrm>
          <a:prstGeom xmlns:a="http://schemas.openxmlformats.org/drawingml/2006/main" prst="roundRect">
            <a:avLst>
              <a:gd name="adj" fmla="val 7627"/>
            </a:avLst>
          </a:prstGeom>
          <a:solidFill xmlns:a="http://schemas.openxmlformats.org/drawingml/2006/main">
            <a:srgbClr val="FFFFFF"/>
          </a:solidFill>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372D61F2-45C3-47D8-AC88-3F1E32DCFA11}"/>
              </a:ext>
            </a:extLst>
          </p:cNvPr>
          <p:cNvSpPr>
            <a:spLocks xmlns:a="http://schemas.openxmlformats.org/drawingml/2006/main" noGrp="1"/>
          </p:cNvSpPr>
          <p:nvPr/>
        </p:nvSpPr>
        <p:spPr>
          <a:xfrm xmlns:a="http://schemas.openxmlformats.org/drawingml/2006/main">
            <a:off x="7410450" y="3219450"/>
            <a:ext cx="76200" cy="2247900"/>
          </a:xfrm>
          <a:prstGeom xmlns:a="http://schemas.openxmlformats.org/drawingml/2006/main" prst="rect">
            <a:avLst/>
          </a:prstGeom>
          <a:solidFill xmlns:a="http://schemas.openxmlformats.org/drawingml/2006/main">
            <a:srgbClr val="9CB5D5"/>
          </a:solidFill>
          <a:ln xmlns:a="http://schemas.openxmlformats.org/drawingml/2006/main" w="9525">
            <a:solidFill>
              <a:srgbClr val="9CB5D5"/>
            </a:solidFill>
            <a:prstDash val="solid"/>
          </a:ln>
        </p:spPr>
      </p:sp>
      <p:sp>
        <p:nvSpPr>
          <p:cNvPr id="18" name="">
            <a:extLst xmlns:a="http://schemas.openxmlformats.org/drawingml/2006/main">
              <a:ext uri="{FF2B5EF4-FFF2-40B4-BE49-F238E27FC236}">
                <a16:creationId xmlns:a16="http://schemas.microsoft.com/office/drawing/2014/main" id="{C926A76D-4C90-42DF-A6F2-17737BFECFDE}"/>
              </a:ext>
            </a:extLst>
          </p:cNvPr>
          <p:cNvSpPr>
            <a:spLocks xmlns:a="http://schemas.openxmlformats.org/drawingml/2006/main" noGrp="1"/>
          </p:cNvSpPr>
          <p:nvPr/>
        </p:nvSpPr>
        <p:spPr>
          <a:xfrm xmlns:a="http://schemas.openxmlformats.org/drawingml/2006/main">
            <a:off x="7696200" y="3505200"/>
            <a:ext cx="2857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274"/>
          </a:bodyPr>
          <a:lstStyle xmlns:a="http://schemas.openxmlformats.org/drawingml/2006/main"/>
          <a:p xmlns:a="http://schemas.openxmlformats.org/drawingml/2006/main">
            <a:pPr algn="l">
              <a:buNone/>
              <a:defRPr sz="5100" b="1">
                <a:solidFill>
                  <a:srgbClr val="101828"/>
                </a:solidFill>
                <a:latin typeface="Helvetica Neue"/>
                <a:ea typeface="Helvetica Neue"/>
                <a:cs typeface="Helvetica Neue"/>
              </a:defRPr>
            </a:pPr>
            <a:r>
              <a:rPr sz="5100" b="1">
                <a:solidFill>
                  <a:srgbClr val="101828"/>
                </a:solidFill>
                <a:latin typeface="Helvetica Neue"/>
                <a:ea typeface="Helvetica Neue"/>
                <a:cs typeface="Helvetica Neue"/>
              </a:rPr>
              <a:t>≤30 sec</a:t>
            </a:r>
          </a:p>
        </p:txBody>
      </p:sp>
      <p:sp>
        <p:nvSpPr>
          <p:cNvPr id="19" name="">
            <a:extLst xmlns:a="http://schemas.openxmlformats.org/drawingml/2006/main">
              <a:ext uri="{FF2B5EF4-FFF2-40B4-BE49-F238E27FC236}">
                <a16:creationId xmlns:a16="http://schemas.microsoft.com/office/drawing/2014/main" id="{093E1318-319E-46BC-A315-D16FC24215E3}"/>
              </a:ext>
            </a:extLst>
          </p:cNvPr>
          <p:cNvSpPr>
            <a:spLocks xmlns:a="http://schemas.openxmlformats.org/drawingml/2006/main" noGrp="1"/>
          </p:cNvSpPr>
          <p:nvPr/>
        </p:nvSpPr>
        <p:spPr>
          <a:xfrm xmlns:a="http://schemas.openxmlformats.org/drawingml/2006/main">
            <a:off x="7696200" y="441960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344054"/>
                </a:solidFill>
                <a:latin typeface="Helvetica Neue"/>
                <a:ea typeface="Helvetica Neue"/>
                <a:cs typeface="Helvetica Neue"/>
              </a:defRPr>
            </a:pPr>
            <a:r>
              <a:rPr sz="1650" b="1">
                <a:solidFill>
                  <a:srgbClr val="344054"/>
                </a:solidFill>
                <a:latin typeface="Helvetica Neue"/>
                <a:ea typeface="Helvetica Neue"/>
                <a:cs typeface="Helvetica Neue"/>
              </a:rPr>
              <a:t>brief target</a:t>
            </a:r>
          </a:p>
        </p:txBody>
      </p:sp>
      <p:sp>
        <p:nvSpPr>
          <p:cNvPr id="20" name="">
            <a:extLst xmlns:a="http://schemas.openxmlformats.org/drawingml/2006/main">
              <a:ext uri="{FF2B5EF4-FFF2-40B4-BE49-F238E27FC236}">
                <a16:creationId xmlns:a16="http://schemas.microsoft.com/office/drawing/2014/main" id="{4F8691C0-D6AA-43D5-ADB0-F23290AE504D}"/>
              </a:ext>
            </a:extLst>
          </p:cNvPr>
          <p:cNvSpPr>
            <a:spLocks xmlns:a="http://schemas.openxmlformats.org/drawingml/2006/main" noGrp="1"/>
          </p:cNvSpPr>
          <p:nvPr/>
        </p:nvSpPr>
        <p:spPr>
          <a:xfrm xmlns:a="http://schemas.openxmlformats.org/drawingml/2006/main">
            <a:off x="7696200" y="495300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167"/>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AVIC organizes evidence. RC keeps the investment judgment.</a:t>
            </a:r>
          </a:p>
        </p:txBody>
      </p:sp>
    </p:spTree>
    <p:extLst>
      <p:ext uri="{BB962C8B-B14F-4D97-AF65-F5344CB8AC3E}">
        <p14:creationId xmlns:p14="http://schemas.microsoft.com/office/powerpoint/2010/main" val="1491271363"/>
      </p:ext>
    </p:extLst>
  </p:cSld>
</p:sld>
</file>

<file path=ppt/slides/slide3.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AA341753-F432-4FAC-905F-6BC9A3308FE6}"/>
              </a:ext>
            </a:extLst>
          </p:cNvPr>
          <p:cNvSpPr>
            <a:spLocks xmlns:a="http://schemas.openxmlformats.org/drawingml/2006/main" noGrp="1"/>
          </p:cNvSpPr>
          <p:nvPr/>
        </p:nvSpPr>
        <p:spPr>
          <a:xfrm xmlns:a="http://schemas.openxmlformats.org/drawingml/2006/main">
            <a:off x="685800" y="361950"/>
            <a:ext cx="108204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What does the working prototype let RC do?</a:t>
            </a:r>
          </a:p>
        </p:txBody>
      </p:sp>
      <p:sp>
        <p:nvSpPr>
          <p:cNvPr id="2" name="">
            <a:extLst xmlns:a="http://schemas.openxmlformats.org/drawingml/2006/main">
              <a:ext uri="{FF2B5EF4-FFF2-40B4-BE49-F238E27FC236}">
                <a16:creationId xmlns:a16="http://schemas.microsoft.com/office/drawing/2014/main" id="{15AE18DA-23DC-4F91-B843-5482207C12E5}"/>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A0FA8E7A-FCA5-488D-941A-99A2108683DD}"/>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03</a:t>
            </a:r>
          </a:p>
        </p:txBody>
      </p:sp>
      <p:sp>
        <p:nvSpPr>
          <p:cNvPr id="4" name="">
            <a:extLst xmlns:a="http://schemas.openxmlformats.org/drawingml/2006/main">
              <a:ext uri="{FF2B5EF4-FFF2-40B4-BE49-F238E27FC236}">
                <a16:creationId xmlns:a16="http://schemas.microsoft.com/office/drawing/2014/main" id="{EAAABDBA-8C6F-43CE-B795-FCAE72075F1A}"/>
              </a:ext>
            </a:extLst>
          </p:cNvPr>
          <p:cNvSpPr>
            <a:spLocks xmlns:a="http://schemas.openxmlformats.org/drawingml/2006/main" noGrp="1"/>
          </p:cNvSpPr>
          <p:nvPr/>
        </p:nvSpPr>
        <p:spPr>
          <a:xfrm xmlns:a="http://schemas.openxmlformats.org/drawingml/2006/main">
            <a:off x="457200" y="1333500"/>
            <a:ext cx="7524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0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The brief, evidence, original source, and feedback stay in one flow.</a:t>
            </a:r>
          </a:p>
        </p:txBody>
      </p:sp>
      <p:sp>
        <p:nvSpPr>
          <p:cNvPr id="5" name="">
            <a:extLst xmlns:a="http://schemas.openxmlformats.org/drawingml/2006/main">
              <a:ext uri="{FF2B5EF4-FFF2-40B4-BE49-F238E27FC236}">
                <a16:creationId xmlns:a16="http://schemas.microsoft.com/office/drawing/2014/main" id="{2171D578-EC77-455D-8411-25930D85BE63}"/>
              </a:ext>
            </a:extLst>
          </p:cNvPr>
          <p:cNvSpPr>
            <a:spLocks xmlns:a="http://schemas.openxmlformats.org/drawingml/2006/main" noGrp="1"/>
          </p:cNvSpPr>
          <p:nvPr/>
        </p:nvSpPr>
        <p:spPr>
          <a:xfrm xmlns:a="http://schemas.openxmlformats.org/drawingml/2006/main">
            <a:off x="8343900" y="1952625"/>
            <a:ext cx="304800" cy="3048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6" name="">
            <a:extLst xmlns:a="http://schemas.openxmlformats.org/drawingml/2006/main">
              <a:ext uri="{FF2B5EF4-FFF2-40B4-BE49-F238E27FC236}">
                <a16:creationId xmlns:a16="http://schemas.microsoft.com/office/drawing/2014/main" id="{78A12385-E2AC-4E4A-8AE9-C0083C26DB36}"/>
              </a:ext>
            </a:extLst>
          </p:cNvPr>
          <p:cNvSpPr>
            <a:spLocks xmlns:a="http://schemas.openxmlformats.org/drawingml/2006/main" noGrp="1"/>
          </p:cNvSpPr>
          <p:nvPr/>
        </p:nvSpPr>
        <p:spPr>
          <a:xfrm xmlns:a="http://schemas.openxmlformats.org/drawingml/2006/main">
            <a:off x="8439150" y="20002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buNone/>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1</a:t>
            </a:r>
          </a:p>
        </p:txBody>
      </p:sp>
      <p:sp>
        <p:nvSpPr>
          <p:cNvPr id="7" name="">
            <a:extLst xmlns:a="http://schemas.openxmlformats.org/drawingml/2006/main">
              <a:ext uri="{FF2B5EF4-FFF2-40B4-BE49-F238E27FC236}">
                <a16:creationId xmlns:a16="http://schemas.microsoft.com/office/drawing/2014/main" id="{3CB9EA74-BB95-4276-B9A6-114E2E4AD345}"/>
              </a:ext>
            </a:extLst>
          </p:cNvPr>
          <p:cNvSpPr>
            <a:spLocks xmlns:a="http://schemas.openxmlformats.org/drawingml/2006/main" noGrp="1"/>
          </p:cNvSpPr>
          <p:nvPr/>
        </p:nvSpPr>
        <p:spPr>
          <a:xfrm xmlns:a="http://schemas.openxmlformats.org/drawingml/2006/main">
            <a:off x="8801100" y="19431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57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Select company</a:t>
            </a:r>
          </a:p>
        </p:txBody>
      </p:sp>
      <p:sp>
        <p:nvSpPr>
          <p:cNvPr id="8" name="">
            <a:extLst xmlns:a="http://schemas.openxmlformats.org/drawingml/2006/main">
              <a:ext uri="{FF2B5EF4-FFF2-40B4-BE49-F238E27FC236}">
                <a16:creationId xmlns:a16="http://schemas.microsoft.com/office/drawing/2014/main" id="{0FA5DDC6-3FD4-4355-B84F-85B98D1D52D3}"/>
              </a:ext>
            </a:extLst>
          </p:cNvPr>
          <p:cNvSpPr>
            <a:spLocks xmlns:a="http://schemas.openxmlformats.org/drawingml/2006/main" noGrp="1"/>
          </p:cNvSpPr>
          <p:nvPr/>
        </p:nvSpPr>
        <p:spPr>
          <a:xfrm xmlns:a="http://schemas.openxmlformats.org/drawingml/2006/main">
            <a:off x="8801100" y="22479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Choose a portfolio or pipeline company.</a:t>
            </a:r>
          </a:p>
        </p:txBody>
      </p:sp>
      <p:sp>
        <p:nvSpPr>
          <p:cNvPr id="9" name="">
            <a:extLst xmlns:a="http://schemas.openxmlformats.org/drawingml/2006/main">
              <a:ext uri="{FF2B5EF4-FFF2-40B4-BE49-F238E27FC236}">
                <a16:creationId xmlns:a16="http://schemas.microsoft.com/office/drawing/2014/main" id="{838E1A84-9DC8-4EC3-BD84-249D08DD620D}"/>
              </a:ext>
            </a:extLst>
          </p:cNvPr>
          <p:cNvSpPr>
            <a:spLocks xmlns:a="http://schemas.openxmlformats.org/drawingml/2006/main" noGrp="1"/>
          </p:cNvSpPr>
          <p:nvPr/>
        </p:nvSpPr>
        <p:spPr>
          <a:xfrm xmlns:a="http://schemas.openxmlformats.org/drawingml/2006/main">
            <a:off x="8343900" y="2943225"/>
            <a:ext cx="304800" cy="3048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0" name="">
            <a:extLst xmlns:a="http://schemas.openxmlformats.org/drawingml/2006/main">
              <a:ext uri="{FF2B5EF4-FFF2-40B4-BE49-F238E27FC236}">
                <a16:creationId xmlns:a16="http://schemas.microsoft.com/office/drawing/2014/main" id="{327440BB-A5A8-41C6-9175-6A1410B7F248}"/>
              </a:ext>
            </a:extLst>
          </p:cNvPr>
          <p:cNvSpPr>
            <a:spLocks xmlns:a="http://schemas.openxmlformats.org/drawingml/2006/main" noGrp="1"/>
          </p:cNvSpPr>
          <p:nvPr/>
        </p:nvSpPr>
        <p:spPr>
          <a:xfrm xmlns:a="http://schemas.openxmlformats.org/drawingml/2006/main">
            <a:off x="8439150" y="29908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buNone/>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2</a:t>
            </a:r>
          </a:p>
        </p:txBody>
      </p:sp>
      <p:sp>
        <p:nvSpPr>
          <p:cNvPr id="11" name="">
            <a:extLst xmlns:a="http://schemas.openxmlformats.org/drawingml/2006/main">
              <a:ext uri="{FF2B5EF4-FFF2-40B4-BE49-F238E27FC236}">
                <a16:creationId xmlns:a16="http://schemas.microsoft.com/office/drawing/2014/main" id="{216C0B0E-D29C-45B9-BEB5-0D7F57B23369}"/>
              </a:ext>
            </a:extLst>
          </p:cNvPr>
          <p:cNvSpPr>
            <a:spLocks xmlns:a="http://schemas.openxmlformats.org/drawingml/2006/main" noGrp="1"/>
          </p:cNvSpPr>
          <p:nvPr/>
        </p:nvSpPr>
        <p:spPr>
          <a:xfrm xmlns:a="http://schemas.openxmlformats.org/drawingml/2006/main">
            <a:off x="8801100" y="29337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57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Scan the brief</a:t>
            </a:r>
          </a:p>
        </p:txBody>
      </p:sp>
      <p:sp>
        <p:nvSpPr>
          <p:cNvPr id="12" name="">
            <a:extLst xmlns:a="http://schemas.openxmlformats.org/drawingml/2006/main">
              <a:ext uri="{FF2B5EF4-FFF2-40B4-BE49-F238E27FC236}">
                <a16:creationId xmlns:a16="http://schemas.microsoft.com/office/drawing/2014/main" id="{643780DA-7896-4A5A-88B2-8B9F8E3A55B5}"/>
              </a:ext>
            </a:extLst>
          </p:cNvPr>
          <p:cNvSpPr>
            <a:spLocks xmlns:a="http://schemas.openxmlformats.org/drawingml/2006/main" noGrp="1"/>
          </p:cNvSpPr>
          <p:nvPr/>
        </p:nvSpPr>
        <p:spPr>
          <a:xfrm xmlns:a="http://schemas.openxmlformats.org/drawingml/2006/main">
            <a:off x="8801100" y="32385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Read Key facts, Risks, and Questions.</a:t>
            </a:r>
          </a:p>
        </p:txBody>
      </p:sp>
      <p:sp>
        <p:nvSpPr>
          <p:cNvPr id="13" name="">
            <a:extLst xmlns:a="http://schemas.openxmlformats.org/drawingml/2006/main">
              <a:ext uri="{FF2B5EF4-FFF2-40B4-BE49-F238E27FC236}">
                <a16:creationId xmlns:a16="http://schemas.microsoft.com/office/drawing/2014/main" id="{2C00D830-C080-4CD6-BFA1-2EE115C727AF}"/>
              </a:ext>
            </a:extLst>
          </p:cNvPr>
          <p:cNvSpPr>
            <a:spLocks xmlns:a="http://schemas.openxmlformats.org/drawingml/2006/main" noGrp="1"/>
          </p:cNvSpPr>
          <p:nvPr/>
        </p:nvSpPr>
        <p:spPr>
          <a:xfrm xmlns:a="http://schemas.openxmlformats.org/drawingml/2006/main">
            <a:off x="8343900" y="3933825"/>
            <a:ext cx="304800" cy="3048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4" name="">
            <a:extLst xmlns:a="http://schemas.openxmlformats.org/drawingml/2006/main">
              <a:ext uri="{FF2B5EF4-FFF2-40B4-BE49-F238E27FC236}">
                <a16:creationId xmlns:a16="http://schemas.microsoft.com/office/drawing/2014/main" id="{C3C4062D-56DE-44CE-8D5D-310725AFF33F}"/>
              </a:ext>
            </a:extLst>
          </p:cNvPr>
          <p:cNvSpPr>
            <a:spLocks xmlns:a="http://schemas.openxmlformats.org/drawingml/2006/main" noGrp="1"/>
          </p:cNvSpPr>
          <p:nvPr/>
        </p:nvSpPr>
        <p:spPr>
          <a:xfrm xmlns:a="http://schemas.openxmlformats.org/drawingml/2006/main">
            <a:off x="8439150" y="39814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buNone/>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3</a:t>
            </a:r>
          </a:p>
        </p:txBody>
      </p:sp>
      <p:sp>
        <p:nvSpPr>
          <p:cNvPr id="15" name="">
            <a:extLst xmlns:a="http://schemas.openxmlformats.org/drawingml/2006/main">
              <a:ext uri="{FF2B5EF4-FFF2-40B4-BE49-F238E27FC236}">
                <a16:creationId xmlns:a16="http://schemas.microsoft.com/office/drawing/2014/main" id="{6AF726DA-1060-40F1-96BE-56094C583E78}"/>
              </a:ext>
            </a:extLst>
          </p:cNvPr>
          <p:cNvSpPr>
            <a:spLocks xmlns:a="http://schemas.openxmlformats.org/drawingml/2006/main" noGrp="1"/>
          </p:cNvSpPr>
          <p:nvPr/>
        </p:nvSpPr>
        <p:spPr>
          <a:xfrm xmlns:a="http://schemas.openxmlformats.org/drawingml/2006/main">
            <a:off x="8801100" y="39243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57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Open the source</a:t>
            </a:r>
          </a:p>
        </p:txBody>
      </p:sp>
      <p:sp>
        <p:nvSpPr>
          <p:cNvPr id="16" name="">
            <a:extLst xmlns:a="http://schemas.openxmlformats.org/drawingml/2006/main">
              <a:ext uri="{FF2B5EF4-FFF2-40B4-BE49-F238E27FC236}">
                <a16:creationId xmlns:a16="http://schemas.microsoft.com/office/drawing/2014/main" id="{BEDA7F37-E813-48A3-97AB-7EDCB2354C48}"/>
              </a:ext>
            </a:extLst>
          </p:cNvPr>
          <p:cNvSpPr>
            <a:spLocks xmlns:a="http://schemas.openxmlformats.org/drawingml/2006/main" noGrp="1"/>
          </p:cNvSpPr>
          <p:nvPr/>
        </p:nvSpPr>
        <p:spPr>
          <a:xfrm xmlns:a="http://schemas.openxmlformats.org/drawingml/2006/main">
            <a:off x="8801100" y="4229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See values, dates, evidence, and the original record.</a:t>
            </a:r>
          </a:p>
        </p:txBody>
      </p:sp>
      <p:sp>
        <p:nvSpPr>
          <p:cNvPr id="17" name="">
            <a:extLst xmlns:a="http://schemas.openxmlformats.org/drawingml/2006/main">
              <a:ext uri="{FF2B5EF4-FFF2-40B4-BE49-F238E27FC236}">
                <a16:creationId xmlns:a16="http://schemas.microsoft.com/office/drawing/2014/main" id="{622ECADF-5901-445D-82B7-8174C71493DA}"/>
              </a:ext>
            </a:extLst>
          </p:cNvPr>
          <p:cNvSpPr>
            <a:spLocks xmlns:a="http://schemas.openxmlformats.org/drawingml/2006/main" noGrp="1"/>
          </p:cNvSpPr>
          <p:nvPr/>
        </p:nvSpPr>
        <p:spPr>
          <a:xfrm xmlns:a="http://schemas.openxmlformats.org/drawingml/2006/main">
            <a:off x="8343900" y="4924425"/>
            <a:ext cx="304800" cy="3048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8" name="">
            <a:extLst xmlns:a="http://schemas.openxmlformats.org/drawingml/2006/main">
              <a:ext uri="{FF2B5EF4-FFF2-40B4-BE49-F238E27FC236}">
                <a16:creationId xmlns:a16="http://schemas.microsoft.com/office/drawing/2014/main" id="{EDC54E17-A905-4324-9C22-3D025DBF0A4C}"/>
              </a:ext>
            </a:extLst>
          </p:cNvPr>
          <p:cNvSpPr>
            <a:spLocks xmlns:a="http://schemas.openxmlformats.org/drawingml/2006/main" noGrp="1"/>
          </p:cNvSpPr>
          <p:nvPr/>
        </p:nvSpPr>
        <p:spPr>
          <a:xfrm xmlns:a="http://schemas.openxmlformats.org/drawingml/2006/main">
            <a:off x="8439150" y="49720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buNone/>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4</a:t>
            </a:r>
          </a:p>
        </p:txBody>
      </p:sp>
      <p:sp>
        <p:nvSpPr>
          <p:cNvPr id="19" name="">
            <a:extLst xmlns:a="http://schemas.openxmlformats.org/drawingml/2006/main">
              <a:ext uri="{FF2B5EF4-FFF2-40B4-BE49-F238E27FC236}">
                <a16:creationId xmlns:a16="http://schemas.microsoft.com/office/drawing/2014/main" id="{F2AEF4C6-311E-45C9-8B5A-A1303E1BDF24}"/>
              </a:ext>
            </a:extLst>
          </p:cNvPr>
          <p:cNvSpPr>
            <a:spLocks xmlns:a="http://schemas.openxmlformats.org/drawingml/2006/main" noGrp="1"/>
          </p:cNvSpPr>
          <p:nvPr/>
        </p:nvSpPr>
        <p:spPr>
          <a:xfrm xmlns:a="http://schemas.openxmlformats.org/drawingml/2006/main">
            <a:off x="8801100" y="49149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57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Send feedback</a:t>
            </a:r>
          </a:p>
        </p:txBody>
      </p:sp>
      <p:sp>
        <p:nvSpPr>
          <p:cNvPr id="20" name="">
            <a:extLst xmlns:a="http://schemas.openxmlformats.org/drawingml/2006/main">
              <a:ext uri="{FF2B5EF4-FFF2-40B4-BE49-F238E27FC236}">
                <a16:creationId xmlns:a16="http://schemas.microsoft.com/office/drawing/2014/main" id="{BB988DCF-B844-4248-82AC-B84604456540}"/>
              </a:ext>
            </a:extLst>
          </p:cNvPr>
          <p:cNvSpPr>
            <a:spLocks xmlns:a="http://schemas.openxmlformats.org/drawingml/2006/main" noGrp="1"/>
          </p:cNvSpPr>
          <p:nvPr/>
        </p:nvSpPr>
        <p:spPr>
          <a:xfrm xmlns:a="http://schemas.openxmlformats.org/drawingml/2006/main">
            <a:off x="8801100" y="52197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Mark content Good, Bad, or Wrong.</a:t>
            </a:r>
          </a:p>
        </p:txBody>
      </p:sp>
      <p:sp>
        <p:nvSpPr>
          <p:cNvPr id="21" name="">
            <a:extLst xmlns:a="http://schemas.openxmlformats.org/drawingml/2006/main">
              <a:ext uri="{FF2B5EF4-FFF2-40B4-BE49-F238E27FC236}">
                <a16:creationId xmlns:a16="http://schemas.microsoft.com/office/drawing/2014/main" id="{CEFBF0D0-9C7B-40B0-B1DE-EEED270A69AF}"/>
              </a:ext>
            </a:extLst>
          </p:cNvPr>
          <p:cNvSpPr>
            <a:spLocks xmlns:a="http://schemas.openxmlformats.org/drawingml/2006/main" noGrp="1"/>
          </p:cNvSpPr>
          <p:nvPr/>
        </p:nvSpPr>
        <p:spPr>
          <a:xfrm xmlns:a="http://schemas.openxmlformats.org/drawingml/2006/main">
            <a:off x="457200" y="1809750"/>
            <a:ext cx="7620000" cy="4286250"/>
          </a:xfrm>
          <a:prstGeom xmlns:a="http://schemas.openxmlformats.org/drawingml/2006/main" prst="roundRect">
            <a:avLst>
              <a:gd name="adj" fmla="val 4167"/>
            </a:avLst>
          </a:prstGeom>
          <a:solidFill xmlns:a="http://schemas.openxmlformats.org/drawingml/2006/main">
            <a:srgbClr val="000000">
              <a:alpha val="0"/>
            </a:srgbClr>
          </a:solidFill>
          <a:ln xmlns:a="http://schemas.openxmlformats.org/drawingml/2006/main" w="9525">
            <a:solidFill>
              <a:srgbClr val="D0D5DD"/>
            </a:solidFill>
            <a:prstDash val="solid"/>
          </a:ln>
        </p:spPr>
      </p:sp>
      <p:pic>
        <p:nvPicPr>
          <p:cNvPr id="46" name=""/>
          <p:cNvPicPr>
            <a:picLocks xmlns:a="http://schemas.openxmlformats.org/drawingml/2006/main" noChangeAspect="1"/>
          </p:cNvPicPr>
          <p:nvPr/>
        </p:nvPicPr>
        <p:blipFill>
          <a:blip xmlns:r="http://schemas.openxmlformats.org/officeDocument/2006/relationships" xmlns:a="http://schemas.openxmlformats.org/drawingml/2006/main" r:embed="Rb2c1f4bc312244ea"/>
          <a:stretch xmlns:a="http://schemas.openxmlformats.org/drawingml/2006/main"/>
        </p:blipFill>
        <p:spPr>
          <a:xfrm xmlns:a="http://schemas.openxmlformats.org/drawingml/2006/main">
            <a:off x="595993" y="1924050"/>
            <a:ext cx="7342414" cy="4057650"/>
          </a:xfrm>
          <a:prstGeom xmlns:a="http://schemas.openxmlformats.org/drawingml/2006/main" prst="roundRect">
            <a:avLst>
              <a:gd name="adj" fmla="val 2817"/>
            </a:avLst>
          </a:prstGeom>
        </p:spPr>
      </p:pic>
    </p:spTree>
    <p:extLst>
      <p:ext uri="{BB962C8B-B14F-4D97-AF65-F5344CB8AC3E}">
        <p14:creationId xmlns:p14="http://schemas.microsoft.com/office/powerpoint/2010/main" val="1674415678"/>
      </p:ext>
    </p:extLst>
  </p:cSld>
</p:sld>
</file>

<file path=ppt/slides/slide4.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34E38232-A601-4B33-99ED-19B54747F4BA}"/>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2700" b="1">
                <a:solidFill>
                  <a:srgbClr val="101828"/>
                </a:solidFill>
                <a:latin typeface="Helvetica Neue"/>
                <a:ea typeface="Helvetica Neue"/>
                <a:cs typeface="Helvetica Neue"/>
              </a:rPr>
              <a:t>What works today, and how did I test it?</a:t>
            </a:r>
          </a:p>
        </p:txBody>
      </p:sp>
      <p:sp>
        <p:nvSpPr>
          <p:cNvPr id="2" name="">
            <a:extLst xmlns:a="http://schemas.openxmlformats.org/drawingml/2006/main">
              <a:ext uri="{FF2B5EF4-FFF2-40B4-BE49-F238E27FC236}">
                <a16:creationId xmlns:a16="http://schemas.microsoft.com/office/drawing/2014/main" id="{9CF82D18-9423-4C8C-AF4D-EA6D1329C100}"/>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5357D0EB-B896-497B-BED0-F0C1C550C97F}"/>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04</a:t>
            </a:r>
          </a:p>
        </p:txBody>
      </p:sp>
      <p:sp>
        <p:nvSpPr>
          <p:cNvPr id="4" name="">
            <a:extLst xmlns:a="http://schemas.openxmlformats.org/drawingml/2006/main">
              <a:ext uri="{FF2B5EF4-FFF2-40B4-BE49-F238E27FC236}">
                <a16:creationId xmlns:a16="http://schemas.microsoft.com/office/drawing/2014/main" id="{87DAD644-55F4-4DAD-96B3-DC6C170A1372}"/>
              </a:ext>
            </a:extLst>
          </p:cNvPr>
          <p:cNvSpPr>
            <a:spLocks xmlns:a="http://schemas.openxmlformats.org/drawingml/2006/main" noGrp="1"/>
          </p:cNvSpPr>
          <p:nvPr/>
        </p:nvSpPr>
        <p:spPr>
          <a:xfrm xmlns:a="http://schemas.openxmlformats.org/drawingml/2006/main">
            <a:off x="457200" y="1600200"/>
            <a:ext cx="2571750" cy="1714500"/>
          </a:xfrm>
          <a:prstGeom xmlns:a="http://schemas.openxmlformats.org/drawingml/2006/main" prst="roundRect">
            <a:avLst>
              <a:gd name="adj" fmla="val 8889"/>
            </a:avLst>
          </a:prstGeom>
          <a:solidFill xmlns:a="http://schemas.openxmlformats.org/drawingml/2006/main">
            <a:srgbClr val="FFFFFF"/>
          </a:solidFill>
          <a:ln xmlns:a="http://schemas.openxmlformats.org/drawingml/2006/main" w="9525">
            <a:solidFill>
              <a:srgbClr val="D0D5DD"/>
            </a:solidFill>
            <a:prstDash val="solid"/>
          </a:ln>
        </p:spPr>
      </p:sp>
      <p:sp>
        <p:nvSpPr>
          <p:cNvPr id="5" name="">
            <a:extLst xmlns:a="http://schemas.openxmlformats.org/drawingml/2006/main">
              <a:ext uri="{FF2B5EF4-FFF2-40B4-BE49-F238E27FC236}">
                <a16:creationId xmlns:a16="http://schemas.microsoft.com/office/drawing/2014/main" id="{314023AE-B558-4188-A8C4-2414A5FEB0DC}"/>
              </a:ext>
            </a:extLst>
          </p:cNvPr>
          <p:cNvSpPr>
            <a:spLocks xmlns:a="http://schemas.openxmlformats.org/drawingml/2006/main" noGrp="1"/>
          </p:cNvSpPr>
          <p:nvPr/>
        </p:nvSpPr>
        <p:spPr>
          <a:xfrm xmlns:a="http://schemas.openxmlformats.org/drawingml/2006/main">
            <a:off x="685800" y="1828800"/>
            <a:ext cx="211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7500"/>
          </a:bodyPr>
          <a:lstStyle xmlns:a="http://schemas.openxmlformats.org/drawingml/2006/main"/>
          <a:p xmlns:a="http://schemas.openxmlformats.org/drawingml/2006/main">
            <a:pPr algn="l">
              <a:buNone/>
              <a:defRPr sz="3600" b="1">
                <a:solidFill>
                  <a:srgbClr val="101828"/>
                </a:solidFill>
                <a:latin typeface="Helvetica Neue"/>
                <a:ea typeface="Helvetica Neue"/>
                <a:cs typeface="Helvetica Neue"/>
              </a:defRPr>
            </a:pPr>
            <a:r>
              <a:rPr sz="3600" b="1">
                <a:solidFill>
                  <a:srgbClr val="101828"/>
                </a:solidFill>
                <a:latin typeface="Helvetica Neue"/>
                <a:ea typeface="Helvetica Neue"/>
                <a:cs typeface="Helvetica Neue"/>
              </a:rPr>
              <a:t>10</a:t>
            </a:r>
          </a:p>
        </p:txBody>
      </p:sp>
      <p:sp>
        <p:nvSpPr>
          <p:cNvPr id="6" name="">
            <a:extLst xmlns:a="http://schemas.openxmlformats.org/drawingml/2006/main">
              <a:ext uri="{FF2B5EF4-FFF2-40B4-BE49-F238E27FC236}">
                <a16:creationId xmlns:a16="http://schemas.microsoft.com/office/drawing/2014/main" id="{FE1771CD-5CDF-4F6B-8D87-192966526F68}"/>
              </a:ext>
            </a:extLst>
          </p:cNvPr>
          <p:cNvSpPr>
            <a:spLocks xmlns:a="http://schemas.openxmlformats.org/drawingml/2006/main" noGrp="1"/>
          </p:cNvSpPr>
          <p:nvPr/>
        </p:nvSpPr>
        <p:spPr>
          <a:xfrm xmlns:a="http://schemas.openxmlformats.org/drawingml/2006/main">
            <a:off x="685800" y="2495550"/>
            <a:ext cx="2114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1">
                <a:solidFill>
                  <a:srgbClr val="344054"/>
                </a:solidFill>
                <a:latin typeface="Helvetica Neue"/>
                <a:ea typeface="Helvetica Neue"/>
                <a:cs typeface="Helvetica Neue"/>
              </a:defRPr>
            </a:pPr>
            <a:r>
              <a:rPr sz="1425" b="1">
                <a:solidFill>
                  <a:srgbClr val="344054"/>
                </a:solidFill>
                <a:latin typeface="Helvetica Neue"/>
                <a:ea typeface="Helvetica Neue"/>
                <a:cs typeface="Helvetica Neue"/>
              </a:rPr>
              <a:t>curated companies</a:t>
            </a:r>
          </a:p>
        </p:txBody>
      </p:sp>
      <p:sp>
        <p:nvSpPr>
          <p:cNvPr id="7" name="">
            <a:extLst xmlns:a="http://schemas.openxmlformats.org/drawingml/2006/main">
              <a:ext uri="{FF2B5EF4-FFF2-40B4-BE49-F238E27FC236}">
                <a16:creationId xmlns:a16="http://schemas.microsoft.com/office/drawing/2014/main" id="{37B25352-7D58-4731-93B8-9020F1ABEFF7}"/>
              </a:ext>
            </a:extLst>
          </p:cNvPr>
          <p:cNvSpPr>
            <a:spLocks xmlns:a="http://schemas.openxmlformats.org/drawingml/2006/main" noGrp="1"/>
          </p:cNvSpPr>
          <p:nvPr/>
        </p:nvSpPr>
        <p:spPr>
          <a:xfrm xmlns:a="http://schemas.openxmlformats.org/drawingml/2006/main">
            <a:off x="685800" y="2876550"/>
            <a:ext cx="2114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2 portfolio and 8 pipeline</a:t>
            </a:r>
          </a:p>
        </p:txBody>
      </p:sp>
      <p:sp>
        <p:nvSpPr>
          <p:cNvPr id="8" name="">
            <a:extLst xmlns:a="http://schemas.openxmlformats.org/drawingml/2006/main">
              <a:ext uri="{FF2B5EF4-FFF2-40B4-BE49-F238E27FC236}">
                <a16:creationId xmlns:a16="http://schemas.microsoft.com/office/drawing/2014/main" id="{82E99601-794F-4030-A1A7-8FC7D141F1C2}"/>
              </a:ext>
            </a:extLst>
          </p:cNvPr>
          <p:cNvSpPr>
            <a:spLocks xmlns:a="http://schemas.openxmlformats.org/drawingml/2006/main" noGrp="1"/>
          </p:cNvSpPr>
          <p:nvPr/>
        </p:nvSpPr>
        <p:spPr>
          <a:xfrm xmlns:a="http://schemas.openxmlformats.org/drawingml/2006/main">
            <a:off x="3219450" y="1600200"/>
            <a:ext cx="2571750" cy="1714500"/>
          </a:xfrm>
          <a:prstGeom xmlns:a="http://schemas.openxmlformats.org/drawingml/2006/main" prst="roundRect">
            <a:avLst>
              <a:gd name="adj" fmla="val 8889"/>
            </a:avLst>
          </a:prstGeom>
          <a:solidFill xmlns:a="http://schemas.openxmlformats.org/drawingml/2006/main">
            <a:srgbClr val="FFFFFF"/>
          </a:solidFill>
          <a:ln xmlns:a="http://schemas.openxmlformats.org/drawingml/2006/main" w="9525">
            <a:solidFill>
              <a:srgbClr val="D0D5DD"/>
            </a:solidFill>
            <a:prstDash val="solid"/>
          </a:ln>
        </p:spPr>
      </p:sp>
      <p:sp>
        <p:nvSpPr>
          <p:cNvPr id="9" name="">
            <a:extLst xmlns:a="http://schemas.openxmlformats.org/drawingml/2006/main">
              <a:ext uri="{FF2B5EF4-FFF2-40B4-BE49-F238E27FC236}">
                <a16:creationId xmlns:a16="http://schemas.microsoft.com/office/drawing/2014/main" id="{BD8EEEBF-ED4F-4DB0-B74E-485AC67C2648}"/>
              </a:ext>
            </a:extLst>
          </p:cNvPr>
          <p:cNvSpPr>
            <a:spLocks xmlns:a="http://schemas.openxmlformats.org/drawingml/2006/main" noGrp="1"/>
          </p:cNvSpPr>
          <p:nvPr/>
        </p:nvSpPr>
        <p:spPr>
          <a:xfrm xmlns:a="http://schemas.openxmlformats.org/drawingml/2006/main">
            <a:off x="3448050" y="1828800"/>
            <a:ext cx="211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7500"/>
          </a:bodyPr>
          <a:lstStyle xmlns:a="http://schemas.openxmlformats.org/drawingml/2006/main"/>
          <a:p xmlns:a="http://schemas.openxmlformats.org/drawingml/2006/main">
            <a:pPr algn="l">
              <a:buNone/>
              <a:defRPr sz="3600" b="1">
                <a:solidFill>
                  <a:srgbClr val="101828"/>
                </a:solidFill>
                <a:latin typeface="Helvetica Neue"/>
                <a:ea typeface="Helvetica Neue"/>
                <a:cs typeface="Helvetica Neue"/>
              </a:defRPr>
            </a:pPr>
            <a:r>
              <a:rPr sz="3600" b="1">
                <a:solidFill>
                  <a:srgbClr val="101828"/>
                </a:solidFill>
                <a:latin typeface="Helvetica Neue"/>
                <a:ea typeface="Helvetica Neue"/>
                <a:cs typeface="Helvetica Neue"/>
              </a:rPr>
              <a:t>59</a:t>
            </a:r>
          </a:p>
        </p:txBody>
      </p:sp>
      <p:sp>
        <p:nvSpPr>
          <p:cNvPr id="10" name="">
            <a:extLst xmlns:a="http://schemas.openxmlformats.org/drawingml/2006/main">
              <a:ext uri="{FF2B5EF4-FFF2-40B4-BE49-F238E27FC236}">
                <a16:creationId xmlns:a16="http://schemas.microsoft.com/office/drawing/2014/main" id="{5F07C502-96F0-4528-9AA9-9508C99E1D73}"/>
              </a:ext>
            </a:extLst>
          </p:cNvPr>
          <p:cNvSpPr>
            <a:spLocks xmlns:a="http://schemas.openxmlformats.org/drawingml/2006/main" noGrp="1"/>
          </p:cNvSpPr>
          <p:nvPr/>
        </p:nvSpPr>
        <p:spPr>
          <a:xfrm xmlns:a="http://schemas.openxmlformats.org/drawingml/2006/main">
            <a:off x="3448050" y="2495550"/>
            <a:ext cx="2114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1">
                <a:solidFill>
                  <a:srgbClr val="344054"/>
                </a:solidFill>
                <a:latin typeface="Helvetica Neue"/>
                <a:ea typeface="Helvetica Neue"/>
                <a:cs typeface="Helvetica Neue"/>
              </a:defRPr>
            </a:pPr>
            <a:r>
              <a:rPr sz="1425" b="1">
                <a:solidFill>
                  <a:srgbClr val="344054"/>
                </a:solidFill>
                <a:latin typeface="Helvetica Neue"/>
                <a:ea typeface="Helvetica Neue"/>
                <a:cs typeface="Helvetica Neue"/>
              </a:rPr>
              <a:t>source records</a:t>
            </a:r>
          </a:p>
        </p:txBody>
      </p:sp>
      <p:sp>
        <p:nvSpPr>
          <p:cNvPr id="11" name="">
            <a:extLst xmlns:a="http://schemas.openxmlformats.org/drawingml/2006/main">
              <a:ext uri="{FF2B5EF4-FFF2-40B4-BE49-F238E27FC236}">
                <a16:creationId xmlns:a16="http://schemas.microsoft.com/office/drawing/2014/main" id="{D1DC854F-FB4F-485B-A83F-10B17B86FA5B}"/>
              </a:ext>
            </a:extLst>
          </p:cNvPr>
          <p:cNvSpPr>
            <a:spLocks xmlns:a="http://schemas.openxmlformats.org/drawingml/2006/main" noGrp="1"/>
          </p:cNvSpPr>
          <p:nvPr/>
        </p:nvSpPr>
        <p:spPr>
          <a:xfrm xmlns:a="http://schemas.openxmlformats.org/drawingml/2006/main">
            <a:off x="3448050" y="2876550"/>
            <a:ext cx="2114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17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CRM, meeting, Slack, and news</a:t>
            </a:r>
          </a:p>
        </p:txBody>
      </p:sp>
      <p:sp>
        <p:nvSpPr>
          <p:cNvPr id="12" name="">
            <a:extLst xmlns:a="http://schemas.openxmlformats.org/drawingml/2006/main">
              <a:ext uri="{FF2B5EF4-FFF2-40B4-BE49-F238E27FC236}">
                <a16:creationId xmlns:a16="http://schemas.microsoft.com/office/drawing/2014/main" id="{ABBA07DD-7C4B-4BA8-9FD7-C902B861D6E7}"/>
              </a:ext>
            </a:extLst>
          </p:cNvPr>
          <p:cNvSpPr>
            <a:spLocks xmlns:a="http://schemas.openxmlformats.org/drawingml/2006/main" noGrp="1"/>
          </p:cNvSpPr>
          <p:nvPr/>
        </p:nvSpPr>
        <p:spPr>
          <a:xfrm xmlns:a="http://schemas.openxmlformats.org/drawingml/2006/main">
            <a:off x="5981700" y="1600200"/>
            <a:ext cx="2571750" cy="1714500"/>
          </a:xfrm>
          <a:prstGeom xmlns:a="http://schemas.openxmlformats.org/drawingml/2006/main" prst="roundRect">
            <a:avLst>
              <a:gd name="adj" fmla="val 8889"/>
            </a:avLst>
          </a:prstGeom>
          <a:solidFill xmlns:a="http://schemas.openxmlformats.org/drawingml/2006/main">
            <a:srgbClr val="FFFFFF"/>
          </a:solidFill>
          <a:ln xmlns:a="http://schemas.openxmlformats.org/drawingml/2006/main" w="9525">
            <a:solidFill>
              <a:srgbClr val="D0D5DD"/>
            </a:solidFill>
            <a:prstDash val="solid"/>
          </a:ln>
        </p:spPr>
      </p:sp>
      <p:sp>
        <p:nvSpPr>
          <p:cNvPr id="13" name="">
            <a:extLst xmlns:a="http://schemas.openxmlformats.org/drawingml/2006/main">
              <a:ext uri="{FF2B5EF4-FFF2-40B4-BE49-F238E27FC236}">
                <a16:creationId xmlns:a16="http://schemas.microsoft.com/office/drawing/2014/main" id="{56F624D3-AE3A-442B-8B1A-64819C6AAAAD}"/>
              </a:ext>
            </a:extLst>
          </p:cNvPr>
          <p:cNvSpPr>
            <a:spLocks xmlns:a="http://schemas.openxmlformats.org/drawingml/2006/main" noGrp="1"/>
          </p:cNvSpPr>
          <p:nvPr/>
        </p:nvSpPr>
        <p:spPr>
          <a:xfrm xmlns:a="http://schemas.openxmlformats.org/drawingml/2006/main">
            <a:off x="6210300" y="1828800"/>
            <a:ext cx="211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7500"/>
          </a:bodyPr>
          <a:lstStyle xmlns:a="http://schemas.openxmlformats.org/drawingml/2006/main"/>
          <a:p xmlns:a="http://schemas.openxmlformats.org/drawingml/2006/main">
            <a:pPr algn="l">
              <a:buNone/>
              <a:defRPr sz="3600" b="1">
                <a:solidFill>
                  <a:srgbClr val="101828"/>
                </a:solidFill>
                <a:latin typeface="Helvetica Neue"/>
                <a:ea typeface="Helvetica Neue"/>
                <a:cs typeface="Helvetica Neue"/>
              </a:defRPr>
            </a:pPr>
            <a:r>
              <a:rPr sz="3600" b="1">
                <a:solidFill>
                  <a:srgbClr val="101828"/>
                </a:solidFill>
                <a:latin typeface="Helvetica Neue"/>
                <a:ea typeface="Helvetica Neue"/>
                <a:cs typeface="Helvetica Neue"/>
              </a:rPr>
              <a:t>59/59</a:t>
            </a:r>
          </a:p>
        </p:txBody>
      </p:sp>
      <p:sp>
        <p:nvSpPr>
          <p:cNvPr id="14" name="">
            <a:extLst xmlns:a="http://schemas.openxmlformats.org/drawingml/2006/main">
              <a:ext uri="{FF2B5EF4-FFF2-40B4-BE49-F238E27FC236}">
                <a16:creationId xmlns:a16="http://schemas.microsoft.com/office/drawing/2014/main" id="{1420C9FC-2AC7-416A-A2AE-55B2A3843175}"/>
              </a:ext>
            </a:extLst>
          </p:cNvPr>
          <p:cNvSpPr>
            <a:spLocks xmlns:a="http://schemas.openxmlformats.org/drawingml/2006/main" noGrp="1"/>
          </p:cNvSpPr>
          <p:nvPr/>
        </p:nvSpPr>
        <p:spPr>
          <a:xfrm xmlns:a="http://schemas.openxmlformats.org/drawingml/2006/main">
            <a:off x="6210300" y="2495550"/>
            <a:ext cx="2114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871"/>
          </a:bodyPr>
          <a:lstStyle xmlns:a="http://schemas.openxmlformats.org/drawingml/2006/main"/>
          <a:p xmlns:a="http://schemas.openxmlformats.org/drawingml/2006/main">
            <a:pPr algn="l">
              <a:buNone/>
              <a:defRPr sz="1425" b="1">
                <a:solidFill>
                  <a:srgbClr val="344054"/>
                </a:solidFill>
                <a:latin typeface="Helvetica Neue"/>
                <a:ea typeface="Helvetica Neue"/>
                <a:cs typeface="Helvetica Neue"/>
              </a:defRPr>
            </a:pPr>
            <a:r>
              <a:rPr sz="1425" b="1">
                <a:solidFill>
                  <a:srgbClr val="344054"/>
                </a:solidFill>
                <a:latin typeface="Helvetica Neue"/>
                <a:ea typeface="Helvetica Neue"/>
                <a:cs typeface="Helvetica Neue"/>
              </a:rPr>
              <a:t>chunks with OpenAI embeddings</a:t>
            </a:r>
          </a:p>
        </p:txBody>
      </p:sp>
      <p:sp>
        <p:nvSpPr>
          <p:cNvPr id="15" name="">
            <a:extLst xmlns:a="http://schemas.openxmlformats.org/drawingml/2006/main">
              <a:ext uri="{FF2B5EF4-FFF2-40B4-BE49-F238E27FC236}">
                <a16:creationId xmlns:a16="http://schemas.microsoft.com/office/drawing/2014/main" id="{F8ADA876-54C8-4B79-98D6-E924FCC1BCCE}"/>
              </a:ext>
            </a:extLst>
          </p:cNvPr>
          <p:cNvSpPr>
            <a:spLocks xmlns:a="http://schemas.openxmlformats.org/drawingml/2006/main" noGrp="1"/>
          </p:cNvSpPr>
          <p:nvPr/>
        </p:nvSpPr>
        <p:spPr>
          <a:xfrm xmlns:a="http://schemas.openxmlformats.org/drawingml/2006/main">
            <a:off x="6210300" y="2876550"/>
            <a:ext cx="2114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7983"/>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One current embedding per chunk</a:t>
            </a:r>
          </a:p>
        </p:txBody>
      </p:sp>
      <p:sp>
        <p:nvSpPr>
          <p:cNvPr id="16" name="">
            <a:extLst xmlns:a="http://schemas.openxmlformats.org/drawingml/2006/main">
              <a:ext uri="{FF2B5EF4-FFF2-40B4-BE49-F238E27FC236}">
                <a16:creationId xmlns:a16="http://schemas.microsoft.com/office/drawing/2014/main" id="{867410BE-6050-42D8-9D7C-717BCC6356C1}"/>
              </a:ext>
            </a:extLst>
          </p:cNvPr>
          <p:cNvSpPr>
            <a:spLocks xmlns:a="http://schemas.openxmlformats.org/drawingml/2006/main" noGrp="1"/>
          </p:cNvSpPr>
          <p:nvPr/>
        </p:nvSpPr>
        <p:spPr>
          <a:xfrm xmlns:a="http://schemas.openxmlformats.org/drawingml/2006/main">
            <a:off x="8743950" y="1600200"/>
            <a:ext cx="2571750" cy="1714500"/>
          </a:xfrm>
          <a:prstGeom xmlns:a="http://schemas.openxmlformats.org/drawingml/2006/main" prst="roundRect">
            <a:avLst>
              <a:gd name="adj" fmla="val 8889"/>
            </a:avLst>
          </a:prstGeom>
          <a:solidFill xmlns:a="http://schemas.openxmlformats.org/drawingml/2006/main">
            <a:srgbClr val="FFFFFF"/>
          </a:solidFill>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8218C5DF-6CF6-48B8-B277-34D4DC67FE8B}"/>
              </a:ext>
            </a:extLst>
          </p:cNvPr>
          <p:cNvSpPr>
            <a:spLocks xmlns:a="http://schemas.openxmlformats.org/drawingml/2006/main" noGrp="1"/>
          </p:cNvSpPr>
          <p:nvPr/>
        </p:nvSpPr>
        <p:spPr>
          <a:xfrm xmlns:a="http://schemas.openxmlformats.org/drawingml/2006/main">
            <a:off x="8972550" y="1828800"/>
            <a:ext cx="211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7500"/>
          </a:bodyPr>
          <a:lstStyle xmlns:a="http://schemas.openxmlformats.org/drawingml/2006/main"/>
          <a:p xmlns:a="http://schemas.openxmlformats.org/drawingml/2006/main">
            <a:pPr algn="l">
              <a:buNone/>
              <a:defRPr sz="3600" b="1">
                <a:solidFill>
                  <a:srgbClr val="101828"/>
                </a:solidFill>
                <a:latin typeface="Helvetica Neue"/>
                <a:ea typeface="Helvetica Neue"/>
                <a:cs typeface="Helvetica Neue"/>
              </a:defRPr>
            </a:pPr>
            <a:r>
              <a:rPr sz="3600" b="1">
                <a:solidFill>
                  <a:srgbClr val="101828"/>
                </a:solidFill>
                <a:latin typeface="Helvetica Neue"/>
                <a:ea typeface="Helvetica Neue"/>
                <a:cs typeface="Helvetica Neue"/>
              </a:rPr>
              <a:t>66</a:t>
            </a:r>
          </a:p>
        </p:txBody>
      </p:sp>
      <p:sp>
        <p:nvSpPr>
          <p:cNvPr id="18" name="">
            <a:extLst xmlns:a="http://schemas.openxmlformats.org/drawingml/2006/main">
              <a:ext uri="{FF2B5EF4-FFF2-40B4-BE49-F238E27FC236}">
                <a16:creationId xmlns:a16="http://schemas.microsoft.com/office/drawing/2014/main" id="{C036AE3F-D1C4-4D0D-A35F-DFF5F7BF2432}"/>
              </a:ext>
            </a:extLst>
          </p:cNvPr>
          <p:cNvSpPr>
            <a:spLocks xmlns:a="http://schemas.openxmlformats.org/drawingml/2006/main" noGrp="1"/>
          </p:cNvSpPr>
          <p:nvPr/>
        </p:nvSpPr>
        <p:spPr>
          <a:xfrm xmlns:a="http://schemas.openxmlformats.org/drawingml/2006/main">
            <a:off x="8972550" y="2495550"/>
            <a:ext cx="2114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1">
                <a:solidFill>
                  <a:srgbClr val="344054"/>
                </a:solidFill>
                <a:latin typeface="Helvetica Neue"/>
                <a:ea typeface="Helvetica Neue"/>
                <a:cs typeface="Helvetica Neue"/>
              </a:defRPr>
            </a:pPr>
            <a:r>
              <a:rPr sz="1425" b="1">
                <a:solidFill>
                  <a:srgbClr val="344054"/>
                </a:solidFill>
                <a:latin typeface="Helvetica Neue"/>
                <a:ea typeface="Helvetica Neue"/>
                <a:cs typeface="Helvetica Neue"/>
              </a:rPr>
              <a:t>passing checks</a:t>
            </a:r>
          </a:p>
        </p:txBody>
      </p:sp>
      <p:sp>
        <p:nvSpPr>
          <p:cNvPr id="19" name="">
            <a:extLst xmlns:a="http://schemas.openxmlformats.org/drawingml/2006/main">
              <a:ext uri="{FF2B5EF4-FFF2-40B4-BE49-F238E27FC236}">
                <a16:creationId xmlns:a16="http://schemas.microsoft.com/office/drawing/2014/main" id="{3CA3273F-9072-42DE-948B-4BE817865220}"/>
              </a:ext>
            </a:extLst>
          </p:cNvPr>
          <p:cNvSpPr>
            <a:spLocks xmlns:a="http://schemas.openxmlformats.org/drawingml/2006/main" noGrp="1"/>
          </p:cNvSpPr>
          <p:nvPr/>
        </p:nvSpPr>
        <p:spPr>
          <a:xfrm xmlns:a="http://schemas.openxmlformats.org/drawingml/2006/main">
            <a:off x="8972550" y="2876550"/>
            <a:ext cx="2114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117"/>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46 app tests and 20 live checks</a:t>
            </a:r>
          </a:p>
        </p:txBody>
      </p:sp>
      <p:sp>
        <p:nvSpPr>
          <p:cNvPr id="20" name="">
            <a:extLst xmlns:a="http://schemas.openxmlformats.org/drawingml/2006/main">
              <a:ext uri="{FF2B5EF4-FFF2-40B4-BE49-F238E27FC236}">
                <a16:creationId xmlns:a16="http://schemas.microsoft.com/office/drawing/2014/main" id="{BC696C22-8CC4-42C1-AE87-E04618B67F45}"/>
              </a:ext>
            </a:extLst>
          </p:cNvPr>
          <p:cNvSpPr>
            <a:spLocks xmlns:a="http://schemas.openxmlformats.org/drawingml/2006/main" noGrp="1"/>
          </p:cNvSpPr>
          <p:nvPr/>
        </p:nvSpPr>
        <p:spPr>
          <a:xfrm xmlns:a="http://schemas.openxmlformats.org/drawingml/2006/main">
            <a:off x="457200" y="3619500"/>
            <a:ext cx="10858500" cy="2038350"/>
          </a:xfrm>
          <a:prstGeom xmlns:a="http://schemas.openxmlformats.org/drawingml/2006/main" prst="roundRect">
            <a:avLst>
              <a:gd name="adj" fmla="val 8411"/>
            </a:avLst>
          </a:prstGeom>
          <a:solidFill xmlns:a="http://schemas.openxmlformats.org/drawingml/2006/main">
            <a:srgbClr val="E8F0FB"/>
          </a:solidFill>
          <a:ln xmlns:a="http://schemas.openxmlformats.org/drawingml/2006/main" w="9525">
            <a:solidFill>
              <a:srgbClr val="9CB5D5"/>
            </a:solidFill>
            <a:prstDash val="solid"/>
          </a:ln>
        </p:spPr>
      </p:sp>
      <p:sp>
        <p:nvSpPr>
          <p:cNvPr id="21" name="">
            <a:extLst xmlns:a="http://schemas.openxmlformats.org/drawingml/2006/main">
              <a:ext uri="{FF2B5EF4-FFF2-40B4-BE49-F238E27FC236}">
                <a16:creationId xmlns:a16="http://schemas.microsoft.com/office/drawing/2014/main" id="{01642584-EDEF-43BF-99E6-5BF978F0C444}"/>
              </a:ext>
            </a:extLst>
          </p:cNvPr>
          <p:cNvSpPr>
            <a:spLocks xmlns:a="http://schemas.openxmlformats.org/drawingml/2006/main" noGrp="1"/>
          </p:cNvSpPr>
          <p:nvPr/>
        </p:nvSpPr>
        <p:spPr>
          <a:xfrm xmlns:a="http://schemas.openxmlformats.org/drawingml/2006/main">
            <a:off x="742950" y="3876675"/>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424"/>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What the current checks confirm</a:t>
            </a:r>
          </a:p>
        </p:txBody>
      </p:sp>
      <p:sp>
        <p:nvSpPr>
          <p:cNvPr id="22" name="">
            <a:extLst xmlns:a="http://schemas.openxmlformats.org/drawingml/2006/main">
              <a:ext uri="{FF2B5EF4-FFF2-40B4-BE49-F238E27FC236}">
                <a16:creationId xmlns:a16="http://schemas.microsoft.com/office/drawing/2014/main" id="{18919A00-4C98-4488-A084-4206A387CCFB}"/>
              </a:ext>
            </a:extLst>
          </p:cNvPr>
          <p:cNvSpPr>
            <a:spLocks xmlns:a="http://schemas.openxmlformats.org/drawingml/2006/main" noGrp="1"/>
          </p:cNvSpPr>
          <p:nvPr/>
        </p:nvSpPr>
        <p:spPr>
          <a:xfrm xmlns:a="http://schemas.openxmlformats.org/drawingml/2006/main">
            <a:off x="742950" y="43624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23" name="">
            <a:extLst xmlns:a="http://schemas.openxmlformats.org/drawingml/2006/main">
              <a:ext uri="{FF2B5EF4-FFF2-40B4-BE49-F238E27FC236}">
                <a16:creationId xmlns:a16="http://schemas.microsoft.com/office/drawing/2014/main" id="{27A3D507-5D5C-4554-892E-A568CD05BFA9}"/>
              </a:ext>
            </a:extLst>
          </p:cNvPr>
          <p:cNvSpPr>
            <a:spLocks xmlns:a="http://schemas.openxmlformats.org/drawingml/2006/main" noGrp="1"/>
          </p:cNvSpPr>
          <p:nvPr/>
        </p:nvSpPr>
        <p:spPr>
          <a:xfrm xmlns:a="http://schemas.openxmlformats.org/drawingml/2006/main">
            <a:off x="800100" y="43910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24" name="">
            <a:extLst xmlns:a="http://schemas.openxmlformats.org/drawingml/2006/main">
              <a:ext uri="{FF2B5EF4-FFF2-40B4-BE49-F238E27FC236}">
                <a16:creationId xmlns:a16="http://schemas.microsoft.com/office/drawing/2014/main" id="{77C3477F-C2B0-47D9-9B9A-0E325FC48695}"/>
              </a:ext>
            </a:extLst>
          </p:cNvPr>
          <p:cNvSpPr>
            <a:spLocks xmlns:a="http://schemas.openxmlformats.org/drawingml/2006/main" noGrp="1"/>
          </p:cNvSpPr>
          <p:nvPr/>
        </p:nvSpPr>
        <p:spPr>
          <a:xfrm xmlns:a="http://schemas.openxmlformats.org/drawingml/2006/main">
            <a:off x="1162050" y="4343400"/>
            <a:ext cx="43434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All 10 companies return a source-supported brief</a:t>
            </a:r>
          </a:p>
        </p:txBody>
      </p:sp>
      <p:sp>
        <p:nvSpPr>
          <p:cNvPr id="25" name="">
            <a:extLst xmlns:a="http://schemas.openxmlformats.org/drawingml/2006/main">
              <a:ext uri="{FF2B5EF4-FFF2-40B4-BE49-F238E27FC236}">
                <a16:creationId xmlns:a16="http://schemas.microsoft.com/office/drawing/2014/main" id="{02C2EE5B-BD3B-4F9C-8687-99BBB16AD392}"/>
              </a:ext>
            </a:extLst>
          </p:cNvPr>
          <p:cNvSpPr>
            <a:spLocks xmlns:a="http://schemas.openxmlformats.org/drawingml/2006/main" noGrp="1"/>
          </p:cNvSpPr>
          <p:nvPr/>
        </p:nvSpPr>
        <p:spPr>
          <a:xfrm xmlns:a="http://schemas.openxmlformats.org/drawingml/2006/main">
            <a:off x="1162050" y="4629150"/>
            <a:ext cx="4343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All 10 briefs are under 1 second in the current live check.</a:t>
            </a:r>
          </a:p>
        </p:txBody>
      </p:sp>
      <p:sp>
        <p:nvSpPr>
          <p:cNvPr id="26" name="">
            <a:extLst xmlns:a="http://schemas.openxmlformats.org/drawingml/2006/main">
              <a:ext uri="{FF2B5EF4-FFF2-40B4-BE49-F238E27FC236}">
                <a16:creationId xmlns:a16="http://schemas.microsoft.com/office/drawing/2014/main" id="{5031F99B-19F7-481F-8767-3BE4ABAF7DDA}"/>
              </a:ext>
            </a:extLst>
          </p:cNvPr>
          <p:cNvSpPr>
            <a:spLocks xmlns:a="http://schemas.openxmlformats.org/drawingml/2006/main" noGrp="1"/>
          </p:cNvSpPr>
          <p:nvPr/>
        </p:nvSpPr>
        <p:spPr>
          <a:xfrm xmlns:a="http://schemas.openxmlformats.org/drawingml/2006/main">
            <a:off x="5905500" y="43624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27" name="">
            <a:extLst xmlns:a="http://schemas.openxmlformats.org/drawingml/2006/main">
              <a:ext uri="{FF2B5EF4-FFF2-40B4-BE49-F238E27FC236}">
                <a16:creationId xmlns:a16="http://schemas.microsoft.com/office/drawing/2014/main" id="{612BAD4C-E725-46B0-A148-5CC6F7910A93}"/>
              </a:ext>
            </a:extLst>
          </p:cNvPr>
          <p:cNvSpPr>
            <a:spLocks xmlns:a="http://schemas.openxmlformats.org/drawingml/2006/main" noGrp="1"/>
          </p:cNvSpPr>
          <p:nvPr/>
        </p:nvSpPr>
        <p:spPr>
          <a:xfrm xmlns:a="http://schemas.openxmlformats.org/drawingml/2006/main">
            <a:off x="5962650" y="43910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28" name="">
            <a:extLst xmlns:a="http://schemas.openxmlformats.org/drawingml/2006/main">
              <a:ext uri="{FF2B5EF4-FFF2-40B4-BE49-F238E27FC236}">
                <a16:creationId xmlns:a16="http://schemas.microsoft.com/office/drawing/2014/main" id="{0E74E3D3-7DB7-4D0F-B262-FDAFC9F547F6}"/>
              </a:ext>
            </a:extLst>
          </p:cNvPr>
          <p:cNvSpPr>
            <a:spLocks xmlns:a="http://schemas.openxmlformats.org/drawingml/2006/main" noGrp="1"/>
          </p:cNvSpPr>
          <p:nvPr/>
        </p:nvSpPr>
        <p:spPr>
          <a:xfrm xmlns:a="http://schemas.openxmlformats.org/drawingml/2006/main">
            <a:off x="6324600" y="4343400"/>
            <a:ext cx="4533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Source IDs are valid and company-scoped</a:t>
            </a:r>
          </a:p>
        </p:txBody>
      </p:sp>
      <p:sp>
        <p:nvSpPr>
          <p:cNvPr id="29" name="">
            <a:extLst xmlns:a="http://schemas.openxmlformats.org/drawingml/2006/main">
              <a:ext uri="{FF2B5EF4-FFF2-40B4-BE49-F238E27FC236}">
                <a16:creationId xmlns:a16="http://schemas.microsoft.com/office/drawing/2014/main" id="{B6EF0259-EF9B-41A4-8B53-D27D1B390215}"/>
              </a:ext>
            </a:extLst>
          </p:cNvPr>
          <p:cNvSpPr>
            <a:spLocks xmlns:a="http://schemas.openxmlformats.org/drawingml/2006/main" noGrp="1"/>
          </p:cNvSpPr>
          <p:nvPr/>
        </p:nvSpPr>
        <p:spPr>
          <a:xfrm xmlns:a="http://schemas.openxmlformats.org/drawingml/2006/main">
            <a:off x="6324600" y="4629150"/>
            <a:ext cx="4533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1943"/>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The demo covers conflict, earlier value, unverified claim, and missing data.</a:t>
            </a:r>
          </a:p>
        </p:txBody>
      </p:sp>
      <p:sp>
        <p:nvSpPr>
          <p:cNvPr id="30" name="">
            <a:extLst xmlns:a="http://schemas.openxmlformats.org/drawingml/2006/main">
              <a:ext uri="{FF2B5EF4-FFF2-40B4-BE49-F238E27FC236}">
                <a16:creationId xmlns:a16="http://schemas.microsoft.com/office/drawing/2014/main" id="{4AE642AA-8B13-4653-9E09-F49AFB9EDFD2}"/>
              </a:ext>
            </a:extLst>
          </p:cNvPr>
          <p:cNvSpPr>
            <a:spLocks xmlns:a="http://schemas.openxmlformats.org/drawingml/2006/main" noGrp="1"/>
          </p:cNvSpPr>
          <p:nvPr/>
        </p:nvSpPr>
        <p:spPr>
          <a:xfrm xmlns:a="http://schemas.openxmlformats.org/drawingml/2006/main">
            <a:off x="742950" y="5219700"/>
            <a:ext cx="1000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833"/>
          </a:bodyPr>
          <a:lstStyle xmlns:a="http://schemas.openxmlformats.org/drawingml/2006/main"/>
          <a:p xmlns:a="http://schemas.openxmlformats.org/drawingml/2006/main">
            <a:pPr algn="l">
              <a:buNone/>
              <a:defRPr sz="1200" b="1">
                <a:solidFill>
                  <a:srgbClr val="315F9F"/>
                </a:solidFill>
                <a:latin typeface="Helvetica Neue"/>
                <a:ea typeface="Helvetica Neue"/>
                <a:cs typeface="Helvetica Neue"/>
              </a:defRPr>
            </a:pPr>
            <a:r>
              <a:rPr sz="1200" b="1">
                <a:solidFill>
                  <a:srgbClr val="315F9F"/>
                </a:solidFill>
                <a:latin typeface="Helvetica Neue"/>
                <a:ea typeface="Helvetica Neue"/>
                <a:cs typeface="Helvetica Neue"/>
              </a:rPr>
              <a:t>Current results on the curated dataset. They are not production benchmarks.</a:t>
            </a:r>
          </a:p>
        </p:txBody>
      </p:sp>
    </p:spTree>
    <p:extLst>
      <p:ext uri="{BB962C8B-B14F-4D97-AF65-F5344CB8AC3E}">
        <p14:creationId xmlns:p14="http://schemas.microsoft.com/office/powerpoint/2010/main" val="217603439"/>
      </p:ext>
    </p:extLst>
  </p:cSld>
</p:sld>
</file>

<file path=ppt/slides/slide5.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5262F984-D246-4734-ACC5-293D445790EE}"/>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How does the system work end to end?</a:t>
            </a:r>
          </a:p>
        </p:txBody>
      </p:sp>
      <p:sp>
        <p:nvSpPr>
          <p:cNvPr id="2" name="">
            <a:extLst xmlns:a="http://schemas.openxmlformats.org/drawingml/2006/main">
              <a:ext uri="{FF2B5EF4-FFF2-40B4-BE49-F238E27FC236}">
                <a16:creationId xmlns:a16="http://schemas.microsoft.com/office/drawing/2014/main" id="{0F172B95-C544-452F-900E-C90D7963FD3F}"/>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1961F526-7CB2-473C-9BE1-2AE0B22D99BE}"/>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05</a:t>
            </a:r>
          </a:p>
        </p:txBody>
      </p:sp>
      <p:sp>
        <p:nvSpPr>
          <p:cNvPr id="4" name="">
            <a:extLst xmlns:a="http://schemas.openxmlformats.org/drawingml/2006/main">
              <a:ext uri="{FF2B5EF4-FFF2-40B4-BE49-F238E27FC236}">
                <a16:creationId xmlns:a16="http://schemas.microsoft.com/office/drawing/2014/main" id="{B4F82B3C-046E-4EBA-9746-C6BF4E4A3609}"/>
              </a:ext>
            </a:extLst>
          </p:cNvPr>
          <p:cNvSpPr>
            <a:spLocks xmlns:a="http://schemas.openxmlformats.org/drawingml/2006/main" noGrp="1"/>
          </p:cNvSpPr>
          <p:nvPr/>
        </p:nvSpPr>
        <p:spPr>
          <a:xfrm xmlns:a="http://schemas.openxmlformats.org/drawingml/2006/main">
            <a:off x="457200" y="1200150"/>
            <a:ext cx="9525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667085"/>
                </a:solidFill>
                <a:latin typeface="Helvetica Neue"/>
                <a:ea typeface="Helvetica Neue"/>
                <a:cs typeface="Helvetica Neue"/>
              </a:defRPr>
            </a:pPr>
            <a:r>
              <a:rPr sz="1275" b="0">
                <a:solidFill>
                  <a:srgbClr val="667085"/>
                </a:solidFill>
                <a:latin typeface="Helvetica Neue"/>
                <a:ea typeface="Helvetica Neue"/>
                <a:cs typeface="Helvetica Neue"/>
              </a:rPr>
              <a:t>OpenAI creates embeddings at import and request time. The brief reads PostgreSQL. It does not call a source system.</a:t>
            </a:r>
          </a:p>
        </p:txBody>
      </p:sp>
      <p:sp>
        <p:nvSpPr>
          <p:cNvPr id="5" name="">
            <a:extLst xmlns:a="http://schemas.openxmlformats.org/drawingml/2006/main">
              <a:ext uri="{FF2B5EF4-FFF2-40B4-BE49-F238E27FC236}">
                <a16:creationId xmlns:a16="http://schemas.microsoft.com/office/drawing/2014/main" id="{7FCBC366-29EC-4070-AC66-0FCDB728EE03}"/>
              </a:ext>
            </a:extLst>
          </p:cNvPr>
          <p:cNvSpPr>
            <a:spLocks xmlns:a="http://schemas.openxmlformats.org/drawingml/2006/main" noGrp="1"/>
          </p:cNvSpPr>
          <p:nvPr/>
        </p:nvSpPr>
        <p:spPr>
          <a:xfrm xmlns:a="http://schemas.openxmlformats.org/drawingml/2006/main">
            <a:off x="457200"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9525">
            <a:solidFill>
              <a:srgbClr val="D0D5DD"/>
            </a:solidFill>
            <a:prstDash val="solid"/>
          </a:ln>
        </p:spPr>
      </p:sp>
      <p:sp>
        <p:nvSpPr>
          <p:cNvPr id="6" name="">
            <a:extLst xmlns:a="http://schemas.openxmlformats.org/drawingml/2006/main">
              <a:ext uri="{FF2B5EF4-FFF2-40B4-BE49-F238E27FC236}">
                <a16:creationId xmlns:a16="http://schemas.microsoft.com/office/drawing/2014/main" id="{FF696949-8B92-4E3C-91C5-474DF9927513}"/>
              </a:ext>
            </a:extLst>
          </p:cNvPr>
          <p:cNvSpPr>
            <a:spLocks xmlns:a="http://schemas.openxmlformats.org/drawingml/2006/main" noGrp="1"/>
          </p:cNvSpPr>
          <p:nvPr/>
        </p:nvSpPr>
        <p:spPr>
          <a:xfrm xmlns:a="http://schemas.openxmlformats.org/drawingml/2006/main">
            <a:off x="609600"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Sources</a:t>
            </a:r>
          </a:p>
        </p:txBody>
      </p:sp>
      <p:sp>
        <p:nvSpPr>
          <p:cNvPr id="7" name="">
            <a:extLst xmlns:a="http://schemas.openxmlformats.org/drawingml/2006/main">
              <a:ext uri="{FF2B5EF4-FFF2-40B4-BE49-F238E27FC236}">
                <a16:creationId xmlns:a16="http://schemas.microsoft.com/office/drawing/2014/main" id="{90F4C1A9-C4CA-4106-BB48-C633031F3719}"/>
              </a:ext>
            </a:extLst>
          </p:cNvPr>
          <p:cNvSpPr>
            <a:spLocks xmlns:a="http://schemas.openxmlformats.org/drawingml/2006/main" noGrp="1"/>
          </p:cNvSpPr>
          <p:nvPr/>
        </p:nvSpPr>
        <p:spPr>
          <a:xfrm xmlns:a="http://schemas.openxmlformats.org/drawingml/2006/main">
            <a:off x="609600"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Static CRM</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Meeting notes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Slack</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News records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No filings adapter</a:t>
            </a:r>
          </a:p>
        </p:txBody>
      </p:sp>
      <p:sp>
        <p:nvSpPr>
          <p:cNvPr id="8" name="">
            <a:extLst xmlns:a="http://schemas.openxmlformats.org/drawingml/2006/main">
              <a:ext uri="{FF2B5EF4-FFF2-40B4-BE49-F238E27FC236}">
                <a16:creationId xmlns:a16="http://schemas.microsoft.com/office/drawing/2014/main" id="{AAE64AD3-688E-46AF-8FEB-BB702085EAFC}"/>
              </a:ext>
            </a:extLst>
          </p:cNvPr>
          <p:cNvSpPr>
            <a:spLocks xmlns:a="http://schemas.openxmlformats.org/drawingml/2006/main" noGrp="1"/>
          </p:cNvSpPr>
          <p:nvPr/>
        </p:nvSpPr>
        <p:spPr>
          <a:xfrm xmlns:a="http://schemas.openxmlformats.org/drawingml/2006/main">
            <a:off x="2314575"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9525">
            <a:solidFill>
              <a:srgbClr val="9CB5D5"/>
            </a:solidFill>
            <a:prstDash val="solid"/>
          </a:ln>
        </p:spPr>
      </p:sp>
      <p:sp>
        <p:nvSpPr>
          <p:cNvPr id="9" name="">
            <a:extLst xmlns:a="http://schemas.openxmlformats.org/drawingml/2006/main">
              <a:ext uri="{FF2B5EF4-FFF2-40B4-BE49-F238E27FC236}">
                <a16:creationId xmlns:a16="http://schemas.microsoft.com/office/drawing/2014/main" id="{91BF445C-96EF-491A-BCF7-2AC277A0A731}"/>
              </a:ext>
            </a:extLst>
          </p:cNvPr>
          <p:cNvSpPr>
            <a:spLocks xmlns:a="http://schemas.openxmlformats.org/drawingml/2006/main" noGrp="1"/>
          </p:cNvSpPr>
          <p:nvPr/>
        </p:nvSpPr>
        <p:spPr>
          <a:xfrm xmlns:a="http://schemas.openxmlformats.org/drawingml/2006/main">
            <a:off x="2466975"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Import</a:t>
            </a:r>
          </a:p>
        </p:txBody>
      </p:sp>
      <p:sp>
        <p:nvSpPr>
          <p:cNvPr id="10" name="">
            <a:extLst xmlns:a="http://schemas.openxmlformats.org/drawingml/2006/main">
              <a:ext uri="{FF2B5EF4-FFF2-40B4-BE49-F238E27FC236}">
                <a16:creationId xmlns:a16="http://schemas.microsoft.com/office/drawing/2014/main" id="{AD31BAB3-F830-46F0-A2E9-DA18B80B58A2}"/>
              </a:ext>
            </a:extLst>
          </p:cNvPr>
          <p:cNvSpPr>
            <a:spLocks xmlns:a="http://schemas.openxmlformats.org/drawingml/2006/main" noGrp="1"/>
          </p:cNvSpPr>
          <p:nvPr/>
        </p:nvSpPr>
        <p:spPr>
          <a:xfrm xmlns:a="http://schemas.openxmlformats.org/drawingml/2006/main">
            <a:off x="2466975"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Read each file</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Validate record</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Check company ID</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Keep source record</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Checksum and chunk</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Request embeddings</a:t>
            </a:r>
          </a:p>
        </p:txBody>
      </p:sp>
      <p:sp>
        <p:nvSpPr>
          <p:cNvPr id="11" name="">
            <a:extLst xmlns:a="http://schemas.openxmlformats.org/drawingml/2006/main">
              <a:ext uri="{FF2B5EF4-FFF2-40B4-BE49-F238E27FC236}">
                <a16:creationId xmlns:a16="http://schemas.microsoft.com/office/drawing/2014/main" id="{8D32C6CD-12D3-4383-95F2-A8382D438179}"/>
              </a:ext>
            </a:extLst>
          </p:cNvPr>
          <p:cNvSpPr>
            <a:spLocks xmlns:a="http://schemas.openxmlformats.org/drawingml/2006/main" noGrp="1"/>
          </p:cNvSpPr>
          <p:nvPr/>
        </p:nvSpPr>
        <p:spPr>
          <a:xfrm xmlns:a="http://schemas.openxmlformats.org/drawingml/2006/main">
            <a:off x="4171950"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19050">
            <a:solidFill>
              <a:srgbClr val="5D7FB4"/>
            </a:solidFill>
            <a:prstDash val="solid"/>
          </a:ln>
        </p:spPr>
      </p:sp>
      <p:sp>
        <p:nvSpPr>
          <p:cNvPr id="12" name="">
            <a:extLst xmlns:a="http://schemas.openxmlformats.org/drawingml/2006/main">
              <a:ext uri="{FF2B5EF4-FFF2-40B4-BE49-F238E27FC236}">
                <a16:creationId xmlns:a16="http://schemas.microsoft.com/office/drawing/2014/main" id="{26C71975-15C3-4667-BC34-D9B4464F6811}"/>
              </a:ext>
            </a:extLst>
          </p:cNvPr>
          <p:cNvSpPr>
            <a:spLocks xmlns:a="http://schemas.openxmlformats.org/drawingml/2006/main" noGrp="1"/>
          </p:cNvSpPr>
          <p:nvPr/>
        </p:nvSpPr>
        <p:spPr>
          <a:xfrm xmlns:a="http://schemas.openxmlformats.org/drawingml/2006/main">
            <a:off x="4324350"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Evidence store</a:t>
            </a:r>
          </a:p>
        </p:txBody>
      </p:sp>
      <p:sp>
        <p:nvSpPr>
          <p:cNvPr id="13" name="">
            <a:extLst xmlns:a="http://schemas.openxmlformats.org/drawingml/2006/main">
              <a:ext uri="{FF2B5EF4-FFF2-40B4-BE49-F238E27FC236}">
                <a16:creationId xmlns:a16="http://schemas.microsoft.com/office/drawing/2014/main" id="{AA5FC93D-2600-460B-AAC8-580EFD4F68BC}"/>
              </a:ext>
            </a:extLst>
          </p:cNvPr>
          <p:cNvSpPr>
            <a:spLocks xmlns:a="http://schemas.openxmlformats.org/drawingml/2006/main" noGrp="1"/>
          </p:cNvSpPr>
          <p:nvPr/>
        </p:nvSpPr>
        <p:spPr>
          <a:xfrm xmlns:a="http://schemas.openxmlformats.org/drawingml/2006/main">
            <a:off x="4324350"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18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PostgreSQL and pgvector</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Companies and source records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Facts and dates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Chunks and embeddings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Brief runs and evidence</a:t>
            </a:r>
          </a:p>
        </p:txBody>
      </p:sp>
      <p:sp>
        <p:nvSpPr>
          <p:cNvPr id="14" name="">
            <a:extLst xmlns:a="http://schemas.openxmlformats.org/drawingml/2006/main">
              <a:ext uri="{FF2B5EF4-FFF2-40B4-BE49-F238E27FC236}">
                <a16:creationId xmlns:a16="http://schemas.microsoft.com/office/drawing/2014/main" id="{D8B8EC61-0E23-44B6-8EAF-0255EFCE9F54}"/>
              </a:ext>
            </a:extLst>
          </p:cNvPr>
          <p:cNvSpPr>
            <a:spLocks xmlns:a="http://schemas.openxmlformats.org/drawingml/2006/main" noGrp="1"/>
          </p:cNvSpPr>
          <p:nvPr/>
        </p:nvSpPr>
        <p:spPr>
          <a:xfrm xmlns:a="http://schemas.openxmlformats.org/drawingml/2006/main">
            <a:off x="6029325"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9525">
            <a:solidFill>
              <a:srgbClr val="9CB5D5"/>
            </a:solidFill>
            <a:prstDash val="solid"/>
          </a:ln>
        </p:spPr>
      </p:sp>
      <p:sp>
        <p:nvSpPr>
          <p:cNvPr id="15" name="">
            <a:extLst xmlns:a="http://schemas.openxmlformats.org/drawingml/2006/main">
              <a:ext uri="{FF2B5EF4-FFF2-40B4-BE49-F238E27FC236}">
                <a16:creationId xmlns:a16="http://schemas.microsoft.com/office/drawing/2014/main" id="{97E7E6E0-B411-44BD-92AA-7F5DF6550E73}"/>
              </a:ext>
            </a:extLst>
          </p:cNvPr>
          <p:cNvSpPr>
            <a:spLocks xmlns:a="http://schemas.openxmlformats.org/drawingml/2006/main" noGrp="1"/>
          </p:cNvSpPr>
          <p:nvPr/>
        </p:nvSpPr>
        <p:spPr>
          <a:xfrm xmlns:a="http://schemas.openxmlformats.org/drawingml/2006/main">
            <a:off x="6181725"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Retrieve</a:t>
            </a:r>
          </a:p>
        </p:txBody>
      </p:sp>
      <p:sp>
        <p:nvSpPr>
          <p:cNvPr id="16" name="">
            <a:extLst xmlns:a="http://schemas.openxmlformats.org/drawingml/2006/main">
              <a:ext uri="{FF2B5EF4-FFF2-40B4-BE49-F238E27FC236}">
                <a16:creationId xmlns:a16="http://schemas.microsoft.com/office/drawing/2014/main" id="{707B4D61-4907-4A5F-BE30-2C31008C985F}"/>
              </a:ext>
            </a:extLst>
          </p:cNvPr>
          <p:cNvSpPr>
            <a:spLocks xmlns:a="http://schemas.openxmlformats.org/drawingml/2006/main" noGrp="1"/>
          </p:cNvSpPr>
          <p:nvPr/>
        </p:nvSpPr>
        <p:spPr>
          <a:xfrm xmlns:a="http://schemas.openxmlformats.org/drawingml/2006/main">
            <a:off x="6181725"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868"/>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Create query embedding</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Company ID filter in SQL</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Full-text and embedding search</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Rank up to 30 records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Use quality and recency</a:t>
            </a:r>
          </a:p>
        </p:txBody>
      </p:sp>
      <p:sp>
        <p:nvSpPr>
          <p:cNvPr id="17" name="">
            <a:extLst xmlns:a="http://schemas.openxmlformats.org/drawingml/2006/main">
              <a:ext uri="{FF2B5EF4-FFF2-40B4-BE49-F238E27FC236}">
                <a16:creationId xmlns:a16="http://schemas.microsoft.com/office/drawing/2014/main" id="{10E9349B-FC80-44F0-8C6F-18040F8C0556}"/>
              </a:ext>
            </a:extLst>
          </p:cNvPr>
          <p:cNvSpPr>
            <a:spLocks xmlns:a="http://schemas.openxmlformats.org/drawingml/2006/main" noGrp="1"/>
          </p:cNvSpPr>
          <p:nvPr/>
        </p:nvSpPr>
        <p:spPr>
          <a:xfrm xmlns:a="http://schemas.openxmlformats.org/drawingml/2006/main">
            <a:off x="9744075"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9525">
            <a:solidFill>
              <a:srgbClr val="D0D5DD"/>
            </a:solidFill>
            <a:prstDash val="solid"/>
          </a:ln>
        </p:spPr>
      </p:sp>
      <p:sp>
        <p:nvSpPr>
          <p:cNvPr id="18" name="">
            <a:extLst xmlns:a="http://schemas.openxmlformats.org/drawingml/2006/main">
              <a:ext uri="{FF2B5EF4-FFF2-40B4-BE49-F238E27FC236}">
                <a16:creationId xmlns:a16="http://schemas.microsoft.com/office/drawing/2014/main" id="{8C14EADC-1D14-41C1-86E1-E97BD739DCBD}"/>
              </a:ext>
            </a:extLst>
          </p:cNvPr>
          <p:cNvSpPr>
            <a:spLocks xmlns:a="http://schemas.openxmlformats.org/drawingml/2006/main" noGrp="1"/>
          </p:cNvSpPr>
          <p:nvPr/>
        </p:nvSpPr>
        <p:spPr>
          <a:xfrm xmlns:a="http://schemas.openxmlformats.org/drawingml/2006/main">
            <a:off x="9896475"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Investor UI</a:t>
            </a:r>
          </a:p>
        </p:txBody>
      </p:sp>
      <p:sp>
        <p:nvSpPr>
          <p:cNvPr id="19" name="">
            <a:extLst xmlns:a="http://schemas.openxmlformats.org/drawingml/2006/main">
              <a:ext uri="{FF2B5EF4-FFF2-40B4-BE49-F238E27FC236}">
                <a16:creationId xmlns:a16="http://schemas.microsoft.com/office/drawing/2014/main" id="{088C108C-FA6E-42B8-8F1A-D28D9488EFEC}"/>
              </a:ext>
            </a:extLst>
          </p:cNvPr>
          <p:cNvSpPr>
            <a:spLocks xmlns:a="http://schemas.openxmlformats.org/drawingml/2006/main" noGrp="1"/>
          </p:cNvSpPr>
          <p:nvPr/>
        </p:nvSpPr>
        <p:spPr>
          <a:xfrm xmlns:a="http://schemas.openxmlformats.org/drawingml/2006/main">
            <a:off x="9896475"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Portfolio or pipeline</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Brief in 30 seconds or less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Open evidence and full source</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Send feedback</a:t>
            </a:r>
          </a:p>
        </p:txBody>
      </p:sp>
      <p:cxnSp>
        <p:nvCxnSpPr>
          <p:cNvPr id="319" name=""/>
          <p:cNvCxnSpPr>
            <a:stCxn xmlns:a="http://schemas.openxmlformats.org/drawingml/2006/main" id="5" idx="3"/>
            <a:endCxn xmlns:a="http://schemas.openxmlformats.org/drawingml/2006/main" id="8" idx="1"/>
          </p:cNvCxnSpPr>
          <p:nvPr/>
        </p:nvCxnSpPr>
        <p:spPr>
          <a:xfrm xmlns:a="http://schemas.openxmlformats.org/drawingml/2006/main">
            <a:off x="2124075" y="3048000"/>
            <a:ext cx="190500"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cxnSp>
        <p:nvCxnSpPr>
          <p:cNvPr id="320" name=""/>
          <p:cNvCxnSpPr>
            <a:stCxn xmlns:a="http://schemas.openxmlformats.org/drawingml/2006/main" id="8" idx="3"/>
            <a:endCxn xmlns:a="http://schemas.openxmlformats.org/drawingml/2006/main" id="11" idx="1"/>
          </p:cNvCxnSpPr>
          <p:nvPr/>
        </p:nvCxnSpPr>
        <p:spPr>
          <a:xfrm xmlns:a="http://schemas.openxmlformats.org/drawingml/2006/main">
            <a:off x="3981450" y="3048000"/>
            <a:ext cx="190500"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cxnSp>
        <p:nvCxnSpPr>
          <p:cNvPr id="321" name=""/>
          <p:cNvCxnSpPr>
            <a:stCxn xmlns:a="http://schemas.openxmlformats.org/drawingml/2006/main" id="11" idx="3"/>
            <a:endCxn xmlns:a="http://schemas.openxmlformats.org/drawingml/2006/main" id="14" idx="1"/>
          </p:cNvCxnSpPr>
          <p:nvPr/>
        </p:nvCxnSpPr>
        <p:spPr>
          <a:xfrm xmlns:a="http://schemas.openxmlformats.org/drawingml/2006/main">
            <a:off x="5838825" y="3048000"/>
            <a:ext cx="190500"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cxnSp>
        <p:nvCxnSpPr>
          <p:cNvPr id="322" name=""/>
          <p:cNvCxnSpPr>
            <a:stCxn xmlns:a="http://schemas.openxmlformats.org/drawingml/2006/main" id="14" idx="3"/>
            <a:endCxn xmlns:a="http://schemas.openxmlformats.org/drawingml/2006/main" id="17" idx="1"/>
          </p:cNvCxnSpPr>
          <p:nvPr/>
        </p:nvCxnSpPr>
        <p:spPr>
          <a:xfrm xmlns:a="http://schemas.openxmlformats.org/drawingml/2006/main">
            <a:off x="7696200" y="3048000"/>
            <a:ext cx="2047875"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sp>
        <p:nvSpPr>
          <p:cNvPr id="24" name="">
            <a:extLst xmlns:a="http://schemas.openxmlformats.org/drawingml/2006/main">
              <a:ext uri="{FF2B5EF4-FFF2-40B4-BE49-F238E27FC236}">
                <a16:creationId xmlns:a16="http://schemas.microsoft.com/office/drawing/2014/main" id="{B61FFB58-BB8E-471E-98CB-49CBA54C515D}"/>
              </a:ext>
            </a:extLst>
          </p:cNvPr>
          <p:cNvSpPr>
            <a:spLocks xmlns:a="http://schemas.openxmlformats.org/drawingml/2006/main" noGrp="1"/>
          </p:cNvSpPr>
          <p:nvPr/>
        </p:nvSpPr>
        <p:spPr>
          <a:xfrm xmlns:a="http://schemas.openxmlformats.org/drawingml/2006/main">
            <a:off x="457200" y="4438650"/>
            <a:ext cx="10858500" cy="1619250"/>
          </a:xfrm>
          <a:prstGeom xmlns:a="http://schemas.openxmlformats.org/drawingml/2006/main" prst="roundRect">
            <a:avLst>
              <a:gd name="adj" fmla="val 11940"/>
            </a:avLst>
          </a:prstGeom>
          <a:solidFill xmlns:a="http://schemas.openxmlformats.org/drawingml/2006/main">
            <a:srgbClr val="000000">
              <a:alpha val="0"/>
            </a:srgbClr>
          </a:solidFill>
          <a:ln xmlns:a="http://schemas.openxmlformats.org/drawingml/2006/main" w="9525">
            <a:solidFill>
              <a:srgbClr val="D0D5DD"/>
            </a:solidFill>
            <a:prstDash val="solid"/>
          </a:ln>
        </p:spPr>
      </p:sp>
      <p:sp>
        <p:nvSpPr>
          <p:cNvPr id="25" name="">
            <a:extLst xmlns:a="http://schemas.openxmlformats.org/drawingml/2006/main">
              <a:ext uri="{FF2B5EF4-FFF2-40B4-BE49-F238E27FC236}">
                <a16:creationId xmlns:a16="http://schemas.microsoft.com/office/drawing/2014/main" id="{07F00A8E-F14E-4A01-8264-2EC18B7520DF}"/>
              </a:ext>
            </a:extLst>
          </p:cNvPr>
          <p:cNvSpPr>
            <a:spLocks xmlns:a="http://schemas.openxmlformats.org/drawingml/2006/main" noGrp="1"/>
          </p:cNvSpPr>
          <p:nvPr/>
        </p:nvSpPr>
        <p:spPr>
          <a:xfrm xmlns:a="http://schemas.openxmlformats.org/drawingml/2006/main">
            <a:off x="685800" y="462915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714"/>
          </a:bodyPr>
          <a:lstStyle xmlns:a="http://schemas.openxmlformats.org/drawingml/2006/main"/>
          <a:p xmlns:a="http://schemas.openxmlformats.org/drawingml/2006/main">
            <a:pPr algn="l">
              <a:buNone/>
              <a:defRPr sz="1500" b="1">
                <a:solidFill>
                  <a:srgbClr val="101828"/>
                </a:solidFill>
                <a:latin typeface="Helvetica Neue"/>
                <a:ea typeface="Helvetica Neue"/>
                <a:cs typeface="Helvetica Neue"/>
              </a:defRPr>
            </a:pPr>
            <a:r>
              <a:rPr sz="1050" b="1">
                <a:solidFill>
                  <a:srgbClr val="315F9F"/>
                </a:solidFill>
                <a:latin typeface="Helvetica Neue"/>
                <a:ea typeface="Helvetica Neue"/>
                <a:cs typeface="Helvetica Neue"/>
              </a:rPr>
              <a:t>CONTROLS THAT STAY</a:t>
            </a:r>
          </a:p>
        </p:txBody>
      </p:sp>
      <p:sp>
        <p:nvSpPr>
          <p:cNvPr id="26" name="">
            <a:extLst xmlns:a="http://schemas.openxmlformats.org/drawingml/2006/main">
              <a:ext uri="{FF2B5EF4-FFF2-40B4-BE49-F238E27FC236}">
                <a16:creationId xmlns:a16="http://schemas.microsoft.com/office/drawing/2014/main" id="{EA4171B3-C020-4C48-902A-199C6AB20D1D}"/>
              </a:ext>
            </a:extLst>
          </p:cNvPr>
          <p:cNvSpPr>
            <a:spLocks xmlns:a="http://schemas.openxmlformats.org/drawingml/2006/main" noGrp="1"/>
          </p:cNvSpPr>
          <p:nvPr/>
        </p:nvSpPr>
        <p:spPr>
          <a:xfrm xmlns:a="http://schemas.openxmlformats.org/drawingml/2006/main">
            <a:off x="2647950" y="4610100"/>
            <a:ext cx="828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344054"/>
                </a:solidFill>
                <a:latin typeface="Helvetica Neue"/>
                <a:ea typeface="Helvetica Neue"/>
                <a:cs typeface="Helvetica Neue"/>
              </a:defRPr>
            </a:pPr>
            <a:r>
              <a:rPr sz="1125" b="0">
                <a:solidFill>
                  <a:srgbClr val="344054"/>
                </a:solidFill>
                <a:latin typeface="Helvetica Neue"/>
                <a:ea typeface="Helvetica Neue"/>
                <a:cs typeface="Helvetica Neue"/>
              </a:rPr>
              <a:t>Checksums · embedding fingerprints · company filter before rank · source IDs · saved source ranks · feedback</a:t>
            </a:r>
          </a:p>
        </p:txBody>
      </p:sp>
      <p:sp>
        <p:nvSpPr>
          <p:cNvPr id="27" name="">
            <a:extLst xmlns:a="http://schemas.openxmlformats.org/drawingml/2006/main">
              <a:ext uri="{FF2B5EF4-FFF2-40B4-BE49-F238E27FC236}">
                <a16:creationId xmlns:a16="http://schemas.microsoft.com/office/drawing/2014/main" id="{95D9C767-43D9-4311-B764-33EAAB1F58EC}"/>
              </a:ext>
            </a:extLst>
          </p:cNvPr>
          <p:cNvSpPr>
            <a:spLocks xmlns:a="http://schemas.openxmlformats.org/drawingml/2006/main" noGrp="1"/>
          </p:cNvSpPr>
          <p:nvPr/>
        </p:nvSpPr>
        <p:spPr>
          <a:xfrm xmlns:a="http://schemas.openxmlformats.org/drawingml/2006/main">
            <a:off x="685800" y="5267325"/>
            <a:ext cx="102489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315F9F"/>
                </a:solidFill>
                <a:latin typeface="Helvetica Neue"/>
                <a:ea typeface="Helvetica Neue"/>
                <a:cs typeface="Helvetica Neue"/>
              </a:defRPr>
            </a:pPr>
            <a:r>
              <a:rPr sz="975" b="1">
                <a:solidFill>
                  <a:srgbClr val="315F9F"/>
                </a:solidFill>
                <a:latin typeface="Helvetica Neue"/>
                <a:ea typeface="Helvetica Neue"/>
                <a:cs typeface="Helvetica Neue"/>
              </a:rPr>
              <a:t>PRODUCTION TARGET    Managed connectors · access rules · schedules · reconciliation · optional grounded generation with gpt-5.6-sol</a:t>
            </a:r>
          </a:p>
        </p:txBody>
      </p:sp>
      <p:sp>
        <p:nvSpPr>
          <p:cNvPr id="74" name="">
            <a:extLst xmlns:a="http://schemas.openxmlformats.org/drawingml/2006/main">
              <a:ext uri="{FF2B5EF4-FFF2-40B4-BE49-F238E27FC236}">
                <a16:creationId xmlns:a16="http://schemas.microsoft.com/office/drawing/2014/main" id="{876761DC-591F-4BA5-87BF-202A2CAA662F}"/>
              </a:ext>
            </a:extLst>
          </p:cNvPr>
          <p:cNvSpPr>
            <a:spLocks xmlns:a="http://schemas.openxmlformats.org/drawingml/2006/main" noGrp="1"/>
          </p:cNvSpPr>
          <p:nvPr/>
        </p:nvSpPr>
        <p:spPr>
          <a:xfrm xmlns:a="http://schemas.openxmlformats.org/drawingml/2006/main">
            <a:off x="457200" y="1504950"/>
            <a:ext cx="5381625" cy="266700"/>
          </a:xfrm>
          <a:prstGeom xmlns:a="http://schemas.openxmlformats.org/drawingml/2006/main" prst="rect">
            <a:avLst/>
          </a:prstGeom>
        </p:spPr>
        <p:txBody>
          <a:bodyPr xmlns:a="http://schemas.openxmlformats.org/drawingml/2006/main" lIns="38100" tIns="19050" rIns="38100" bIns="19050" anchor="ctr">
            <a:normAutofit fontScale="100000"/>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1  CURRENT IMPORT · BEFORE REQUEST</a:t>
            </a:r>
          </a:p>
        </p:txBody>
      </p:sp>
      <p:sp>
        <p:nvSpPr>
          <p:cNvPr id="75" name="">
            <a:extLst xmlns:a="http://schemas.openxmlformats.org/drawingml/2006/main">
              <a:ext uri="{FF2B5EF4-FFF2-40B4-BE49-F238E27FC236}">
                <a16:creationId xmlns:a16="http://schemas.microsoft.com/office/drawing/2014/main" id="{DE5B8472-F0A9-4DC3-B8D5-E6104426EC1F}"/>
              </a:ext>
            </a:extLst>
          </p:cNvPr>
          <p:cNvSpPr>
            <a:spLocks xmlns:a="http://schemas.openxmlformats.org/drawingml/2006/main" noGrp="1"/>
          </p:cNvSpPr>
          <p:nvPr/>
        </p:nvSpPr>
        <p:spPr>
          <a:xfrm xmlns:a="http://schemas.openxmlformats.org/drawingml/2006/main">
            <a:off x="6029325" y="1504950"/>
            <a:ext cx="5381625" cy="266700"/>
          </a:xfrm>
          <a:prstGeom xmlns:a="http://schemas.openxmlformats.org/drawingml/2006/main" prst="rect">
            <a:avLst/>
          </a:prstGeom>
        </p:spPr>
        <p:txBody>
          <a:bodyPr xmlns:a="http://schemas.openxmlformats.org/drawingml/2006/main" lIns="38100" tIns="19050" rIns="38100" bIns="19050" anchor="ctr">
            <a:normAutofit fontScale="100000"/>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2  CURRENT BRIEF · ON REQUEST</a:t>
            </a:r>
          </a:p>
        </p:txBody>
      </p:sp>
      <p:sp>
        <p:nvSpPr>
          <p:cNvPr id="76" name="">
            <a:extLst xmlns:a="http://schemas.openxmlformats.org/drawingml/2006/main">
              <a:ext uri="{FF2B5EF4-FFF2-40B4-BE49-F238E27FC236}">
                <a16:creationId xmlns:a16="http://schemas.microsoft.com/office/drawing/2014/main" id="{44449F1B-2B10-45DE-9D09-31B025BCA0F1}"/>
              </a:ext>
            </a:extLst>
          </p:cNvPr>
          <p:cNvSpPr>
            <a:spLocks xmlns:a="http://schemas.openxmlformats.org/drawingml/2006/main" noGrp="1"/>
          </p:cNvSpPr>
          <p:nvPr/>
        </p:nvSpPr>
        <p:spPr>
          <a:xfrm xmlns:a="http://schemas.openxmlformats.org/drawingml/2006/main">
            <a:off x="457200" y="1790700"/>
            <a:ext cx="5381625" cy="0"/>
          </a:xfrm>
          <a:prstGeom xmlns:a="http://schemas.openxmlformats.org/drawingml/2006/main" prst="line">
            <a:avLst/>
          </a:prstGeom>
          <a:ln xmlns:a="http://schemas.openxmlformats.org/drawingml/2006/main" w="19050">
            <a:solidFill>
              <a:srgbClr val="5D7FB4"/>
            </a:solidFill>
            <a:prstDash val="solid"/>
          </a:ln>
        </p:spPr>
      </p:sp>
      <p:sp>
        <p:nvSpPr>
          <p:cNvPr id="77" name="">
            <a:extLst xmlns:a="http://schemas.openxmlformats.org/drawingml/2006/main">
              <a:ext uri="{FF2B5EF4-FFF2-40B4-BE49-F238E27FC236}">
                <a16:creationId xmlns:a16="http://schemas.microsoft.com/office/drawing/2014/main" id="{EA399CA2-473B-4773-B305-27FBBE0FE99A}"/>
              </a:ext>
            </a:extLst>
          </p:cNvPr>
          <p:cNvSpPr>
            <a:spLocks xmlns:a="http://schemas.openxmlformats.org/drawingml/2006/main" noGrp="1"/>
          </p:cNvSpPr>
          <p:nvPr/>
        </p:nvSpPr>
        <p:spPr>
          <a:xfrm xmlns:a="http://schemas.openxmlformats.org/drawingml/2006/main">
            <a:off x="6029325" y="1790700"/>
            <a:ext cx="5381625" cy="0"/>
          </a:xfrm>
          <a:prstGeom xmlns:a="http://schemas.openxmlformats.org/drawingml/2006/main" prst="line">
            <a:avLst/>
          </a:prstGeom>
          <a:ln xmlns:a="http://schemas.openxmlformats.org/drawingml/2006/main" w="19050">
            <a:solidFill>
              <a:srgbClr val="5D7FB4"/>
            </a:solidFill>
            <a:prstDash val="solid"/>
          </a:ln>
        </p:spPr>
      </p:sp>
      <p:sp>
        <p:nvSpPr>
          <p:cNvPr id="78" name="">
            <a:extLst xmlns:a="http://schemas.openxmlformats.org/drawingml/2006/main">
              <a:ext uri="{FF2B5EF4-FFF2-40B4-BE49-F238E27FC236}">
                <a16:creationId xmlns:a16="http://schemas.microsoft.com/office/drawing/2014/main" id="{19D8B9AA-FBB8-4320-B731-75F48F456FAB}"/>
              </a:ext>
            </a:extLst>
          </p:cNvPr>
          <p:cNvSpPr>
            <a:spLocks xmlns:a="http://schemas.openxmlformats.org/drawingml/2006/main" noGrp="1"/>
          </p:cNvSpPr>
          <p:nvPr/>
        </p:nvSpPr>
        <p:spPr>
          <a:xfrm xmlns:a="http://schemas.openxmlformats.org/drawingml/2006/main">
            <a:off x="7886700" y="1952625"/>
            <a:ext cx="1666875" cy="2190750"/>
          </a:xfrm>
          <a:prstGeom xmlns:a="http://schemas.openxmlformats.org/drawingml/2006/main" prst="roundRect">
            <a:avLst>
              <a:gd name="adj" fmla="val 8000"/>
            </a:avLst>
          </a:prstGeom>
          <a:solidFill xmlns:a="http://schemas.openxmlformats.org/drawingml/2006/main">
            <a:srgbClr val="000000">
              <a:alpha val="0"/>
            </a:srgbClr>
          </a:solidFill>
          <a:ln xmlns:a="http://schemas.openxmlformats.org/drawingml/2006/main" w="9525">
            <a:solidFill>
              <a:srgbClr val="9CB5D5"/>
            </a:solidFill>
            <a:prstDash val="solid"/>
          </a:ln>
        </p:spPr>
      </p:sp>
      <p:sp>
        <p:nvSpPr>
          <p:cNvPr id="79" name="">
            <a:extLst xmlns:a="http://schemas.openxmlformats.org/drawingml/2006/main">
              <a:ext uri="{FF2B5EF4-FFF2-40B4-BE49-F238E27FC236}">
                <a16:creationId xmlns:a16="http://schemas.microsoft.com/office/drawing/2014/main" id="{51BDDF48-D89D-41EC-93BE-8EAFD88E737A}"/>
              </a:ext>
            </a:extLst>
          </p:cNvPr>
          <p:cNvSpPr>
            <a:spLocks xmlns:a="http://schemas.openxmlformats.org/drawingml/2006/main" noGrp="1"/>
          </p:cNvSpPr>
          <p:nvPr/>
        </p:nvSpPr>
        <p:spPr>
          <a:xfrm xmlns:a="http://schemas.openxmlformats.org/drawingml/2006/main">
            <a:off x="8039100" y="2133600"/>
            <a:ext cx="1362075" cy="266700"/>
          </a:xfrm>
          <a:prstGeom xmlns:a="http://schemas.openxmlformats.org/drawingml/2006/main" prst="rect">
            <a:avLst/>
          </a:prstGeom>
        </p:spPr>
        <p:txBody>
          <a:bodyPr xmlns:a="http://schemas.openxmlformats.org/drawingml/2006/main" lIns="38100" tIns="19050" rIns="38100" bIns="19050" anchor="ctr">
            <a:normAutofit fontScale="100000"/>
          </a:bodyPr>
          <a:lstStyle xmlns:a="http://schemas.openxmlformats.org/drawingml/2006/main"/>
          <a:p xmlns:a="http://schemas.openxmlformats.org/drawingml/2006/main">
            <a:pPr algn="l">
              <a:buNone/>
              <a:defRPr sz="1350" b="1">
                <a:solidFill>
                  <a:srgbClr val="344054"/>
                </a:solidFill>
                <a:latin typeface="Helvetica Neue"/>
                <a:ea typeface="Helvetica Neue"/>
                <a:cs typeface="Helvetica Neue"/>
              </a:defRPr>
            </a:pPr>
            <a:r>
              <a:rPr sz="1350" b="1">
                <a:solidFill>
                  <a:srgbClr val="344054"/>
                </a:solidFill>
                <a:latin typeface="Helvetica Neue"/>
                <a:ea typeface="Helvetica Neue"/>
                <a:cs typeface="Helvetica Neue"/>
              </a:rPr>
              <a:t>Build brief</a:t>
            </a:r>
          </a:p>
        </p:txBody>
      </p:sp>
      <p:sp>
        <p:nvSpPr>
          <p:cNvPr id="80" name="">
            <a:extLst xmlns:a="http://schemas.openxmlformats.org/drawingml/2006/main">
              <a:ext uri="{FF2B5EF4-FFF2-40B4-BE49-F238E27FC236}">
                <a16:creationId xmlns:a16="http://schemas.microsoft.com/office/drawing/2014/main" id="{F845698F-CB86-4AEE-AD81-65F6E539E320}"/>
              </a:ext>
            </a:extLst>
          </p:cNvPr>
          <p:cNvSpPr>
            <a:spLocks xmlns:a="http://schemas.openxmlformats.org/drawingml/2006/main" noGrp="1"/>
          </p:cNvSpPr>
          <p:nvPr/>
        </p:nvSpPr>
        <p:spPr>
          <a:xfrm xmlns:a="http://schemas.openxmlformats.org/drawingml/2006/main">
            <a:off x="8039100" y="2514600"/>
            <a:ext cx="1362075" cy="1447800"/>
          </a:xfrm>
          <a:prstGeom xmlns:a="http://schemas.openxmlformats.org/drawingml/2006/main" prst="rect">
            <a:avLst/>
          </a:prstGeom>
        </p:spPr>
        <p:txBody>
          <a:bodyPr xmlns:a="http://schemas.openxmlformats.org/drawingml/2006/main" lIns="38100" tIns="19050" rIns="38100" bIns="19050" anchor="t">
            <a:normAutofit fontScale="100000"/>
          </a:bodyPr>
          <a:lstStyle xmlns:a="http://schemas.openxmlformats.org/drawingml/2006/main"/>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Fixed brief rules</a:t>
            </a:r>
          </a:p>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No generation model</a:t>
            </a:r>
          </a:p>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
            </a:r>
          </a:p>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Check source IDs and company</a:t>
            </a:r>
          </a:p>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Save brief and source ranks</a:t>
            </a:r>
          </a:p>
        </p:txBody>
      </p:sp>
      <p:cxnSp>
        <p:nvCxnSpPr>
          <p:cNvPr id="334" name=""/>
          <p:cNvCxnSpPr>
            <a:stCxn xmlns:a="http://schemas.openxmlformats.org/drawingml/2006/main" id="14" idx="3"/>
            <a:endCxn xmlns:a="http://schemas.openxmlformats.org/drawingml/2006/main" id="78" idx="1"/>
          </p:cNvCxnSpPr>
          <p:nvPr/>
        </p:nvCxnSpPr>
        <p:spPr>
          <a:xfrm xmlns:a="http://schemas.openxmlformats.org/drawingml/2006/main">
            <a:off x="7696200" y="3048000"/>
            <a:ext cx="190500" cy="0"/>
          </a:xfrm>
          <a:prstGeom xmlns:a="http://schemas.openxmlformats.org/drawingml/2006/main" prst="straightConnector1">
            <a:avLst/>
          </a:prstGeom>
          <a:ln xmlns:a="http://schemas.openxmlformats.org/drawingml/2006/main" w="19050">
            <a:solidFill>
              <a:srgbClr val="5D7FB4"/>
            </a:solidFill>
            <a:prstDash val="solid"/>
            <a:tailEnd type="arrow" w="sm" len="sm"/>
          </a:ln>
        </p:spPr>
      </p:cxnSp>
      <p:cxnSp>
        <p:nvCxnSpPr>
          <p:cNvPr id="335" name=""/>
          <p:cNvCxnSpPr>
            <a:stCxn xmlns:a="http://schemas.openxmlformats.org/drawingml/2006/main" id="78" idx="3"/>
            <a:endCxn xmlns:a="http://schemas.openxmlformats.org/drawingml/2006/main" id="17" idx="1"/>
          </p:cNvCxnSpPr>
          <p:nvPr/>
        </p:nvCxnSpPr>
        <p:spPr>
          <a:xfrm xmlns:a="http://schemas.openxmlformats.org/drawingml/2006/main">
            <a:off x="9553575" y="3048000"/>
            <a:ext cx="190500" cy="0"/>
          </a:xfrm>
          <a:prstGeom xmlns:a="http://schemas.openxmlformats.org/drawingml/2006/main" prst="straightConnector1">
            <a:avLst/>
          </a:prstGeom>
          <a:ln xmlns:a="http://schemas.openxmlformats.org/drawingml/2006/main" w="19050">
            <a:solidFill>
              <a:srgbClr val="5D7FB4"/>
            </a:solidFill>
            <a:prstDash val="solid"/>
            <a:tailEnd type="arrow" w="sm" len="sm"/>
          </a:ln>
        </p:spPr>
      </p:cxnSp>
      <p:sp>
        <p:nvSpPr>
          <p:cNvPr id="83" name="">
            <a:extLst xmlns:a="http://schemas.openxmlformats.org/drawingml/2006/main">
              <a:ext uri="{FF2B5EF4-FFF2-40B4-BE49-F238E27FC236}">
                <a16:creationId xmlns:a16="http://schemas.microsoft.com/office/drawing/2014/main" id="{992E4A4C-71BB-4B03-9841-87FC93E819CD}"/>
              </a:ext>
            </a:extLst>
          </p:cNvPr>
          <p:cNvSpPr>
            <a:spLocks xmlns:a="http://schemas.openxmlformats.org/drawingml/2006/main" noGrp="1"/>
          </p:cNvSpPr>
          <p:nvPr/>
        </p:nvSpPr>
        <p:spPr>
          <a:xfrm xmlns:a="http://schemas.openxmlformats.org/drawingml/2006/main">
            <a:off x="590550" y="5105400"/>
            <a:ext cx="10534650" cy="609600"/>
          </a:xfrm>
          <a:prstGeom xmlns:a="http://schemas.openxmlformats.org/drawingml/2006/main" prst="roundRect">
            <a:avLst>
              <a:gd name="adj" fmla="val 15625"/>
            </a:avLst>
          </a:prstGeom>
          <a:solidFill xmlns:a="http://schemas.openxmlformats.org/drawingml/2006/main">
            <a:srgbClr val="000000">
              <a:alpha val="0"/>
            </a:srgbClr>
          </a:solidFill>
          <a:ln xmlns:a="http://schemas.openxmlformats.org/drawingml/2006/main" w="9525">
            <a:solidFill>
              <a:srgbClr val="5D7FB4"/>
            </a:solidFill>
            <a:prstDash val="dash"/>
          </a:ln>
        </p:spPr>
      </p:sp>
    </p:spTree>
    <p:extLst>
      <p:ext uri="{BB962C8B-B14F-4D97-AF65-F5344CB8AC3E}">
        <p14:creationId xmlns:p14="http://schemas.microsoft.com/office/powerpoint/2010/main" val="1629625627"/>
      </p:ext>
    </p:extLst>
  </p:cSld>
</p:sld>
</file>

<file path=ppt/slides/slide6.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47" name="">
            <a:extLst xmlns:a="http://schemas.openxmlformats.org/drawingml/2006/main">
              <a:ext uri="{FF2B5EF4-FFF2-40B4-BE49-F238E27FC236}">
                <a16:creationId xmlns:a16="http://schemas.microsoft.com/office/drawing/2014/main" id="{DB7B3EEB-D638-4724-AAF7-119C489C9CDA}"/>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2550" b="1">
                <a:solidFill>
                  <a:srgbClr val="101828"/>
                </a:solidFill>
                <a:latin typeface="Helvetica Neue"/>
                <a:ea typeface="Helvetica Neue"/>
                <a:cs typeface="Helvetica Neue"/>
              </a:rPr>
              <a:t>How do source records become searchable evidence?</a:t>
            </a:r>
          </a:p>
        </p:txBody>
      </p:sp>
      <p:sp>
        <p:nvSpPr>
          <p:cNvPr id="2" name="">
            <a:extLst xmlns:a="http://schemas.openxmlformats.org/drawingml/2006/main">
              <a:ext uri="{FF2B5EF4-FFF2-40B4-BE49-F238E27FC236}">
                <a16:creationId xmlns:a16="http://schemas.microsoft.com/office/drawing/2014/main" id="{09705ED1-D51F-46D6-86F2-64D21DC0D084}"/>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06B9AC04-D709-4811-8011-6CBF5DDBDCB8}"/>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06</a:t>
            </a:r>
          </a:p>
        </p:txBody>
      </p:sp>
      <p:sp>
        <p:nvSpPr>
          <p:cNvPr id="4" name="">
            <a:extLst xmlns:a="http://schemas.openxmlformats.org/drawingml/2006/main">
              <a:ext uri="{FF2B5EF4-FFF2-40B4-BE49-F238E27FC236}">
                <a16:creationId xmlns:a16="http://schemas.microsoft.com/office/drawing/2014/main" id="{24A84428-21BF-430B-AB26-3A6B26D5C7DF}"/>
              </a:ext>
            </a:extLst>
          </p:cNvPr>
          <p:cNvSpPr>
            <a:spLocks xmlns:a="http://schemas.openxmlformats.org/drawingml/2006/main" noGrp="1"/>
          </p:cNvSpPr>
          <p:nvPr/>
        </p:nvSpPr>
        <p:spPr>
          <a:xfrm xmlns:a="http://schemas.openxmlformats.org/drawingml/2006/main">
            <a:off x="457200" y="1352550"/>
            <a:ext cx="1047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667085"/>
                </a:solidFill>
                <a:latin typeface="Helvetica Neue"/>
                <a:ea typeface="Helvetica Neue"/>
                <a:cs typeface="Helvetica Neue"/>
              </a:defRPr>
            </a:pPr>
            <a:r>
              <a:rPr sz="1350" b="0">
                <a:solidFill>
                  <a:srgbClr val="667085"/>
                </a:solidFill>
                <a:latin typeface="Helvetica Neue"/>
                <a:ea typeface="Helvetica Neue"/>
                <a:cs typeface="Helvetica Neue"/>
              </a:rPr>
              <a:t>V1 uses file adapters. Public filings are a target source, but the prototype has no filing adapter.</a:t>
            </a:r>
          </a:p>
        </p:txBody>
      </p:sp>
      <p:sp>
        <p:nvSpPr>
          <p:cNvPr id="5" name="">
            <a:extLst xmlns:a="http://schemas.openxmlformats.org/drawingml/2006/main">
              <a:ext uri="{FF2B5EF4-FFF2-40B4-BE49-F238E27FC236}">
                <a16:creationId xmlns:a16="http://schemas.microsoft.com/office/drawing/2014/main" id="{896AB9F0-C69D-4A69-808D-6EF2BA8CD82A}"/>
              </a:ext>
            </a:extLst>
          </p:cNvPr>
          <p:cNvSpPr>
            <a:spLocks xmlns:a="http://schemas.openxmlformats.org/drawingml/2006/main" noGrp="1"/>
          </p:cNvSpPr>
          <p:nvPr/>
        </p:nvSpPr>
        <p:spPr>
          <a:xfrm xmlns:a="http://schemas.openxmlformats.org/drawingml/2006/main">
            <a:off x="457200" y="2000250"/>
            <a:ext cx="323850" cy="32385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6" name="">
            <a:extLst xmlns:a="http://schemas.openxmlformats.org/drawingml/2006/main">
              <a:ext uri="{FF2B5EF4-FFF2-40B4-BE49-F238E27FC236}">
                <a16:creationId xmlns:a16="http://schemas.microsoft.com/office/drawing/2014/main" id="{5A55690E-0B75-4171-92B6-19446C212B93}"/>
              </a:ext>
            </a:extLst>
          </p:cNvPr>
          <p:cNvSpPr>
            <a:spLocks xmlns:a="http://schemas.openxmlformats.org/drawingml/2006/main" noGrp="1"/>
          </p:cNvSpPr>
          <p:nvPr/>
        </p:nvSpPr>
        <p:spPr>
          <a:xfrm xmlns:a="http://schemas.openxmlformats.org/drawingml/2006/main">
            <a:off x="561975" y="2057400"/>
            <a:ext cx="133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125" b="1">
                <a:solidFill>
                  <a:srgbClr val="FFFFFF"/>
                </a:solidFill>
                <a:latin typeface="Helvetica Neue"/>
                <a:ea typeface="Helvetica Neue"/>
                <a:cs typeface="Helvetica Neue"/>
              </a:defRPr>
            </a:pPr>
            <a:r>
              <a:rPr sz="1125" b="1">
                <a:solidFill>
                  <a:srgbClr val="FFFFFF"/>
                </a:solidFill>
                <a:latin typeface="Helvetica Neue"/>
                <a:ea typeface="Helvetica Neue"/>
                <a:cs typeface="Helvetica Neue"/>
              </a:rPr>
              <a:t>1</a:t>
            </a:r>
          </a:p>
        </p:txBody>
      </p:sp>
      <p:sp>
        <p:nvSpPr>
          <p:cNvPr id="7" name="">
            <a:extLst xmlns:a="http://schemas.openxmlformats.org/drawingml/2006/main">
              <a:ext uri="{FF2B5EF4-FFF2-40B4-BE49-F238E27FC236}">
                <a16:creationId xmlns:a16="http://schemas.microsoft.com/office/drawing/2014/main" id="{1DFBEFDC-1AD1-482F-BA2B-A1477C59E296}"/>
              </a:ext>
            </a:extLst>
          </p:cNvPr>
          <p:cNvSpPr>
            <a:spLocks xmlns:a="http://schemas.openxmlformats.org/drawingml/2006/main" noGrp="1"/>
          </p:cNvSpPr>
          <p:nvPr/>
        </p:nvSpPr>
        <p:spPr>
          <a:xfrm xmlns:a="http://schemas.openxmlformats.org/drawingml/2006/main">
            <a:off x="971550" y="2028825"/>
            <a:ext cx="4381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1350" b="1">
                <a:solidFill>
                  <a:srgbClr val="344054"/>
                </a:solidFill>
                <a:latin typeface="Helvetica Neue"/>
                <a:ea typeface="Helvetica Neue"/>
                <a:cs typeface="Helvetica Neue"/>
              </a:defRPr>
            </a:pPr>
            <a:r>
              <a:rPr sz="1350" b="1">
                <a:solidFill>
                  <a:srgbClr val="344054"/>
                </a:solidFill>
                <a:latin typeface="Helvetica Neue"/>
                <a:ea typeface="Helvetica Neue"/>
                <a:cs typeface="Helvetica Neue"/>
              </a:rPr>
              <a:t>Read and validate one source record</a:t>
            </a:r>
          </a:p>
        </p:txBody>
      </p:sp>
      <p:sp>
        <p:nvSpPr>
          <p:cNvPr id="8" name="">
            <a:extLst xmlns:a="http://schemas.openxmlformats.org/drawingml/2006/main">
              <a:ext uri="{FF2B5EF4-FFF2-40B4-BE49-F238E27FC236}">
                <a16:creationId xmlns:a16="http://schemas.microsoft.com/office/drawing/2014/main" id="{42D004A4-470B-427C-9F30-0D4084329D3B}"/>
              </a:ext>
            </a:extLst>
          </p:cNvPr>
          <p:cNvSpPr>
            <a:spLocks xmlns:a="http://schemas.openxmlformats.org/drawingml/2006/main" noGrp="1"/>
          </p:cNvSpPr>
          <p:nvPr/>
        </p:nvSpPr>
        <p:spPr>
          <a:xfrm xmlns:a="http://schemas.openxmlformats.org/drawingml/2006/main">
            <a:off x="619125" y="2371725"/>
            <a:ext cx="0" cy="0"/>
          </a:xfrm>
          <a:prstGeom xmlns:a="http://schemas.openxmlformats.org/drawingml/2006/main" prst="line">
            <a:avLst/>
          </a:prstGeom>
          <a:noFill xmlns:a="http://schemas.openxmlformats.org/drawingml/2006/main"/>
          <a:ln xmlns:a="http://schemas.openxmlformats.org/drawingml/2006/main" w="19050">
            <a:solidFill>
              <a:srgbClr val="9CB5D5"/>
            </a:solidFill>
            <a:prstDash val="solid"/>
          </a:ln>
        </p:spPr>
      </p:sp>
      <p:sp>
        <p:nvSpPr>
          <p:cNvPr id="9" name="">
            <a:extLst xmlns:a="http://schemas.openxmlformats.org/drawingml/2006/main">
              <a:ext uri="{FF2B5EF4-FFF2-40B4-BE49-F238E27FC236}">
                <a16:creationId xmlns:a16="http://schemas.microsoft.com/office/drawing/2014/main" id="{A8A8914F-BE10-4304-B4E7-B45DA4C1C63E}"/>
              </a:ext>
            </a:extLst>
          </p:cNvPr>
          <p:cNvSpPr>
            <a:spLocks xmlns:a="http://schemas.openxmlformats.org/drawingml/2006/main" noGrp="1"/>
          </p:cNvSpPr>
          <p:nvPr/>
        </p:nvSpPr>
        <p:spPr>
          <a:xfrm xmlns:a="http://schemas.openxmlformats.org/drawingml/2006/main">
            <a:off x="457200" y="2724150"/>
            <a:ext cx="323850" cy="32385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0" name="">
            <a:extLst xmlns:a="http://schemas.openxmlformats.org/drawingml/2006/main">
              <a:ext uri="{FF2B5EF4-FFF2-40B4-BE49-F238E27FC236}">
                <a16:creationId xmlns:a16="http://schemas.microsoft.com/office/drawing/2014/main" id="{744DA04E-E782-4241-A00D-8BDB6C1710A7}"/>
              </a:ext>
            </a:extLst>
          </p:cNvPr>
          <p:cNvSpPr>
            <a:spLocks xmlns:a="http://schemas.openxmlformats.org/drawingml/2006/main" noGrp="1"/>
          </p:cNvSpPr>
          <p:nvPr/>
        </p:nvSpPr>
        <p:spPr>
          <a:xfrm xmlns:a="http://schemas.openxmlformats.org/drawingml/2006/main">
            <a:off x="561975" y="2781300"/>
            <a:ext cx="133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125" b="1">
                <a:solidFill>
                  <a:srgbClr val="FFFFFF"/>
                </a:solidFill>
                <a:latin typeface="Helvetica Neue"/>
                <a:ea typeface="Helvetica Neue"/>
                <a:cs typeface="Helvetica Neue"/>
              </a:defRPr>
            </a:pPr>
            <a:r>
              <a:rPr sz="1125" b="1">
                <a:solidFill>
                  <a:srgbClr val="FFFFFF"/>
                </a:solidFill>
                <a:latin typeface="Helvetica Neue"/>
                <a:ea typeface="Helvetica Neue"/>
                <a:cs typeface="Helvetica Neue"/>
              </a:rPr>
              <a:t>2</a:t>
            </a:r>
          </a:p>
        </p:txBody>
      </p:sp>
      <p:sp>
        <p:nvSpPr>
          <p:cNvPr id="11" name="">
            <a:extLst xmlns:a="http://schemas.openxmlformats.org/drawingml/2006/main">
              <a:ext uri="{FF2B5EF4-FFF2-40B4-BE49-F238E27FC236}">
                <a16:creationId xmlns:a16="http://schemas.microsoft.com/office/drawing/2014/main" id="{DF9E2949-2E8A-485A-BB75-2DF646A1DC1B}"/>
              </a:ext>
            </a:extLst>
          </p:cNvPr>
          <p:cNvSpPr>
            <a:spLocks xmlns:a="http://schemas.openxmlformats.org/drawingml/2006/main" noGrp="1"/>
          </p:cNvSpPr>
          <p:nvPr/>
        </p:nvSpPr>
        <p:spPr>
          <a:xfrm xmlns:a="http://schemas.openxmlformats.org/drawingml/2006/main">
            <a:off x="971550" y="2752725"/>
            <a:ext cx="4381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1350" b="0">
                <a:solidFill>
                  <a:srgbClr val="344054"/>
                </a:solidFill>
                <a:latin typeface="Helvetica Neue"/>
                <a:ea typeface="Helvetica Neue"/>
                <a:cs typeface="Helvetica Neue"/>
              </a:defRPr>
            </a:pPr>
            <a:r>
              <a:rPr sz="1350" b="0">
                <a:solidFill>
                  <a:srgbClr val="344054"/>
                </a:solidFill>
                <a:latin typeface="Helvetica Neue"/>
                <a:ea typeface="Helvetica Neue"/>
                <a:cs typeface="Helvetica Neue"/>
              </a:rPr>
              <a:t>Assign a known company ID</a:t>
            </a:r>
          </a:p>
        </p:txBody>
      </p:sp>
      <p:sp>
        <p:nvSpPr>
          <p:cNvPr id="12" name="">
            <a:extLst xmlns:a="http://schemas.openxmlformats.org/drawingml/2006/main">
              <a:ext uri="{FF2B5EF4-FFF2-40B4-BE49-F238E27FC236}">
                <a16:creationId xmlns:a16="http://schemas.microsoft.com/office/drawing/2014/main" id="{BA392708-9950-446C-9ADA-FBD2E6F519AB}"/>
              </a:ext>
            </a:extLst>
          </p:cNvPr>
          <p:cNvSpPr>
            <a:spLocks xmlns:a="http://schemas.openxmlformats.org/drawingml/2006/main" noGrp="1"/>
          </p:cNvSpPr>
          <p:nvPr/>
        </p:nvSpPr>
        <p:spPr>
          <a:xfrm xmlns:a="http://schemas.openxmlformats.org/drawingml/2006/main">
            <a:off x="619125" y="3095625"/>
            <a:ext cx="0" cy="0"/>
          </a:xfrm>
          <a:prstGeom xmlns:a="http://schemas.openxmlformats.org/drawingml/2006/main" prst="line">
            <a:avLst/>
          </a:prstGeom>
          <a:noFill xmlns:a="http://schemas.openxmlformats.org/drawingml/2006/main"/>
          <a:ln xmlns:a="http://schemas.openxmlformats.org/drawingml/2006/main" w="19050">
            <a:solidFill>
              <a:srgbClr val="9CB5D5"/>
            </a:solidFill>
            <a:prstDash val="solid"/>
          </a:ln>
        </p:spPr>
      </p:sp>
      <p:sp>
        <p:nvSpPr>
          <p:cNvPr id="13" name="">
            <a:extLst xmlns:a="http://schemas.openxmlformats.org/drawingml/2006/main">
              <a:ext uri="{FF2B5EF4-FFF2-40B4-BE49-F238E27FC236}">
                <a16:creationId xmlns:a16="http://schemas.microsoft.com/office/drawing/2014/main" id="{4AF011EC-1C83-4C78-B335-F8C94918CC8D}"/>
              </a:ext>
            </a:extLst>
          </p:cNvPr>
          <p:cNvSpPr>
            <a:spLocks xmlns:a="http://schemas.openxmlformats.org/drawingml/2006/main" noGrp="1"/>
          </p:cNvSpPr>
          <p:nvPr/>
        </p:nvSpPr>
        <p:spPr>
          <a:xfrm xmlns:a="http://schemas.openxmlformats.org/drawingml/2006/main">
            <a:off x="457200" y="3448050"/>
            <a:ext cx="323850" cy="32385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4" name="">
            <a:extLst xmlns:a="http://schemas.openxmlformats.org/drawingml/2006/main">
              <a:ext uri="{FF2B5EF4-FFF2-40B4-BE49-F238E27FC236}">
                <a16:creationId xmlns:a16="http://schemas.microsoft.com/office/drawing/2014/main" id="{267B03D7-4FFF-4222-8023-4B9CA2C306D3}"/>
              </a:ext>
            </a:extLst>
          </p:cNvPr>
          <p:cNvSpPr>
            <a:spLocks xmlns:a="http://schemas.openxmlformats.org/drawingml/2006/main" noGrp="1"/>
          </p:cNvSpPr>
          <p:nvPr/>
        </p:nvSpPr>
        <p:spPr>
          <a:xfrm xmlns:a="http://schemas.openxmlformats.org/drawingml/2006/main">
            <a:off x="561975" y="3505200"/>
            <a:ext cx="133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125" b="1">
                <a:solidFill>
                  <a:srgbClr val="FFFFFF"/>
                </a:solidFill>
                <a:latin typeface="Helvetica Neue"/>
                <a:ea typeface="Helvetica Neue"/>
                <a:cs typeface="Helvetica Neue"/>
              </a:defRPr>
            </a:pPr>
            <a:r>
              <a:rPr sz="1125" b="1">
                <a:solidFill>
                  <a:srgbClr val="FFFFFF"/>
                </a:solidFill>
                <a:latin typeface="Helvetica Neue"/>
                <a:ea typeface="Helvetica Neue"/>
                <a:cs typeface="Helvetica Neue"/>
              </a:rPr>
              <a:t>3</a:t>
            </a:r>
          </a:p>
        </p:txBody>
      </p:sp>
      <p:sp>
        <p:nvSpPr>
          <p:cNvPr id="15" name="">
            <a:extLst xmlns:a="http://schemas.openxmlformats.org/drawingml/2006/main">
              <a:ext uri="{FF2B5EF4-FFF2-40B4-BE49-F238E27FC236}">
                <a16:creationId xmlns:a16="http://schemas.microsoft.com/office/drawing/2014/main" id="{E878125C-7399-406D-BC38-0734C61BE00C}"/>
              </a:ext>
            </a:extLst>
          </p:cNvPr>
          <p:cNvSpPr>
            <a:spLocks xmlns:a="http://schemas.openxmlformats.org/drawingml/2006/main" noGrp="1"/>
          </p:cNvSpPr>
          <p:nvPr/>
        </p:nvSpPr>
        <p:spPr>
          <a:xfrm xmlns:a="http://schemas.openxmlformats.org/drawingml/2006/main">
            <a:off x="971550" y="3476625"/>
            <a:ext cx="4381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1350" b="0">
                <a:solidFill>
                  <a:srgbClr val="344054"/>
                </a:solidFill>
                <a:latin typeface="Helvetica Neue"/>
                <a:ea typeface="Helvetica Neue"/>
                <a:cs typeface="Helvetica Neue"/>
              </a:defRPr>
            </a:pPr>
            <a:r>
              <a:rPr sz="1350" b="0">
                <a:solidFill>
                  <a:srgbClr val="344054"/>
                </a:solidFill>
                <a:latin typeface="Helvetica Neue"/>
                <a:ea typeface="Helvetica Neue"/>
                <a:cs typeface="Helvetica Neue"/>
              </a:rPr>
              <a:t>Keep the original content, dates, and source location</a:t>
            </a:r>
          </a:p>
        </p:txBody>
      </p:sp>
      <p:sp>
        <p:nvSpPr>
          <p:cNvPr id="16" name="">
            <a:extLst xmlns:a="http://schemas.openxmlformats.org/drawingml/2006/main">
              <a:ext uri="{FF2B5EF4-FFF2-40B4-BE49-F238E27FC236}">
                <a16:creationId xmlns:a16="http://schemas.microsoft.com/office/drawing/2014/main" id="{D7561669-D96D-4F99-AAE4-AE64D61FD29B}"/>
              </a:ext>
            </a:extLst>
          </p:cNvPr>
          <p:cNvSpPr>
            <a:spLocks xmlns:a="http://schemas.openxmlformats.org/drawingml/2006/main" noGrp="1"/>
          </p:cNvSpPr>
          <p:nvPr/>
        </p:nvSpPr>
        <p:spPr>
          <a:xfrm xmlns:a="http://schemas.openxmlformats.org/drawingml/2006/main">
            <a:off x="619125" y="3819525"/>
            <a:ext cx="0" cy="0"/>
          </a:xfrm>
          <a:prstGeom xmlns:a="http://schemas.openxmlformats.org/drawingml/2006/main" prst="line">
            <a:avLst/>
          </a:prstGeom>
          <a:noFill xmlns:a="http://schemas.openxmlformats.org/drawingml/2006/main"/>
          <a:ln xmlns:a="http://schemas.openxmlformats.org/drawingml/2006/main" w="19050">
            <a:solidFill>
              <a:srgbClr val="9CB5D5"/>
            </a:solidFill>
            <a:prstDash val="solid"/>
          </a:ln>
        </p:spPr>
      </p:sp>
      <p:sp>
        <p:nvSpPr>
          <p:cNvPr id="17" name="">
            <a:extLst xmlns:a="http://schemas.openxmlformats.org/drawingml/2006/main">
              <a:ext uri="{FF2B5EF4-FFF2-40B4-BE49-F238E27FC236}">
                <a16:creationId xmlns:a16="http://schemas.microsoft.com/office/drawing/2014/main" id="{5969D8FE-F79D-4F30-8530-3ED39A96BD24}"/>
              </a:ext>
            </a:extLst>
          </p:cNvPr>
          <p:cNvSpPr>
            <a:spLocks xmlns:a="http://schemas.openxmlformats.org/drawingml/2006/main" noGrp="1"/>
          </p:cNvSpPr>
          <p:nvPr/>
        </p:nvSpPr>
        <p:spPr>
          <a:xfrm xmlns:a="http://schemas.openxmlformats.org/drawingml/2006/main">
            <a:off x="457200" y="4171950"/>
            <a:ext cx="323850" cy="32385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8" name="">
            <a:extLst xmlns:a="http://schemas.openxmlformats.org/drawingml/2006/main">
              <a:ext uri="{FF2B5EF4-FFF2-40B4-BE49-F238E27FC236}">
                <a16:creationId xmlns:a16="http://schemas.microsoft.com/office/drawing/2014/main" id="{DE72449E-1384-407C-AC51-A2662CEB52CA}"/>
              </a:ext>
            </a:extLst>
          </p:cNvPr>
          <p:cNvSpPr>
            <a:spLocks xmlns:a="http://schemas.openxmlformats.org/drawingml/2006/main" noGrp="1"/>
          </p:cNvSpPr>
          <p:nvPr/>
        </p:nvSpPr>
        <p:spPr>
          <a:xfrm xmlns:a="http://schemas.openxmlformats.org/drawingml/2006/main">
            <a:off x="561975" y="4229100"/>
            <a:ext cx="133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125" b="1">
                <a:solidFill>
                  <a:srgbClr val="FFFFFF"/>
                </a:solidFill>
                <a:latin typeface="Helvetica Neue"/>
                <a:ea typeface="Helvetica Neue"/>
                <a:cs typeface="Helvetica Neue"/>
              </a:defRPr>
            </a:pPr>
            <a:r>
              <a:rPr sz="1125" b="1">
                <a:solidFill>
                  <a:srgbClr val="FFFFFF"/>
                </a:solidFill>
                <a:latin typeface="Helvetica Neue"/>
                <a:ea typeface="Helvetica Neue"/>
                <a:cs typeface="Helvetica Neue"/>
              </a:rPr>
              <a:t>4</a:t>
            </a:r>
          </a:p>
        </p:txBody>
      </p:sp>
      <p:sp>
        <p:nvSpPr>
          <p:cNvPr id="19" name="">
            <a:extLst xmlns:a="http://schemas.openxmlformats.org/drawingml/2006/main">
              <a:ext uri="{FF2B5EF4-FFF2-40B4-BE49-F238E27FC236}">
                <a16:creationId xmlns:a16="http://schemas.microsoft.com/office/drawing/2014/main" id="{D786C1E8-153D-4E33-BBE6-7D81EB56046E}"/>
              </a:ext>
            </a:extLst>
          </p:cNvPr>
          <p:cNvSpPr>
            <a:spLocks xmlns:a="http://schemas.openxmlformats.org/drawingml/2006/main" noGrp="1"/>
          </p:cNvSpPr>
          <p:nvPr/>
        </p:nvSpPr>
        <p:spPr>
          <a:xfrm xmlns:a="http://schemas.openxmlformats.org/drawingml/2006/main">
            <a:off x="971550" y="4200525"/>
            <a:ext cx="4381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1350" b="0">
                <a:solidFill>
                  <a:srgbClr val="344054"/>
                </a:solidFill>
                <a:latin typeface="Helvetica Neue"/>
                <a:ea typeface="Helvetica Neue"/>
                <a:cs typeface="Helvetica Neue"/>
              </a:defRPr>
            </a:pPr>
            <a:r>
              <a:rPr sz="1350" b="0">
                <a:solidFill>
                  <a:srgbClr val="344054"/>
                </a:solidFill>
                <a:latin typeface="Helvetica Neue"/>
                <a:ea typeface="Helvetica Neue"/>
                <a:cs typeface="Helvetica Neue"/>
              </a:rPr>
              <a:t>Normalize the text and calculate a checksum</a:t>
            </a:r>
          </a:p>
        </p:txBody>
      </p:sp>
      <p:sp>
        <p:nvSpPr>
          <p:cNvPr id="20" name="">
            <a:extLst xmlns:a="http://schemas.openxmlformats.org/drawingml/2006/main">
              <a:ext uri="{FF2B5EF4-FFF2-40B4-BE49-F238E27FC236}">
                <a16:creationId xmlns:a16="http://schemas.microsoft.com/office/drawing/2014/main" id="{FCCB409B-36D1-4D07-8523-93405C75454C}"/>
              </a:ext>
            </a:extLst>
          </p:cNvPr>
          <p:cNvSpPr>
            <a:spLocks xmlns:a="http://schemas.openxmlformats.org/drawingml/2006/main" noGrp="1"/>
          </p:cNvSpPr>
          <p:nvPr/>
        </p:nvSpPr>
        <p:spPr>
          <a:xfrm xmlns:a="http://schemas.openxmlformats.org/drawingml/2006/main">
            <a:off x="619125" y="4543425"/>
            <a:ext cx="0" cy="0"/>
          </a:xfrm>
          <a:prstGeom xmlns:a="http://schemas.openxmlformats.org/drawingml/2006/main" prst="line">
            <a:avLst/>
          </a:prstGeom>
          <a:noFill xmlns:a="http://schemas.openxmlformats.org/drawingml/2006/main"/>
          <a:ln xmlns:a="http://schemas.openxmlformats.org/drawingml/2006/main" w="19050">
            <a:solidFill>
              <a:srgbClr val="9CB5D5"/>
            </a:solidFill>
            <a:prstDash val="solid"/>
          </a:ln>
        </p:spPr>
      </p:sp>
      <p:sp>
        <p:nvSpPr>
          <p:cNvPr id="21" name="">
            <a:extLst xmlns:a="http://schemas.openxmlformats.org/drawingml/2006/main">
              <a:ext uri="{FF2B5EF4-FFF2-40B4-BE49-F238E27FC236}">
                <a16:creationId xmlns:a16="http://schemas.microsoft.com/office/drawing/2014/main" id="{C901AFB4-3CC6-4EF1-99E3-CA08389983BB}"/>
              </a:ext>
            </a:extLst>
          </p:cNvPr>
          <p:cNvSpPr>
            <a:spLocks xmlns:a="http://schemas.openxmlformats.org/drawingml/2006/main" noGrp="1"/>
          </p:cNvSpPr>
          <p:nvPr/>
        </p:nvSpPr>
        <p:spPr>
          <a:xfrm xmlns:a="http://schemas.openxmlformats.org/drawingml/2006/main">
            <a:off x="457200" y="4895850"/>
            <a:ext cx="323850" cy="32385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22" name="">
            <a:extLst xmlns:a="http://schemas.openxmlformats.org/drawingml/2006/main">
              <a:ext uri="{FF2B5EF4-FFF2-40B4-BE49-F238E27FC236}">
                <a16:creationId xmlns:a16="http://schemas.microsoft.com/office/drawing/2014/main" id="{39B717AD-6170-4CFF-BB81-8BC5838DFFBA}"/>
              </a:ext>
            </a:extLst>
          </p:cNvPr>
          <p:cNvSpPr>
            <a:spLocks xmlns:a="http://schemas.openxmlformats.org/drawingml/2006/main" noGrp="1"/>
          </p:cNvSpPr>
          <p:nvPr/>
        </p:nvSpPr>
        <p:spPr>
          <a:xfrm xmlns:a="http://schemas.openxmlformats.org/drawingml/2006/main">
            <a:off x="561975" y="4953000"/>
            <a:ext cx="133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125" b="1">
                <a:solidFill>
                  <a:srgbClr val="FFFFFF"/>
                </a:solidFill>
                <a:latin typeface="Helvetica Neue"/>
                <a:ea typeface="Helvetica Neue"/>
                <a:cs typeface="Helvetica Neue"/>
              </a:defRPr>
            </a:pPr>
            <a:r>
              <a:rPr sz="1125" b="1">
                <a:solidFill>
                  <a:srgbClr val="FFFFFF"/>
                </a:solidFill>
                <a:latin typeface="Helvetica Neue"/>
                <a:ea typeface="Helvetica Neue"/>
                <a:cs typeface="Helvetica Neue"/>
              </a:rPr>
              <a:t>5</a:t>
            </a:r>
          </a:p>
        </p:txBody>
      </p:sp>
      <p:sp>
        <p:nvSpPr>
          <p:cNvPr id="23" name="">
            <a:extLst xmlns:a="http://schemas.openxmlformats.org/drawingml/2006/main">
              <a:ext uri="{FF2B5EF4-FFF2-40B4-BE49-F238E27FC236}">
                <a16:creationId xmlns:a16="http://schemas.microsoft.com/office/drawing/2014/main" id="{28DAAB14-613C-43B8-BDF1-18A66C092515}"/>
              </a:ext>
            </a:extLst>
          </p:cNvPr>
          <p:cNvSpPr>
            <a:spLocks xmlns:a="http://schemas.openxmlformats.org/drawingml/2006/main" noGrp="1"/>
          </p:cNvSpPr>
          <p:nvPr/>
        </p:nvSpPr>
        <p:spPr>
          <a:xfrm xmlns:a="http://schemas.openxmlformats.org/drawingml/2006/main">
            <a:off x="971550" y="4924425"/>
            <a:ext cx="4381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403"/>
          </a:bodyPr>
          <a:lstStyle xmlns:a="http://schemas.openxmlformats.org/drawingml/2006/main"/>
          <a:p xmlns:a="http://schemas.openxmlformats.org/drawingml/2006/main">
            <a:pPr algn="l">
              <a:buNone/>
              <a:defRPr sz="1350" b="0">
                <a:solidFill>
                  <a:srgbClr val="344054"/>
                </a:solidFill>
                <a:latin typeface="Helvetica Neue"/>
                <a:ea typeface="Helvetica Neue"/>
                <a:cs typeface="Helvetica Neue"/>
              </a:defRPr>
            </a:pPr>
            <a:r>
              <a:rPr sz="1350" b="0">
                <a:solidFill>
                  <a:srgbClr val="344054"/>
                </a:solidFill>
                <a:latin typeface="Helvetica Neue"/>
                <a:ea typeface="Helvetica Neue"/>
                <a:cs typeface="Helvetica Neue"/>
              </a:rPr>
              <a:t>Create facts, chunks, search text, and OpenAI embeddings</a:t>
            </a:r>
          </a:p>
        </p:txBody>
      </p:sp>
      <p:sp>
        <p:nvSpPr>
          <p:cNvPr id="24" name="">
            <a:extLst xmlns:a="http://schemas.openxmlformats.org/drawingml/2006/main">
              <a:ext uri="{FF2B5EF4-FFF2-40B4-BE49-F238E27FC236}">
                <a16:creationId xmlns:a16="http://schemas.microsoft.com/office/drawing/2014/main" id="{AE4B2134-0E03-439A-A505-DE179D4F8A78}"/>
              </a:ext>
            </a:extLst>
          </p:cNvPr>
          <p:cNvSpPr>
            <a:spLocks xmlns:a="http://schemas.openxmlformats.org/drawingml/2006/main" noGrp="1"/>
          </p:cNvSpPr>
          <p:nvPr/>
        </p:nvSpPr>
        <p:spPr>
          <a:xfrm xmlns:a="http://schemas.openxmlformats.org/drawingml/2006/main">
            <a:off x="5857875" y="1866900"/>
            <a:ext cx="2571750" cy="3429000"/>
          </a:xfrm>
          <a:prstGeom xmlns:a="http://schemas.openxmlformats.org/drawingml/2006/main" prst="roundRect">
            <a:avLst>
              <a:gd name="adj" fmla="val 6667"/>
            </a:avLst>
          </a:prstGeom>
          <a:solidFill xmlns:a="http://schemas.openxmlformats.org/drawingml/2006/main">
            <a:srgbClr val="FFFFFF"/>
          </a:solidFill>
          <a:ln xmlns:a="http://schemas.openxmlformats.org/drawingml/2006/main" w="9525">
            <a:solidFill>
              <a:srgbClr val="D0D5DD"/>
            </a:solidFill>
            <a:prstDash val="solid"/>
          </a:ln>
        </p:spPr>
      </p:sp>
      <p:sp>
        <p:nvSpPr>
          <p:cNvPr id="25" name="">
            <a:extLst xmlns:a="http://schemas.openxmlformats.org/drawingml/2006/main">
              <a:ext uri="{FF2B5EF4-FFF2-40B4-BE49-F238E27FC236}">
                <a16:creationId xmlns:a16="http://schemas.microsoft.com/office/drawing/2014/main" id="{50B4CBE1-89EE-44EE-983C-A9759975B102}"/>
              </a:ext>
            </a:extLst>
          </p:cNvPr>
          <p:cNvSpPr>
            <a:spLocks xmlns:a="http://schemas.openxmlformats.org/drawingml/2006/main" noGrp="1"/>
          </p:cNvSpPr>
          <p:nvPr/>
        </p:nvSpPr>
        <p:spPr>
          <a:xfrm xmlns:a="http://schemas.openxmlformats.org/drawingml/2006/main">
            <a:off x="6086475" y="2095500"/>
            <a:ext cx="1466850" cy="285750"/>
          </a:xfrm>
          <a:prstGeom xmlns:a="http://schemas.openxmlformats.org/drawingml/2006/main" prst="roundRect">
            <a:avLst>
              <a:gd name="adj" fmla="val 50000"/>
            </a:avLst>
          </a:prstGeom>
          <a:solidFill xmlns:a="http://schemas.openxmlformats.org/drawingml/2006/main">
            <a:srgbClr val="E8F0FB"/>
          </a:solidFill>
          <a:ln xmlns:a="http://schemas.openxmlformats.org/drawingml/2006/main" w="9525">
            <a:solidFill>
              <a:srgbClr val="9CB5D5"/>
            </a:solidFill>
            <a:prstDash val="solid"/>
          </a:ln>
        </p:spPr>
      </p:sp>
      <p:sp>
        <p:nvSpPr>
          <p:cNvPr id="26" name="">
            <a:extLst xmlns:a="http://schemas.openxmlformats.org/drawingml/2006/main">
              <a:ext uri="{FF2B5EF4-FFF2-40B4-BE49-F238E27FC236}">
                <a16:creationId xmlns:a16="http://schemas.microsoft.com/office/drawing/2014/main" id="{65E29143-C486-4B9C-992D-E9D30EFD7418}"/>
              </a:ext>
            </a:extLst>
          </p:cNvPr>
          <p:cNvSpPr>
            <a:spLocks xmlns:a="http://schemas.openxmlformats.org/drawingml/2006/main" noGrp="1"/>
          </p:cNvSpPr>
          <p:nvPr/>
        </p:nvSpPr>
        <p:spPr>
          <a:xfrm xmlns:a="http://schemas.openxmlformats.org/drawingml/2006/main">
            <a:off x="6200775" y="2143125"/>
            <a:ext cx="12382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STRUCTURED</a:t>
            </a:r>
          </a:p>
        </p:txBody>
      </p:sp>
      <p:sp>
        <p:nvSpPr>
          <p:cNvPr id="27" name="">
            <a:extLst xmlns:a="http://schemas.openxmlformats.org/drawingml/2006/main">
              <a:ext uri="{FF2B5EF4-FFF2-40B4-BE49-F238E27FC236}">
                <a16:creationId xmlns:a16="http://schemas.microsoft.com/office/drawing/2014/main" id="{DFDCA77A-5E0E-43A6-BB0A-56BF2DE0DC4A}"/>
              </a:ext>
            </a:extLst>
          </p:cNvPr>
          <p:cNvSpPr>
            <a:spLocks xmlns:a="http://schemas.openxmlformats.org/drawingml/2006/main" noGrp="1"/>
          </p:cNvSpPr>
          <p:nvPr/>
        </p:nvSpPr>
        <p:spPr>
          <a:xfrm xmlns:a="http://schemas.openxmlformats.org/drawingml/2006/main">
            <a:off x="6086475" y="2695575"/>
            <a:ext cx="76200" cy="762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28" name="">
            <a:extLst xmlns:a="http://schemas.openxmlformats.org/drawingml/2006/main">
              <a:ext uri="{FF2B5EF4-FFF2-40B4-BE49-F238E27FC236}">
                <a16:creationId xmlns:a16="http://schemas.microsoft.com/office/drawing/2014/main" id="{6B7F2038-5230-4C6D-B7BE-2F1B21A08219}"/>
              </a:ext>
            </a:extLst>
          </p:cNvPr>
          <p:cNvSpPr>
            <a:spLocks xmlns:a="http://schemas.openxmlformats.org/drawingml/2006/main" noGrp="1"/>
          </p:cNvSpPr>
          <p:nvPr/>
        </p:nvSpPr>
        <p:spPr>
          <a:xfrm xmlns:a="http://schemas.openxmlformats.org/drawingml/2006/main">
            <a:off x="6296025" y="2628900"/>
            <a:ext cx="18859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185"/>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Companies and relationships</a:t>
            </a:r>
          </a:p>
        </p:txBody>
      </p:sp>
      <p:sp>
        <p:nvSpPr>
          <p:cNvPr id="29" name="">
            <a:extLst xmlns:a="http://schemas.openxmlformats.org/drawingml/2006/main">
              <a:ext uri="{FF2B5EF4-FFF2-40B4-BE49-F238E27FC236}">
                <a16:creationId xmlns:a16="http://schemas.microsoft.com/office/drawing/2014/main" id="{5D0A1E6A-DDE2-4B51-9CA3-BB600382FAFD}"/>
              </a:ext>
            </a:extLst>
          </p:cNvPr>
          <p:cNvSpPr>
            <a:spLocks xmlns:a="http://schemas.openxmlformats.org/drawingml/2006/main" noGrp="1"/>
          </p:cNvSpPr>
          <p:nvPr/>
        </p:nvSpPr>
        <p:spPr>
          <a:xfrm xmlns:a="http://schemas.openxmlformats.org/drawingml/2006/main">
            <a:off x="6086475" y="3209925"/>
            <a:ext cx="76200" cy="762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30" name="">
            <a:extLst xmlns:a="http://schemas.openxmlformats.org/drawingml/2006/main">
              <a:ext uri="{FF2B5EF4-FFF2-40B4-BE49-F238E27FC236}">
                <a16:creationId xmlns:a16="http://schemas.microsoft.com/office/drawing/2014/main" id="{8C9C2D3B-3862-47DC-8DCC-CDD999C31758}"/>
              </a:ext>
            </a:extLst>
          </p:cNvPr>
          <p:cNvSpPr>
            <a:spLocks xmlns:a="http://schemas.openxmlformats.org/drawingml/2006/main" noGrp="1"/>
          </p:cNvSpPr>
          <p:nvPr/>
        </p:nvSpPr>
        <p:spPr>
          <a:xfrm xmlns:a="http://schemas.openxmlformats.org/drawingml/2006/main">
            <a:off x="6296025" y="3143250"/>
            <a:ext cx="18859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974"/>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Facts, values, and dates</a:t>
            </a:r>
          </a:p>
        </p:txBody>
      </p:sp>
      <p:sp>
        <p:nvSpPr>
          <p:cNvPr id="31" name="">
            <a:extLst xmlns:a="http://schemas.openxmlformats.org/drawingml/2006/main">
              <a:ext uri="{FF2B5EF4-FFF2-40B4-BE49-F238E27FC236}">
                <a16:creationId xmlns:a16="http://schemas.microsoft.com/office/drawing/2014/main" id="{F482ED8D-B68B-44E4-87AC-903197BE6FCE}"/>
              </a:ext>
            </a:extLst>
          </p:cNvPr>
          <p:cNvSpPr>
            <a:spLocks xmlns:a="http://schemas.openxmlformats.org/drawingml/2006/main" noGrp="1"/>
          </p:cNvSpPr>
          <p:nvPr/>
        </p:nvSpPr>
        <p:spPr>
          <a:xfrm xmlns:a="http://schemas.openxmlformats.org/drawingml/2006/main">
            <a:off x="6086475" y="3724275"/>
            <a:ext cx="76200" cy="762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32" name="">
            <a:extLst xmlns:a="http://schemas.openxmlformats.org/drawingml/2006/main">
              <a:ext uri="{FF2B5EF4-FFF2-40B4-BE49-F238E27FC236}">
                <a16:creationId xmlns:a16="http://schemas.microsoft.com/office/drawing/2014/main" id="{D94107E3-D67A-4E88-B122-31CFD386E0DA}"/>
              </a:ext>
            </a:extLst>
          </p:cNvPr>
          <p:cNvSpPr>
            <a:spLocks xmlns:a="http://schemas.openxmlformats.org/drawingml/2006/main" noGrp="1"/>
          </p:cNvSpPr>
          <p:nvPr/>
        </p:nvSpPr>
        <p:spPr>
          <a:xfrm xmlns:a="http://schemas.openxmlformats.org/drawingml/2006/main">
            <a:off x="6296025" y="3657600"/>
            <a:ext cx="18859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118"/>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Source identity and verification data</a:t>
            </a:r>
          </a:p>
        </p:txBody>
      </p:sp>
      <p:sp>
        <p:nvSpPr>
          <p:cNvPr id="33" name="">
            <a:extLst xmlns:a="http://schemas.openxmlformats.org/drawingml/2006/main">
              <a:ext uri="{FF2B5EF4-FFF2-40B4-BE49-F238E27FC236}">
                <a16:creationId xmlns:a16="http://schemas.microsoft.com/office/drawing/2014/main" id="{59FA7323-BC67-4C89-AEB0-3B13FB5C5ADD}"/>
              </a:ext>
            </a:extLst>
          </p:cNvPr>
          <p:cNvSpPr>
            <a:spLocks xmlns:a="http://schemas.openxmlformats.org/drawingml/2006/main" noGrp="1"/>
          </p:cNvSpPr>
          <p:nvPr/>
        </p:nvSpPr>
        <p:spPr>
          <a:xfrm xmlns:a="http://schemas.openxmlformats.org/drawingml/2006/main">
            <a:off x="6086475" y="4352925"/>
            <a:ext cx="76200" cy="762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34" name="">
            <a:extLst xmlns:a="http://schemas.openxmlformats.org/drawingml/2006/main">
              <a:ext uri="{FF2B5EF4-FFF2-40B4-BE49-F238E27FC236}">
                <a16:creationId xmlns:a16="http://schemas.microsoft.com/office/drawing/2014/main" id="{1259E530-E8A2-41EA-8346-C57BFB7E85BB}"/>
              </a:ext>
            </a:extLst>
          </p:cNvPr>
          <p:cNvSpPr>
            <a:spLocks xmlns:a="http://schemas.openxmlformats.org/drawingml/2006/main" noGrp="1"/>
          </p:cNvSpPr>
          <p:nvPr/>
        </p:nvSpPr>
        <p:spPr>
          <a:xfrm xmlns:a="http://schemas.openxmlformats.org/drawingml/2006/main">
            <a:off x="6296025" y="4286250"/>
            <a:ext cx="18859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8326"/>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Brief runs and feedback</a:t>
            </a:r>
          </a:p>
        </p:txBody>
      </p:sp>
      <p:sp>
        <p:nvSpPr>
          <p:cNvPr id="35" name="">
            <a:extLst xmlns:a="http://schemas.openxmlformats.org/drawingml/2006/main">
              <a:ext uri="{FF2B5EF4-FFF2-40B4-BE49-F238E27FC236}">
                <a16:creationId xmlns:a16="http://schemas.microsoft.com/office/drawing/2014/main" id="{008F0A80-4D98-430F-966E-9CC4CF3626B3}"/>
              </a:ext>
            </a:extLst>
          </p:cNvPr>
          <p:cNvSpPr>
            <a:spLocks xmlns:a="http://schemas.openxmlformats.org/drawingml/2006/main" noGrp="1"/>
          </p:cNvSpPr>
          <p:nvPr/>
        </p:nvSpPr>
        <p:spPr>
          <a:xfrm xmlns:a="http://schemas.openxmlformats.org/drawingml/2006/main">
            <a:off x="8667750" y="1866900"/>
            <a:ext cx="2647950" cy="3429000"/>
          </a:xfrm>
          <a:prstGeom xmlns:a="http://schemas.openxmlformats.org/drawingml/2006/main" prst="roundRect">
            <a:avLst>
              <a:gd name="adj" fmla="val 6475"/>
            </a:avLst>
          </a:prstGeom>
          <a:solidFill xmlns:a="http://schemas.openxmlformats.org/drawingml/2006/main">
            <a:srgbClr val="E8F0FB"/>
          </a:solidFill>
          <a:ln xmlns:a="http://schemas.openxmlformats.org/drawingml/2006/main" w="9525">
            <a:solidFill>
              <a:srgbClr val="9CB5D5"/>
            </a:solidFill>
            <a:prstDash val="solid"/>
          </a:ln>
        </p:spPr>
      </p:sp>
      <p:sp>
        <p:nvSpPr>
          <p:cNvPr id="36" name="">
            <a:extLst xmlns:a="http://schemas.openxmlformats.org/drawingml/2006/main">
              <a:ext uri="{FF2B5EF4-FFF2-40B4-BE49-F238E27FC236}">
                <a16:creationId xmlns:a16="http://schemas.microsoft.com/office/drawing/2014/main" id="{9C168A5B-B590-44D1-B806-F5F395BC196C}"/>
              </a:ext>
            </a:extLst>
          </p:cNvPr>
          <p:cNvSpPr>
            <a:spLocks xmlns:a="http://schemas.openxmlformats.org/drawingml/2006/main" noGrp="1"/>
          </p:cNvSpPr>
          <p:nvPr/>
        </p:nvSpPr>
        <p:spPr>
          <a:xfrm xmlns:a="http://schemas.openxmlformats.org/drawingml/2006/main">
            <a:off x="8896350" y="2095500"/>
            <a:ext cx="1714500" cy="285750"/>
          </a:xfrm>
          <a:prstGeom xmlns:a="http://schemas.openxmlformats.org/drawingml/2006/main" prst="roundRect">
            <a:avLst>
              <a:gd name="adj" fmla="val 50000"/>
            </a:avLst>
          </a:prstGeom>
          <a:solidFill xmlns:a="http://schemas.openxmlformats.org/drawingml/2006/main">
            <a:srgbClr val="FFFFFF"/>
          </a:solidFill>
          <a:ln xmlns:a="http://schemas.openxmlformats.org/drawingml/2006/main" w="9525">
            <a:solidFill>
              <a:srgbClr val="9CB5D5"/>
            </a:solidFill>
            <a:prstDash val="solid"/>
          </a:ln>
        </p:spPr>
      </p:sp>
      <p:sp>
        <p:nvSpPr>
          <p:cNvPr id="37" name="">
            <a:extLst xmlns:a="http://schemas.openxmlformats.org/drawingml/2006/main">
              <a:ext uri="{FF2B5EF4-FFF2-40B4-BE49-F238E27FC236}">
                <a16:creationId xmlns:a16="http://schemas.microsoft.com/office/drawing/2014/main" id="{202E3F51-1461-462E-A2C6-5F8626BC9D9C}"/>
              </a:ext>
            </a:extLst>
          </p:cNvPr>
          <p:cNvSpPr>
            <a:spLocks xmlns:a="http://schemas.openxmlformats.org/drawingml/2006/main" noGrp="1"/>
          </p:cNvSpPr>
          <p:nvPr/>
        </p:nvSpPr>
        <p:spPr>
          <a:xfrm xmlns:a="http://schemas.openxmlformats.org/drawingml/2006/main">
            <a:off x="9010650" y="2143125"/>
            <a:ext cx="14859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UNSTRUCTURED</a:t>
            </a:r>
          </a:p>
        </p:txBody>
      </p:sp>
      <p:sp>
        <p:nvSpPr>
          <p:cNvPr id="38" name="">
            <a:extLst xmlns:a="http://schemas.openxmlformats.org/drawingml/2006/main">
              <a:ext uri="{FF2B5EF4-FFF2-40B4-BE49-F238E27FC236}">
                <a16:creationId xmlns:a16="http://schemas.microsoft.com/office/drawing/2014/main" id="{B502E35D-8EB6-40A1-908B-46F01167CEE2}"/>
              </a:ext>
            </a:extLst>
          </p:cNvPr>
          <p:cNvSpPr>
            <a:spLocks xmlns:a="http://schemas.openxmlformats.org/drawingml/2006/main" noGrp="1"/>
          </p:cNvSpPr>
          <p:nvPr/>
        </p:nvSpPr>
        <p:spPr>
          <a:xfrm xmlns:a="http://schemas.openxmlformats.org/drawingml/2006/main">
            <a:off x="8896350" y="2695575"/>
            <a:ext cx="76200" cy="762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39" name="">
            <a:extLst xmlns:a="http://schemas.openxmlformats.org/drawingml/2006/main">
              <a:ext uri="{FF2B5EF4-FFF2-40B4-BE49-F238E27FC236}">
                <a16:creationId xmlns:a16="http://schemas.microsoft.com/office/drawing/2014/main" id="{24C4359B-11DC-4514-982F-3577788DC549}"/>
              </a:ext>
            </a:extLst>
          </p:cNvPr>
          <p:cNvSpPr>
            <a:spLocks xmlns:a="http://schemas.openxmlformats.org/drawingml/2006/main" noGrp="1"/>
          </p:cNvSpPr>
          <p:nvPr/>
        </p:nvSpPr>
        <p:spPr>
          <a:xfrm xmlns:a="http://schemas.openxmlformats.org/drawingml/2006/main">
            <a:off x="9105900" y="2628900"/>
            <a:ext cx="1981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3168"/>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Original JSON and Markdown</a:t>
            </a:r>
          </a:p>
        </p:txBody>
      </p:sp>
      <p:sp>
        <p:nvSpPr>
          <p:cNvPr id="40" name="">
            <a:extLst xmlns:a="http://schemas.openxmlformats.org/drawingml/2006/main">
              <a:ext uri="{FF2B5EF4-FFF2-40B4-BE49-F238E27FC236}">
                <a16:creationId xmlns:a16="http://schemas.microsoft.com/office/drawing/2014/main" id="{FAA29960-54C0-4E28-8FBC-E7E6FFDFF2F7}"/>
              </a:ext>
            </a:extLst>
          </p:cNvPr>
          <p:cNvSpPr>
            <a:spLocks xmlns:a="http://schemas.openxmlformats.org/drawingml/2006/main" noGrp="1"/>
          </p:cNvSpPr>
          <p:nvPr/>
        </p:nvSpPr>
        <p:spPr>
          <a:xfrm xmlns:a="http://schemas.openxmlformats.org/drawingml/2006/main">
            <a:off x="8896350" y="3209925"/>
            <a:ext cx="76200" cy="762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41" name="">
            <a:extLst xmlns:a="http://schemas.openxmlformats.org/drawingml/2006/main">
              <a:ext uri="{FF2B5EF4-FFF2-40B4-BE49-F238E27FC236}">
                <a16:creationId xmlns:a16="http://schemas.microsoft.com/office/drawing/2014/main" id="{7702A8CE-DF25-4A6F-A9FC-D7D0911E0A49}"/>
              </a:ext>
            </a:extLst>
          </p:cNvPr>
          <p:cNvSpPr>
            <a:spLocks xmlns:a="http://schemas.openxmlformats.org/drawingml/2006/main" noGrp="1"/>
          </p:cNvSpPr>
          <p:nvPr/>
        </p:nvSpPr>
        <p:spPr>
          <a:xfrm xmlns:a="http://schemas.openxmlformats.org/drawingml/2006/main">
            <a:off x="9105900" y="3143250"/>
            <a:ext cx="1981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Normalized source text</a:t>
            </a:r>
          </a:p>
        </p:txBody>
      </p:sp>
      <p:sp>
        <p:nvSpPr>
          <p:cNvPr id="42" name="">
            <a:extLst xmlns:a="http://schemas.openxmlformats.org/drawingml/2006/main">
              <a:ext uri="{FF2B5EF4-FFF2-40B4-BE49-F238E27FC236}">
                <a16:creationId xmlns:a16="http://schemas.microsoft.com/office/drawing/2014/main" id="{298CF7C7-3CD4-4558-BDC0-52F948A4E676}"/>
              </a:ext>
            </a:extLst>
          </p:cNvPr>
          <p:cNvSpPr>
            <a:spLocks xmlns:a="http://schemas.openxmlformats.org/drawingml/2006/main" noGrp="1"/>
          </p:cNvSpPr>
          <p:nvPr/>
        </p:nvSpPr>
        <p:spPr>
          <a:xfrm xmlns:a="http://schemas.openxmlformats.org/drawingml/2006/main">
            <a:off x="8896350" y="3724275"/>
            <a:ext cx="76200" cy="762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43" name="">
            <a:extLst xmlns:a="http://schemas.openxmlformats.org/drawingml/2006/main">
              <a:ext uri="{FF2B5EF4-FFF2-40B4-BE49-F238E27FC236}">
                <a16:creationId xmlns:a16="http://schemas.microsoft.com/office/drawing/2014/main" id="{C7BE4148-2E18-44CF-B9F2-A708B72C673B}"/>
              </a:ext>
            </a:extLst>
          </p:cNvPr>
          <p:cNvSpPr>
            <a:spLocks xmlns:a="http://schemas.openxmlformats.org/drawingml/2006/main" noGrp="1"/>
          </p:cNvSpPr>
          <p:nvPr/>
        </p:nvSpPr>
        <p:spPr>
          <a:xfrm xmlns:a="http://schemas.openxmlformats.org/drawingml/2006/main">
            <a:off x="9105900" y="3657600"/>
            <a:ext cx="1981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609"/>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Text chunks and search text</a:t>
            </a:r>
          </a:p>
        </p:txBody>
      </p:sp>
      <p:sp>
        <p:nvSpPr>
          <p:cNvPr id="44" name="">
            <a:extLst xmlns:a="http://schemas.openxmlformats.org/drawingml/2006/main">
              <a:ext uri="{FF2B5EF4-FFF2-40B4-BE49-F238E27FC236}">
                <a16:creationId xmlns:a16="http://schemas.microsoft.com/office/drawing/2014/main" id="{D364477A-E7B2-485F-B991-59280566C2C4}"/>
              </a:ext>
            </a:extLst>
          </p:cNvPr>
          <p:cNvSpPr>
            <a:spLocks xmlns:a="http://schemas.openxmlformats.org/drawingml/2006/main" noGrp="1"/>
          </p:cNvSpPr>
          <p:nvPr/>
        </p:nvSpPr>
        <p:spPr>
          <a:xfrm xmlns:a="http://schemas.openxmlformats.org/drawingml/2006/main">
            <a:off x="8896350" y="4238625"/>
            <a:ext cx="76200" cy="762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45" name="">
            <a:extLst xmlns:a="http://schemas.openxmlformats.org/drawingml/2006/main">
              <a:ext uri="{FF2B5EF4-FFF2-40B4-BE49-F238E27FC236}">
                <a16:creationId xmlns:a16="http://schemas.microsoft.com/office/drawing/2014/main" id="{F2169384-31B1-4D6C-A1AB-F5694A39F46F}"/>
              </a:ext>
            </a:extLst>
          </p:cNvPr>
          <p:cNvSpPr>
            <a:spLocks xmlns:a="http://schemas.openxmlformats.org/drawingml/2006/main" noGrp="1"/>
          </p:cNvSpPr>
          <p:nvPr/>
        </p:nvSpPr>
        <p:spPr>
          <a:xfrm xmlns:a="http://schemas.openxmlformats.org/drawingml/2006/main">
            <a:off x="9105900" y="4171950"/>
            <a:ext cx="19812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OpenAI embeddings</a:t>
            </a:r>
          </a:p>
        </p:txBody>
      </p:sp>
      <p:sp>
        <p:nvSpPr>
          <p:cNvPr id="46" name="">
            <a:extLst xmlns:a="http://schemas.openxmlformats.org/drawingml/2006/main">
              <a:ext uri="{FF2B5EF4-FFF2-40B4-BE49-F238E27FC236}">
                <a16:creationId xmlns:a16="http://schemas.microsoft.com/office/drawing/2014/main" id="{8B7D4F15-8AAA-4EBF-AFFB-776DC5EA727A}"/>
              </a:ext>
            </a:extLst>
          </p:cNvPr>
          <p:cNvSpPr>
            <a:spLocks xmlns:a="http://schemas.openxmlformats.org/drawingml/2006/main" noGrp="1"/>
          </p:cNvSpPr>
          <p:nvPr/>
        </p:nvSpPr>
        <p:spPr>
          <a:xfrm xmlns:a="http://schemas.openxmlformats.org/drawingml/2006/main">
            <a:off x="5857875" y="5524500"/>
            <a:ext cx="54578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975"/>
          </a:bodyPr>
          <a:lstStyle xmlns:a="http://schemas.openxmlformats.org/drawingml/2006/main"/>
          <a:p xmlns:a="http://schemas.openxmlformats.org/drawingml/2006/main">
            <a:pPr algn="l">
              <a:buNone/>
              <a:defRPr sz="120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Checksums and embedding fingerprints avoid duplicates and repeat API calls. Production also needs authenticated connectors, incremental import, deletion handling, schedules, and access rules.</a:t>
            </a:r>
          </a:p>
        </p:txBody>
      </p:sp>
    </p:spTree>
    <p:extLst>
      <p:ext uri="{BB962C8B-B14F-4D97-AF65-F5344CB8AC3E}">
        <p14:creationId xmlns:p14="http://schemas.microsoft.com/office/powerpoint/2010/main" val="1181973846"/>
      </p:ext>
    </p:extLst>
  </p:cSld>
</p:sld>
</file>

<file path=ppt/slides/slide7.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08B507DB-8CD7-43CA-AF84-401CDAD0E8E0}"/>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2700" b="1">
                <a:solidFill>
                  <a:srgbClr val="101828"/>
                </a:solidFill>
                <a:latin typeface="Helvetica Neue"/>
                <a:ea typeface="Helvetica Neue"/>
                <a:cs typeface="Helvetica Neue"/>
              </a:rPr>
              <a:t>How does the current app retrieve and write the brief?</a:t>
            </a:r>
          </a:p>
        </p:txBody>
      </p:sp>
      <p:sp>
        <p:nvSpPr>
          <p:cNvPr id="2" name="">
            <a:extLst xmlns:a="http://schemas.openxmlformats.org/drawingml/2006/main">
              <a:ext uri="{FF2B5EF4-FFF2-40B4-BE49-F238E27FC236}">
                <a16:creationId xmlns:a16="http://schemas.microsoft.com/office/drawing/2014/main" id="{B1CA7E82-BED4-4D5B-A311-0E86E2F4B287}"/>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97846247-13EC-46D6-81CE-457BD834D1F8}"/>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07</a:t>
            </a:r>
          </a:p>
        </p:txBody>
      </p:sp>
      <p:sp>
        <p:nvSpPr>
          <p:cNvPr id="4" name="">
            <a:extLst xmlns:a="http://schemas.openxmlformats.org/drawingml/2006/main">
              <a:ext uri="{FF2B5EF4-FFF2-40B4-BE49-F238E27FC236}">
                <a16:creationId xmlns:a16="http://schemas.microsoft.com/office/drawing/2014/main" id="{DDECACC8-F2C1-411F-97A9-DA439288F3AA}"/>
              </a:ext>
            </a:extLst>
          </p:cNvPr>
          <p:cNvSpPr>
            <a:spLocks xmlns:a="http://schemas.openxmlformats.org/drawingml/2006/main" noGrp="1"/>
          </p:cNvSpPr>
          <p:nvPr/>
        </p:nvSpPr>
        <p:spPr>
          <a:xfrm xmlns:a="http://schemas.openxmlformats.org/drawingml/2006/main">
            <a:off x="457200" y="1428750"/>
            <a:ext cx="9334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333"/>
          </a:bodyPr>
          <a:lstStyle xmlns:a="http://schemas.openxmlformats.org/drawingml/2006/main"/>
          <a:p xmlns:a="http://schemas.openxmlformats.org/drawingml/2006/main">
            <a:pPr algn="l">
              <a:buNone/>
              <a:defRPr sz="1500" b="1">
                <a:solidFill>
                  <a:srgbClr val="344054"/>
                </a:solidFill>
                <a:latin typeface="Helvetica Neue"/>
                <a:ea typeface="Helvetica Neue"/>
                <a:cs typeface="Helvetica Neue"/>
              </a:defRPr>
            </a:pPr>
            <a:r>
              <a:rPr sz="1500" b="1">
                <a:solidFill>
                  <a:srgbClr val="344054"/>
                </a:solidFill>
                <a:latin typeface="Helvetica Neue"/>
                <a:ea typeface="Helvetica Neue"/>
                <a:cs typeface="Helvetica Neue"/>
              </a:rPr>
              <a:t>The company filter runs first. The system ranks only evidence for the selected company.</a:t>
            </a:r>
          </a:p>
        </p:txBody>
      </p:sp>
      <p:sp>
        <p:nvSpPr>
          <p:cNvPr id="5" name="">
            <a:extLst xmlns:a="http://schemas.openxmlformats.org/drawingml/2006/main">
              <a:ext uri="{FF2B5EF4-FFF2-40B4-BE49-F238E27FC236}">
                <a16:creationId xmlns:a16="http://schemas.microsoft.com/office/drawing/2014/main" id="{D534A572-86CD-4E7B-91AF-F52BC05AAD8C}"/>
              </a:ext>
            </a:extLst>
          </p:cNvPr>
          <p:cNvSpPr>
            <a:spLocks xmlns:a="http://schemas.openxmlformats.org/drawingml/2006/main" noGrp="1"/>
          </p:cNvSpPr>
          <p:nvPr/>
        </p:nvSpPr>
        <p:spPr>
          <a:xfrm xmlns:a="http://schemas.openxmlformats.org/drawingml/2006/main">
            <a:off x="457200" y="1924050"/>
            <a:ext cx="2095500" cy="285750"/>
          </a:xfrm>
          <a:prstGeom xmlns:a="http://schemas.openxmlformats.org/drawingml/2006/main" prst="roundRect">
            <a:avLst>
              <a:gd name="adj" fmla="val 50000"/>
            </a:avLst>
          </a:prstGeom>
          <a:solidFill xmlns:a="http://schemas.openxmlformats.org/drawingml/2006/main">
            <a:srgbClr val="FEF3F2"/>
          </a:solidFill>
          <a:ln xmlns:a="http://schemas.openxmlformats.org/drawingml/2006/main" w="9525">
            <a:solidFill>
              <a:srgbClr val="F3B3AE"/>
            </a:solidFill>
            <a:prstDash val="solid"/>
          </a:ln>
        </p:spPr>
      </p:sp>
      <p:sp>
        <p:nvSpPr>
          <p:cNvPr id="6" name="">
            <a:extLst xmlns:a="http://schemas.openxmlformats.org/drawingml/2006/main">
              <a:ext uri="{FF2B5EF4-FFF2-40B4-BE49-F238E27FC236}">
                <a16:creationId xmlns:a16="http://schemas.microsoft.com/office/drawing/2014/main" id="{DAA6E833-E2EA-4DC2-9D44-6C233F923C93}"/>
              </a:ext>
            </a:extLst>
          </p:cNvPr>
          <p:cNvSpPr>
            <a:spLocks xmlns:a="http://schemas.openxmlformats.org/drawingml/2006/main" noGrp="1"/>
          </p:cNvSpPr>
          <p:nvPr/>
        </p:nvSpPr>
        <p:spPr>
          <a:xfrm xmlns:a="http://schemas.openxmlformats.org/drawingml/2006/main">
            <a:off x="571500" y="1971675"/>
            <a:ext cx="18669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857"/>
          </a:bodyPr>
          <a:lstStyle xmlns:a="http://schemas.openxmlformats.org/drawingml/2006/main"/>
          <a:p xmlns:a="http://schemas.openxmlformats.org/drawingml/2006/main">
            <a:pPr algn="l">
              <a:buNone/>
              <a:defRPr sz="1050" b="1">
                <a:solidFill>
                  <a:srgbClr val="B42318"/>
                </a:solidFill>
                <a:latin typeface="Helvetica Neue"/>
                <a:ea typeface="Helvetica Neue"/>
                <a:cs typeface="Helvetica Neue"/>
              </a:defRPr>
            </a:pPr>
            <a:r>
              <a:rPr sz="1050" b="1">
                <a:solidFill>
                  <a:srgbClr val="B42318"/>
                </a:solidFill>
                <a:latin typeface="Helvetica Neue"/>
                <a:ea typeface="Helvetica Neue"/>
                <a:cs typeface="Helvetica Neue"/>
              </a:rPr>
              <a:t>1  HARD COMPANY FILTER</a:t>
            </a:r>
          </a:p>
        </p:txBody>
      </p:sp>
      <p:sp>
        <p:nvSpPr>
          <p:cNvPr id="7" name="">
            <a:extLst xmlns:a="http://schemas.openxmlformats.org/drawingml/2006/main">
              <a:ext uri="{FF2B5EF4-FFF2-40B4-BE49-F238E27FC236}">
                <a16:creationId xmlns:a16="http://schemas.microsoft.com/office/drawing/2014/main" id="{5873C146-5687-495D-B6D4-270B5F4B2F34}"/>
              </a:ext>
            </a:extLst>
          </p:cNvPr>
          <p:cNvSpPr>
            <a:spLocks xmlns:a="http://schemas.openxmlformats.org/drawingml/2006/main" noGrp="1"/>
          </p:cNvSpPr>
          <p:nvPr/>
        </p:nvSpPr>
        <p:spPr>
          <a:xfrm xmlns:a="http://schemas.openxmlformats.org/drawingml/2006/main">
            <a:off x="2495550" y="1971675"/>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2  Rank up to 30 records with initial heuristics</a:t>
            </a:r>
          </a:p>
        </p:txBody>
      </p:sp>
      <p:sp>
        <p:nvSpPr>
          <p:cNvPr id="8" name="">
            <a:extLst xmlns:a="http://schemas.openxmlformats.org/drawingml/2006/main">
              <a:ext uri="{FF2B5EF4-FFF2-40B4-BE49-F238E27FC236}">
                <a16:creationId xmlns:a16="http://schemas.microsoft.com/office/drawing/2014/main" id="{98BD67A4-A694-49BA-BDC9-40B6EEEFEB17}"/>
              </a:ext>
            </a:extLst>
          </p:cNvPr>
          <p:cNvSpPr>
            <a:spLocks xmlns:a="http://schemas.openxmlformats.org/drawingml/2006/main" noGrp="1"/>
          </p:cNvSpPr>
          <p:nvPr/>
        </p:nvSpPr>
        <p:spPr>
          <a:xfrm xmlns:a="http://schemas.openxmlformats.org/drawingml/2006/main">
            <a:off x="457200" y="2571750"/>
            <a:ext cx="4126230" cy="609600"/>
          </a:xfrm>
          <a:prstGeom xmlns:a="http://schemas.openxmlformats.org/drawingml/2006/main" prst="roundRect">
            <a:avLst>
              <a:gd name="adj" fmla="val 18750"/>
            </a:avLst>
          </a:prstGeom>
          <a:solidFill xmlns:a="http://schemas.openxmlformats.org/drawingml/2006/main">
            <a:srgbClr val="315F9F"/>
          </a:solidFill>
          <a:ln xmlns:a="http://schemas.openxmlformats.org/drawingml/2006/main" w="9525">
            <a:solidFill>
              <a:srgbClr val="315F9F"/>
            </a:solidFill>
            <a:prstDash val="solid"/>
          </a:ln>
        </p:spPr>
      </p:sp>
      <p:sp>
        <p:nvSpPr>
          <p:cNvPr id="9" name="">
            <a:extLst xmlns:a="http://schemas.openxmlformats.org/drawingml/2006/main">
              <a:ext uri="{FF2B5EF4-FFF2-40B4-BE49-F238E27FC236}">
                <a16:creationId xmlns:a16="http://schemas.microsoft.com/office/drawing/2014/main" id="{2C3E8CC8-CCA6-49D6-97DA-BBF21F281A47}"/>
              </a:ext>
            </a:extLst>
          </p:cNvPr>
          <p:cNvSpPr>
            <a:spLocks xmlns:a="http://schemas.openxmlformats.org/drawingml/2006/main" noGrp="1"/>
          </p:cNvSpPr>
          <p:nvPr/>
        </p:nvSpPr>
        <p:spPr>
          <a:xfrm xmlns:a="http://schemas.openxmlformats.org/drawingml/2006/main">
            <a:off x="590550" y="2752725"/>
            <a:ext cx="385953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FFFFFF"/>
                </a:solidFill>
                <a:latin typeface="Helvetica Neue"/>
                <a:ea typeface="Helvetica Neue"/>
                <a:cs typeface="Helvetica Neue"/>
              </a:defRPr>
            </a:pPr>
            <a:r>
              <a:rPr sz="1275" b="1">
                <a:solidFill>
                  <a:srgbClr val="FFFFFF"/>
                </a:solidFill>
                <a:latin typeface="Helvetica Neue"/>
                <a:ea typeface="Helvetica Neue"/>
                <a:cs typeface="Helvetica Neue"/>
              </a:rPr>
              <a:t>38% text match</a:t>
            </a:r>
          </a:p>
        </p:txBody>
      </p:sp>
      <p:sp>
        <p:nvSpPr>
          <p:cNvPr id="10" name="">
            <a:extLst xmlns:a="http://schemas.openxmlformats.org/drawingml/2006/main">
              <a:ext uri="{FF2B5EF4-FFF2-40B4-BE49-F238E27FC236}">
                <a16:creationId xmlns:a16="http://schemas.microsoft.com/office/drawing/2014/main" id="{22F32024-CCDE-4A69-A872-D68433E8802F}"/>
              </a:ext>
            </a:extLst>
          </p:cNvPr>
          <p:cNvSpPr>
            <a:spLocks xmlns:a="http://schemas.openxmlformats.org/drawingml/2006/main" noGrp="1"/>
          </p:cNvSpPr>
          <p:nvPr/>
        </p:nvSpPr>
        <p:spPr>
          <a:xfrm xmlns:a="http://schemas.openxmlformats.org/drawingml/2006/main">
            <a:off x="4583430" y="2571750"/>
            <a:ext cx="3474720" cy="609600"/>
          </a:xfrm>
          <a:prstGeom xmlns:a="http://schemas.openxmlformats.org/drawingml/2006/main" prst="rect">
            <a:avLst/>
          </a:prstGeom>
          <a:solidFill xmlns:a="http://schemas.openxmlformats.org/drawingml/2006/main">
            <a:srgbClr val="5D7FB4"/>
          </a:solidFill>
          <a:ln xmlns:a="http://schemas.openxmlformats.org/drawingml/2006/main" w="9525">
            <a:solidFill>
              <a:srgbClr val="5D7FB4"/>
            </a:solidFill>
            <a:prstDash val="solid"/>
          </a:ln>
        </p:spPr>
      </p:sp>
      <p:sp>
        <p:nvSpPr>
          <p:cNvPr id="11" name="">
            <a:extLst xmlns:a="http://schemas.openxmlformats.org/drawingml/2006/main">
              <a:ext uri="{FF2B5EF4-FFF2-40B4-BE49-F238E27FC236}">
                <a16:creationId xmlns:a16="http://schemas.microsoft.com/office/drawing/2014/main" id="{9F5438B9-9529-4C62-90D6-A01B05E1FDB3}"/>
              </a:ext>
            </a:extLst>
          </p:cNvPr>
          <p:cNvSpPr>
            <a:spLocks xmlns:a="http://schemas.openxmlformats.org/drawingml/2006/main" noGrp="1"/>
          </p:cNvSpPr>
          <p:nvPr/>
        </p:nvSpPr>
        <p:spPr>
          <a:xfrm xmlns:a="http://schemas.openxmlformats.org/drawingml/2006/main">
            <a:off x="4716780" y="2752725"/>
            <a:ext cx="320802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FFFFFF"/>
                </a:solidFill>
                <a:latin typeface="Helvetica Neue"/>
                <a:ea typeface="Helvetica Neue"/>
                <a:cs typeface="Helvetica Neue"/>
              </a:defRPr>
            </a:pPr>
            <a:r>
              <a:rPr sz="1275" b="1">
                <a:solidFill>
                  <a:srgbClr val="FFFFFF"/>
                </a:solidFill>
                <a:latin typeface="Helvetica Neue"/>
                <a:ea typeface="Helvetica Neue"/>
                <a:cs typeface="Helvetica Neue"/>
              </a:rPr>
              <a:t>32% embedding</a:t>
            </a:r>
          </a:p>
        </p:txBody>
      </p:sp>
      <p:sp>
        <p:nvSpPr>
          <p:cNvPr id="12" name="">
            <a:extLst xmlns:a="http://schemas.openxmlformats.org/drawingml/2006/main">
              <a:ext uri="{FF2B5EF4-FFF2-40B4-BE49-F238E27FC236}">
                <a16:creationId xmlns:a16="http://schemas.microsoft.com/office/drawing/2014/main" id="{3FAAD332-FB8A-45D8-AF79-C4D38169E663}"/>
              </a:ext>
            </a:extLst>
          </p:cNvPr>
          <p:cNvSpPr>
            <a:spLocks xmlns:a="http://schemas.openxmlformats.org/drawingml/2006/main" noGrp="1"/>
          </p:cNvSpPr>
          <p:nvPr/>
        </p:nvSpPr>
        <p:spPr>
          <a:xfrm xmlns:a="http://schemas.openxmlformats.org/drawingml/2006/main">
            <a:off x="8058150" y="2571750"/>
            <a:ext cx="2171700" cy="609600"/>
          </a:xfrm>
          <a:prstGeom xmlns:a="http://schemas.openxmlformats.org/drawingml/2006/main" prst="rect">
            <a:avLst/>
          </a:prstGeom>
          <a:solidFill xmlns:a="http://schemas.openxmlformats.org/drawingml/2006/main">
            <a:srgbClr val="9CB5D5"/>
          </a:solidFill>
          <a:ln xmlns:a="http://schemas.openxmlformats.org/drawingml/2006/main" w="9525">
            <a:solidFill>
              <a:srgbClr val="9CB5D5"/>
            </a:solidFill>
            <a:prstDash val="solid"/>
          </a:ln>
        </p:spPr>
      </p:sp>
      <p:sp>
        <p:nvSpPr>
          <p:cNvPr id="13" name="">
            <a:extLst xmlns:a="http://schemas.openxmlformats.org/drawingml/2006/main">
              <a:ext uri="{FF2B5EF4-FFF2-40B4-BE49-F238E27FC236}">
                <a16:creationId xmlns:a16="http://schemas.microsoft.com/office/drawing/2014/main" id="{B6263050-9BD4-42ED-8548-7DCC515DCB38}"/>
              </a:ext>
            </a:extLst>
          </p:cNvPr>
          <p:cNvSpPr>
            <a:spLocks xmlns:a="http://schemas.openxmlformats.org/drawingml/2006/main" noGrp="1"/>
          </p:cNvSpPr>
          <p:nvPr/>
        </p:nvSpPr>
        <p:spPr>
          <a:xfrm xmlns:a="http://schemas.openxmlformats.org/drawingml/2006/main">
            <a:off x="8191500" y="2752725"/>
            <a:ext cx="190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FFFFFF"/>
                </a:solidFill>
                <a:latin typeface="Helvetica Neue"/>
                <a:ea typeface="Helvetica Neue"/>
                <a:cs typeface="Helvetica Neue"/>
              </a:defRPr>
            </a:pPr>
            <a:r>
              <a:rPr sz="1275" b="1">
                <a:solidFill>
                  <a:srgbClr val="FFFFFF"/>
                </a:solidFill>
                <a:latin typeface="Helvetica Neue"/>
                <a:ea typeface="Helvetica Neue"/>
                <a:cs typeface="Helvetica Neue"/>
              </a:rPr>
              <a:t>20% source quality</a:t>
            </a:r>
          </a:p>
        </p:txBody>
      </p:sp>
      <p:sp>
        <p:nvSpPr>
          <p:cNvPr id="14" name="">
            <a:extLst xmlns:a="http://schemas.openxmlformats.org/drawingml/2006/main">
              <a:ext uri="{FF2B5EF4-FFF2-40B4-BE49-F238E27FC236}">
                <a16:creationId xmlns:a16="http://schemas.microsoft.com/office/drawing/2014/main" id="{AFB91DBA-8369-4772-B211-7CBCCCC616CF}"/>
              </a:ext>
            </a:extLst>
          </p:cNvPr>
          <p:cNvSpPr>
            <a:spLocks xmlns:a="http://schemas.openxmlformats.org/drawingml/2006/main" noGrp="1"/>
          </p:cNvSpPr>
          <p:nvPr/>
        </p:nvSpPr>
        <p:spPr>
          <a:xfrm xmlns:a="http://schemas.openxmlformats.org/drawingml/2006/main">
            <a:off x="10229850" y="2571750"/>
            <a:ext cx="1085850" cy="609600"/>
          </a:xfrm>
          <a:prstGeom xmlns:a="http://schemas.openxmlformats.org/drawingml/2006/main" prst="roundRect">
            <a:avLst>
              <a:gd name="adj" fmla="val 18750"/>
            </a:avLst>
          </a:prstGeom>
          <a:solidFill xmlns:a="http://schemas.openxmlformats.org/drawingml/2006/main">
            <a:srgbClr val="D6DCE5"/>
          </a:solidFill>
          <a:ln xmlns:a="http://schemas.openxmlformats.org/drawingml/2006/main" w="9525">
            <a:solidFill>
              <a:srgbClr val="D6DCE5"/>
            </a:solidFill>
            <a:prstDash val="solid"/>
          </a:ln>
        </p:spPr>
      </p:sp>
      <p:sp>
        <p:nvSpPr>
          <p:cNvPr id="15" name="">
            <a:extLst xmlns:a="http://schemas.openxmlformats.org/drawingml/2006/main">
              <a:ext uri="{FF2B5EF4-FFF2-40B4-BE49-F238E27FC236}">
                <a16:creationId xmlns:a16="http://schemas.microsoft.com/office/drawing/2014/main" id="{7B2ABA78-9495-4518-B9AE-D0BB774A2CCE}"/>
              </a:ext>
            </a:extLst>
          </p:cNvPr>
          <p:cNvSpPr>
            <a:spLocks xmlns:a="http://schemas.openxmlformats.org/drawingml/2006/main" noGrp="1"/>
          </p:cNvSpPr>
          <p:nvPr/>
        </p:nvSpPr>
        <p:spPr>
          <a:xfrm xmlns:a="http://schemas.openxmlformats.org/drawingml/2006/main">
            <a:off x="10363200" y="2752725"/>
            <a:ext cx="8191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497"/>
          </a:bodyPr>
          <a:lstStyle xmlns:a="http://schemas.openxmlformats.org/drawingml/2006/main"/>
          <a:p xmlns:a="http://schemas.openxmlformats.org/drawingml/2006/main">
            <a:pPr algn="l">
              <a:buNone/>
              <a:defRPr sz="1125" b="1">
                <a:solidFill>
                  <a:srgbClr val="344054"/>
                </a:solidFill>
                <a:latin typeface="Helvetica Neue"/>
                <a:ea typeface="Helvetica Neue"/>
                <a:cs typeface="Helvetica Neue"/>
              </a:defRPr>
            </a:pPr>
            <a:r>
              <a:rPr sz="1125" b="1">
                <a:solidFill>
                  <a:srgbClr val="344054"/>
                </a:solidFill>
                <a:latin typeface="Helvetica Neue"/>
                <a:ea typeface="Helvetica Neue"/>
                <a:cs typeface="Helvetica Neue"/>
              </a:rPr>
              <a:t>10% recency</a:t>
            </a:r>
          </a:p>
        </p:txBody>
      </p:sp>
      <p:sp>
        <p:nvSpPr>
          <p:cNvPr id="16" name="">
            <a:extLst xmlns:a="http://schemas.openxmlformats.org/drawingml/2006/main">
              <a:ext uri="{FF2B5EF4-FFF2-40B4-BE49-F238E27FC236}">
                <a16:creationId xmlns:a16="http://schemas.microsoft.com/office/drawing/2014/main" id="{6E12BEB2-81A1-4327-BE0F-2D74CA69A28A}"/>
              </a:ext>
            </a:extLst>
          </p:cNvPr>
          <p:cNvSpPr>
            <a:spLocks xmlns:a="http://schemas.openxmlformats.org/drawingml/2006/main" noGrp="1"/>
          </p:cNvSpPr>
          <p:nvPr/>
        </p:nvSpPr>
        <p:spPr>
          <a:xfrm xmlns:a="http://schemas.openxmlformats.org/drawingml/2006/main">
            <a:off x="457200" y="3752850"/>
            <a:ext cx="3238500" cy="1428750"/>
          </a:xfrm>
          <a:prstGeom xmlns:a="http://schemas.openxmlformats.org/drawingml/2006/main" prst="roundRect">
            <a:avLst>
              <a:gd name="adj" fmla="val 10667"/>
            </a:avLst>
          </a:prstGeom>
          <a:solidFill xmlns:a="http://schemas.openxmlformats.org/drawingml/2006/main">
            <a:srgbClr val="FFFFFF"/>
          </a:solidFill>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6F28094B-8C55-4063-8D3E-235A3971E70B}"/>
              </a:ext>
            </a:extLst>
          </p:cNvPr>
          <p:cNvSpPr>
            <a:spLocks xmlns:a="http://schemas.openxmlformats.org/drawingml/2006/main" noGrp="1"/>
          </p:cNvSpPr>
          <p:nvPr/>
        </p:nvSpPr>
        <p:spPr>
          <a:xfrm xmlns:a="http://schemas.openxmlformats.org/drawingml/2006/main">
            <a:off x="628650" y="3914775"/>
            <a:ext cx="28956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702"/>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3 · Retrieve</a:t>
            </a:r>
          </a:p>
        </p:txBody>
      </p:sp>
      <p:sp>
        <p:nvSpPr>
          <p:cNvPr id="18" name="">
            <a:extLst xmlns:a="http://schemas.openxmlformats.org/drawingml/2006/main">
              <a:ext uri="{FF2B5EF4-FFF2-40B4-BE49-F238E27FC236}">
                <a16:creationId xmlns:a16="http://schemas.microsoft.com/office/drawing/2014/main" id="{B301117F-06AB-4930-9793-34F42BB7C983}"/>
              </a:ext>
            </a:extLst>
          </p:cNvPr>
          <p:cNvSpPr>
            <a:spLocks xmlns:a="http://schemas.openxmlformats.org/drawingml/2006/main" noGrp="1"/>
          </p:cNvSpPr>
          <p:nvPr/>
        </p:nvSpPr>
        <p:spPr>
          <a:xfrm xmlns:a="http://schemas.openxmlformats.org/drawingml/2006/main">
            <a:off x="628650" y="4276725"/>
            <a:ext cx="28956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PostgreSQL full-text and embedding similarity</a:t>
            </a:r>
          </a:p>
        </p:txBody>
      </p:sp>
      <p:sp>
        <p:nvSpPr>
          <p:cNvPr id="19" name="">
            <a:extLst xmlns:a="http://schemas.openxmlformats.org/drawingml/2006/main">
              <a:ext uri="{FF2B5EF4-FFF2-40B4-BE49-F238E27FC236}">
                <a16:creationId xmlns:a16="http://schemas.microsoft.com/office/drawing/2014/main" id="{4707DBAE-E5B4-49D8-99C6-9C5094A32B9A}"/>
              </a:ext>
            </a:extLst>
          </p:cNvPr>
          <p:cNvSpPr>
            <a:spLocks xmlns:a="http://schemas.openxmlformats.org/drawingml/2006/main" noGrp="1"/>
          </p:cNvSpPr>
          <p:nvPr/>
        </p:nvSpPr>
        <p:spPr>
          <a:xfrm xmlns:a="http://schemas.openxmlformats.org/drawingml/2006/main">
            <a:off x="4476750" y="3752850"/>
            <a:ext cx="3238500" cy="1428750"/>
          </a:xfrm>
          <a:prstGeom xmlns:a="http://schemas.openxmlformats.org/drawingml/2006/main" prst="roundRect">
            <a:avLst>
              <a:gd name="adj" fmla="val 10667"/>
            </a:avLst>
          </a:prstGeom>
          <a:solidFill xmlns:a="http://schemas.openxmlformats.org/drawingml/2006/main">
            <a:srgbClr val="E8F0FB"/>
          </a:solidFill>
          <a:ln xmlns:a="http://schemas.openxmlformats.org/drawingml/2006/main" w="9525">
            <a:solidFill>
              <a:srgbClr val="9CB5D5"/>
            </a:solidFill>
            <a:prstDash val="solid"/>
          </a:ln>
        </p:spPr>
      </p:sp>
      <p:sp>
        <p:nvSpPr>
          <p:cNvPr id="20" name="">
            <a:extLst xmlns:a="http://schemas.openxmlformats.org/drawingml/2006/main">
              <a:ext uri="{FF2B5EF4-FFF2-40B4-BE49-F238E27FC236}">
                <a16:creationId xmlns:a16="http://schemas.microsoft.com/office/drawing/2014/main" id="{38341F07-5F50-4A06-BE49-9E1DEA5D7C1D}"/>
              </a:ext>
            </a:extLst>
          </p:cNvPr>
          <p:cNvSpPr>
            <a:spLocks xmlns:a="http://schemas.openxmlformats.org/drawingml/2006/main" noGrp="1"/>
          </p:cNvSpPr>
          <p:nvPr/>
        </p:nvSpPr>
        <p:spPr>
          <a:xfrm xmlns:a="http://schemas.openxmlformats.org/drawingml/2006/main">
            <a:off x="4648200" y="3914775"/>
            <a:ext cx="28956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702"/>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4 · Build</a:t>
            </a:r>
          </a:p>
        </p:txBody>
      </p:sp>
      <p:sp>
        <p:nvSpPr>
          <p:cNvPr id="21" name="">
            <a:extLst xmlns:a="http://schemas.openxmlformats.org/drawingml/2006/main">
              <a:ext uri="{FF2B5EF4-FFF2-40B4-BE49-F238E27FC236}">
                <a16:creationId xmlns:a16="http://schemas.microsoft.com/office/drawing/2014/main" id="{9A6B76A0-10C0-4C72-B936-2FEC9E21B3C2}"/>
              </a:ext>
            </a:extLst>
          </p:cNvPr>
          <p:cNvSpPr>
            <a:spLocks xmlns:a="http://schemas.openxmlformats.org/drawingml/2006/main" noGrp="1"/>
          </p:cNvSpPr>
          <p:nvPr/>
        </p:nvSpPr>
        <p:spPr>
          <a:xfrm xmlns:a="http://schemas.openxmlformats.org/drawingml/2006/main">
            <a:off x="4648200" y="4276725"/>
            <a:ext cx="28956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Five tailored templates or one generic rule. No generation model.</a:t>
            </a:r>
          </a:p>
        </p:txBody>
      </p:sp>
      <p:sp>
        <p:nvSpPr>
          <p:cNvPr id="22" name="">
            <a:extLst xmlns:a="http://schemas.openxmlformats.org/drawingml/2006/main">
              <a:ext uri="{FF2B5EF4-FFF2-40B4-BE49-F238E27FC236}">
                <a16:creationId xmlns:a16="http://schemas.microsoft.com/office/drawing/2014/main" id="{13F9AE88-C67A-42F1-9052-14B09CE3F03B}"/>
              </a:ext>
            </a:extLst>
          </p:cNvPr>
          <p:cNvSpPr>
            <a:spLocks xmlns:a="http://schemas.openxmlformats.org/drawingml/2006/main" noGrp="1"/>
          </p:cNvSpPr>
          <p:nvPr/>
        </p:nvSpPr>
        <p:spPr>
          <a:xfrm xmlns:a="http://schemas.openxmlformats.org/drawingml/2006/main">
            <a:off x="8496300" y="3752850"/>
            <a:ext cx="2819400" cy="1428750"/>
          </a:xfrm>
          <a:prstGeom xmlns:a="http://schemas.openxmlformats.org/drawingml/2006/main" prst="roundRect">
            <a:avLst>
              <a:gd name="adj" fmla="val 10667"/>
            </a:avLst>
          </a:prstGeom>
          <a:solidFill xmlns:a="http://schemas.openxmlformats.org/drawingml/2006/main">
            <a:srgbClr val="FFFFFF"/>
          </a:solidFill>
          <a:ln xmlns:a="http://schemas.openxmlformats.org/drawingml/2006/main" w="9525">
            <a:solidFill>
              <a:srgbClr val="D0D5DD"/>
            </a:solidFill>
            <a:prstDash val="solid"/>
          </a:ln>
        </p:spPr>
      </p:sp>
      <p:sp>
        <p:nvSpPr>
          <p:cNvPr id="23" name="">
            <a:extLst xmlns:a="http://schemas.openxmlformats.org/drawingml/2006/main">
              <a:ext uri="{FF2B5EF4-FFF2-40B4-BE49-F238E27FC236}">
                <a16:creationId xmlns:a16="http://schemas.microsoft.com/office/drawing/2014/main" id="{C8D596B8-64D7-45EE-AD73-5E2E2B7F9756}"/>
              </a:ext>
            </a:extLst>
          </p:cNvPr>
          <p:cNvSpPr>
            <a:spLocks xmlns:a="http://schemas.openxmlformats.org/drawingml/2006/main" noGrp="1"/>
          </p:cNvSpPr>
          <p:nvPr/>
        </p:nvSpPr>
        <p:spPr>
          <a:xfrm xmlns:a="http://schemas.openxmlformats.org/drawingml/2006/main">
            <a:off x="8667750" y="3914775"/>
            <a:ext cx="2476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702"/>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5 · Check and save</a:t>
            </a:r>
          </a:p>
        </p:txBody>
      </p:sp>
      <p:sp>
        <p:nvSpPr>
          <p:cNvPr id="24" name="">
            <a:extLst xmlns:a="http://schemas.openxmlformats.org/drawingml/2006/main">
              <a:ext uri="{FF2B5EF4-FFF2-40B4-BE49-F238E27FC236}">
                <a16:creationId xmlns:a16="http://schemas.microsoft.com/office/drawing/2014/main" id="{B1B08F32-E59B-419A-9536-8E9418BA35D1}"/>
              </a:ext>
            </a:extLst>
          </p:cNvPr>
          <p:cNvSpPr>
            <a:spLocks xmlns:a="http://schemas.openxmlformats.org/drawingml/2006/main" noGrp="1"/>
          </p:cNvSpPr>
          <p:nvPr/>
        </p:nvSpPr>
        <p:spPr>
          <a:xfrm xmlns:a="http://schemas.openxmlformats.org/drawingml/2006/main">
            <a:off x="8667750" y="4276725"/>
            <a:ext cx="2476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Check source IDs</a:t>
            </a:r>
          </a:p>
          <a:p xmlns:a="http://schemas.openxmlformats.org/drawingml/2006/main">
            <a:pPr algn="l">
              <a:buNone/>
              <a:defRPr sz="112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Check company isolation</a:t>
            </a:r>
          </a:p>
          <a:p xmlns:a="http://schemas.openxmlformats.org/drawingml/2006/main">
            <a:pPr algn="l">
              <a:buNone/>
              <a:defRPr sz="112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Save brief and source ranks</a:t>
            </a:r>
          </a:p>
        </p:txBody>
      </p:sp>
      <p:cxnSp>
        <p:nvCxnSpPr>
          <p:cNvPr id="261" name=""/>
          <p:cNvCxnSpPr>
            <a:stCxn xmlns:a="http://schemas.openxmlformats.org/drawingml/2006/main" id="16" idx="3"/>
            <a:endCxn xmlns:a="http://schemas.openxmlformats.org/drawingml/2006/main" id="19" idx="1"/>
          </p:cNvCxnSpPr>
          <p:nvPr/>
        </p:nvCxnSpPr>
        <p:spPr>
          <a:xfrm xmlns:a="http://schemas.openxmlformats.org/drawingml/2006/main">
            <a:off x="3695700" y="4467225"/>
            <a:ext cx="781050"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cxnSp>
        <p:nvCxnSpPr>
          <p:cNvPr id="262" name=""/>
          <p:cNvCxnSpPr>
            <a:stCxn xmlns:a="http://schemas.openxmlformats.org/drawingml/2006/main" id="19" idx="3"/>
            <a:endCxn xmlns:a="http://schemas.openxmlformats.org/drawingml/2006/main" id="22" idx="1"/>
          </p:cNvCxnSpPr>
          <p:nvPr/>
        </p:nvCxnSpPr>
        <p:spPr>
          <a:xfrm xmlns:a="http://schemas.openxmlformats.org/drawingml/2006/main">
            <a:off x="7715250" y="4467225"/>
            <a:ext cx="781050"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sp>
        <p:nvSpPr>
          <p:cNvPr id="27" name="">
            <a:extLst xmlns:a="http://schemas.openxmlformats.org/drawingml/2006/main">
              <a:ext uri="{FF2B5EF4-FFF2-40B4-BE49-F238E27FC236}">
                <a16:creationId xmlns:a16="http://schemas.microsoft.com/office/drawing/2014/main" id="{32C6DBDE-9250-4AA7-B2D3-2956A6438C49}"/>
              </a:ext>
            </a:extLst>
          </p:cNvPr>
          <p:cNvSpPr>
            <a:spLocks xmlns:a="http://schemas.openxmlformats.org/drawingml/2006/main" noGrp="1"/>
          </p:cNvSpPr>
          <p:nvPr/>
        </p:nvSpPr>
        <p:spPr>
          <a:xfrm xmlns:a="http://schemas.openxmlformats.org/drawingml/2006/main">
            <a:off x="457200" y="5524500"/>
            <a:ext cx="762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344054"/>
                </a:solidFill>
                <a:latin typeface="Helvetica Neue"/>
                <a:ea typeface="Helvetica Neue"/>
                <a:cs typeface="Helvetica Neue"/>
              </a:defRPr>
            </a:pPr>
            <a:r>
              <a:rPr sz="1275" b="1">
                <a:solidFill>
                  <a:srgbClr val="344054"/>
                </a:solidFill>
                <a:latin typeface="Helvetica Neue"/>
                <a:ea typeface="Helvetica Neue"/>
                <a:cs typeface="Helvetica Neue"/>
              </a:rPr>
              <a:t>CURRENT V1: OpenAI query embedding, fixed query, initial weights, and a fixed date.</a:t>
            </a:r>
          </a:p>
        </p:txBody>
      </p:sp>
      <p:sp>
        <p:nvSpPr>
          <p:cNvPr id="28" name="">
            <a:extLst xmlns:a="http://schemas.openxmlformats.org/drawingml/2006/main">
              <a:ext uri="{FF2B5EF4-FFF2-40B4-BE49-F238E27FC236}">
                <a16:creationId xmlns:a16="http://schemas.microsoft.com/office/drawing/2014/main" id="{935DB09F-6ADD-408F-B1D4-C5857C900A7A}"/>
              </a:ext>
            </a:extLst>
          </p:cNvPr>
          <p:cNvSpPr>
            <a:spLocks xmlns:a="http://schemas.openxmlformats.org/drawingml/2006/main" noGrp="1"/>
          </p:cNvSpPr>
          <p:nvPr/>
        </p:nvSpPr>
        <p:spPr>
          <a:xfrm xmlns:a="http://schemas.openxmlformats.org/drawingml/2006/main">
            <a:off x="457200" y="5810250"/>
            <a:ext cx="7620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417"/>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TARGET: tune retrieval with reviewed questions; add gpt-5.6-sol only for grounded generation.</a:t>
            </a:r>
          </a:p>
        </p:txBody>
      </p:sp>
    </p:spTree>
    <p:extLst>
      <p:ext uri="{BB962C8B-B14F-4D97-AF65-F5344CB8AC3E}">
        <p14:creationId xmlns:p14="http://schemas.microsoft.com/office/powerpoint/2010/main" val="1114133193"/>
      </p:ext>
    </p:extLst>
  </p:cSld>
</p:sld>
</file>

<file path=ppt/slides/slide8.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11B61CF6-96B9-4010-86E0-F685F3D94FCB}"/>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2550" b="1">
                <a:solidFill>
                  <a:srgbClr val="101828"/>
                </a:solidFill>
                <a:latin typeface="Helvetica Neue"/>
                <a:ea typeface="Helvetica Neue"/>
                <a:cs typeface="Helvetica Neue"/>
              </a:rPr>
              <a:t>Which stack runs now, and which model is the quality-first target?</a:t>
            </a:r>
          </a:p>
        </p:txBody>
      </p:sp>
      <p:sp>
        <p:nvSpPr>
          <p:cNvPr id="2" name="">
            <a:extLst xmlns:a="http://schemas.openxmlformats.org/drawingml/2006/main">
              <a:ext uri="{FF2B5EF4-FFF2-40B4-BE49-F238E27FC236}">
                <a16:creationId xmlns:a16="http://schemas.microsoft.com/office/drawing/2014/main" id="{7D9C5C2F-6C9D-4161-8CD3-13E090AC468D}"/>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9600F930-A327-4D42-B3AC-B4690BAC588C}"/>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08</a:t>
            </a:r>
          </a:p>
        </p:txBody>
      </p:sp>
      <p:sp>
        <p:nvSpPr>
          <p:cNvPr id="4" name="">
            <a:extLst xmlns:a="http://schemas.openxmlformats.org/drawingml/2006/main">
              <a:ext uri="{FF2B5EF4-FFF2-40B4-BE49-F238E27FC236}">
                <a16:creationId xmlns:a16="http://schemas.microsoft.com/office/drawing/2014/main" id="{8FE6BFC8-F410-4A84-9798-3C4E13160A16}"/>
              </a:ext>
            </a:extLst>
          </p:cNvPr>
          <p:cNvSpPr>
            <a:spLocks xmlns:a="http://schemas.openxmlformats.org/drawingml/2006/main" noGrp="1"/>
          </p:cNvSpPr>
          <p:nvPr/>
        </p:nvSpPr>
        <p:spPr>
          <a:xfrm xmlns:a="http://schemas.openxmlformats.org/drawingml/2006/main">
            <a:off x="457200" y="146685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CURRENT CHOICE</a:t>
            </a:r>
          </a:p>
        </p:txBody>
      </p:sp>
      <p:sp>
        <p:nvSpPr>
          <p:cNvPr id="5" name="">
            <a:extLst xmlns:a="http://schemas.openxmlformats.org/drawingml/2006/main">
              <a:ext uri="{FF2B5EF4-FFF2-40B4-BE49-F238E27FC236}">
                <a16:creationId xmlns:a16="http://schemas.microsoft.com/office/drawing/2014/main" id="{7F4CD62E-8C04-4F26-9606-CF238E6B5EFC}"/>
              </a:ext>
            </a:extLst>
          </p:cNvPr>
          <p:cNvSpPr>
            <a:spLocks xmlns:a="http://schemas.openxmlformats.org/drawingml/2006/main" noGrp="1"/>
          </p:cNvSpPr>
          <p:nvPr/>
        </p:nvSpPr>
        <p:spPr>
          <a:xfrm xmlns:a="http://schemas.openxmlformats.org/drawingml/2006/main">
            <a:off x="3333750" y="1466850"/>
            <a:ext cx="323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WHY IT FITS V1</a:t>
            </a:r>
          </a:p>
        </p:txBody>
      </p:sp>
      <p:sp>
        <p:nvSpPr>
          <p:cNvPr id="6" name="">
            <a:extLst xmlns:a="http://schemas.openxmlformats.org/drawingml/2006/main">
              <a:ext uri="{FF2B5EF4-FFF2-40B4-BE49-F238E27FC236}">
                <a16:creationId xmlns:a16="http://schemas.microsoft.com/office/drawing/2014/main" id="{B98364E2-4CA2-464C-B7ED-DF6E422AB2EF}"/>
              </a:ext>
            </a:extLst>
          </p:cNvPr>
          <p:cNvSpPr>
            <a:spLocks xmlns:a="http://schemas.openxmlformats.org/drawingml/2006/main" noGrp="1"/>
          </p:cNvSpPr>
          <p:nvPr/>
        </p:nvSpPr>
        <p:spPr>
          <a:xfrm xmlns:a="http://schemas.openxmlformats.org/drawingml/2006/main">
            <a:off x="7067550" y="1466850"/>
            <a:ext cx="424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PRODUCTION TARGET</a:t>
            </a:r>
          </a:p>
        </p:txBody>
      </p:sp>
      <p:sp>
        <p:nvSpPr>
          <p:cNvPr id="7" name="">
            <a:extLst xmlns:a="http://schemas.openxmlformats.org/drawingml/2006/main">
              <a:ext uri="{FF2B5EF4-FFF2-40B4-BE49-F238E27FC236}">
                <a16:creationId xmlns:a16="http://schemas.microsoft.com/office/drawing/2014/main" id="{7B495C59-B79D-4705-8DC0-ABF561EA71FE}"/>
              </a:ext>
            </a:extLst>
          </p:cNvPr>
          <p:cNvSpPr>
            <a:spLocks xmlns:a="http://schemas.openxmlformats.org/drawingml/2006/main" noGrp="1"/>
          </p:cNvSpPr>
          <p:nvPr/>
        </p:nvSpPr>
        <p:spPr>
          <a:xfrm xmlns:a="http://schemas.openxmlformats.org/drawingml/2006/main">
            <a:off x="457200" y="1809750"/>
            <a:ext cx="10858500" cy="876300"/>
          </a:xfrm>
          <a:prstGeom xmlns:a="http://schemas.openxmlformats.org/drawingml/2006/main" prst="roundRect">
            <a:avLst>
              <a:gd name="adj" fmla="val 13043"/>
            </a:avLst>
          </a:prstGeom>
          <a:solidFill xmlns:a="http://schemas.openxmlformats.org/drawingml/2006/main">
            <a:srgbClr val="FFFFFF"/>
          </a:solidFill>
          <a:ln xmlns:a="http://schemas.openxmlformats.org/drawingml/2006/main" w="9525">
            <a:solidFill>
              <a:srgbClr val="D0D5DD"/>
            </a:solidFill>
            <a:prstDash val="solid"/>
          </a:ln>
        </p:spPr>
      </p:sp>
      <p:sp>
        <p:nvSpPr>
          <p:cNvPr id="8" name="">
            <a:extLst xmlns:a="http://schemas.openxmlformats.org/drawingml/2006/main">
              <a:ext uri="{FF2B5EF4-FFF2-40B4-BE49-F238E27FC236}">
                <a16:creationId xmlns:a16="http://schemas.microsoft.com/office/drawing/2014/main" id="{EC69FB3E-B8A8-4D49-ACC4-AD76F61A27CC}"/>
              </a:ext>
            </a:extLst>
          </p:cNvPr>
          <p:cNvSpPr>
            <a:spLocks xmlns:a="http://schemas.openxmlformats.org/drawingml/2006/main" noGrp="1"/>
          </p:cNvSpPr>
          <p:nvPr/>
        </p:nvSpPr>
        <p:spPr>
          <a:xfrm xmlns:a="http://schemas.openxmlformats.org/drawingml/2006/main">
            <a:off x="628650" y="1971675"/>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101828"/>
                </a:solidFill>
                <a:latin typeface="Helvetica Neue"/>
                <a:ea typeface="Helvetica Neue"/>
                <a:cs typeface="Helvetica Neue"/>
              </a:defRPr>
            </a:pPr>
            <a:r>
              <a:rPr sz="1275" b="1">
                <a:solidFill>
                  <a:srgbClr val="101828"/>
                </a:solidFill>
                <a:latin typeface="Helvetica Neue"/>
                <a:ea typeface="Helvetica Neue"/>
                <a:cs typeface="Helvetica Neue"/>
              </a:rPr>
              <a:t>Next.js, React, TypeScript, and Shadcn</a:t>
            </a:r>
          </a:p>
        </p:txBody>
      </p:sp>
      <p:sp>
        <p:nvSpPr>
          <p:cNvPr id="9" name="">
            <a:extLst xmlns:a="http://schemas.openxmlformats.org/drawingml/2006/main">
              <a:ext uri="{FF2B5EF4-FFF2-40B4-BE49-F238E27FC236}">
                <a16:creationId xmlns:a16="http://schemas.microsoft.com/office/drawing/2014/main" id="{E307D8A2-A73D-48D0-83AA-5127647BCBD8}"/>
              </a:ext>
            </a:extLst>
          </p:cNvPr>
          <p:cNvSpPr>
            <a:spLocks xmlns:a="http://schemas.openxmlformats.org/drawingml/2006/main" noGrp="1"/>
          </p:cNvSpPr>
          <p:nvPr/>
        </p:nvSpPr>
        <p:spPr>
          <a:xfrm xmlns:a="http://schemas.openxmlformats.org/drawingml/2006/main">
            <a:off x="3333750" y="1971675"/>
            <a:ext cx="3333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codebase supports the interface and server routes.</a:t>
            </a:r>
          </a:p>
        </p:txBody>
      </p:sp>
      <p:sp>
        <p:nvSpPr>
          <p:cNvPr id="10" name="">
            <a:extLst xmlns:a="http://schemas.openxmlformats.org/drawingml/2006/main">
              <a:ext uri="{FF2B5EF4-FFF2-40B4-BE49-F238E27FC236}">
                <a16:creationId xmlns:a16="http://schemas.microsoft.com/office/drawing/2014/main" id="{A6F435AE-0B0F-4977-9819-786E47BD64E5}"/>
              </a:ext>
            </a:extLst>
          </p:cNvPr>
          <p:cNvSpPr>
            <a:spLocks xmlns:a="http://schemas.openxmlformats.org/drawingml/2006/main" noGrp="1"/>
          </p:cNvSpPr>
          <p:nvPr/>
        </p:nvSpPr>
        <p:spPr>
          <a:xfrm xmlns:a="http://schemas.openxmlformats.org/drawingml/2006/main">
            <a:off x="7067550" y="1971675"/>
            <a:ext cx="4000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Keep one service until scale or ownership requires a split.</a:t>
            </a:r>
          </a:p>
        </p:txBody>
      </p:sp>
      <p:sp>
        <p:nvSpPr>
          <p:cNvPr id="11" name="">
            <a:extLst xmlns:a="http://schemas.openxmlformats.org/drawingml/2006/main">
              <a:ext uri="{FF2B5EF4-FFF2-40B4-BE49-F238E27FC236}">
                <a16:creationId xmlns:a16="http://schemas.microsoft.com/office/drawing/2014/main" id="{38DE38FC-42AC-41E0-A6D8-61A4AA3E9D2B}"/>
              </a:ext>
            </a:extLst>
          </p:cNvPr>
          <p:cNvSpPr>
            <a:spLocks xmlns:a="http://schemas.openxmlformats.org/drawingml/2006/main" noGrp="1"/>
          </p:cNvSpPr>
          <p:nvPr/>
        </p:nvSpPr>
        <p:spPr>
          <a:xfrm xmlns:a="http://schemas.openxmlformats.org/drawingml/2006/main">
            <a:off x="457200" y="2838450"/>
            <a:ext cx="10858500" cy="876300"/>
          </a:xfrm>
          <a:prstGeom xmlns:a="http://schemas.openxmlformats.org/drawingml/2006/main" prst="roundRect">
            <a:avLst>
              <a:gd name="adj" fmla="val 13043"/>
            </a:avLst>
          </a:prstGeom>
          <a:solidFill xmlns:a="http://schemas.openxmlformats.org/drawingml/2006/main">
            <a:srgbClr val="F2F4F7"/>
          </a:solidFill>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142B5CD3-C553-481E-9C26-C13B5B4631BC}"/>
              </a:ext>
            </a:extLst>
          </p:cNvPr>
          <p:cNvSpPr>
            <a:spLocks xmlns:a="http://schemas.openxmlformats.org/drawingml/2006/main" noGrp="1"/>
          </p:cNvSpPr>
          <p:nvPr/>
        </p:nvSpPr>
        <p:spPr>
          <a:xfrm xmlns:a="http://schemas.openxmlformats.org/drawingml/2006/main">
            <a:off x="628650" y="3000375"/>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101828"/>
                </a:solidFill>
                <a:latin typeface="Helvetica Neue"/>
                <a:ea typeface="Helvetica Neue"/>
                <a:cs typeface="Helvetica Neue"/>
              </a:defRPr>
            </a:pPr>
            <a:r>
              <a:rPr sz="1275" b="1">
                <a:solidFill>
                  <a:srgbClr val="101828"/>
                </a:solidFill>
                <a:latin typeface="Helvetica Neue"/>
                <a:ea typeface="Helvetica Neue"/>
                <a:cs typeface="Helvetica Neue"/>
              </a:rPr>
              <a:t>PostgreSQL 17 and pgvector</a:t>
            </a:r>
          </a:p>
        </p:txBody>
      </p:sp>
      <p:sp>
        <p:nvSpPr>
          <p:cNvPr id="13" name="">
            <a:extLst xmlns:a="http://schemas.openxmlformats.org/drawingml/2006/main">
              <a:ext uri="{FF2B5EF4-FFF2-40B4-BE49-F238E27FC236}">
                <a16:creationId xmlns:a16="http://schemas.microsoft.com/office/drawing/2014/main" id="{396A0E06-95B2-41D7-B971-71C0C0FF5E81}"/>
              </a:ext>
            </a:extLst>
          </p:cNvPr>
          <p:cNvSpPr>
            <a:spLocks xmlns:a="http://schemas.openxmlformats.org/drawingml/2006/main" noGrp="1"/>
          </p:cNvSpPr>
          <p:nvPr/>
        </p:nvSpPr>
        <p:spPr>
          <a:xfrm xmlns:a="http://schemas.openxmlformats.org/drawingml/2006/main">
            <a:off x="3333750" y="3000375"/>
            <a:ext cx="3333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store holds facts, evidence text, embeddings, audit data, and feedback.</a:t>
            </a:r>
          </a:p>
        </p:txBody>
      </p:sp>
      <p:sp>
        <p:nvSpPr>
          <p:cNvPr id="14" name="">
            <a:extLst xmlns:a="http://schemas.openxmlformats.org/drawingml/2006/main">
              <a:ext uri="{FF2B5EF4-FFF2-40B4-BE49-F238E27FC236}">
                <a16:creationId xmlns:a16="http://schemas.microsoft.com/office/drawing/2014/main" id="{7AF879C1-6960-4435-8103-05F80DC16085}"/>
              </a:ext>
            </a:extLst>
          </p:cNvPr>
          <p:cNvSpPr>
            <a:spLocks xmlns:a="http://schemas.openxmlformats.org/drawingml/2006/main" noGrp="1"/>
          </p:cNvSpPr>
          <p:nvPr/>
        </p:nvSpPr>
        <p:spPr>
          <a:xfrm xmlns:a="http://schemas.openxmlformats.org/drawingml/2006/main">
            <a:off x="7067550" y="3000375"/>
            <a:ext cx="4000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Test retrieval and response time on the 250-company scope.</a:t>
            </a:r>
          </a:p>
        </p:txBody>
      </p:sp>
      <p:sp>
        <p:nvSpPr>
          <p:cNvPr id="15" name="">
            <a:extLst xmlns:a="http://schemas.openxmlformats.org/drawingml/2006/main">
              <a:ext uri="{FF2B5EF4-FFF2-40B4-BE49-F238E27FC236}">
                <a16:creationId xmlns:a16="http://schemas.microsoft.com/office/drawing/2014/main" id="{AEEC5BFB-FF21-41F2-9BF1-F8473C9BF235}"/>
              </a:ext>
            </a:extLst>
          </p:cNvPr>
          <p:cNvSpPr>
            <a:spLocks xmlns:a="http://schemas.openxmlformats.org/drawingml/2006/main" noGrp="1"/>
          </p:cNvSpPr>
          <p:nvPr/>
        </p:nvSpPr>
        <p:spPr>
          <a:xfrm xmlns:a="http://schemas.openxmlformats.org/drawingml/2006/main">
            <a:off x="457200" y="3867150"/>
            <a:ext cx="10858500" cy="876300"/>
          </a:xfrm>
          <a:prstGeom xmlns:a="http://schemas.openxmlformats.org/drawingml/2006/main" prst="roundRect">
            <a:avLst>
              <a:gd name="adj" fmla="val 13043"/>
            </a:avLst>
          </a:prstGeom>
          <a:solidFill xmlns:a="http://schemas.openxmlformats.org/drawingml/2006/main">
            <a:srgbClr val="FFFFFF"/>
          </a:solidFill>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ACE4786C-2CF3-4F87-A674-4A90F5B229EC}"/>
              </a:ext>
            </a:extLst>
          </p:cNvPr>
          <p:cNvSpPr>
            <a:spLocks xmlns:a="http://schemas.openxmlformats.org/drawingml/2006/main" noGrp="1"/>
          </p:cNvSpPr>
          <p:nvPr/>
        </p:nvSpPr>
        <p:spPr>
          <a:xfrm xmlns:a="http://schemas.openxmlformats.org/drawingml/2006/main">
            <a:off x="628650" y="4029075"/>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101828"/>
                </a:solidFill>
                <a:latin typeface="Helvetica Neue"/>
                <a:ea typeface="Helvetica Neue"/>
                <a:cs typeface="Helvetica Neue"/>
              </a:defRPr>
            </a:pPr>
            <a:r>
              <a:rPr sz="1275" b="1">
                <a:solidFill>
                  <a:srgbClr val="101828"/>
                </a:solidFill>
                <a:latin typeface="Helvetica Neue"/>
                <a:ea typeface="Helvetica Neue"/>
                <a:cs typeface="Helvetica Neue"/>
              </a:rPr>
              <a:t>File adapters and local Docker</a:t>
            </a:r>
          </a:p>
        </p:txBody>
      </p:sp>
      <p:sp>
        <p:nvSpPr>
          <p:cNvPr id="17" name="">
            <a:extLst xmlns:a="http://schemas.openxmlformats.org/drawingml/2006/main">
              <a:ext uri="{FF2B5EF4-FFF2-40B4-BE49-F238E27FC236}">
                <a16:creationId xmlns:a16="http://schemas.microsoft.com/office/drawing/2014/main" id="{8743BD4F-5E47-4AC2-BD68-A72C07569491}"/>
              </a:ext>
            </a:extLst>
          </p:cNvPr>
          <p:cNvSpPr>
            <a:spLocks xmlns:a="http://schemas.openxmlformats.org/drawingml/2006/main" noGrp="1"/>
          </p:cNvSpPr>
          <p:nvPr/>
        </p:nvSpPr>
        <p:spPr>
          <a:xfrm xmlns:a="http://schemas.openxmlformats.org/drawingml/2006/main">
            <a:off x="3333750" y="4029075"/>
            <a:ext cx="3333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The demo is repeatable and does not need source credentials.</a:t>
            </a:r>
          </a:p>
        </p:txBody>
      </p:sp>
      <p:sp>
        <p:nvSpPr>
          <p:cNvPr id="18" name="">
            <a:extLst xmlns:a="http://schemas.openxmlformats.org/drawingml/2006/main">
              <a:ext uri="{FF2B5EF4-FFF2-40B4-BE49-F238E27FC236}">
                <a16:creationId xmlns:a16="http://schemas.microsoft.com/office/drawing/2014/main" id="{053B12CA-0085-4447-849D-DEE811EB562C}"/>
              </a:ext>
            </a:extLst>
          </p:cNvPr>
          <p:cNvSpPr>
            <a:spLocks xmlns:a="http://schemas.openxmlformats.org/drawingml/2006/main" noGrp="1"/>
          </p:cNvSpPr>
          <p:nvPr/>
        </p:nvSpPr>
        <p:spPr>
          <a:xfrm xmlns:a="http://schemas.openxmlformats.org/drawingml/2006/main">
            <a:off x="7067550" y="4029075"/>
            <a:ext cx="4000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Add managed connectors, access rules, schedules, and reconciliation.</a:t>
            </a:r>
          </a:p>
        </p:txBody>
      </p:sp>
      <p:sp>
        <p:nvSpPr>
          <p:cNvPr id="19" name="">
            <a:extLst xmlns:a="http://schemas.openxmlformats.org/drawingml/2006/main">
              <a:ext uri="{FF2B5EF4-FFF2-40B4-BE49-F238E27FC236}">
                <a16:creationId xmlns:a16="http://schemas.microsoft.com/office/drawing/2014/main" id="{C245F6B4-29EE-4FAF-8CED-C8CB5D03FD20}"/>
              </a:ext>
            </a:extLst>
          </p:cNvPr>
          <p:cNvSpPr>
            <a:spLocks xmlns:a="http://schemas.openxmlformats.org/drawingml/2006/main" noGrp="1"/>
          </p:cNvSpPr>
          <p:nvPr/>
        </p:nvSpPr>
        <p:spPr>
          <a:xfrm xmlns:a="http://schemas.openxmlformats.org/drawingml/2006/main">
            <a:off x="457200" y="4895850"/>
            <a:ext cx="10858500" cy="876300"/>
          </a:xfrm>
          <a:prstGeom xmlns:a="http://schemas.openxmlformats.org/drawingml/2006/main" prst="roundRect">
            <a:avLst>
              <a:gd name="adj" fmla="val 13043"/>
            </a:avLst>
          </a:prstGeom>
          <a:solidFill xmlns:a="http://schemas.openxmlformats.org/drawingml/2006/main">
            <a:srgbClr val="F2F4F7"/>
          </a:solidFill>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0D3A7A48-84E5-4A16-8618-B5949755C8FD}"/>
              </a:ext>
            </a:extLst>
          </p:cNvPr>
          <p:cNvSpPr>
            <a:spLocks xmlns:a="http://schemas.openxmlformats.org/drawingml/2006/main" noGrp="1"/>
          </p:cNvSpPr>
          <p:nvPr/>
        </p:nvSpPr>
        <p:spPr>
          <a:xfrm xmlns:a="http://schemas.openxmlformats.org/drawingml/2006/main">
            <a:off x="628650" y="5057775"/>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101828"/>
                </a:solidFill>
                <a:latin typeface="Helvetica Neue"/>
                <a:ea typeface="Helvetica Neue"/>
                <a:cs typeface="Helvetica Neue"/>
              </a:defRPr>
            </a:pPr>
            <a:r>
              <a:rPr sz="1275" b="1">
                <a:solidFill>
                  <a:srgbClr val="101828"/>
                </a:solidFill>
                <a:latin typeface="Helvetica Neue"/>
                <a:ea typeface="Helvetica Neue"/>
                <a:cs typeface="Helvetica Neue"/>
              </a:rPr>
              <a:t>text-embedding-3-large and fixed brief rules</a:t>
            </a:r>
          </a:p>
        </p:txBody>
      </p:sp>
      <p:sp>
        <p:nvSpPr>
          <p:cNvPr id="21" name="">
            <a:extLst xmlns:a="http://schemas.openxmlformats.org/drawingml/2006/main">
              <a:ext uri="{FF2B5EF4-FFF2-40B4-BE49-F238E27FC236}">
                <a16:creationId xmlns:a16="http://schemas.microsoft.com/office/drawing/2014/main" id="{73604F0C-EF44-422B-9768-10F27E619077}"/>
              </a:ext>
            </a:extLst>
          </p:cNvPr>
          <p:cNvSpPr>
            <a:spLocks xmlns:a="http://schemas.openxmlformats.org/drawingml/2006/main" noGrp="1"/>
          </p:cNvSpPr>
          <p:nvPr/>
        </p:nvSpPr>
        <p:spPr>
          <a:xfrm xmlns:a="http://schemas.openxmlformats.org/drawingml/2006/main">
            <a:off x="3333750" y="5057775"/>
            <a:ext cx="3333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OpenAI creates semantic embeddings. Fixed rules keep brief output repeatable.</a:t>
            </a:r>
          </a:p>
        </p:txBody>
      </p:sp>
      <p:sp>
        <p:nvSpPr>
          <p:cNvPr id="22" name="">
            <a:extLst xmlns:a="http://schemas.openxmlformats.org/drawingml/2006/main">
              <a:ext uri="{FF2B5EF4-FFF2-40B4-BE49-F238E27FC236}">
                <a16:creationId xmlns:a16="http://schemas.microsoft.com/office/drawing/2014/main" id="{612DA721-F40D-4B55-AC96-2E48A46CC6D5}"/>
              </a:ext>
            </a:extLst>
          </p:cNvPr>
          <p:cNvSpPr>
            <a:spLocks xmlns:a="http://schemas.openxmlformats.org/drawingml/2006/main" noGrp="1"/>
          </p:cNvSpPr>
          <p:nvPr/>
        </p:nvSpPr>
        <p:spPr>
          <a:xfrm xmlns:a="http://schemas.openxmlformats.org/drawingml/2006/main">
            <a:off x="7067550" y="5057775"/>
            <a:ext cx="4000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Evaluate retrieval. Add gpt-5.6-sol only for grounded generation.</a:t>
            </a:r>
          </a:p>
        </p:txBody>
      </p:sp>
    </p:spTree>
    <p:extLst>
      <p:ext uri="{BB962C8B-B14F-4D97-AF65-F5344CB8AC3E}">
        <p14:creationId xmlns:p14="http://schemas.microsoft.com/office/powerpoint/2010/main" val="436145467"/>
      </p:ext>
    </p:extLst>
  </p:cSld>
</p:sld>
</file>

<file path=ppt/slides/slide9.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DCB3F631-F107-449F-8532-F0F6CF09ED9C}"/>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V1 evaluation uses eight acceptance checks</a:t>
            </a:r>
          </a:p>
        </p:txBody>
      </p:sp>
      <p:sp>
        <p:nvSpPr>
          <p:cNvPr id="2" name="">
            <a:extLst xmlns:a="http://schemas.openxmlformats.org/drawingml/2006/main">
              <a:ext uri="{FF2B5EF4-FFF2-40B4-BE49-F238E27FC236}">
                <a16:creationId xmlns:a16="http://schemas.microsoft.com/office/drawing/2014/main" id="{FA2C5372-4CF1-4AE4-A3CD-4E138F754CA8}"/>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4839D6B0-80AA-4FCC-9C2D-6D215827FBA5}"/>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09</a:t>
            </a:r>
          </a:p>
        </p:txBody>
      </p:sp>
      <p:sp>
        <p:nvSpPr>
          <p:cNvPr id="4" name="">
            <a:extLst xmlns:a="http://schemas.openxmlformats.org/drawingml/2006/main">
              <a:ext uri="{FF2B5EF4-FFF2-40B4-BE49-F238E27FC236}">
                <a16:creationId xmlns:a16="http://schemas.microsoft.com/office/drawing/2014/main" id="{82E64302-6EE1-4371-AB23-0D77F5FE7F75}"/>
              </a:ext>
            </a:extLst>
          </p:cNvPr>
          <p:cNvSpPr>
            <a:spLocks xmlns:a="http://schemas.openxmlformats.org/drawingml/2006/main" noGrp="1"/>
          </p:cNvSpPr>
          <p:nvPr/>
        </p:nvSpPr>
        <p:spPr>
          <a:xfrm xmlns:a="http://schemas.openxmlformats.org/drawingml/2006/main">
            <a:off x="457200" y="1466850"/>
            <a:ext cx="10858500" cy="952500"/>
          </a:xfrm>
          <a:prstGeom xmlns:a="http://schemas.openxmlformats.org/drawingml/2006/main" prst="roundRect">
            <a:avLst>
              <a:gd name="adj" fmla="val 16000"/>
            </a:avLst>
          </a:prstGeom>
          <a:solidFill xmlns:a="http://schemas.openxmlformats.org/drawingml/2006/main">
            <a:srgbClr val="E8F0FB"/>
          </a:solidFill>
          <a:ln xmlns:a="http://schemas.openxmlformats.org/drawingml/2006/main" w="9525">
            <a:solidFill>
              <a:srgbClr val="9CB5D5"/>
            </a:solidFill>
            <a:prstDash val="solid"/>
          </a:ln>
        </p:spPr>
      </p:sp>
      <p:sp>
        <p:nvSpPr>
          <p:cNvPr id="5" name="">
            <a:extLst xmlns:a="http://schemas.openxmlformats.org/drawingml/2006/main">
              <a:ext uri="{FF2B5EF4-FFF2-40B4-BE49-F238E27FC236}">
                <a16:creationId xmlns:a16="http://schemas.microsoft.com/office/drawing/2014/main" id="{4A1BEC42-0504-4404-8738-11D6F8F404B8}"/>
              </a:ext>
            </a:extLst>
          </p:cNvPr>
          <p:cNvSpPr>
            <a:spLocks xmlns:a="http://schemas.openxmlformats.org/drawingml/2006/main" noGrp="1"/>
          </p:cNvSpPr>
          <p:nvPr/>
        </p:nvSpPr>
        <p:spPr>
          <a:xfrm xmlns:a="http://schemas.openxmlformats.org/drawingml/2006/main">
            <a:off x="685800" y="1657350"/>
            <a:ext cx="3333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315F9F"/>
                </a:solidFill>
                <a:latin typeface="Helvetica Neue"/>
                <a:ea typeface="Helvetica Neue"/>
                <a:cs typeface="Helvetica Neue"/>
              </a:defRPr>
            </a:pPr>
            <a:r>
              <a:rPr sz="1275" b="1">
                <a:solidFill>
                  <a:srgbClr val="315F9F"/>
                </a:solidFill>
                <a:latin typeface="Helvetica Neue"/>
                <a:ea typeface="Helvetica Neue"/>
                <a:cs typeface="Helvetica Neue"/>
              </a:rPr>
              <a:t>PROPOSED EVALUATION SET</a:t>
            </a:r>
          </a:p>
        </p:txBody>
      </p:sp>
      <p:sp>
        <p:nvSpPr>
          <p:cNvPr id="6" name="">
            <a:extLst xmlns:a="http://schemas.openxmlformats.org/drawingml/2006/main">
              <a:ext uri="{FF2B5EF4-FFF2-40B4-BE49-F238E27FC236}">
                <a16:creationId xmlns:a16="http://schemas.microsoft.com/office/drawing/2014/main" id="{58AABA6B-7522-4752-984B-13A58F66327C}"/>
              </a:ext>
            </a:extLst>
          </p:cNvPr>
          <p:cNvSpPr>
            <a:spLocks xmlns:a="http://schemas.openxmlformats.org/drawingml/2006/main" noGrp="1"/>
          </p:cNvSpPr>
          <p:nvPr/>
        </p:nvSpPr>
        <p:spPr>
          <a:xfrm xmlns:a="http://schemas.openxmlformats.org/drawingml/2006/main">
            <a:off x="685800" y="1952625"/>
            <a:ext cx="10096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Use reviewed company questions that include confirmed facts, true conflicts, missing facts, and changed records.</a:t>
            </a:r>
          </a:p>
        </p:txBody>
      </p:sp>
      <p:sp>
        <p:nvSpPr>
          <p:cNvPr id="7" name="">
            <a:extLst xmlns:a="http://schemas.openxmlformats.org/drawingml/2006/main">
              <a:ext uri="{FF2B5EF4-FFF2-40B4-BE49-F238E27FC236}">
                <a16:creationId xmlns:a16="http://schemas.microsoft.com/office/drawing/2014/main" id="{B2253D5B-CB83-4217-B157-E169C1C86900}"/>
              </a:ext>
            </a:extLst>
          </p:cNvPr>
          <p:cNvSpPr>
            <a:spLocks xmlns:a="http://schemas.openxmlformats.org/drawingml/2006/main" noGrp="1"/>
          </p:cNvSpPr>
          <p:nvPr/>
        </p:nvSpPr>
        <p:spPr>
          <a:xfrm xmlns:a="http://schemas.openxmlformats.org/drawingml/2006/main">
            <a:off x="45720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8" name="">
            <a:extLst xmlns:a="http://schemas.openxmlformats.org/drawingml/2006/main">
              <a:ext uri="{FF2B5EF4-FFF2-40B4-BE49-F238E27FC236}">
                <a16:creationId xmlns:a16="http://schemas.microsoft.com/office/drawing/2014/main" id="{9B98B8DF-CD87-4BEC-BD37-808E72CD6957}"/>
              </a:ext>
            </a:extLst>
          </p:cNvPr>
          <p:cNvSpPr>
            <a:spLocks xmlns:a="http://schemas.openxmlformats.org/drawingml/2006/main" noGrp="1"/>
          </p:cNvSpPr>
          <p:nvPr/>
        </p:nvSpPr>
        <p:spPr>
          <a:xfrm xmlns:a="http://schemas.openxmlformats.org/drawingml/2006/main">
            <a:off x="66675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RETRIEVAL</a:t>
            </a:r>
          </a:p>
        </p:txBody>
      </p:sp>
      <p:sp>
        <p:nvSpPr>
          <p:cNvPr id="9" name="">
            <a:extLst xmlns:a="http://schemas.openxmlformats.org/drawingml/2006/main">
              <a:ext uri="{FF2B5EF4-FFF2-40B4-BE49-F238E27FC236}">
                <a16:creationId xmlns:a16="http://schemas.microsoft.com/office/drawing/2014/main" id="{CCEE06AE-D800-407A-A0B0-2475AB3FC0AF}"/>
              </a:ext>
            </a:extLst>
          </p:cNvPr>
          <p:cNvSpPr>
            <a:spLocks xmlns:a="http://schemas.openxmlformats.org/drawingml/2006/main" noGrp="1"/>
          </p:cNvSpPr>
          <p:nvPr/>
        </p:nvSpPr>
        <p:spPr>
          <a:xfrm xmlns:a="http://schemas.openxmlformats.org/drawingml/2006/main">
            <a:off x="66675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Recall</a:t>
            </a:r>
          </a:p>
        </p:txBody>
      </p:sp>
      <p:sp>
        <p:nvSpPr>
          <p:cNvPr id="10" name="">
            <a:extLst xmlns:a="http://schemas.openxmlformats.org/drawingml/2006/main">
              <a:ext uri="{FF2B5EF4-FFF2-40B4-BE49-F238E27FC236}">
                <a16:creationId xmlns:a16="http://schemas.microsoft.com/office/drawing/2014/main" id="{032B57AF-1BAF-46D8-8B4E-B24061CB2A26}"/>
              </a:ext>
            </a:extLst>
          </p:cNvPr>
          <p:cNvSpPr>
            <a:spLocks xmlns:a="http://schemas.openxmlformats.org/drawingml/2006/main" noGrp="1"/>
          </p:cNvSpPr>
          <p:nvPr/>
        </p:nvSpPr>
        <p:spPr>
          <a:xfrm xmlns:a="http://schemas.openxmlformats.org/drawingml/2006/main">
            <a:off x="66675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Must-find source in top 30</a:t>
            </a:r>
          </a:p>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No cross-company result</a:t>
            </a:r>
          </a:p>
        </p:txBody>
      </p:sp>
      <p:sp>
        <p:nvSpPr>
          <p:cNvPr id="11" name="">
            <a:extLst xmlns:a="http://schemas.openxmlformats.org/drawingml/2006/main">
              <a:ext uri="{FF2B5EF4-FFF2-40B4-BE49-F238E27FC236}">
                <a16:creationId xmlns:a16="http://schemas.microsoft.com/office/drawing/2014/main" id="{C54EE160-B2FE-4724-B4DB-29B4F6C94ED8}"/>
              </a:ext>
            </a:extLst>
          </p:cNvPr>
          <p:cNvSpPr>
            <a:spLocks xmlns:a="http://schemas.openxmlformats.org/drawingml/2006/main" noGrp="1"/>
          </p:cNvSpPr>
          <p:nvPr/>
        </p:nvSpPr>
        <p:spPr>
          <a:xfrm xmlns:a="http://schemas.openxmlformats.org/drawingml/2006/main">
            <a:off x="321945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E103A2B5-5C9B-4684-88A5-D7E54E104F02}"/>
              </a:ext>
            </a:extLst>
          </p:cNvPr>
          <p:cNvSpPr>
            <a:spLocks xmlns:a="http://schemas.openxmlformats.org/drawingml/2006/main" noGrp="1"/>
          </p:cNvSpPr>
          <p:nvPr/>
        </p:nvSpPr>
        <p:spPr>
          <a:xfrm xmlns:a="http://schemas.openxmlformats.org/drawingml/2006/main">
            <a:off x="342900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GROUNDING</a:t>
            </a:r>
          </a:p>
        </p:txBody>
      </p:sp>
      <p:sp>
        <p:nvSpPr>
          <p:cNvPr id="13" name="">
            <a:extLst xmlns:a="http://schemas.openxmlformats.org/drawingml/2006/main">
              <a:ext uri="{FF2B5EF4-FFF2-40B4-BE49-F238E27FC236}">
                <a16:creationId xmlns:a16="http://schemas.microsoft.com/office/drawing/2014/main" id="{9FCDF1D5-5421-492D-BFC5-2AC7138E96FF}"/>
              </a:ext>
            </a:extLst>
          </p:cNvPr>
          <p:cNvSpPr>
            <a:spLocks xmlns:a="http://schemas.openxmlformats.org/drawingml/2006/main" noGrp="1"/>
          </p:cNvSpPr>
          <p:nvPr/>
        </p:nvSpPr>
        <p:spPr>
          <a:xfrm xmlns:a="http://schemas.openxmlformats.org/drawingml/2006/main">
            <a:off x="342900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2850" b="1">
                <a:solidFill>
                  <a:srgbClr val="101828"/>
                </a:solidFill>
                <a:latin typeface="Helvetica Neue"/>
                <a:ea typeface="Helvetica Neue"/>
                <a:cs typeface="Helvetica Neue"/>
              </a:rPr>
              <a:t>Support</a:t>
            </a:r>
          </a:p>
        </p:txBody>
      </p:sp>
      <p:sp>
        <p:nvSpPr>
          <p:cNvPr id="14" name="">
            <a:extLst xmlns:a="http://schemas.openxmlformats.org/drawingml/2006/main">
              <a:ext uri="{FF2B5EF4-FFF2-40B4-BE49-F238E27FC236}">
                <a16:creationId xmlns:a16="http://schemas.microsoft.com/office/drawing/2014/main" id="{96F3C4E3-ACED-4D21-A3E1-834E7E3DD175}"/>
              </a:ext>
            </a:extLst>
          </p:cNvPr>
          <p:cNvSpPr>
            <a:spLocks xmlns:a="http://schemas.openxmlformats.org/drawingml/2006/main" noGrp="1"/>
          </p:cNvSpPr>
          <p:nvPr/>
        </p:nvSpPr>
        <p:spPr>
          <a:xfrm xmlns:a="http://schemas.openxmlformats.org/drawingml/2006/main">
            <a:off x="342900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Each claim has a source</a:t>
            </a:r>
          </a:p>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Reviewer confirms support</a:t>
            </a:r>
          </a:p>
        </p:txBody>
      </p:sp>
      <p:sp>
        <p:nvSpPr>
          <p:cNvPr id="15" name="">
            <a:extLst xmlns:a="http://schemas.openxmlformats.org/drawingml/2006/main">
              <a:ext uri="{FF2B5EF4-FFF2-40B4-BE49-F238E27FC236}">
                <a16:creationId xmlns:a16="http://schemas.microsoft.com/office/drawing/2014/main" id="{A7E65777-4F36-4020-AF7C-22F413271467}"/>
              </a:ext>
            </a:extLst>
          </p:cNvPr>
          <p:cNvSpPr>
            <a:spLocks xmlns:a="http://schemas.openxmlformats.org/drawingml/2006/main" noGrp="1"/>
          </p:cNvSpPr>
          <p:nvPr/>
        </p:nvSpPr>
        <p:spPr>
          <a:xfrm xmlns:a="http://schemas.openxmlformats.org/drawingml/2006/main">
            <a:off x="598170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468EA405-4A26-4F28-9A03-279E84257E69}"/>
              </a:ext>
            </a:extLst>
          </p:cNvPr>
          <p:cNvSpPr>
            <a:spLocks xmlns:a="http://schemas.openxmlformats.org/drawingml/2006/main" noGrp="1"/>
          </p:cNvSpPr>
          <p:nvPr/>
        </p:nvSpPr>
        <p:spPr>
          <a:xfrm xmlns:a="http://schemas.openxmlformats.org/drawingml/2006/main">
            <a:off x="619125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PRODUCT</a:t>
            </a:r>
          </a:p>
        </p:txBody>
      </p:sp>
      <p:sp>
        <p:nvSpPr>
          <p:cNvPr id="17" name="">
            <a:extLst xmlns:a="http://schemas.openxmlformats.org/drawingml/2006/main">
              <a:ext uri="{FF2B5EF4-FFF2-40B4-BE49-F238E27FC236}">
                <a16:creationId xmlns:a16="http://schemas.microsoft.com/office/drawing/2014/main" id="{D8BE85FE-503D-42CD-9E11-C9853F789DE1}"/>
              </a:ext>
            </a:extLst>
          </p:cNvPr>
          <p:cNvSpPr>
            <a:spLocks xmlns:a="http://schemas.openxmlformats.org/drawingml/2006/main" noGrp="1"/>
          </p:cNvSpPr>
          <p:nvPr/>
        </p:nvSpPr>
        <p:spPr>
          <a:xfrm xmlns:a="http://schemas.openxmlformats.org/drawingml/2006/main">
            <a:off x="619125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Use</a:t>
            </a:r>
          </a:p>
        </p:txBody>
      </p:sp>
      <p:sp>
        <p:nvSpPr>
          <p:cNvPr id="18" name="">
            <a:extLst xmlns:a="http://schemas.openxmlformats.org/drawingml/2006/main">
              <a:ext uri="{FF2B5EF4-FFF2-40B4-BE49-F238E27FC236}">
                <a16:creationId xmlns:a16="http://schemas.microsoft.com/office/drawing/2014/main" id="{8B3D565A-3552-4FDC-9339-4D2454B4C0FA}"/>
              </a:ext>
            </a:extLst>
          </p:cNvPr>
          <p:cNvSpPr>
            <a:spLocks xmlns:a="http://schemas.openxmlformats.org/drawingml/2006/main" noGrp="1"/>
          </p:cNvSpPr>
          <p:nvPr/>
        </p:nvSpPr>
        <p:spPr>
          <a:xfrm xmlns:a="http://schemas.openxmlformats.org/drawingml/2006/main">
            <a:off x="619125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Brief in 30 seconds or less</a:t>
            </a:r>
          </a:p>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RC score is 4 of 5 or more</a:t>
            </a:r>
          </a:p>
        </p:txBody>
      </p:sp>
      <p:sp>
        <p:nvSpPr>
          <p:cNvPr id="19" name="">
            <a:extLst xmlns:a="http://schemas.openxmlformats.org/drawingml/2006/main">
              <a:ext uri="{FF2B5EF4-FFF2-40B4-BE49-F238E27FC236}">
                <a16:creationId xmlns:a16="http://schemas.microsoft.com/office/drawing/2014/main" id="{21909835-C000-476D-BE4E-86B6A009FC7F}"/>
              </a:ext>
            </a:extLst>
          </p:cNvPr>
          <p:cNvSpPr>
            <a:spLocks xmlns:a="http://schemas.openxmlformats.org/drawingml/2006/main" noGrp="1"/>
          </p:cNvSpPr>
          <p:nvPr/>
        </p:nvSpPr>
        <p:spPr>
          <a:xfrm xmlns:a="http://schemas.openxmlformats.org/drawingml/2006/main">
            <a:off x="874395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14D12D1C-71C7-4D5E-841E-35CE6D175B78}"/>
              </a:ext>
            </a:extLst>
          </p:cNvPr>
          <p:cNvSpPr>
            <a:spLocks xmlns:a="http://schemas.openxmlformats.org/drawingml/2006/main" noGrp="1"/>
          </p:cNvSpPr>
          <p:nvPr/>
        </p:nvSpPr>
        <p:spPr>
          <a:xfrm xmlns:a="http://schemas.openxmlformats.org/drawingml/2006/main">
            <a:off x="895350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OPERATIONS</a:t>
            </a:r>
          </a:p>
        </p:txBody>
      </p:sp>
      <p:sp>
        <p:nvSpPr>
          <p:cNvPr id="21" name="">
            <a:extLst xmlns:a="http://schemas.openxmlformats.org/drawingml/2006/main">
              <a:ext uri="{FF2B5EF4-FFF2-40B4-BE49-F238E27FC236}">
                <a16:creationId xmlns:a16="http://schemas.microsoft.com/office/drawing/2014/main" id="{F686A3A3-BAF9-4CEC-BA6B-8E7459E7CB1A}"/>
              </a:ext>
            </a:extLst>
          </p:cNvPr>
          <p:cNvSpPr>
            <a:spLocks xmlns:a="http://schemas.openxmlformats.org/drawingml/2006/main" noGrp="1"/>
          </p:cNvSpPr>
          <p:nvPr/>
        </p:nvSpPr>
        <p:spPr>
          <a:xfrm xmlns:a="http://schemas.openxmlformats.org/drawingml/2006/main">
            <a:off x="895350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Change</a:t>
            </a:r>
          </a:p>
        </p:txBody>
      </p:sp>
      <p:sp>
        <p:nvSpPr>
          <p:cNvPr id="22" name="">
            <a:extLst xmlns:a="http://schemas.openxmlformats.org/drawingml/2006/main">
              <a:ext uri="{FF2B5EF4-FFF2-40B4-BE49-F238E27FC236}">
                <a16:creationId xmlns:a16="http://schemas.microsoft.com/office/drawing/2014/main" id="{98A790D2-D307-426F-AFF6-4F296FCAF988}"/>
              </a:ext>
            </a:extLst>
          </p:cNvPr>
          <p:cNvSpPr>
            <a:spLocks xmlns:a="http://schemas.openxmlformats.org/drawingml/2006/main" noGrp="1"/>
          </p:cNvSpPr>
          <p:nvPr/>
        </p:nvSpPr>
        <p:spPr>
          <a:xfrm xmlns:a="http://schemas.openxmlformats.org/drawingml/2006/main">
            <a:off x="895350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278"/>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No duplicate on repeat import</a:t>
            </a:r>
          </a:p>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Next brief uses changed content</a:t>
            </a:r>
          </a:p>
        </p:txBody>
      </p:sp>
      <p:sp>
        <p:nvSpPr>
          <p:cNvPr id="23" name="">
            <a:extLst xmlns:a="http://schemas.openxmlformats.org/drawingml/2006/main">
              <a:ext uri="{FF2B5EF4-FFF2-40B4-BE49-F238E27FC236}">
                <a16:creationId xmlns:a16="http://schemas.microsoft.com/office/drawing/2014/main" id="{25EC7D7C-6E01-4D17-AA83-D2DB3D6F5810}"/>
              </a:ext>
            </a:extLst>
          </p:cNvPr>
          <p:cNvSpPr>
            <a:spLocks xmlns:a="http://schemas.openxmlformats.org/drawingml/2006/main" noGrp="1"/>
          </p:cNvSpPr>
          <p:nvPr/>
        </p:nvSpPr>
        <p:spPr>
          <a:xfrm xmlns:a="http://schemas.openxmlformats.org/drawingml/2006/main">
            <a:off x="457200" y="5219700"/>
            <a:ext cx="1085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1350" b="1">
                <a:solidFill>
                  <a:srgbClr val="344054"/>
                </a:solidFill>
                <a:latin typeface="Helvetica Neue"/>
                <a:ea typeface="Helvetica Neue"/>
                <a:cs typeface="Helvetica Neue"/>
              </a:defRPr>
            </a:pPr>
            <a:r>
              <a:rPr sz="1350" b="1">
                <a:solidFill>
                  <a:srgbClr val="344054"/>
                </a:solidFill>
                <a:latin typeface="Helvetica Neue"/>
                <a:ea typeface="Helvetica Neue"/>
                <a:cs typeface="Helvetica Neue"/>
              </a:rPr>
              <a:t>Code checks: Retrieval and Operations · Reviewer checks: Grounding and Product</a:t>
            </a:r>
          </a:p>
        </p:txBody>
      </p:sp>
      <p:sp>
        <p:nvSpPr>
          <p:cNvPr id="24" name="">
            <a:extLst xmlns:a="http://schemas.openxmlformats.org/drawingml/2006/main">
              <a:ext uri="{FF2B5EF4-FFF2-40B4-BE49-F238E27FC236}">
                <a16:creationId xmlns:a16="http://schemas.microsoft.com/office/drawing/2014/main" id="{4C39101A-94C4-48DC-82B6-88D1BEEA99D4}"/>
              </a:ext>
            </a:extLst>
          </p:cNvPr>
          <p:cNvSpPr>
            <a:spLocks xmlns:a="http://schemas.openxmlformats.org/drawingml/2006/main" noGrp="1"/>
          </p:cNvSpPr>
          <p:nvPr/>
        </p:nvSpPr>
        <p:spPr>
          <a:xfrm xmlns:a="http://schemas.openxmlformats.org/drawingml/2006/main">
            <a:off x="457200" y="5638800"/>
            <a:ext cx="1085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315F9F"/>
                </a:solidFill>
                <a:latin typeface="Helvetica Neue"/>
                <a:ea typeface="Helvetica Neue"/>
                <a:cs typeface="Helvetica Neue"/>
              </a:defRPr>
            </a:pPr>
            <a:r>
              <a:rPr sz="1275" b="1">
                <a:solidFill>
                  <a:srgbClr val="315F9F"/>
                </a:solidFill>
                <a:latin typeface="Helvetica Neue"/>
                <a:ea typeface="Helvetica Neue"/>
                <a:cs typeface="Helvetica Neue"/>
              </a:rPr>
              <a:t>Run the same set after a retrieval, embedding model, generation rule, or source-rule change.</a:t>
            </a:r>
          </a:p>
        </p:txBody>
      </p:sp>
    </p:spTree>
    <p:extLst>
      <p:ext uri="{BB962C8B-B14F-4D97-AF65-F5344CB8AC3E}">
        <p14:creationId xmlns:p14="http://schemas.microsoft.com/office/powerpoint/2010/main" val="1483308295"/>
      </p:ext>
    </p:extLst>
  </p:cSld>
</p:sld>
</file>

<file path=ppt/slides/slide10.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DCB3F631-F107-449F-8532-F0F6CF09ED9C}"/>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What must V1 do, and what is good enough to ship?</a:t>
            </a:r>
          </a:p>
        </p:txBody>
      </p:sp>
      <p:sp>
        <p:nvSpPr>
          <p:cNvPr id="2" name="">
            <a:extLst xmlns:a="http://schemas.openxmlformats.org/drawingml/2006/main">
              <a:ext uri="{FF2B5EF4-FFF2-40B4-BE49-F238E27FC236}">
                <a16:creationId xmlns:a16="http://schemas.microsoft.com/office/drawing/2014/main" id="{FA2C5372-4CF1-4AE4-A3CD-4E138F754CA8}"/>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4839D6B0-80AA-4FCC-9C2D-6D215827FBA5}"/>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10</a:t>
            </a:r>
          </a:p>
        </p:txBody>
      </p:sp>
      <p:sp>
        <p:nvSpPr>
          <p:cNvPr id="4" name="">
            <a:extLst xmlns:a="http://schemas.openxmlformats.org/drawingml/2006/main">
              <a:ext uri="{FF2B5EF4-FFF2-40B4-BE49-F238E27FC236}">
                <a16:creationId xmlns:a16="http://schemas.microsoft.com/office/drawing/2014/main" id="{82E64302-6EE1-4371-AB23-0D77F5FE7F75}"/>
              </a:ext>
            </a:extLst>
          </p:cNvPr>
          <p:cNvSpPr>
            <a:spLocks xmlns:a="http://schemas.openxmlformats.org/drawingml/2006/main" noGrp="1"/>
          </p:cNvSpPr>
          <p:nvPr/>
        </p:nvSpPr>
        <p:spPr>
          <a:xfrm xmlns:a="http://schemas.openxmlformats.org/drawingml/2006/main">
            <a:off x="457200" y="1466850"/>
            <a:ext cx="10858500" cy="952500"/>
          </a:xfrm>
          <a:prstGeom xmlns:a="http://schemas.openxmlformats.org/drawingml/2006/main" prst="roundRect">
            <a:avLst>
              <a:gd name="adj" fmla="val 16000"/>
            </a:avLst>
          </a:prstGeom>
          <a:solidFill xmlns:a="http://schemas.openxmlformats.org/drawingml/2006/main">
            <a:srgbClr val="E8F0FB"/>
          </a:solidFill>
          <a:ln xmlns:a="http://schemas.openxmlformats.org/drawingml/2006/main" w="9525">
            <a:solidFill>
              <a:srgbClr val="9CB5D5"/>
            </a:solidFill>
            <a:prstDash val="solid"/>
          </a:ln>
        </p:spPr>
      </p:sp>
      <p:sp>
        <p:nvSpPr>
          <p:cNvPr id="5" name="">
            <a:extLst xmlns:a="http://schemas.openxmlformats.org/drawingml/2006/main">
              <a:ext uri="{FF2B5EF4-FFF2-40B4-BE49-F238E27FC236}">
                <a16:creationId xmlns:a16="http://schemas.microsoft.com/office/drawing/2014/main" id="{4A1BEC42-0504-4404-8738-11D6F8F404B8}"/>
              </a:ext>
            </a:extLst>
          </p:cNvPr>
          <p:cNvSpPr>
            <a:spLocks xmlns:a="http://schemas.openxmlformats.org/drawingml/2006/main" noGrp="1"/>
          </p:cNvSpPr>
          <p:nvPr/>
        </p:nvSpPr>
        <p:spPr>
          <a:xfrm xmlns:a="http://schemas.openxmlformats.org/drawingml/2006/main">
            <a:off x="685800" y="1657350"/>
            <a:ext cx="3333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315F9F"/>
                </a:solidFill>
                <a:latin typeface="Helvetica Neue"/>
                <a:ea typeface="Helvetica Neue"/>
                <a:cs typeface="Helvetica Neue"/>
              </a:defRPr>
            </a:pPr>
            <a:r>
              <a:rPr sz="1275" b="1">
                <a:solidFill>
                  <a:srgbClr val="315F9F"/>
                </a:solidFill>
                <a:latin typeface="Helvetica Neue"/>
                <a:ea typeface="Helvetica Neue"/>
                <a:cs typeface="Helvetica Neue"/>
              </a:rPr>
              <a:t>RC is preparing for a company discussion</a:t>
            </a:r>
          </a:p>
        </p:txBody>
      </p:sp>
      <p:sp>
        <p:nvSpPr>
          <p:cNvPr id="6" name="">
            <a:extLst xmlns:a="http://schemas.openxmlformats.org/drawingml/2006/main">
              <a:ext uri="{FF2B5EF4-FFF2-40B4-BE49-F238E27FC236}">
                <a16:creationId xmlns:a16="http://schemas.microsoft.com/office/drawing/2014/main" id="{58AABA6B-7522-4752-984B-13A58F66327C}"/>
              </a:ext>
            </a:extLst>
          </p:cNvPr>
          <p:cNvSpPr>
            <a:spLocks xmlns:a="http://schemas.openxmlformats.org/drawingml/2006/main" noGrp="1"/>
          </p:cNvSpPr>
          <p:nvPr/>
        </p:nvSpPr>
        <p:spPr>
          <a:xfrm xmlns:a="http://schemas.openxmlformats.org/drawingml/2006/main">
            <a:off x="685800" y="1952625"/>
            <a:ext cx="10096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His information is spread across several systems. He needs current evidence before he uses his judgment.</a:t>
            </a:r>
          </a:p>
        </p:txBody>
      </p:sp>
      <p:sp>
        <p:nvSpPr>
          <p:cNvPr id="7" name="">
            <a:extLst xmlns:a="http://schemas.openxmlformats.org/drawingml/2006/main">
              <a:ext uri="{FF2B5EF4-FFF2-40B4-BE49-F238E27FC236}">
                <a16:creationId xmlns:a16="http://schemas.microsoft.com/office/drawing/2014/main" id="{B2253D5B-CB83-4217-B157-E169C1C86900}"/>
              </a:ext>
            </a:extLst>
          </p:cNvPr>
          <p:cNvSpPr>
            <a:spLocks xmlns:a="http://schemas.openxmlformats.org/drawingml/2006/main" noGrp="1"/>
          </p:cNvSpPr>
          <p:nvPr/>
        </p:nvSpPr>
        <p:spPr>
          <a:xfrm xmlns:a="http://schemas.openxmlformats.org/drawingml/2006/main">
            <a:off x="45720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8" name="">
            <a:extLst xmlns:a="http://schemas.openxmlformats.org/drawingml/2006/main">
              <a:ext uri="{FF2B5EF4-FFF2-40B4-BE49-F238E27FC236}">
                <a16:creationId xmlns:a16="http://schemas.microsoft.com/office/drawing/2014/main" id="{9B98B8DF-CD87-4BEC-BD37-808E72CD6957}"/>
              </a:ext>
            </a:extLst>
          </p:cNvPr>
          <p:cNvSpPr>
            <a:spLocks xmlns:a="http://schemas.openxmlformats.org/drawingml/2006/main" noGrp="1"/>
          </p:cNvSpPr>
          <p:nvPr/>
        </p:nvSpPr>
        <p:spPr>
          <a:xfrm xmlns:a="http://schemas.openxmlformats.org/drawingml/2006/main">
            <a:off x="66675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SPEED</a:t>
            </a:r>
          </a:p>
        </p:txBody>
      </p:sp>
      <p:sp>
        <p:nvSpPr>
          <p:cNvPr id="9" name="">
            <a:extLst xmlns:a="http://schemas.openxmlformats.org/drawingml/2006/main">
              <a:ext uri="{FF2B5EF4-FFF2-40B4-BE49-F238E27FC236}">
                <a16:creationId xmlns:a16="http://schemas.microsoft.com/office/drawing/2014/main" id="{CCEE06AE-D800-407A-A0B0-2475AB3FC0AF}"/>
              </a:ext>
            </a:extLst>
          </p:cNvPr>
          <p:cNvSpPr>
            <a:spLocks xmlns:a="http://schemas.openxmlformats.org/drawingml/2006/main" noGrp="1"/>
          </p:cNvSpPr>
          <p:nvPr/>
        </p:nvSpPr>
        <p:spPr>
          <a:xfrm xmlns:a="http://schemas.openxmlformats.org/drawingml/2006/main">
            <a:off x="66675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≤30 sec</a:t>
            </a:r>
          </a:p>
        </p:txBody>
      </p:sp>
      <p:sp>
        <p:nvSpPr>
          <p:cNvPr id="10" name="">
            <a:extLst xmlns:a="http://schemas.openxmlformats.org/drawingml/2006/main">
              <a:ext uri="{FF2B5EF4-FFF2-40B4-BE49-F238E27FC236}">
                <a16:creationId xmlns:a16="http://schemas.microsoft.com/office/drawing/2014/main" id="{032B57AF-1BAF-46D8-8B4E-B24061CB2A26}"/>
              </a:ext>
            </a:extLst>
          </p:cNvPr>
          <p:cNvSpPr>
            <a:spLocks xmlns:a="http://schemas.openxmlformats.org/drawingml/2006/main" noGrp="1"/>
          </p:cNvSpPr>
          <p:nvPr/>
        </p:nvSpPr>
        <p:spPr>
          <a:xfrm xmlns:a="http://schemas.openxmlformats.org/drawingml/2006/main">
            <a:off x="66675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Brief target for each company</a:t>
            </a:r>
          </a:p>
        </p:txBody>
      </p:sp>
      <p:sp>
        <p:nvSpPr>
          <p:cNvPr id="11" name="">
            <a:extLst xmlns:a="http://schemas.openxmlformats.org/drawingml/2006/main">
              <a:ext uri="{FF2B5EF4-FFF2-40B4-BE49-F238E27FC236}">
                <a16:creationId xmlns:a16="http://schemas.microsoft.com/office/drawing/2014/main" id="{C54EE160-B2FE-4724-B4DB-29B4F6C94ED8}"/>
              </a:ext>
            </a:extLst>
          </p:cNvPr>
          <p:cNvSpPr>
            <a:spLocks xmlns:a="http://schemas.openxmlformats.org/drawingml/2006/main" noGrp="1"/>
          </p:cNvSpPr>
          <p:nvPr/>
        </p:nvSpPr>
        <p:spPr>
          <a:xfrm xmlns:a="http://schemas.openxmlformats.org/drawingml/2006/main">
            <a:off x="321945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E103A2B5-5C9B-4684-88A5-D7E54E104F02}"/>
              </a:ext>
            </a:extLst>
          </p:cNvPr>
          <p:cNvSpPr>
            <a:spLocks xmlns:a="http://schemas.openxmlformats.org/drawingml/2006/main" noGrp="1"/>
          </p:cNvSpPr>
          <p:nvPr/>
        </p:nvSpPr>
        <p:spPr>
          <a:xfrm xmlns:a="http://schemas.openxmlformats.org/drawingml/2006/main">
            <a:off x="342900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SOURCE CHECK</a:t>
            </a:r>
          </a:p>
        </p:txBody>
      </p:sp>
      <p:sp>
        <p:nvSpPr>
          <p:cNvPr id="13" name="">
            <a:extLst xmlns:a="http://schemas.openxmlformats.org/drawingml/2006/main">
              <a:ext uri="{FF2B5EF4-FFF2-40B4-BE49-F238E27FC236}">
                <a16:creationId xmlns:a16="http://schemas.microsoft.com/office/drawing/2014/main" id="{9FCDF1D5-5421-492D-BFC5-2AC7138E96FF}"/>
              </a:ext>
            </a:extLst>
          </p:cNvPr>
          <p:cNvSpPr>
            <a:spLocks xmlns:a="http://schemas.openxmlformats.org/drawingml/2006/main" noGrp="1"/>
          </p:cNvSpPr>
          <p:nvPr/>
        </p:nvSpPr>
        <p:spPr>
          <a:xfrm xmlns:a="http://schemas.openxmlformats.org/drawingml/2006/main">
            <a:off x="342900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2850" b="1">
                <a:solidFill>
                  <a:srgbClr val="101828"/>
                </a:solidFill>
                <a:latin typeface="Helvetica Neue"/>
                <a:ea typeface="Helvetica Neue"/>
                <a:cs typeface="Helvetica Neue"/>
              </a:rPr>
              <a:t>Required</a:t>
            </a:r>
          </a:p>
        </p:txBody>
      </p:sp>
      <p:sp>
        <p:nvSpPr>
          <p:cNvPr id="14" name="">
            <a:extLst xmlns:a="http://schemas.openxmlformats.org/drawingml/2006/main">
              <a:ext uri="{FF2B5EF4-FFF2-40B4-BE49-F238E27FC236}">
                <a16:creationId xmlns:a16="http://schemas.microsoft.com/office/drawing/2014/main" id="{96F3C4E3-ACED-4D21-A3E1-834E7E3DD175}"/>
              </a:ext>
            </a:extLst>
          </p:cNvPr>
          <p:cNvSpPr>
            <a:spLocks xmlns:a="http://schemas.openxmlformats.org/drawingml/2006/main" noGrp="1"/>
          </p:cNvSpPr>
          <p:nvPr/>
        </p:nvSpPr>
        <p:spPr>
          <a:xfrm xmlns:a="http://schemas.openxmlformats.org/drawingml/2006/main">
            <a:off x="342900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Source, date, excerpt, and original record</a:t>
            </a:r>
          </a:p>
        </p:txBody>
      </p:sp>
      <p:sp>
        <p:nvSpPr>
          <p:cNvPr id="15" name="">
            <a:extLst xmlns:a="http://schemas.openxmlformats.org/drawingml/2006/main">
              <a:ext uri="{FF2B5EF4-FFF2-40B4-BE49-F238E27FC236}">
                <a16:creationId xmlns:a16="http://schemas.microsoft.com/office/drawing/2014/main" id="{A7E65777-4F36-4020-AF7C-22F413271467}"/>
              </a:ext>
            </a:extLst>
          </p:cNvPr>
          <p:cNvSpPr>
            <a:spLocks xmlns:a="http://schemas.openxmlformats.org/drawingml/2006/main" noGrp="1"/>
          </p:cNvSpPr>
          <p:nvPr/>
        </p:nvSpPr>
        <p:spPr>
          <a:xfrm xmlns:a="http://schemas.openxmlformats.org/drawingml/2006/main">
            <a:off x="598170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468EA405-4A26-4F28-9A03-279E84257E69}"/>
              </a:ext>
            </a:extLst>
          </p:cNvPr>
          <p:cNvSpPr>
            <a:spLocks xmlns:a="http://schemas.openxmlformats.org/drawingml/2006/main" noGrp="1"/>
          </p:cNvSpPr>
          <p:nvPr/>
        </p:nvSpPr>
        <p:spPr>
          <a:xfrm xmlns:a="http://schemas.openxmlformats.org/drawingml/2006/main">
            <a:off x="619125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ISOLATION</a:t>
            </a:r>
          </a:p>
        </p:txBody>
      </p:sp>
      <p:sp>
        <p:nvSpPr>
          <p:cNvPr id="17" name="">
            <a:extLst xmlns:a="http://schemas.openxmlformats.org/drawingml/2006/main">
              <a:ext uri="{FF2B5EF4-FFF2-40B4-BE49-F238E27FC236}">
                <a16:creationId xmlns:a16="http://schemas.microsoft.com/office/drawing/2014/main" id="{D8BE85FE-503D-42CD-9E11-C9853F789DE1}"/>
              </a:ext>
            </a:extLst>
          </p:cNvPr>
          <p:cNvSpPr>
            <a:spLocks xmlns:a="http://schemas.openxmlformats.org/drawingml/2006/main" noGrp="1"/>
          </p:cNvSpPr>
          <p:nvPr/>
        </p:nvSpPr>
        <p:spPr>
          <a:xfrm xmlns:a="http://schemas.openxmlformats.org/drawingml/2006/main">
            <a:off x="619125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0</a:t>
            </a:r>
          </a:p>
        </p:txBody>
      </p:sp>
      <p:sp>
        <p:nvSpPr>
          <p:cNvPr id="18" name="">
            <a:extLst xmlns:a="http://schemas.openxmlformats.org/drawingml/2006/main">
              <a:ext uri="{FF2B5EF4-FFF2-40B4-BE49-F238E27FC236}">
                <a16:creationId xmlns:a16="http://schemas.microsoft.com/office/drawing/2014/main" id="{8B3D565A-3552-4FDC-9339-4D2454B4C0FA}"/>
              </a:ext>
            </a:extLst>
          </p:cNvPr>
          <p:cNvSpPr>
            <a:spLocks xmlns:a="http://schemas.openxmlformats.org/drawingml/2006/main" noGrp="1"/>
          </p:cNvSpPr>
          <p:nvPr/>
        </p:nvSpPr>
        <p:spPr>
          <a:xfrm xmlns:a="http://schemas.openxmlformats.org/drawingml/2006/main">
            <a:off x="619125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Records from another company</a:t>
            </a:r>
          </a:p>
        </p:txBody>
      </p:sp>
      <p:sp>
        <p:nvSpPr>
          <p:cNvPr id="19" name="">
            <a:extLst xmlns:a="http://schemas.openxmlformats.org/drawingml/2006/main">
              <a:ext uri="{FF2B5EF4-FFF2-40B4-BE49-F238E27FC236}">
                <a16:creationId xmlns:a16="http://schemas.microsoft.com/office/drawing/2014/main" id="{21909835-C000-476D-BE4E-86B6A009FC7F}"/>
              </a:ext>
            </a:extLst>
          </p:cNvPr>
          <p:cNvSpPr>
            <a:spLocks xmlns:a="http://schemas.openxmlformats.org/drawingml/2006/main" noGrp="1"/>
          </p:cNvSpPr>
          <p:nvPr/>
        </p:nvSpPr>
        <p:spPr>
          <a:xfrm xmlns:a="http://schemas.openxmlformats.org/drawingml/2006/main">
            <a:off x="874395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14D12D1C-71C7-4D5E-841E-35CE6D175B78}"/>
              </a:ext>
            </a:extLst>
          </p:cNvPr>
          <p:cNvSpPr>
            <a:spLocks xmlns:a="http://schemas.openxmlformats.org/drawingml/2006/main" noGrp="1"/>
          </p:cNvSpPr>
          <p:nvPr/>
        </p:nvSpPr>
        <p:spPr>
          <a:xfrm xmlns:a="http://schemas.openxmlformats.org/drawingml/2006/main">
            <a:off x="895350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USEFULNESS</a:t>
            </a:r>
          </a:p>
        </p:txBody>
      </p:sp>
      <p:sp>
        <p:nvSpPr>
          <p:cNvPr id="21" name="">
            <a:extLst xmlns:a="http://schemas.openxmlformats.org/drawingml/2006/main">
              <a:ext uri="{FF2B5EF4-FFF2-40B4-BE49-F238E27FC236}">
                <a16:creationId xmlns:a16="http://schemas.microsoft.com/office/drawing/2014/main" id="{F686A3A3-BAF9-4CEC-BA6B-8E7459E7CB1A}"/>
              </a:ext>
            </a:extLst>
          </p:cNvPr>
          <p:cNvSpPr>
            <a:spLocks xmlns:a="http://schemas.openxmlformats.org/drawingml/2006/main" noGrp="1"/>
          </p:cNvSpPr>
          <p:nvPr/>
        </p:nvSpPr>
        <p:spPr>
          <a:xfrm xmlns:a="http://schemas.openxmlformats.org/drawingml/2006/main">
            <a:off x="895350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≥4/5</a:t>
            </a:r>
          </a:p>
        </p:txBody>
      </p:sp>
      <p:sp>
        <p:nvSpPr>
          <p:cNvPr id="22" name="">
            <a:extLst xmlns:a="http://schemas.openxmlformats.org/drawingml/2006/main">
              <a:ext uri="{FF2B5EF4-FFF2-40B4-BE49-F238E27FC236}">
                <a16:creationId xmlns:a16="http://schemas.microsoft.com/office/drawing/2014/main" id="{98A790D2-D307-426F-AFF6-4F296FCAF988}"/>
              </a:ext>
            </a:extLst>
          </p:cNvPr>
          <p:cNvSpPr>
            <a:spLocks xmlns:a="http://schemas.openxmlformats.org/drawingml/2006/main" noGrp="1"/>
          </p:cNvSpPr>
          <p:nvPr/>
        </p:nvSpPr>
        <p:spPr>
          <a:xfrm xmlns:a="http://schemas.openxmlformats.org/drawingml/2006/main">
            <a:off x="895350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Pilot target; not measured</a:t>
            </a:r>
          </a:p>
        </p:txBody>
      </p:sp>
      <p:sp>
        <p:nvSpPr>
          <p:cNvPr id="23" name="">
            <a:extLst xmlns:a="http://schemas.openxmlformats.org/drawingml/2006/main">
              <a:ext uri="{FF2B5EF4-FFF2-40B4-BE49-F238E27FC236}">
                <a16:creationId xmlns:a16="http://schemas.microsoft.com/office/drawing/2014/main" id="{25EC7D7C-6E01-4D17-AA83-D2DB3D6F5810}"/>
              </a:ext>
            </a:extLst>
          </p:cNvPr>
          <p:cNvSpPr>
            <a:spLocks xmlns:a="http://schemas.openxmlformats.org/drawingml/2006/main" noGrp="1"/>
          </p:cNvSpPr>
          <p:nvPr/>
        </p:nvSpPr>
        <p:spPr>
          <a:xfrm xmlns:a="http://schemas.openxmlformats.org/drawingml/2006/main">
            <a:off x="457200" y="5219700"/>
            <a:ext cx="1085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1350" b="1">
                <a:solidFill>
                  <a:srgbClr val="344054"/>
                </a:solidFill>
                <a:latin typeface="Helvetica Neue"/>
                <a:ea typeface="Helvetica Neue"/>
                <a:cs typeface="Helvetica Neue"/>
              </a:defRPr>
            </a:pPr>
            <a:r>
              <a:rPr sz="1350" b="1">
                <a:solidFill>
                  <a:srgbClr val="344054"/>
                </a:solidFill>
                <a:latin typeface="Helvetica Neue"/>
                <a:ea typeface="Helvetica Neue"/>
                <a:cs typeface="Helvetica Neue"/>
              </a:rPr>
              <a:t>Core stories: get a brief · understand the company · check a statement · report a problem</a:t>
            </a:r>
          </a:p>
        </p:txBody>
      </p:sp>
      <p:sp>
        <p:nvSpPr>
          <p:cNvPr id="24" name="">
            <a:extLst xmlns:a="http://schemas.openxmlformats.org/drawingml/2006/main">
              <a:ext uri="{FF2B5EF4-FFF2-40B4-BE49-F238E27FC236}">
                <a16:creationId xmlns:a16="http://schemas.microsoft.com/office/drawing/2014/main" id="{4C39101A-94C4-48DC-82B6-88D1BEEA99D4}"/>
              </a:ext>
            </a:extLst>
          </p:cNvPr>
          <p:cNvSpPr>
            <a:spLocks xmlns:a="http://schemas.openxmlformats.org/drawingml/2006/main" noGrp="1"/>
          </p:cNvSpPr>
          <p:nvPr/>
        </p:nvSpPr>
        <p:spPr>
          <a:xfrm xmlns:a="http://schemas.openxmlformats.org/drawingml/2006/main">
            <a:off x="457200" y="5638800"/>
            <a:ext cx="1085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315F9F"/>
                </a:solidFill>
                <a:latin typeface="Helvetica Neue"/>
                <a:ea typeface="Helvetica Neue"/>
                <a:cs typeface="Helvetica Neue"/>
              </a:defRPr>
            </a:pPr>
            <a:r>
              <a:rPr sz="1275" b="1">
                <a:solidFill>
                  <a:srgbClr val="315F9F"/>
                </a:solidFill>
                <a:latin typeface="Helvetica Neue"/>
                <a:ea typeface="Helvetica Neue"/>
                <a:cs typeface="Helvetica Neue"/>
              </a:rPr>
              <a:t>Good enough means a small internal pilot with approved sources, a reference set, validated source access, and a feedback owner.</a:t>
            </a:r>
          </a:p>
        </p:txBody>
      </p:sp>
    </p:spTree>
    <p:extLst>
      <p:ext uri="{BB962C8B-B14F-4D97-AF65-F5344CB8AC3E}">
        <p14:creationId xmlns:p14="http://schemas.microsoft.com/office/powerpoint/2010/main" val="1483308295"/>
      </p:ext>
    </p:extLst>
  </p:cSld>
</p:sld>
</file>

<file path=ppt/slides/slide11.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53" name="">
            <a:extLst xmlns:a="http://schemas.openxmlformats.org/drawingml/2006/main">
              <a:ext uri="{FF2B5EF4-FFF2-40B4-BE49-F238E27FC236}">
                <a16:creationId xmlns:a16="http://schemas.microsoft.com/office/drawing/2014/main" id="{D90E6CAA-500E-48FE-9B53-5F49A30A4FA3}"/>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2700" b="1">
                <a:solidFill>
                  <a:srgbClr val="101828"/>
                </a:solidFill>
                <a:latin typeface="Helvetica Neue"/>
                <a:ea typeface="Helvetica Neue"/>
                <a:cs typeface="Helvetica Neue"/>
              </a:rPr>
              <a:t>What runs today, and what is planned?</a:t>
            </a:r>
          </a:p>
        </p:txBody>
      </p:sp>
      <p:sp>
        <p:nvSpPr>
          <p:cNvPr id="2" name="">
            <a:extLst xmlns:a="http://schemas.openxmlformats.org/drawingml/2006/main">
              <a:ext uri="{FF2B5EF4-FFF2-40B4-BE49-F238E27FC236}">
                <a16:creationId xmlns:a16="http://schemas.microsoft.com/office/drawing/2014/main" id="{EF65C2A4-B64B-4D22-95C8-408BF13E2BC9}"/>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80FF9FAF-5706-4922-868C-E24C4C573577}"/>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11</a:t>
            </a:r>
          </a:p>
        </p:txBody>
      </p:sp>
      <p:sp>
        <p:nvSpPr>
          <p:cNvPr id="4" name="">
            <a:extLst xmlns:a="http://schemas.openxmlformats.org/drawingml/2006/main">
              <a:ext uri="{FF2B5EF4-FFF2-40B4-BE49-F238E27FC236}">
                <a16:creationId xmlns:a16="http://schemas.microsoft.com/office/drawing/2014/main" id="{685A96E9-6F50-4414-A07D-C76C7C79E4EB}"/>
              </a:ext>
            </a:extLst>
          </p:cNvPr>
          <p:cNvSpPr>
            <a:spLocks xmlns:a="http://schemas.openxmlformats.org/drawingml/2006/main" noGrp="1"/>
          </p:cNvSpPr>
          <p:nvPr/>
        </p:nvSpPr>
        <p:spPr>
          <a:xfrm xmlns:a="http://schemas.openxmlformats.org/drawingml/2006/main">
            <a:off x="457200" y="1485900"/>
            <a:ext cx="5219700" cy="4343400"/>
          </a:xfrm>
          <a:prstGeom xmlns:a="http://schemas.openxmlformats.org/drawingml/2006/main" prst="roundRect">
            <a:avLst>
              <a:gd name="adj" fmla="val 3947"/>
            </a:avLst>
          </a:prstGeom>
          <a:solidFill xmlns:a="http://schemas.openxmlformats.org/drawingml/2006/main">
            <a:srgbClr val="FFFFFF"/>
          </a:solidFill>
          <a:ln xmlns:a="http://schemas.openxmlformats.org/drawingml/2006/main" w="9525">
            <a:solidFill>
              <a:srgbClr val="D0D5DD"/>
            </a:solidFill>
            <a:prstDash val="solid"/>
          </a:ln>
        </p:spPr>
      </p:sp>
      <p:sp>
        <p:nvSpPr>
          <p:cNvPr id="5" name="">
            <a:extLst xmlns:a="http://schemas.openxmlformats.org/drawingml/2006/main">
              <a:ext uri="{FF2B5EF4-FFF2-40B4-BE49-F238E27FC236}">
                <a16:creationId xmlns:a16="http://schemas.microsoft.com/office/drawing/2014/main" id="{CC29C1BE-B33B-46AA-942D-A837CDBDCB70}"/>
              </a:ext>
            </a:extLst>
          </p:cNvPr>
          <p:cNvSpPr>
            <a:spLocks xmlns:a="http://schemas.openxmlformats.org/drawingml/2006/main" noGrp="1"/>
          </p:cNvSpPr>
          <p:nvPr/>
        </p:nvSpPr>
        <p:spPr>
          <a:xfrm xmlns:a="http://schemas.openxmlformats.org/drawingml/2006/main">
            <a:off x="685800" y="1714500"/>
            <a:ext cx="1428750" cy="28575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6" name="">
            <a:extLst xmlns:a="http://schemas.openxmlformats.org/drawingml/2006/main">
              <a:ext uri="{FF2B5EF4-FFF2-40B4-BE49-F238E27FC236}">
                <a16:creationId xmlns:a16="http://schemas.microsoft.com/office/drawing/2014/main" id="{6C4A0D09-9F63-4B9A-84FC-C3CD0BD85944}"/>
              </a:ext>
            </a:extLst>
          </p:cNvPr>
          <p:cNvSpPr>
            <a:spLocks xmlns:a="http://schemas.openxmlformats.org/drawingml/2006/main" noGrp="1"/>
          </p:cNvSpPr>
          <p:nvPr/>
        </p:nvSpPr>
        <p:spPr>
          <a:xfrm xmlns:a="http://schemas.openxmlformats.org/drawingml/2006/main">
            <a:off x="800100" y="1762125"/>
            <a:ext cx="12001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857"/>
          </a:bodyPr>
          <a:lstStyle xmlns:a="http://schemas.openxmlformats.org/drawingml/2006/main"/>
          <a:p xmlns:a="http://schemas.openxmlformats.org/drawingml/2006/main">
            <a:pPr algn="l">
              <a:buNone/>
              <a:defRPr sz="1050" b="1">
                <a:solidFill>
                  <a:srgbClr val="247A59"/>
                </a:solidFill>
                <a:latin typeface="Helvetica Neue"/>
                <a:ea typeface="Helvetica Neue"/>
                <a:cs typeface="Helvetica Neue"/>
              </a:defRPr>
            </a:pPr>
            <a:r>
              <a:rPr sz="1050" b="1">
                <a:solidFill>
                  <a:srgbClr val="247A59"/>
                </a:solidFill>
                <a:latin typeface="Helvetica Neue"/>
                <a:ea typeface="Helvetica Neue"/>
                <a:cs typeface="Helvetica Neue"/>
              </a:rPr>
              <a:t>RUNS TODAY</a:t>
            </a:r>
          </a:p>
        </p:txBody>
      </p:sp>
      <p:sp>
        <p:nvSpPr>
          <p:cNvPr id="7" name="">
            <a:extLst xmlns:a="http://schemas.openxmlformats.org/drawingml/2006/main">
              <a:ext uri="{FF2B5EF4-FFF2-40B4-BE49-F238E27FC236}">
                <a16:creationId xmlns:a16="http://schemas.microsoft.com/office/drawing/2014/main" id="{DE53C278-8683-4E98-84E7-96A510C3F44E}"/>
              </a:ext>
            </a:extLst>
          </p:cNvPr>
          <p:cNvSpPr>
            <a:spLocks xmlns:a="http://schemas.openxmlformats.org/drawingml/2006/main" noGrp="1"/>
          </p:cNvSpPr>
          <p:nvPr/>
        </p:nvSpPr>
        <p:spPr>
          <a:xfrm xmlns:a="http://schemas.openxmlformats.org/drawingml/2006/main">
            <a:off x="685800" y="22669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8" name="">
            <a:extLst xmlns:a="http://schemas.openxmlformats.org/drawingml/2006/main">
              <a:ext uri="{FF2B5EF4-FFF2-40B4-BE49-F238E27FC236}">
                <a16:creationId xmlns:a16="http://schemas.microsoft.com/office/drawing/2014/main" id="{C03B9381-0A59-414C-BEEB-8E714A7336CF}"/>
              </a:ext>
            </a:extLst>
          </p:cNvPr>
          <p:cNvSpPr>
            <a:spLocks xmlns:a="http://schemas.openxmlformats.org/drawingml/2006/main" noGrp="1"/>
          </p:cNvSpPr>
          <p:nvPr/>
        </p:nvSpPr>
        <p:spPr>
          <a:xfrm xmlns:a="http://schemas.openxmlformats.org/drawingml/2006/main">
            <a:off x="742950" y="22955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9" name="">
            <a:extLst xmlns:a="http://schemas.openxmlformats.org/drawingml/2006/main">
              <a:ext uri="{FF2B5EF4-FFF2-40B4-BE49-F238E27FC236}">
                <a16:creationId xmlns:a16="http://schemas.microsoft.com/office/drawing/2014/main" id="{1B2FE6B0-320C-417E-8A1A-879419763A56}"/>
              </a:ext>
            </a:extLst>
          </p:cNvPr>
          <p:cNvSpPr>
            <a:spLocks xmlns:a="http://schemas.openxmlformats.org/drawingml/2006/main" noGrp="1"/>
          </p:cNvSpPr>
          <p:nvPr/>
        </p:nvSpPr>
        <p:spPr>
          <a:xfrm xmlns:a="http://schemas.openxmlformats.org/drawingml/2006/main">
            <a:off x="1104900" y="22479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Interface and API routes</a:t>
            </a:r>
          </a:p>
        </p:txBody>
      </p:sp>
      <p:sp>
        <p:nvSpPr>
          <p:cNvPr id="10" name="">
            <a:extLst xmlns:a="http://schemas.openxmlformats.org/drawingml/2006/main">
              <a:ext uri="{FF2B5EF4-FFF2-40B4-BE49-F238E27FC236}">
                <a16:creationId xmlns:a16="http://schemas.microsoft.com/office/drawing/2014/main" id="{97B51185-F006-48A4-A1C8-28FF6BD765B9}"/>
              </a:ext>
            </a:extLst>
          </p:cNvPr>
          <p:cNvSpPr>
            <a:spLocks xmlns:a="http://schemas.openxmlformats.org/drawingml/2006/main" noGrp="1"/>
          </p:cNvSpPr>
          <p:nvPr/>
        </p:nvSpPr>
        <p:spPr>
          <a:xfrm xmlns:a="http://schemas.openxmlformats.org/drawingml/2006/main">
            <a:off x="1104900" y="25336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11" name="">
            <a:extLst xmlns:a="http://schemas.openxmlformats.org/drawingml/2006/main">
              <a:ext uri="{FF2B5EF4-FFF2-40B4-BE49-F238E27FC236}">
                <a16:creationId xmlns:a16="http://schemas.microsoft.com/office/drawing/2014/main" id="{E612B173-A7EC-4AE9-BA73-C0E5AFE0B9BA}"/>
              </a:ext>
            </a:extLst>
          </p:cNvPr>
          <p:cNvSpPr>
            <a:spLocks xmlns:a="http://schemas.openxmlformats.org/drawingml/2006/main" noGrp="1"/>
          </p:cNvSpPr>
          <p:nvPr/>
        </p:nvSpPr>
        <p:spPr>
          <a:xfrm xmlns:a="http://schemas.openxmlformats.org/drawingml/2006/main">
            <a:off x="685800" y="27241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12" name="">
            <a:extLst xmlns:a="http://schemas.openxmlformats.org/drawingml/2006/main">
              <a:ext uri="{FF2B5EF4-FFF2-40B4-BE49-F238E27FC236}">
                <a16:creationId xmlns:a16="http://schemas.microsoft.com/office/drawing/2014/main" id="{4BEEC2F2-A405-4817-AF78-149C32ABC816}"/>
              </a:ext>
            </a:extLst>
          </p:cNvPr>
          <p:cNvSpPr>
            <a:spLocks xmlns:a="http://schemas.openxmlformats.org/drawingml/2006/main" noGrp="1"/>
          </p:cNvSpPr>
          <p:nvPr/>
        </p:nvSpPr>
        <p:spPr>
          <a:xfrm xmlns:a="http://schemas.openxmlformats.org/drawingml/2006/main">
            <a:off x="742950" y="27527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13" name="">
            <a:extLst xmlns:a="http://schemas.openxmlformats.org/drawingml/2006/main">
              <a:ext uri="{FF2B5EF4-FFF2-40B4-BE49-F238E27FC236}">
                <a16:creationId xmlns:a16="http://schemas.microsoft.com/office/drawing/2014/main" id="{049E349C-8886-4F72-895A-080D41700841}"/>
              </a:ext>
            </a:extLst>
          </p:cNvPr>
          <p:cNvSpPr>
            <a:spLocks xmlns:a="http://schemas.openxmlformats.org/drawingml/2006/main" noGrp="1"/>
          </p:cNvSpPr>
          <p:nvPr/>
        </p:nvSpPr>
        <p:spPr>
          <a:xfrm xmlns:a="http://schemas.openxmlformats.org/drawingml/2006/main">
            <a:off x="1104900" y="27051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PostgreSQL schema and file import</a:t>
            </a:r>
          </a:p>
        </p:txBody>
      </p:sp>
      <p:sp>
        <p:nvSpPr>
          <p:cNvPr id="14" name="">
            <a:extLst xmlns:a="http://schemas.openxmlformats.org/drawingml/2006/main">
              <a:ext uri="{FF2B5EF4-FFF2-40B4-BE49-F238E27FC236}">
                <a16:creationId xmlns:a16="http://schemas.microsoft.com/office/drawing/2014/main" id="{FC908AEA-2316-4C8A-A666-4AA153866861}"/>
              </a:ext>
            </a:extLst>
          </p:cNvPr>
          <p:cNvSpPr>
            <a:spLocks xmlns:a="http://schemas.openxmlformats.org/drawingml/2006/main" noGrp="1"/>
          </p:cNvSpPr>
          <p:nvPr/>
        </p:nvSpPr>
        <p:spPr>
          <a:xfrm xmlns:a="http://schemas.openxmlformats.org/drawingml/2006/main">
            <a:off x="1104900" y="29908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15" name="">
            <a:extLst xmlns:a="http://schemas.openxmlformats.org/drawingml/2006/main">
              <a:ext uri="{FF2B5EF4-FFF2-40B4-BE49-F238E27FC236}">
                <a16:creationId xmlns:a16="http://schemas.microsoft.com/office/drawing/2014/main" id="{68621680-B99C-4BF6-845E-85CB22E48266}"/>
              </a:ext>
            </a:extLst>
          </p:cNvPr>
          <p:cNvSpPr>
            <a:spLocks xmlns:a="http://schemas.openxmlformats.org/drawingml/2006/main" noGrp="1"/>
          </p:cNvSpPr>
          <p:nvPr/>
        </p:nvSpPr>
        <p:spPr>
          <a:xfrm xmlns:a="http://schemas.openxmlformats.org/drawingml/2006/main">
            <a:off x="685800" y="31813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16" name="">
            <a:extLst xmlns:a="http://schemas.openxmlformats.org/drawingml/2006/main">
              <a:ext uri="{FF2B5EF4-FFF2-40B4-BE49-F238E27FC236}">
                <a16:creationId xmlns:a16="http://schemas.microsoft.com/office/drawing/2014/main" id="{5975CE81-A386-4156-8944-6514F223EB08}"/>
              </a:ext>
            </a:extLst>
          </p:cNvPr>
          <p:cNvSpPr>
            <a:spLocks xmlns:a="http://schemas.openxmlformats.org/drawingml/2006/main" noGrp="1"/>
          </p:cNvSpPr>
          <p:nvPr/>
        </p:nvSpPr>
        <p:spPr>
          <a:xfrm xmlns:a="http://schemas.openxmlformats.org/drawingml/2006/main">
            <a:off x="742950" y="32099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17" name="">
            <a:extLst xmlns:a="http://schemas.openxmlformats.org/drawingml/2006/main">
              <a:ext uri="{FF2B5EF4-FFF2-40B4-BE49-F238E27FC236}">
                <a16:creationId xmlns:a16="http://schemas.microsoft.com/office/drawing/2014/main" id="{59DB7FFD-012D-4084-9042-F42B6A456FC9}"/>
              </a:ext>
            </a:extLst>
          </p:cNvPr>
          <p:cNvSpPr>
            <a:spLocks xmlns:a="http://schemas.openxmlformats.org/drawingml/2006/main" noGrp="1"/>
          </p:cNvSpPr>
          <p:nvPr/>
        </p:nvSpPr>
        <p:spPr>
          <a:xfrm xmlns:a="http://schemas.openxmlformats.org/drawingml/2006/main">
            <a:off x="1104900" y="31623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OpenAI embeddings and repeat-import control</a:t>
            </a:r>
          </a:p>
        </p:txBody>
      </p:sp>
      <p:sp>
        <p:nvSpPr>
          <p:cNvPr id="18" name="">
            <a:extLst xmlns:a="http://schemas.openxmlformats.org/drawingml/2006/main">
              <a:ext uri="{FF2B5EF4-FFF2-40B4-BE49-F238E27FC236}">
                <a16:creationId xmlns:a16="http://schemas.microsoft.com/office/drawing/2014/main" id="{9EE911C2-60EA-4D64-ADFB-9C0D32EA7A8F}"/>
              </a:ext>
            </a:extLst>
          </p:cNvPr>
          <p:cNvSpPr>
            <a:spLocks xmlns:a="http://schemas.openxmlformats.org/drawingml/2006/main" noGrp="1"/>
          </p:cNvSpPr>
          <p:nvPr/>
        </p:nvSpPr>
        <p:spPr>
          <a:xfrm xmlns:a="http://schemas.openxmlformats.org/drawingml/2006/main">
            <a:off x="1104900" y="34480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19" name="">
            <a:extLst xmlns:a="http://schemas.openxmlformats.org/drawingml/2006/main">
              <a:ext uri="{FF2B5EF4-FFF2-40B4-BE49-F238E27FC236}">
                <a16:creationId xmlns:a16="http://schemas.microsoft.com/office/drawing/2014/main" id="{13A374E0-12CE-473D-B264-DF803B1B3121}"/>
              </a:ext>
            </a:extLst>
          </p:cNvPr>
          <p:cNvSpPr>
            <a:spLocks xmlns:a="http://schemas.openxmlformats.org/drawingml/2006/main" noGrp="1"/>
          </p:cNvSpPr>
          <p:nvPr/>
        </p:nvSpPr>
        <p:spPr>
          <a:xfrm xmlns:a="http://schemas.openxmlformats.org/drawingml/2006/main">
            <a:off x="685800" y="36385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20" name="">
            <a:extLst xmlns:a="http://schemas.openxmlformats.org/drawingml/2006/main">
              <a:ext uri="{FF2B5EF4-FFF2-40B4-BE49-F238E27FC236}">
                <a16:creationId xmlns:a16="http://schemas.microsoft.com/office/drawing/2014/main" id="{82E8644C-357A-42C4-A9E2-8D942C679D9E}"/>
              </a:ext>
            </a:extLst>
          </p:cNvPr>
          <p:cNvSpPr>
            <a:spLocks xmlns:a="http://schemas.openxmlformats.org/drawingml/2006/main" noGrp="1"/>
          </p:cNvSpPr>
          <p:nvPr/>
        </p:nvSpPr>
        <p:spPr>
          <a:xfrm xmlns:a="http://schemas.openxmlformats.org/drawingml/2006/main">
            <a:off x="742950" y="36671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21" name="">
            <a:extLst xmlns:a="http://schemas.openxmlformats.org/drawingml/2006/main">
              <a:ext uri="{FF2B5EF4-FFF2-40B4-BE49-F238E27FC236}">
                <a16:creationId xmlns:a16="http://schemas.microsoft.com/office/drawing/2014/main" id="{5C472E48-41BE-48B1-9388-CD31E3C9EE4A}"/>
              </a:ext>
            </a:extLst>
          </p:cNvPr>
          <p:cNvSpPr>
            <a:spLocks xmlns:a="http://schemas.openxmlformats.org/drawingml/2006/main" noGrp="1"/>
          </p:cNvSpPr>
          <p:nvPr/>
        </p:nvSpPr>
        <p:spPr>
          <a:xfrm xmlns:a="http://schemas.openxmlformats.org/drawingml/2006/main">
            <a:off x="1104900" y="36195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Company-scoped top-30 retrieval</a:t>
            </a:r>
          </a:p>
        </p:txBody>
      </p:sp>
      <p:sp>
        <p:nvSpPr>
          <p:cNvPr id="22" name="">
            <a:extLst xmlns:a="http://schemas.openxmlformats.org/drawingml/2006/main">
              <a:ext uri="{FF2B5EF4-FFF2-40B4-BE49-F238E27FC236}">
                <a16:creationId xmlns:a16="http://schemas.microsoft.com/office/drawing/2014/main" id="{EF1B4B12-A52A-4E4C-BAA9-3BAC2F5D9972}"/>
              </a:ext>
            </a:extLst>
          </p:cNvPr>
          <p:cNvSpPr>
            <a:spLocks xmlns:a="http://schemas.openxmlformats.org/drawingml/2006/main" noGrp="1"/>
          </p:cNvSpPr>
          <p:nvPr/>
        </p:nvSpPr>
        <p:spPr>
          <a:xfrm xmlns:a="http://schemas.openxmlformats.org/drawingml/2006/main">
            <a:off x="1104900" y="39052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23" name="">
            <a:extLst xmlns:a="http://schemas.openxmlformats.org/drawingml/2006/main">
              <a:ext uri="{FF2B5EF4-FFF2-40B4-BE49-F238E27FC236}">
                <a16:creationId xmlns:a16="http://schemas.microsoft.com/office/drawing/2014/main" id="{33741759-6443-44CC-A10F-B90743822CFE}"/>
              </a:ext>
            </a:extLst>
          </p:cNvPr>
          <p:cNvSpPr>
            <a:spLocks xmlns:a="http://schemas.openxmlformats.org/drawingml/2006/main" noGrp="1"/>
          </p:cNvSpPr>
          <p:nvPr/>
        </p:nvSpPr>
        <p:spPr>
          <a:xfrm xmlns:a="http://schemas.openxmlformats.org/drawingml/2006/main">
            <a:off x="685800" y="40957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24" name="">
            <a:extLst xmlns:a="http://schemas.openxmlformats.org/drawingml/2006/main">
              <a:ext uri="{FF2B5EF4-FFF2-40B4-BE49-F238E27FC236}">
                <a16:creationId xmlns:a16="http://schemas.microsoft.com/office/drawing/2014/main" id="{AB907E69-39BA-4CC1-8FD2-4E5B52C5A90C}"/>
              </a:ext>
            </a:extLst>
          </p:cNvPr>
          <p:cNvSpPr>
            <a:spLocks xmlns:a="http://schemas.openxmlformats.org/drawingml/2006/main" noGrp="1"/>
          </p:cNvSpPr>
          <p:nvPr/>
        </p:nvSpPr>
        <p:spPr>
          <a:xfrm xmlns:a="http://schemas.openxmlformats.org/drawingml/2006/main">
            <a:off x="742950" y="41243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25" name="">
            <a:extLst xmlns:a="http://schemas.openxmlformats.org/drawingml/2006/main">
              <a:ext uri="{FF2B5EF4-FFF2-40B4-BE49-F238E27FC236}">
                <a16:creationId xmlns:a16="http://schemas.microsoft.com/office/drawing/2014/main" id="{E6B2F385-472E-4D2F-AC6E-4CBF8A780C78}"/>
              </a:ext>
            </a:extLst>
          </p:cNvPr>
          <p:cNvSpPr>
            <a:spLocks xmlns:a="http://schemas.openxmlformats.org/drawingml/2006/main" noGrp="1"/>
          </p:cNvSpPr>
          <p:nvPr/>
        </p:nvSpPr>
        <p:spPr>
          <a:xfrm xmlns:a="http://schemas.openxmlformats.org/drawingml/2006/main">
            <a:off x="1104900" y="40767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Evidence and full source record drill-down</a:t>
            </a:r>
          </a:p>
        </p:txBody>
      </p:sp>
      <p:sp>
        <p:nvSpPr>
          <p:cNvPr id="26" name="">
            <a:extLst xmlns:a="http://schemas.openxmlformats.org/drawingml/2006/main">
              <a:ext uri="{FF2B5EF4-FFF2-40B4-BE49-F238E27FC236}">
                <a16:creationId xmlns:a16="http://schemas.microsoft.com/office/drawing/2014/main" id="{A4A0DB9C-186C-4B5C-A333-E8E632450401}"/>
              </a:ext>
            </a:extLst>
          </p:cNvPr>
          <p:cNvSpPr>
            <a:spLocks xmlns:a="http://schemas.openxmlformats.org/drawingml/2006/main" noGrp="1"/>
          </p:cNvSpPr>
          <p:nvPr/>
        </p:nvSpPr>
        <p:spPr>
          <a:xfrm xmlns:a="http://schemas.openxmlformats.org/drawingml/2006/main">
            <a:off x="1104900" y="43624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27" name="">
            <a:extLst xmlns:a="http://schemas.openxmlformats.org/drawingml/2006/main">
              <a:ext uri="{FF2B5EF4-FFF2-40B4-BE49-F238E27FC236}">
                <a16:creationId xmlns:a16="http://schemas.microsoft.com/office/drawing/2014/main" id="{CD8FE40C-07C3-4860-AFAD-62721E67A5A9}"/>
              </a:ext>
            </a:extLst>
          </p:cNvPr>
          <p:cNvSpPr>
            <a:spLocks xmlns:a="http://schemas.openxmlformats.org/drawingml/2006/main" noGrp="1"/>
          </p:cNvSpPr>
          <p:nvPr/>
        </p:nvSpPr>
        <p:spPr>
          <a:xfrm xmlns:a="http://schemas.openxmlformats.org/drawingml/2006/main">
            <a:off x="685800" y="45529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28" name="">
            <a:extLst xmlns:a="http://schemas.openxmlformats.org/drawingml/2006/main">
              <a:ext uri="{FF2B5EF4-FFF2-40B4-BE49-F238E27FC236}">
                <a16:creationId xmlns:a16="http://schemas.microsoft.com/office/drawing/2014/main" id="{240D9B71-DFC8-477C-9D82-9CA578FF2CA8}"/>
              </a:ext>
            </a:extLst>
          </p:cNvPr>
          <p:cNvSpPr>
            <a:spLocks xmlns:a="http://schemas.openxmlformats.org/drawingml/2006/main" noGrp="1"/>
          </p:cNvSpPr>
          <p:nvPr/>
        </p:nvSpPr>
        <p:spPr>
          <a:xfrm xmlns:a="http://schemas.openxmlformats.org/drawingml/2006/main">
            <a:off x="742950" y="45815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29" name="">
            <a:extLst xmlns:a="http://schemas.openxmlformats.org/drawingml/2006/main">
              <a:ext uri="{FF2B5EF4-FFF2-40B4-BE49-F238E27FC236}">
                <a16:creationId xmlns:a16="http://schemas.microsoft.com/office/drawing/2014/main" id="{FF6354B8-5995-4C82-B3CC-540234CDFD0D}"/>
              </a:ext>
            </a:extLst>
          </p:cNvPr>
          <p:cNvSpPr>
            <a:spLocks xmlns:a="http://schemas.openxmlformats.org/drawingml/2006/main" noGrp="1"/>
          </p:cNvSpPr>
          <p:nvPr/>
        </p:nvSpPr>
        <p:spPr>
          <a:xfrm xmlns:a="http://schemas.openxmlformats.org/drawingml/2006/main">
            <a:off x="1104900" y="45339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Saved brief runs and ranked source records</a:t>
            </a:r>
          </a:p>
        </p:txBody>
      </p:sp>
      <p:sp>
        <p:nvSpPr>
          <p:cNvPr id="30" name="">
            <a:extLst xmlns:a="http://schemas.openxmlformats.org/drawingml/2006/main">
              <a:ext uri="{FF2B5EF4-FFF2-40B4-BE49-F238E27FC236}">
                <a16:creationId xmlns:a16="http://schemas.microsoft.com/office/drawing/2014/main" id="{329B6427-62E0-482F-97D3-63254171C4AD}"/>
              </a:ext>
            </a:extLst>
          </p:cNvPr>
          <p:cNvSpPr>
            <a:spLocks xmlns:a="http://schemas.openxmlformats.org/drawingml/2006/main" noGrp="1"/>
          </p:cNvSpPr>
          <p:nvPr/>
        </p:nvSpPr>
        <p:spPr>
          <a:xfrm xmlns:a="http://schemas.openxmlformats.org/drawingml/2006/main">
            <a:off x="1104900" y="48196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31" name="">
            <a:extLst xmlns:a="http://schemas.openxmlformats.org/drawingml/2006/main">
              <a:ext uri="{FF2B5EF4-FFF2-40B4-BE49-F238E27FC236}">
                <a16:creationId xmlns:a16="http://schemas.microsoft.com/office/drawing/2014/main" id="{A1275246-0B5E-4F0B-B242-D7609D78ED76}"/>
              </a:ext>
            </a:extLst>
          </p:cNvPr>
          <p:cNvSpPr>
            <a:spLocks xmlns:a="http://schemas.openxmlformats.org/drawingml/2006/main" noGrp="1"/>
          </p:cNvSpPr>
          <p:nvPr/>
        </p:nvSpPr>
        <p:spPr>
          <a:xfrm xmlns:a="http://schemas.openxmlformats.org/drawingml/2006/main">
            <a:off x="685800" y="50101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32" name="">
            <a:extLst xmlns:a="http://schemas.openxmlformats.org/drawingml/2006/main">
              <a:ext uri="{FF2B5EF4-FFF2-40B4-BE49-F238E27FC236}">
                <a16:creationId xmlns:a16="http://schemas.microsoft.com/office/drawing/2014/main" id="{6C41D126-2EA4-4C3D-9014-D4D23225A808}"/>
              </a:ext>
            </a:extLst>
          </p:cNvPr>
          <p:cNvSpPr>
            <a:spLocks xmlns:a="http://schemas.openxmlformats.org/drawingml/2006/main" noGrp="1"/>
          </p:cNvSpPr>
          <p:nvPr/>
        </p:nvSpPr>
        <p:spPr>
          <a:xfrm xmlns:a="http://schemas.openxmlformats.org/drawingml/2006/main">
            <a:off x="742950" y="50387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33" name="">
            <a:extLst xmlns:a="http://schemas.openxmlformats.org/drawingml/2006/main">
              <a:ext uri="{FF2B5EF4-FFF2-40B4-BE49-F238E27FC236}">
                <a16:creationId xmlns:a16="http://schemas.microsoft.com/office/drawing/2014/main" id="{169CFD4E-A3DD-411F-AA46-D2AC09D3F113}"/>
              </a:ext>
            </a:extLst>
          </p:cNvPr>
          <p:cNvSpPr>
            <a:spLocks xmlns:a="http://schemas.openxmlformats.org/drawingml/2006/main" noGrp="1"/>
          </p:cNvSpPr>
          <p:nvPr/>
        </p:nvSpPr>
        <p:spPr>
          <a:xfrm xmlns:a="http://schemas.openxmlformats.org/drawingml/2006/main">
            <a:off x="1104900" y="49911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Good, Bad, and Wrong feedback capture</a:t>
            </a:r>
          </a:p>
        </p:txBody>
      </p:sp>
      <p:sp>
        <p:nvSpPr>
          <p:cNvPr id="34" name="">
            <a:extLst xmlns:a="http://schemas.openxmlformats.org/drawingml/2006/main">
              <a:ext uri="{FF2B5EF4-FFF2-40B4-BE49-F238E27FC236}">
                <a16:creationId xmlns:a16="http://schemas.microsoft.com/office/drawing/2014/main" id="{56CE7EB0-3F29-4D3F-B156-2B90B615CA29}"/>
              </a:ext>
            </a:extLst>
          </p:cNvPr>
          <p:cNvSpPr>
            <a:spLocks xmlns:a="http://schemas.openxmlformats.org/drawingml/2006/main" noGrp="1"/>
          </p:cNvSpPr>
          <p:nvPr/>
        </p:nvSpPr>
        <p:spPr>
          <a:xfrm xmlns:a="http://schemas.openxmlformats.org/drawingml/2006/main">
            <a:off x="1104900" y="52768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35" name="">
            <a:extLst xmlns:a="http://schemas.openxmlformats.org/drawingml/2006/main">
              <a:ext uri="{FF2B5EF4-FFF2-40B4-BE49-F238E27FC236}">
                <a16:creationId xmlns:a16="http://schemas.microsoft.com/office/drawing/2014/main" id="{0156AC8E-7EBB-4E1C-AAA4-F25E6FA6D44C}"/>
              </a:ext>
            </a:extLst>
          </p:cNvPr>
          <p:cNvSpPr>
            <a:spLocks xmlns:a="http://schemas.openxmlformats.org/drawingml/2006/main" noGrp="1"/>
          </p:cNvSpPr>
          <p:nvPr/>
        </p:nvSpPr>
        <p:spPr>
          <a:xfrm xmlns:a="http://schemas.openxmlformats.org/drawingml/2006/main">
            <a:off x="5905500" y="1485900"/>
            <a:ext cx="5410200" cy="4343400"/>
          </a:xfrm>
          <a:prstGeom xmlns:a="http://schemas.openxmlformats.org/drawingml/2006/main" prst="roundRect">
            <a:avLst>
              <a:gd name="adj" fmla="val 3947"/>
            </a:avLst>
          </a:prstGeom>
          <a:solidFill xmlns:a="http://schemas.openxmlformats.org/drawingml/2006/main">
            <a:srgbClr val="F2F4F7"/>
          </a:solidFill>
          <a:ln xmlns:a="http://schemas.openxmlformats.org/drawingml/2006/main" w="9525">
            <a:solidFill>
              <a:srgbClr val="D0D5DD"/>
            </a:solidFill>
            <a:prstDash val="solid"/>
          </a:ln>
        </p:spPr>
      </p:sp>
      <p:sp>
        <p:nvSpPr>
          <p:cNvPr id="36" name="">
            <a:extLst xmlns:a="http://schemas.openxmlformats.org/drawingml/2006/main">
              <a:ext uri="{FF2B5EF4-FFF2-40B4-BE49-F238E27FC236}">
                <a16:creationId xmlns:a16="http://schemas.microsoft.com/office/drawing/2014/main" id="{E8036B47-CE47-4FF4-A4D9-7A84C31F61DD}"/>
              </a:ext>
            </a:extLst>
          </p:cNvPr>
          <p:cNvSpPr>
            <a:spLocks xmlns:a="http://schemas.openxmlformats.org/drawingml/2006/main" noGrp="1"/>
          </p:cNvSpPr>
          <p:nvPr/>
        </p:nvSpPr>
        <p:spPr>
          <a:xfrm xmlns:a="http://schemas.openxmlformats.org/drawingml/2006/main">
            <a:off x="6134100" y="1714500"/>
            <a:ext cx="1809750" cy="285750"/>
          </a:xfrm>
          <a:prstGeom xmlns:a="http://schemas.openxmlformats.org/drawingml/2006/main" prst="roundRect">
            <a:avLst>
              <a:gd name="adj" fmla="val 50000"/>
            </a:avLst>
          </a:prstGeom>
          <a:solidFill xmlns:a="http://schemas.openxmlformats.org/drawingml/2006/main">
            <a:srgbClr val="FFF4E5"/>
          </a:solidFill>
          <a:ln xmlns:a="http://schemas.openxmlformats.org/drawingml/2006/main" w="9525">
            <a:solidFill>
              <a:srgbClr val="F4C78E"/>
            </a:solidFill>
            <a:prstDash val="solid"/>
          </a:ln>
        </p:spPr>
      </p:sp>
      <p:sp>
        <p:nvSpPr>
          <p:cNvPr id="37" name="">
            <a:extLst xmlns:a="http://schemas.openxmlformats.org/drawingml/2006/main">
              <a:ext uri="{FF2B5EF4-FFF2-40B4-BE49-F238E27FC236}">
                <a16:creationId xmlns:a16="http://schemas.microsoft.com/office/drawing/2014/main" id="{1B2960AD-1486-4714-AECB-C71207E1F6A4}"/>
              </a:ext>
            </a:extLst>
          </p:cNvPr>
          <p:cNvSpPr>
            <a:spLocks xmlns:a="http://schemas.openxmlformats.org/drawingml/2006/main" noGrp="1"/>
          </p:cNvSpPr>
          <p:nvPr/>
        </p:nvSpPr>
        <p:spPr>
          <a:xfrm xmlns:a="http://schemas.openxmlformats.org/drawingml/2006/main">
            <a:off x="6248400" y="1762125"/>
            <a:ext cx="15811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857"/>
          </a:bodyPr>
          <a:lstStyle xmlns:a="http://schemas.openxmlformats.org/drawingml/2006/main"/>
          <a:p xmlns:a="http://schemas.openxmlformats.org/drawingml/2006/main">
            <a:pPr algn="l">
              <a:buNone/>
              <a:defRPr sz="1050" b="1">
                <a:solidFill>
                  <a:srgbClr val="B54708"/>
                </a:solidFill>
                <a:latin typeface="Helvetica Neue"/>
                <a:ea typeface="Helvetica Neue"/>
                <a:cs typeface="Helvetica Neue"/>
              </a:defRPr>
            </a:pPr>
            <a:r>
              <a:rPr sz="1050" b="1">
                <a:solidFill>
                  <a:srgbClr val="B54708"/>
                </a:solidFill>
                <a:latin typeface="Helvetica Neue"/>
                <a:ea typeface="Helvetica Neue"/>
                <a:cs typeface="Helvetica Neue"/>
              </a:rPr>
              <a:t>DEMO OR NOT BUILT</a:t>
            </a:r>
          </a:p>
        </p:txBody>
      </p:sp>
      <p:sp>
        <p:nvSpPr>
          <p:cNvPr id="38" name="">
            <a:extLst xmlns:a="http://schemas.openxmlformats.org/drawingml/2006/main">
              <a:ext uri="{FF2B5EF4-FFF2-40B4-BE49-F238E27FC236}">
                <a16:creationId xmlns:a16="http://schemas.microsoft.com/office/drawing/2014/main" id="{618CDEE8-CD3F-4DBF-BC1C-80E64C71901F}"/>
              </a:ext>
            </a:extLst>
          </p:cNvPr>
          <p:cNvSpPr>
            <a:spLocks xmlns:a="http://schemas.openxmlformats.org/drawingml/2006/main" noGrp="1"/>
          </p:cNvSpPr>
          <p:nvPr/>
        </p:nvSpPr>
        <p:spPr>
          <a:xfrm xmlns:a="http://schemas.openxmlformats.org/drawingml/2006/main">
            <a:off x="6153150" y="23622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39" name="">
            <a:extLst xmlns:a="http://schemas.openxmlformats.org/drawingml/2006/main">
              <a:ext uri="{FF2B5EF4-FFF2-40B4-BE49-F238E27FC236}">
                <a16:creationId xmlns:a16="http://schemas.microsoft.com/office/drawing/2014/main" id="{098399F3-F9ED-4555-80C8-6CDC3A2ABF5E}"/>
              </a:ext>
            </a:extLst>
          </p:cNvPr>
          <p:cNvSpPr>
            <a:spLocks xmlns:a="http://schemas.openxmlformats.org/drawingml/2006/main" noGrp="1"/>
          </p:cNvSpPr>
          <p:nvPr/>
        </p:nvSpPr>
        <p:spPr>
          <a:xfrm xmlns:a="http://schemas.openxmlformats.org/drawingml/2006/main">
            <a:off x="6362700" y="22955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10 fictional companies</a:t>
            </a:r>
          </a:p>
        </p:txBody>
      </p:sp>
      <p:sp>
        <p:nvSpPr>
          <p:cNvPr id="40" name="">
            <a:extLst xmlns:a="http://schemas.openxmlformats.org/drawingml/2006/main">
              <a:ext uri="{FF2B5EF4-FFF2-40B4-BE49-F238E27FC236}">
                <a16:creationId xmlns:a16="http://schemas.microsoft.com/office/drawing/2014/main" id="{08A9FCAC-8F3D-418D-B6A1-F89B906AF108}"/>
              </a:ext>
            </a:extLst>
          </p:cNvPr>
          <p:cNvSpPr>
            <a:spLocks xmlns:a="http://schemas.openxmlformats.org/drawingml/2006/main" noGrp="1"/>
          </p:cNvSpPr>
          <p:nvPr/>
        </p:nvSpPr>
        <p:spPr>
          <a:xfrm xmlns:a="http://schemas.openxmlformats.org/drawingml/2006/main">
            <a:off x="6153150" y="28194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41" name="">
            <a:extLst xmlns:a="http://schemas.openxmlformats.org/drawingml/2006/main">
              <a:ext uri="{FF2B5EF4-FFF2-40B4-BE49-F238E27FC236}">
                <a16:creationId xmlns:a16="http://schemas.microsoft.com/office/drawing/2014/main" id="{B89A3839-1695-415E-ADAD-3FC055C1718F}"/>
              </a:ext>
            </a:extLst>
          </p:cNvPr>
          <p:cNvSpPr>
            <a:spLocks xmlns:a="http://schemas.openxmlformats.org/drawingml/2006/main" noGrp="1"/>
          </p:cNvSpPr>
          <p:nvPr/>
        </p:nvSpPr>
        <p:spPr>
          <a:xfrm xmlns:a="http://schemas.openxmlformats.org/drawingml/2006/main">
            <a:off x="6362700" y="27527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5 tailored templates and 5 briefs from one generic rule</a:t>
            </a:r>
          </a:p>
        </p:txBody>
      </p:sp>
      <p:sp>
        <p:nvSpPr>
          <p:cNvPr id="42" name="">
            <a:extLst xmlns:a="http://schemas.openxmlformats.org/drawingml/2006/main">
              <a:ext uri="{FF2B5EF4-FFF2-40B4-BE49-F238E27FC236}">
                <a16:creationId xmlns:a16="http://schemas.microsoft.com/office/drawing/2014/main" id="{94BA962C-B23C-46F0-B890-7AF5E8CC6C28}"/>
              </a:ext>
            </a:extLst>
          </p:cNvPr>
          <p:cNvSpPr>
            <a:spLocks xmlns:a="http://schemas.openxmlformats.org/drawingml/2006/main" noGrp="1"/>
          </p:cNvSpPr>
          <p:nvPr/>
        </p:nvSpPr>
        <p:spPr>
          <a:xfrm xmlns:a="http://schemas.openxmlformats.org/drawingml/2006/main">
            <a:off x="6153150" y="32766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43" name="">
            <a:extLst xmlns:a="http://schemas.openxmlformats.org/drawingml/2006/main">
              <a:ext uri="{FF2B5EF4-FFF2-40B4-BE49-F238E27FC236}">
                <a16:creationId xmlns:a16="http://schemas.microsoft.com/office/drawing/2014/main" id="{9536D5C5-691D-46F0-83CE-BA6B9D8F4D6D}"/>
              </a:ext>
            </a:extLst>
          </p:cNvPr>
          <p:cNvSpPr>
            <a:spLocks xmlns:a="http://schemas.openxmlformats.org/drawingml/2006/main" noGrp="1"/>
          </p:cNvSpPr>
          <p:nvPr/>
        </p:nvSpPr>
        <p:spPr>
          <a:xfrm xmlns:a="http://schemas.openxmlformats.org/drawingml/2006/main">
            <a:off x="6362700" y="32099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Static files, local PostgreSQL, and a fixed date</a:t>
            </a:r>
          </a:p>
        </p:txBody>
      </p:sp>
      <p:sp>
        <p:nvSpPr>
          <p:cNvPr id="44" name="">
            <a:extLst xmlns:a="http://schemas.openxmlformats.org/drawingml/2006/main">
              <a:ext uri="{FF2B5EF4-FFF2-40B4-BE49-F238E27FC236}">
                <a16:creationId xmlns:a16="http://schemas.microsoft.com/office/drawing/2014/main" id="{7B9A0E37-CACC-4EFD-836F-5AF091EEEDCF}"/>
              </a:ext>
            </a:extLst>
          </p:cNvPr>
          <p:cNvSpPr>
            <a:spLocks xmlns:a="http://schemas.openxmlformats.org/drawingml/2006/main" noGrp="1"/>
          </p:cNvSpPr>
          <p:nvPr/>
        </p:nvSpPr>
        <p:spPr>
          <a:xfrm xmlns:a="http://schemas.openxmlformats.org/drawingml/2006/main">
            <a:off x="6153150" y="37338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45" name="">
            <a:extLst xmlns:a="http://schemas.openxmlformats.org/drawingml/2006/main">
              <a:ext uri="{FF2B5EF4-FFF2-40B4-BE49-F238E27FC236}">
                <a16:creationId xmlns:a16="http://schemas.microsoft.com/office/drawing/2014/main" id="{D0354110-2FB3-4544-9BF4-14A3A73CAB95}"/>
              </a:ext>
            </a:extLst>
          </p:cNvPr>
          <p:cNvSpPr>
            <a:spLocks xmlns:a="http://schemas.openxmlformats.org/drawingml/2006/main" noGrp="1"/>
          </p:cNvSpPr>
          <p:nvPr/>
        </p:nvSpPr>
        <p:spPr>
          <a:xfrm xmlns:a="http://schemas.openxmlformats.org/drawingml/2006/main">
            <a:off x="6362700" y="36671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OpenAI embeddings use fictional demo text</a:t>
            </a:r>
          </a:p>
        </p:txBody>
      </p:sp>
      <p:sp>
        <p:nvSpPr>
          <p:cNvPr id="46" name="">
            <a:extLst xmlns:a="http://schemas.openxmlformats.org/drawingml/2006/main">
              <a:ext uri="{FF2B5EF4-FFF2-40B4-BE49-F238E27FC236}">
                <a16:creationId xmlns:a16="http://schemas.microsoft.com/office/drawing/2014/main" id="{5B4CB06D-F6A2-46FA-B243-DA73C237D185}"/>
              </a:ext>
            </a:extLst>
          </p:cNvPr>
          <p:cNvSpPr>
            <a:spLocks xmlns:a="http://schemas.openxmlformats.org/drawingml/2006/main" noGrp="1"/>
          </p:cNvSpPr>
          <p:nvPr/>
        </p:nvSpPr>
        <p:spPr>
          <a:xfrm xmlns:a="http://schemas.openxmlformats.org/drawingml/2006/main">
            <a:off x="6153150" y="41910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47" name="">
            <a:extLst xmlns:a="http://schemas.openxmlformats.org/drawingml/2006/main">
              <a:ext uri="{FF2B5EF4-FFF2-40B4-BE49-F238E27FC236}">
                <a16:creationId xmlns:a16="http://schemas.microsoft.com/office/drawing/2014/main" id="{63C9D8ED-30F2-4E3E-AD9B-AB4BC1017ABE}"/>
              </a:ext>
            </a:extLst>
          </p:cNvPr>
          <p:cNvSpPr>
            <a:spLocks xmlns:a="http://schemas.openxmlformats.org/drawingml/2006/main" noGrp="1"/>
          </p:cNvSpPr>
          <p:nvPr/>
        </p:nvSpPr>
        <p:spPr>
          <a:xfrm xmlns:a="http://schemas.openxmlformats.org/drawingml/2006/main">
            <a:off x="6362700" y="41243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gpt-5.6-sol and Responses API are not active</a:t>
            </a:r>
          </a:p>
        </p:txBody>
      </p:sp>
      <p:sp>
        <p:nvSpPr>
          <p:cNvPr id="48" name="">
            <a:extLst xmlns:a="http://schemas.openxmlformats.org/drawingml/2006/main">
              <a:ext uri="{FF2B5EF4-FFF2-40B4-BE49-F238E27FC236}">
                <a16:creationId xmlns:a16="http://schemas.microsoft.com/office/drawing/2014/main" id="{F8355BF9-C88B-4D73-8354-02EE9009C6D6}"/>
              </a:ext>
            </a:extLst>
          </p:cNvPr>
          <p:cNvSpPr>
            <a:spLocks xmlns:a="http://schemas.openxmlformats.org/drawingml/2006/main" noGrp="1"/>
          </p:cNvSpPr>
          <p:nvPr/>
        </p:nvSpPr>
        <p:spPr>
          <a:xfrm xmlns:a="http://schemas.openxmlformats.org/drawingml/2006/main">
            <a:off x="6153150" y="46482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49" name="">
            <a:extLst xmlns:a="http://schemas.openxmlformats.org/drawingml/2006/main">
              <a:ext uri="{FF2B5EF4-FFF2-40B4-BE49-F238E27FC236}">
                <a16:creationId xmlns:a16="http://schemas.microsoft.com/office/drawing/2014/main" id="{42E33EBE-F4FC-4200-BE63-29A8041FA684}"/>
              </a:ext>
            </a:extLst>
          </p:cNvPr>
          <p:cNvSpPr>
            <a:spLocks xmlns:a="http://schemas.openxmlformats.org/drawingml/2006/main" noGrp="1"/>
          </p:cNvSpPr>
          <p:nvPr/>
        </p:nvSpPr>
        <p:spPr>
          <a:xfrm xmlns:a="http://schemas.openxmlformats.org/drawingml/2006/main">
            <a:off x="6362700" y="45815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No live connectors or public-filings adapter</a:t>
            </a:r>
          </a:p>
        </p:txBody>
      </p:sp>
      <p:sp>
        <p:nvSpPr>
          <p:cNvPr id="50" name="">
            <a:extLst xmlns:a="http://schemas.openxmlformats.org/drawingml/2006/main">
              <a:ext uri="{FF2B5EF4-FFF2-40B4-BE49-F238E27FC236}">
                <a16:creationId xmlns:a16="http://schemas.microsoft.com/office/drawing/2014/main" id="{323388CF-7281-4DF1-A442-E2A94DB705AB}"/>
              </a:ext>
            </a:extLst>
          </p:cNvPr>
          <p:cNvSpPr>
            <a:spLocks xmlns:a="http://schemas.openxmlformats.org/drawingml/2006/main" noGrp="1"/>
          </p:cNvSpPr>
          <p:nvPr/>
        </p:nvSpPr>
        <p:spPr>
          <a:xfrm xmlns:a="http://schemas.openxmlformats.org/drawingml/2006/main">
            <a:off x="6153150" y="51054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51" name="">
            <a:extLst xmlns:a="http://schemas.openxmlformats.org/drawingml/2006/main">
              <a:ext uri="{FF2B5EF4-FFF2-40B4-BE49-F238E27FC236}">
                <a16:creationId xmlns:a16="http://schemas.microsoft.com/office/drawing/2014/main" id="{AEEC6469-660B-4EB7-877D-E5FB3002905F}"/>
              </a:ext>
            </a:extLst>
          </p:cNvPr>
          <p:cNvSpPr>
            <a:spLocks xmlns:a="http://schemas.openxmlformats.org/drawingml/2006/main" noGrp="1"/>
          </p:cNvSpPr>
          <p:nvPr/>
        </p:nvSpPr>
        <p:spPr>
          <a:xfrm xmlns:a="http://schemas.openxmlformats.org/drawingml/2006/main">
            <a:off x="6362700" y="50387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838"/>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No sign-in, access rules, schedule, webhook, or reviewer screen</a:t>
            </a:r>
          </a:p>
        </p:txBody>
      </p:sp>
      <p:sp>
        <p:nvSpPr>
          <p:cNvPr id="52" name="">
            <a:extLst xmlns:a="http://schemas.openxmlformats.org/drawingml/2006/main">
              <a:ext uri="{FF2B5EF4-FFF2-40B4-BE49-F238E27FC236}">
                <a16:creationId xmlns:a16="http://schemas.microsoft.com/office/drawing/2014/main" id="{AC2FCDB2-CCE1-4F3F-81ED-1CB32DC4F115}"/>
              </a:ext>
            </a:extLst>
          </p:cNvPr>
          <p:cNvSpPr>
            <a:spLocks xmlns:a="http://schemas.openxmlformats.org/drawingml/2006/main" noGrp="1"/>
          </p:cNvSpPr>
          <p:nvPr/>
        </p:nvSpPr>
        <p:spPr>
          <a:xfrm xmlns:a="http://schemas.openxmlformats.org/drawingml/2006/main">
            <a:off x="6134100" y="5514975"/>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B54708"/>
                </a:solidFill>
                <a:latin typeface="Helvetica Neue"/>
                <a:ea typeface="Helvetica Neue"/>
                <a:cs typeface="Helvetica Neue"/>
              </a:defRPr>
            </a:pPr>
            <a:r>
              <a:rPr sz="1200" b="1">
                <a:solidFill>
                  <a:srgbClr val="B54708"/>
                </a:solidFill>
                <a:latin typeface="Helvetica Neue"/>
                <a:ea typeface="Helvetica Neue"/>
                <a:cs typeface="Helvetica Neue"/>
              </a:rPr>
              <a:t>The app sends fictional chunk and query text only to the OpenAI Embeddings API.</a:t>
            </a:r>
          </a:p>
        </p:txBody>
      </p:sp>
    </p:spTree>
    <p:extLst>
      <p:ext uri="{BB962C8B-B14F-4D97-AF65-F5344CB8AC3E}">
        <p14:creationId xmlns:p14="http://schemas.microsoft.com/office/powerpoint/2010/main" val="26650751"/>
      </p:ext>
    </p:extLst>
  </p:cSld>
</p:sld>
</file>

<file path=ppt/slides/slide12.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B48A21C7-CE03-4BC4-898F-2976E47ACF7A}"/>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7554"/>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How would two people reach an internal pilot in eight weeks?</a:t>
            </a:r>
          </a:p>
        </p:txBody>
      </p:sp>
      <p:sp>
        <p:nvSpPr>
          <p:cNvPr id="2" name="">
            <a:extLst xmlns:a="http://schemas.openxmlformats.org/drawingml/2006/main">
              <a:ext uri="{FF2B5EF4-FFF2-40B4-BE49-F238E27FC236}">
                <a16:creationId xmlns:a16="http://schemas.microsoft.com/office/drawing/2014/main" id="{09B70858-4A35-41AC-BA4E-97385B0D613C}"/>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6932D16F-3E93-49C8-A083-E6763E45CD17}"/>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12</a:t>
            </a:r>
          </a:p>
        </p:txBody>
      </p:sp>
      <p:sp>
        <p:nvSpPr>
          <p:cNvPr id="4" name="">
            <a:extLst xmlns:a="http://schemas.openxmlformats.org/drawingml/2006/main">
              <a:ext uri="{FF2B5EF4-FFF2-40B4-BE49-F238E27FC236}">
                <a16:creationId xmlns:a16="http://schemas.microsoft.com/office/drawing/2014/main" id="{F6AA8900-8D83-489E-AEA5-4DF6BA250739}"/>
              </a:ext>
            </a:extLst>
          </p:cNvPr>
          <p:cNvSpPr>
            <a:spLocks xmlns:a="http://schemas.openxmlformats.org/drawingml/2006/main" noGrp="1"/>
          </p:cNvSpPr>
          <p:nvPr/>
        </p:nvSpPr>
        <p:spPr>
          <a:xfrm xmlns:a="http://schemas.openxmlformats.org/drawingml/2006/main">
            <a:off x="1057275" y="2324100"/>
            <a:ext cx="9001125" cy="0"/>
          </a:xfrm>
          <a:prstGeom xmlns:a="http://schemas.openxmlformats.org/drawingml/2006/main" prst="line">
            <a:avLst/>
          </a:prstGeom>
          <a:noFill xmlns:a="http://schemas.openxmlformats.org/drawingml/2006/main"/>
          <a:ln xmlns:a="http://schemas.openxmlformats.org/drawingml/2006/main" w="28575">
            <a:solidFill>
              <a:srgbClr val="9CB5D5"/>
            </a:solidFill>
            <a:prstDash val="solid"/>
          </a:ln>
        </p:spPr>
      </p:sp>
      <p:sp>
        <p:nvSpPr>
          <p:cNvPr id="5" name="">
            <a:extLst xmlns:a="http://schemas.openxmlformats.org/drawingml/2006/main">
              <a:ext uri="{FF2B5EF4-FFF2-40B4-BE49-F238E27FC236}">
                <a16:creationId xmlns:a16="http://schemas.microsoft.com/office/drawing/2014/main" id="{20A0FB16-277A-415B-B0A6-8E73C2815796}"/>
              </a:ext>
            </a:extLst>
          </p:cNvPr>
          <p:cNvSpPr>
            <a:spLocks xmlns:a="http://schemas.openxmlformats.org/drawingml/2006/main" noGrp="1"/>
          </p:cNvSpPr>
          <p:nvPr/>
        </p:nvSpPr>
        <p:spPr>
          <a:xfrm xmlns:a="http://schemas.openxmlformats.org/drawingml/2006/main">
            <a:off x="1476375" y="2171700"/>
            <a:ext cx="228600" cy="2286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6" name="">
            <a:extLst xmlns:a="http://schemas.openxmlformats.org/drawingml/2006/main">
              <a:ext uri="{FF2B5EF4-FFF2-40B4-BE49-F238E27FC236}">
                <a16:creationId xmlns:a16="http://schemas.microsoft.com/office/drawing/2014/main" id="{03049BA2-9994-4F21-94A5-B41BE3149E4E}"/>
              </a:ext>
            </a:extLst>
          </p:cNvPr>
          <p:cNvSpPr>
            <a:spLocks xmlns:a="http://schemas.openxmlformats.org/drawingml/2006/main" noGrp="1"/>
          </p:cNvSpPr>
          <p:nvPr/>
        </p:nvSpPr>
        <p:spPr>
          <a:xfrm xmlns:a="http://schemas.openxmlformats.org/drawingml/2006/main">
            <a:off x="457200" y="2609850"/>
            <a:ext cx="2457450" cy="2476500"/>
          </a:xfrm>
          <a:prstGeom xmlns:a="http://schemas.openxmlformats.org/drawingml/2006/main" prst="roundRect">
            <a:avLst>
              <a:gd name="adj" fmla="val 6202"/>
            </a:avLst>
          </a:prstGeom>
          <a:solidFill xmlns:a="http://schemas.openxmlformats.org/drawingml/2006/main">
            <a:srgbClr val="FFFFFF"/>
          </a:solidFill>
          <a:ln xmlns:a="http://schemas.openxmlformats.org/drawingml/2006/main" w="9525">
            <a:solidFill>
              <a:srgbClr val="D0D5DD"/>
            </a:solidFill>
            <a:prstDash val="solid"/>
          </a:ln>
        </p:spPr>
      </p:sp>
      <p:sp>
        <p:nvSpPr>
          <p:cNvPr id="7" name="">
            <a:extLst xmlns:a="http://schemas.openxmlformats.org/drawingml/2006/main">
              <a:ext uri="{FF2B5EF4-FFF2-40B4-BE49-F238E27FC236}">
                <a16:creationId xmlns:a16="http://schemas.microsoft.com/office/drawing/2014/main" id="{1F65D154-8701-4349-9AFF-7DA254E7C5CA}"/>
              </a:ext>
            </a:extLst>
          </p:cNvPr>
          <p:cNvSpPr>
            <a:spLocks xmlns:a="http://schemas.openxmlformats.org/drawingml/2006/main" noGrp="1"/>
          </p:cNvSpPr>
          <p:nvPr/>
        </p:nvSpPr>
        <p:spPr>
          <a:xfrm xmlns:a="http://schemas.openxmlformats.org/drawingml/2006/main">
            <a:off x="666750" y="28384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111"/>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900" b="1">
                <a:solidFill>
                  <a:srgbClr val="315F9F"/>
                </a:solidFill>
                <a:latin typeface="Helvetica Neue"/>
                <a:ea typeface="Helvetica Neue"/>
                <a:cs typeface="Helvetica Neue"/>
              </a:rPr>
              <a:t>PROPOSED · WEEKS 1–2</a:t>
            </a:r>
          </a:p>
        </p:txBody>
      </p:sp>
      <p:sp>
        <p:nvSpPr>
          <p:cNvPr id="8" name="">
            <a:extLst xmlns:a="http://schemas.openxmlformats.org/drawingml/2006/main">
              <a:ext uri="{FF2B5EF4-FFF2-40B4-BE49-F238E27FC236}">
                <a16:creationId xmlns:a16="http://schemas.microsoft.com/office/drawing/2014/main" id="{C64C3219-E26B-4090-B4AC-9A1D699133EC}"/>
              </a:ext>
            </a:extLst>
          </p:cNvPr>
          <p:cNvSpPr>
            <a:spLocks xmlns:a="http://schemas.openxmlformats.org/drawingml/2006/main" noGrp="1"/>
          </p:cNvSpPr>
          <p:nvPr/>
        </p:nvSpPr>
        <p:spPr>
          <a:xfrm xmlns:a="http://schemas.openxmlformats.org/drawingml/2006/main">
            <a:off x="666750" y="3209925"/>
            <a:ext cx="20383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939"/>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Build one source-to-brief path</a:t>
            </a:r>
          </a:p>
        </p:txBody>
      </p:sp>
      <p:sp>
        <p:nvSpPr>
          <p:cNvPr id="9" name="">
            <a:extLst xmlns:a="http://schemas.openxmlformats.org/drawingml/2006/main">
              <a:ext uri="{FF2B5EF4-FFF2-40B4-BE49-F238E27FC236}">
                <a16:creationId xmlns:a16="http://schemas.microsoft.com/office/drawing/2014/main" id="{EF101CF2-9E15-45BA-BEE2-9A4742BA8580}"/>
              </a:ext>
            </a:extLst>
          </p:cNvPr>
          <p:cNvSpPr>
            <a:spLocks xmlns:a="http://schemas.openxmlformats.org/drawingml/2006/main" noGrp="1"/>
          </p:cNvSpPr>
          <p:nvPr/>
        </p:nvSpPr>
        <p:spPr>
          <a:xfrm xmlns:a="http://schemas.openxmlformats.org/drawingml/2006/main">
            <a:off x="666750" y="3876675"/>
            <a:ext cx="20383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Reference answers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Source contract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One-company slice</a:t>
            </a:r>
          </a:p>
        </p:txBody>
      </p:sp>
      <p:sp>
        <p:nvSpPr>
          <p:cNvPr id="10" name="">
            <a:extLst xmlns:a="http://schemas.openxmlformats.org/drawingml/2006/main">
              <a:ext uri="{FF2B5EF4-FFF2-40B4-BE49-F238E27FC236}">
                <a16:creationId xmlns:a16="http://schemas.microsoft.com/office/drawing/2014/main" id="{7AB3725A-8499-4B9F-902D-1547D90E1C54}"/>
              </a:ext>
            </a:extLst>
          </p:cNvPr>
          <p:cNvSpPr>
            <a:spLocks xmlns:a="http://schemas.openxmlformats.org/drawingml/2006/main" noGrp="1"/>
          </p:cNvSpPr>
          <p:nvPr/>
        </p:nvSpPr>
        <p:spPr>
          <a:xfrm xmlns:a="http://schemas.openxmlformats.org/drawingml/2006/main">
            <a:off x="4210050" y="2171700"/>
            <a:ext cx="228600" cy="2286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1" name="">
            <a:extLst xmlns:a="http://schemas.openxmlformats.org/drawingml/2006/main">
              <a:ext uri="{FF2B5EF4-FFF2-40B4-BE49-F238E27FC236}">
                <a16:creationId xmlns:a16="http://schemas.microsoft.com/office/drawing/2014/main" id="{913AFA8F-4649-4DC7-8F2E-34007EF14B85}"/>
              </a:ext>
            </a:extLst>
          </p:cNvPr>
          <p:cNvSpPr>
            <a:spLocks xmlns:a="http://schemas.openxmlformats.org/drawingml/2006/main" noGrp="1"/>
          </p:cNvSpPr>
          <p:nvPr/>
        </p:nvSpPr>
        <p:spPr>
          <a:xfrm xmlns:a="http://schemas.openxmlformats.org/drawingml/2006/main">
            <a:off x="3190875" y="2609850"/>
            <a:ext cx="2457450" cy="2476500"/>
          </a:xfrm>
          <a:prstGeom xmlns:a="http://schemas.openxmlformats.org/drawingml/2006/main" prst="roundRect">
            <a:avLst>
              <a:gd name="adj" fmla="val 6202"/>
            </a:avLst>
          </a:prstGeom>
          <a:solidFill xmlns:a="http://schemas.openxmlformats.org/drawingml/2006/main">
            <a:srgbClr val="E8F0FB"/>
          </a:solidFill>
          <a:ln xmlns:a="http://schemas.openxmlformats.org/drawingml/2006/main" w="9525">
            <a:solidFill>
              <a:srgbClr val="9CB5D5"/>
            </a:solidFill>
            <a:prstDash val="solid"/>
          </a:ln>
        </p:spPr>
      </p:sp>
      <p:sp>
        <p:nvSpPr>
          <p:cNvPr id="12" name="">
            <a:extLst xmlns:a="http://schemas.openxmlformats.org/drawingml/2006/main">
              <a:ext uri="{FF2B5EF4-FFF2-40B4-BE49-F238E27FC236}">
                <a16:creationId xmlns:a16="http://schemas.microsoft.com/office/drawing/2014/main" id="{FA8820BD-E9D8-4EE0-91EF-A42C6781D2EC}"/>
              </a:ext>
            </a:extLst>
          </p:cNvPr>
          <p:cNvSpPr>
            <a:spLocks xmlns:a="http://schemas.openxmlformats.org/drawingml/2006/main" noGrp="1"/>
          </p:cNvSpPr>
          <p:nvPr/>
        </p:nvSpPr>
        <p:spPr>
          <a:xfrm xmlns:a="http://schemas.openxmlformats.org/drawingml/2006/main">
            <a:off x="3400425" y="28384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WEEKS 3–4</a:t>
            </a:r>
          </a:p>
        </p:txBody>
      </p:sp>
      <p:sp>
        <p:nvSpPr>
          <p:cNvPr id="13" name="">
            <a:extLst xmlns:a="http://schemas.openxmlformats.org/drawingml/2006/main">
              <a:ext uri="{FF2B5EF4-FFF2-40B4-BE49-F238E27FC236}">
                <a16:creationId xmlns:a16="http://schemas.microsoft.com/office/drawing/2014/main" id="{D25C1FD4-F4A1-44A7-A1AC-BFCA9E9B513A}"/>
              </a:ext>
            </a:extLst>
          </p:cNvPr>
          <p:cNvSpPr>
            <a:spLocks xmlns:a="http://schemas.openxmlformats.org/drawingml/2006/main" noGrp="1"/>
          </p:cNvSpPr>
          <p:nvPr/>
        </p:nvSpPr>
        <p:spPr>
          <a:xfrm xmlns:a="http://schemas.openxmlformats.org/drawingml/2006/main">
            <a:off x="3400425" y="3209925"/>
            <a:ext cx="20383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939"/>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Connect one approved source</a:t>
            </a:r>
          </a:p>
        </p:txBody>
      </p:sp>
      <p:sp>
        <p:nvSpPr>
          <p:cNvPr id="14" name="">
            <a:extLst xmlns:a="http://schemas.openxmlformats.org/drawingml/2006/main">
              <a:ext uri="{FF2B5EF4-FFF2-40B4-BE49-F238E27FC236}">
                <a16:creationId xmlns:a16="http://schemas.microsoft.com/office/drawing/2014/main" id="{D6F8C5E2-CF81-455B-A842-DB2C25910D2D}"/>
              </a:ext>
            </a:extLst>
          </p:cNvPr>
          <p:cNvSpPr>
            <a:spLocks xmlns:a="http://schemas.openxmlformats.org/drawingml/2006/main" noGrp="1"/>
          </p:cNvSpPr>
          <p:nvPr/>
        </p:nvSpPr>
        <p:spPr>
          <a:xfrm xmlns:a="http://schemas.openxmlformats.org/drawingml/2006/main">
            <a:off x="3400425" y="3876675"/>
            <a:ext cx="20383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Read-only connector</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Incremental import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Company mapping check</a:t>
            </a:r>
          </a:p>
        </p:txBody>
      </p:sp>
      <p:sp>
        <p:nvSpPr>
          <p:cNvPr id="15" name="">
            <a:extLst xmlns:a="http://schemas.openxmlformats.org/drawingml/2006/main">
              <a:ext uri="{FF2B5EF4-FFF2-40B4-BE49-F238E27FC236}">
                <a16:creationId xmlns:a16="http://schemas.microsoft.com/office/drawing/2014/main" id="{008777A7-B3A0-4F97-B3F1-99FA5E7A7BC0}"/>
              </a:ext>
            </a:extLst>
          </p:cNvPr>
          <p:cNvSpPr>
            <a:spLocks xmlns:a="http://schemas.openxmlformats.org/drawingml/2006/main" noGrp="1"/>
          </p:cNvSpPr>
          <p:nvPr/>
        </p:nvSpPr>
        <p:spPr>
          <a:xfrm xmlns:a="http://schemas.openxmlformats.org/drawingml/2006/main">
            <a:off x="6943725" y="2171700"/>
            <a:ext cx="228600" cy="2286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6" name="">
            <a:extLst xmlns:a="http://schemas.openxmlformats.org/drawingml/2006/main">
              <a:ext uri="{FF2B5EF4-FFF2-40B4-BE49-F238E27FC236}">
                <a16:creationId xmlns:a16="http://schemas.microsoft.com/office/drawing/2014/main" id="{85A70862-469D-415E-AC13-2BF4C28F4C7B}"/>
              </a:ext>
            </a:extLst>
          </p:cNvPr>
          <p:cNvSpPr>
            <a:spLocks xmlns:a="http://schemas.openxmlformats.org/drawingml/2006/main" noGrp="1"/>
          </p:cNvSpPr>
          <p:nvPr/>
        </p:nvSpPr>
        <p:spPr>
          <a:xfrm xmlns:a="http://schemas.openxmlformats.org/drawingml/2006/main">
            <a:off x="5924550" y="2609850"/>
            <a:ext cx="2457450" cy="2476500"/>
          </a:xfrm>
          <a:prstGeom xmlns:a="http://schemas.openxmlformats.org/drawingml/2006/main" prst="roundRect">
            <a:avLst>
              <a:gd name="adj" fmla="val 6202"/>
            </a:avLst>
          </a:prstGeom>
          <a:solidFill xmlns:a="http://schemas.openxmlformats.org/drawingml/2006/main">
            <a:srgbClr val="FFFFFF"/>
          </a:solidFill>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2F40EFA4-B3E1-48E9-B048-F8D6BD7FAC88}"/>
              </a:ext>
            </a:extLst>
          </p:cNvPr>
          <p:cNvSpPr>
            <a:spLocks xmlns:a="http://schemas.openxmlformats.org/drawingml/2006/main" noGrp="1"/>
          </p:cNvSpPr>
          <p:nvPr/>
        </p:nvSpPr>
        <p:spPr>
          <a:xfrm xmlns:a="http://schemas.openxmlformats.org/drawingml/2006/main">
            <a:off x="6134100" y="28384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WEEKS 5–6</a:t>
            </a:r>
          </a:p>
        </p:txBody>
      </p:sp>
      <p:sp>
        <p:nvSpPr>
          <p:cNvPr id="18" name="">
            <a:extLst xmlns:a="http://schemas.openxmlformats.org/drawingml/2006/main">
              <a:ext uri="{FF2B5EF4-FFF2-40B4-BE49-F238E27FC236}">
                <a16:creationId xmlns:a16="http://schemas.microsoft.com/office/drawing/2014/main" id="{F0D4F2DF-06EE-4F15-A3C6-C8D3A96833D5}"/>
              </a:ext>
            </a:extLst>
          </p:cNvPr>
          <p:cNvSpPr>
            <a:spLocks xmlns:a="http://schemas.openxmlformats.org/drawingml/2006/main" noGrp="1"/>
          </p:cNvSpPr>
          <p:nvPr/>
        </p:nvSpPr>
        <p:spPr>
          <a:xfrm xmlns:a="http://schemas.openxmlformats.org/drawingml/2006/main">
            <a:off x="6134100" y="3209925"/>
            <a:ext cx="20383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4820"/>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Test retrieval and access</a:t>
            </a:r>
          </a:p>
        </p:txBody>
      </p:sp>
      <p:sp>
        <p:nvSpPr>
          <p:cNvPr id="19" name="">
            <a:extLst xmlns:a="http://schemas.openxmlformats.org/drawingml/2006/main">
              <a:ext uri="{FF2B5EF4-FFF2-40B4-BE49-F238E27FC236}">
                <a16:creationId xmlns:a16="http://schemas.microsoft.com/office/drawing/2014/main" id="{C5BE0EB4-D171-46D5-AE72-9983A065A3F5}"/>
              </a:ext>
            </a:extLst>
          </p:cNvPr>
          <p:cNvSpPr>
            <a:spLocks xmlns:a="http://schemas.openxmlformats.org/drawingml/2006/main" noGrp="1"/>
          </p:cNvSpPr>
          <p:nvPr/>
        </p:nvSpPr>
        <p:spPr>
          <a:xfrm xmlns:a="http://schemas.openxmlformats.org/drawingml/2006/main">
            <a:off x="6134100" y="3876675"/>
            <a:ext cx="20383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Access checks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Evaluated retrieval</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Grounded generation</a:t>
            </a:r>
          </a:p>
        </p:txBody>
      </p:sp>
      <p:sp>
        <p:nvSpPr>
          <p:cNvPr id="20" name="">
            <a:extLst xmlns:a="http://schemas.openxmlformats.org/drawingml/2006/main">
              <a:ext uri="{FF2B5EF4-FFF2-40B4-BE49-F238E27FC236}">
                <a16:creationId xmlns:a16="http://schemas.microsoft.com/office/drawing/2014/main" id="{1A32A016-7301-49CD-B90A-7D57F4D0D685}"/>
              </a:ext>
            </a:extLst>
          </p:cNvPr>
          <p:cNvSpPr>
            <a:spLocks xmlns:a="http://schemas.openxmlformats.org/drawingml/2006/main" noGrp="1"/>
          </p:cNvSpPr>
          <p:nvPr/>
        </p:nvSpPr>
        <p:spPr>
          <a:xfrm xmlns:a="http://schemas.openxmlformats.org/drawingml/2006/main">
            <a:off x="9677400" y="2171700"/>
            <a:ext cx="228600" cy="2286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21" name="">
            <a:extLst xmlns:a="http://schemas.openxmlformats.org/drawingml/2006/main">
              <a:ext uri="{FF2B5EF4-FFF2-40B4-BE49-F238E27FC236}">
                <a16:creationId xmlns:a16="http://schemas.microsoft.com/office/drawing/2014/main" id="{99FCB468-F74B-4357-9A52-E37407197048}"/>
              </a:ext>
            </a:extLst>
          </p:cNvPr>
          <p:cNvSpPr>
            <a:spLocks xmlns:a="http://schemas.openxmlformats.org/drawingml/2006/main" noGrp="1"/>
          </p:cNvSpPr>
          <p:nvPr/>
        </p:nvSpPr>
        <p:spPr>
          <a:xfrm xmlns:a="http://schemas.openxmlformats.org/drawingml/2006/main">
            <a:off x="8658225" y="2609850"/>
            <a:ext cx="2457450" cy="2476500"/>
          </a:xfrm>
          <a:prstGeom xmlns:a="http://schemas.openxmlformats.org/drawingml/2006/main" prst="roundRect">
            <a:avLst>
              <a:gd name="adj" fmla="val 6202"/>
            </a:avLst>
          </a:prstGeom>
          <a:solidFill xmlns:a="http://schemas.openxmlformats.org/drawingml/2006/main">
            <a:srgbClr val="E8F0FB"/>
          </a:solidFill>
          <a:ln xmlns:a="http://schemas.openxmlformats.org/drawingml/2006/main" w="9525">
            <a:solidFill>
              <a:srgbClr val="9CB5D5"/>
            </a:solidFill>
            <a:prstDash val="solid"/>
          </a:ln>
        </p:spPr>
      </p:sp>
      <p:sp>
        <p:nvSpPr>
          <p:cNvPr id="22" name="">
            <a:extLst xmlns:a="http://schemas.openxmlformats.org/drawingml/2006/main">
              <a:ext uri="{FF2B5EF4-FFF2-40B4-BE49-F238E27FC236}">
                <a16:creationId xmlns:a16="http://schemas.microsoft.com/office/drawing/2014/main" id="{6E06FC1C-4C98-4854-B230-8BE2949563A6}"/>
              </a:ext>
            </a:extLst>
          </p:cNvPr>
          <p:cNvSpPr>
            <a:spLocks xmlns:a="http://schemas.openxmlformats.org/drawingml/2006/main" noGrp="1"/>
          </p:cNvSpPr>
          <p:nvPr/>
        </p:nvSpPr>
        <p:spPr>
          <a:xfrm xmlns:a="http://schemas.openxmlformats.org/drawingml/2006/main">
            <a:off x="8867775" y="28384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WEEKS 7–8</a:t>
            </a:r>
          </a:p>
        </p:txBody>
      </p:sp>
      <p:sp>
        <p:nvSpPr>
          <p:cNvPr id="23" name="">
            <a:extLst xmlns:a="http://schemas.openxmlformats.org/drawingml/2006/main">
              <a:ext uri="{FF2B5EF4-FFF2-40B4-BE49-F238E27FC236}">
                <a16:creationId xmlns:a16="http://schemas.microsoft.com/office/drawing/2014/main" id="{3F5B3583-FB90-4EDE-95F5-3AE6193A1599}"/>
              </a:ext>
            </a:extLst>
          </p:cNvPr>
          <p:cNvSpPr>
            <a:spLocks xmlns:a="http://schemas.openxmlformats.org/drawingml/2006/main" noGrp="1"/>
          </p:cNvSpPr>
          <p:nvPr/>
        </p:nvSpPr>
        <p:spPr>
          <a:xfrm xmlns:a="http://schemas.openxmlformats.org/drawingml/2006/main">
            <a:off x="8867775" y="3209925"/>
            <a:ext cx="20383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939"/>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Run the pilot and scale test</a:t>
            </a:r>
          </a:p>
        </p:txBody>
      </p:sp>
      <p:sp>
        <p:nvSpPr>
          <p:cNvPr id="24" name="">
            <a:extLst xmlns:a="http://schemas.openxmlformats.org/drawingml/2006/main">
              <a:ext uri="{FF2B5EF4-FFF2-40B4-BE49-F238E27FC236}">
                <a16:creationId xmlns:a16="http://schemas.microsoft.com/office/drawing/2014/main" id="{2A76C785-0332-4439-89D8-4C92564AB60F}"/>
              </a:ext>
            </a:extLst>
          </p:cNvPr>
          <p:cNvSpPr>
            <a:spLocks xmlns:a="http://schemas.openxmlformats.org/drawingml/2006/main" noGrp="1"/>
          </p:cNvSpPr>
          <p:nvPr/>
        </p:nvSpPr>
        <p:spPr>
          <a:xfrm xmlns:a="http://schemas.openxmlformats.org/drawingml/2006/main">
            <a:off x="8867775" y="3876675"/>
            <a:ext cx="20383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Reconciliation</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Monitoring</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250-company test and RC pilot</a:t>
            </a:r>
          </a:p>
        </p:txBody>
      </p:sp>
      <p:sp>
        <p:nvSpPr>
          <p:cNvPr id="25" name="">
            <a:extLst xmlns:a="http://schemas.openxmlformats.org/drawingml/2006/main">
              <a:ext uri="{FF2B5EF4-FFF2-40B4-BE49-F238E27FC236}">
                <a16:creationId xmlns:a16="http://schemas.microsoft.com/office/drawing/2014/main" id="{8FD243BD-D1D8-4D5E-9080-89BCC3F63E9D}"/>
              </a:ext>
            </a:extLst>
          </p:cNvPr>
          <p:cNvSpPr>
            <a:spLocks xmlns:a="http://schemas.openxmlformats.org/drawingml/2006/main" noGrp="1"/>
          </p:cNvSpPr>
          <p:nvPr/>
        </p:nvSpPr>
        <p:spPr>
          <a:xfrm xmlns:a="http://schemas.openxmlformats.org/drawingml/2006/main">
            <a:off x="457200" y="5391150"/>
            <a:ext cx="10858500" cy="628650"/>
          </a:xfrm>
          <a:prstGeom xmlns:a="http://schemas.openxmlformats.org/drawingml/2006/main" prst="roundRect">
            <a:avLst>
              <a:gd name="adj" fmla="val 21212"/>
            </a:avLst>
          </a:prstGeom>
          <a:solidFill xmlns:a="http://schemas.openxmlformats.org/drawingml/2006/main">
            <a:srgbClr val="F2F4F7"/>
          </a:solidFill>
          <a:ln xmlns:a="http://schemas.openxmlformats.org/drawingml/2006/main" w="9525">
            <a:solidFill>
              <a:srgbClr val="D0D5DD"/>
            </a:solidFill>
            <a:prstDash val="solid"/>
          </a:ln>
        </p:spPr>
      </p:sp>
      <p:sp>
        <p:nvSpPr>
          <p:cNvPr id="26" name="">
            <a:extLst xmlns:a="http://schemas.openxmlformats.org/drawingml/2006/main">
              <a:ext uri="{FF2B5EF4-FFF2-40B4-BE49-F238E27FC236}">
                <a16:creationId xmlns:a16="http://schemas.microsoft.com/office/drawing/2014/main" id="{6DBF2437-14B5-4A46-9FC0-D460E78897FD}"/>
              </a:ext>
            </a:extLst>
          </p:cNvPr>
          <p:cNvSpPr>
            <a:spLocks xmlns:a="http://schemas.openxmlformats.org/drawingml/2006/main" noGrp="1"/>
          </p:cNvSpPr>
          <p:nvPr/>
        </p:nvSpPr>
        <p:spPr>
          <a:xfrm xmlns:a="http://schemas.openxmlformats.org/drawingml/2006/main">
            <a:off x="666750" y="55816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101828"/>
                </a:solidFill>
                <a:latin typeface="Helvetica Neue"/>
                <a:ea typeface="Helvetica Neue"/>
                <a:cs typeface="Helvetica Neue"/>
              </a:defRPr>
            </a:pPr>
            <a:r>
              <a:rPr sz="1200" b="1">
                <a:solidFill>
                  <a:srgbClr val="101828"/>
                </a:solidFill>
                <a:latin typeface="Helvetica Neue"/>
                <a:ea typeface="Helvetica Neue"/>
                <a:cs typeface="Helvetica Neue"/>
              </a:rPr>
              <a:t>PERSON 1 · Product and application</a:t>
            </a:r>
          </a:p>
        </p:txBody>
      </p:sp>
      <p:sp>
        <p:nvSpPr>
          <p:cNvPr id="27" name="">
            <a:extLst xmlns:a="http://schemas.openxmlformats.org/drawingml/2006/main">
              <a:ext uri="{FF2B5EF4-FFF2-40B4-BE49-F238E27FC236}">
                <a16:creationId xmlns:a16="http://schemas.microsoft.com/office/drawing/2014/main" id="{918CF25F-52C6-4E33-BCCB-F49769B2D014}"/>
              </a:ext>
            </a:extLst>
          </p:cNvPr>
          <p:cNvSpPr>
            <a:spLocks xmlns:a="http://schemas.openxmlformats.org/drawingml/2006/main" noGrp="1"/>
          </p:cNvSpPr>
          <p:nvPr/>
        </p:nvSpPr>
        <p:spPr>
          <a:xfrm xmlns:a="http://schemas.openxmlformats.org/drawingml/2006/main">
            <a:off x="4476750" y="5581650"/>
            <a:ext cx="3238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101828"/>
                </a:solidFill>
                <a:latin typeface="Helvetica Neue"/>
                <a:ea typeface="Helvetica Neue"/>
                <a:cs typeface="Helvetica Neue"/>
              </a:defRPr>
            </a:pPr>
            <a:r>
              <a:rPr sz="1200" b="1">
                <a:solidFill>
                  <a:srgbClr val="101828"/>
                </a:solidFill>
                <a:latin typeface="Helvetica Neue"/>
                <a:ea typeface="Helvetica Neue"/>
                <a:cs typeface="Helvetica Neue"/>
              </a:rPr>
              <a:t>PERSON 2 · Data and platform</a:t>
            </a:r>
          </a:p>
        </p:txBody>
      </p:sp>
      <p:sp>
        <p:nvSpPr>
          <p:cNvPr id="28" name="">
            <a:extLst xmlns:a="http://schemas.openxmlformats.org/drawingml/2006/main">
              <a:ext uri="{FF2B5EF4-FFF2-40B4-BE49-F238E27FC236}">
                <a16:creationId xmlns:a16="http://schemas.microsoft.com/office/drawing/2014/main" id="{DB910F2C-EF3B-4B5A-AC88-78FDB08FE0C6}"/>
              </a:ext>
            </a:extLst>
          </p:cNvPr>
          <p:cNvSpPr>
            <a:spLocks xmlns:a="http://schemas.openxmlformats.org/drawingml/2006/main" noGrp="1"/>
          </p:cNvSpPr>
          <p:nvPr/>
        </p:nvSpPr>
        <p:spPr>
          <a:xfrm xmlns:a="http://schemas.openxmlformats.org/drawingml/2006/main">
            <a:off x="7953375" y="558165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315F9F"/>
                </a:solidFill>
                <a:latin typeface="Helvetica Neue"/>
                <a:ea typeface="Helvetica Neue"/>
                <a:cs typeface="Helvetica Neue"/>
              </a:defRPr>
            </a:pPr>
            <a:r>
              <a:rPr sz="1200" b="1">
                <a:solidFill>
                  <a:srgbClr val="315F9F"/>
                </a:solidFill>
                <a:latin typeface="Helvetica Neue"/>
                <a:ea typeface="Helvetica Neue"/>
                <a:cs typeface="Helvetica Neue"/>
              </a:rPr>
              <a:t>SHARED · Source contract and evaluation set</a:t>
            </a:r>
          </a:p>
        </p:txBody>
      </p:sp>
    </p:spTree>
    <p:extLst>
      <p:ext uri="{BB962C8B-B14F-4D97-AF65-F5344CB8AC3E}">
        <p14:creationId xmlns:p14="http://schemas.microsoft.com/office/powerpoint/2010/main" val="1276192043"/>
      </p:ext>
    </p:extLst>
  </p:cSld>
</p:sld>
</file>

<file path=ppt/slides/slide13.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47D7DB73-AD97-4C88-8C7A-A4A75DE3DDCC}"/>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What do I de-risk first, and what changes with more time?</a:t>
            </a:r>
          </a:p>
        </p:txBody>
      </p:sp>
      <p:sp>
        <p:nvSpPr>
          <p:cNvPr id="2" name="">
            <a:extLst xmlns:a="http://schemas.openxmlformats.org/drawingml/2006/main">
              <a:ext uri="{FF2B5EF4-FFF2-40B4-BE49-F238E27FC236}">
                <a16:creationId xmlns:a16="http://schemas.microsoft.com/office/drawing/2014/main" id="{1148B56E-B5D3-40D5-84C7-3298B3E762FB}"/>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AB2D00DE-0653-4BEF-8506-56714A0FA028}"/>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13</a:t>
            </a:r>
          </a:p>
        </p:txBody>
      </p:sp>
      <p:sp>
        <p:nvSpPr>
          <p:cNvPr id="4" name="">
            <a:extLst xmlns:a="http://schemas.openxmlformats.org/drawingml/2006/main">
              <a:ext uri="{FF2B5EF4-FFF2-40B4-BE49-F238E27FC236}">
                <a16:creationId xmlns:a16="http://schemas.microsoft.com/office/drawing/2014/main" id="{84CA3562-EE1C-4D17-9AF1-23A0716F7861}"/>
              </a:ext>
            </a:extLst>
          </p:cNvPr>
          <p:cNvSpPr>
            <a:spLocks xmlns:a="http://schemas.openxmlformats.org/drawingml/2006/main" noGrp="1"/>
          </p:cNvSpPr>
          <p:nvPr/>
        </p:nvSpPr>
        <p:spPr>
          <a:xfrm xmlns:a="http://schemas.openxmlformats.org/drawingml/2006/main">
            <a:off x="457200" y="1504950"/>
            <a:ext cx="9906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2184"/>
          </a:bodyPr>
          <a:lstStyle xmlns:a="http://schemas.openxmlformats.org/drawingml/2006/main"/>
          <a:p xmlns:a="http://schemas.openxmlformats.org/drawingml/2006/main">
            <a:pPr algn="l">
              <a:buNone/>
              <a:defRPr sz="2550" b="1">
                <a:solidFill>
                  <a:srgbClr val="315F9F"/>
                </a:solidFill>
                <a:latin typeface="Helvetica Neue"/>
                <a:ea typeface="Helvetica Neue"/>
                <a:cs typeface="Helvetica Neue"/>
              </a:defRPr>
            </a:pPr>
            <a:r>
              <a:rPr sz="2550" b="1">
                <a:solidFill>
                  <a:srgbClr val="315F9F"/>
                </a:solidFill>
                <a:latin typeface="Helvetica Neue"/>
                <a:ea typeface="Helvetica Neue"/>
                <a:cs typeface="Helvetica Neue"/>
              </a:rPr>
              <a:t>First risk: retrieve the right evidence and show when the answer is uncertain.</a:t>
            </a:r>
          </a:p>
        </p:txBody>
      </p:sp>
      <p:sp>
        <p:nvSpPr>
          <p:cNvPr id="5" name="">
            <a:extLst xmlns:a="http://schemas.openxmlformats.org/drawingml/2006/main">
              <a:ext uri="{FF2B5EF4-FFF2-40B4-BE49-F238E27FC236}">
                <a16:creationId xmlns:a16="http://schemas.microsoft.com/office/drawing/2014/main" id="{5562A5C6-60ED-4181-9E47-254F83779A64}"/>
              </a:ext>
            </a:extLst>
          </p:cNvPr>
          <p:cNvSpPr>
            <a:spLocks xmlns:a="http://schemas.openxmlformats.org/drawingml/2006/main" noGrp="1"/>
          </p:cNvSpPr>
          <p:nvPr/>
        </p:nvSpPr>
        <p:spPr>
          <a:xfrm xmlns:a="http://schemas.openxmlformats.org/drawingml/2006/main">
            <a:off x="457200" y="2400300"/>
            <a:ext cx="3333750" cy="2800350"/>
          </a:xfrm>
          <a:prstGeom xmlns:a="http://schemas.openxmlformats.org/drawingml/2006/main" prst="roundRect">
            <a:avLst>
              <a:gd name="adj" fmla="val 6122"/>
            </a:avLst>
          </a:prstGeom>
          <a:solidFill xmlns:a="http://schemas.openxmlformats.org/drawingml/2006/main">
            <a:srgbClr val="FFFFFF"/>
          </a:solidFill>
          <a:ln xmlns:a="http://schemas.openxmlformats.org/drawingml/2006/main" w="9525">
            <a:solidFill>
              <a:srgbClr val="D0D5DD"/>
            </a:solidFill>
            <a:prstDash val="solid"/>
          </a:ln>
        </p:spPr>
      </p:sp>
      <p:sp>
        <p:nvSpPr>
          <p:cNvPr id="6" name="">
            <a:extLst xmlns:a="http://schemas.openxmlformats.org/drawingml/2006/main">
              <a:ext uri="{FF2B5EF4-FFF2-40B4-BE49-F238E27FC236}">
                <a16:creationId xmlns:a16="http://schemas.microsoft.com/office/drawing/2014/main" id="{E612701B-CF09-4277-9DC9-F0E56890F11C}"/>
              </a:ext>
            </a:extLst>
          </p:cNvPr>
          <p:cNvSpPr>
            <a:spLocks xmlns:a="http://schemas.openxmlformats.org/drawingml/2006/main" noGrp="1"/>
          </p:cNvSpPr>
          <p:nvPr/>
        </p:nvSpPr>
        <p:spPr>
          <a:xfrm xmlns:a="http://schemas.openxmlformats.org/drawingml/2006/main">
            <a:off x="685800" y="26479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FIRST PROTOTYPE</a:t>
            </a:r>
          </a:p>
        </p:txBody>
      </p:sp>
      <p:sp>
        <p:nvSpPr>
          <p:cNvPr id="7" name="">
            <a:extLst xmlns:a="http://schemas.openxmlformats.org/drawingml/2006/main">
              <a:ext uri="{FF2B5EF4-FFF2-40B4-BE49-F238E27FC236}">
                <a16:creationId xmlns:a16="http://schemas.microsoft.com/office/drawing/2014/main" id="{B233DDE3-C518-45BB-AFC1-EC711ACC02AE}"/>
              </a:ext>
            </a:extLst>
          </p:cNvPr>
          <p:cNvSpPr>
            <a:spLocks xmlns:a="http://schemas.openxmlformats.org/drawingml/2006/main" noGrp="1"/>
          </p:cNvSpPr>
          <p:nvPr/>
        </p:nvSpPr>
        <p:spPr>
          <a:xfrm xmlns:a="http://schemas.openxmlformats.org/drawingml/2006/main">
            <a:off x="685800" y="30480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435"/>
          </a:bodyPr>
          <a:lstStyle xmlns:a="http://schemas.openxmlformats.org/drawingml/2006/main"/>
          <a:p xmlns:a="http://schemas.openxmlformats.org/drawingml/2006/main">
            <a:pPr algn="l">
              <a:buNone/>
              <a:defRPr sz="1725" b="1">
                <a:solidFill>
                  <a:srgbClr val="101828"/>
                </a:solidFill>
                <a:latin typeface="Helvetica Neue"/>
                <a:ea typeface="Helvetica Neue"/>
                <a:cs typeface="Helvetica Neue"/>
              </a:defRPr>
            </a:pPr>
            <a:r>
              <a:rPr sz="1725" b="1">
                <a:solidFill>
                  <a:srgbClr val="101828"/>
                </a:solidFill>
                <a:latin typeface="Helvetica Neue"/>
                <a:ea typeface="Helvetica Neue"/>
                <a:cs typeface="Helvetica Neue"/>
              </a:rPr>
              <a:t>One company and one real source</a:t>
            </a:r>
          </a:p>
        </p:txBody>
      </p:sp>
      <p:sp>
        <p:nvSpPr>
          <p:cNvPr id="8" name="">
            <a:extLst xmlns:a="http://schemas.openxmlformats.org/drawingml/2006/main">
              <a:ext uri="{FF2B5EF4-FFF2-40B4-BE49-F238E27FC236}">
                <a16:creationId xmlns:a16="http://schemas.microsoft.com/office/drawing/2014/main" id="{A9A47721-2CAB-45CC-A0B0-A2173E47E46B}"/>
              </a:ext>
            </a:extLst>
          </p:cNvPr>
          <p:cNvSpPr>
            <a:spLocks xmlns:a="http://schemas.openxmlformats.org/drawingml/2006/main" noGrp="1"/>
          </p:cNvSpPr>
          <p:nvPr/>
        </p:nvSpPr>
        <p:spPr>
          <a:xfrm xmlns:a="http://schemas.openxmlformats.org/drawingml/2006/main">
            <a:off x="685800" y="3762375"/>
            <a:ext cx="28575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current fact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true conflict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missing fact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changed source record</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Reference answers</a:t>
            </a:r>
          </a:p>
        </p:txBody>
      </p:sp>
      <p:sp>
        <p:nvSpPr>
          <p:cNvPr id="9" name="">
            <a:extLst xmlns:a="http://schemas.openxmlformats.org/drawingml/2006/main">
              <a:ext uri="{FF2B5EF4-FFF2-40B4-BE49-F238E27FC236}">
                <a16:creationId xmlns:a16="http://schemas.microsoft.com/office/drawing/2014/main" id="{9A2149D0-122E-4662-9C67-860C2D3353C0}"/>
              </a:ext>
            </a:extLst>
          </p:cNvPr>
          <p:cNvSpPr>
            <a:spLocks xmlns:a="http://schemas.openxmlformats.org/drawingml/2006/main" noGrp="1"/>
          </p:cNvSpPr>
          <p:nvPr/>
        </p:nvSpPr>
        <p:spPr>
          <a:xfrm xmlns:a="http://schemas.openxmlformats.org/drawingml/2006/main">
            <a:off x="4095750" y="2400300"/>
            <a:ext cx="3333750" cy="2800350"/>
          </a:xfrm>
          <a:prstGeom xmlns:a="http://schemas.openxmlformats.org/drawingml/2006/main" prst="roundRect">
            <a:avLst>
              <a:gd name="adj" fmla="val 6122"/>
            </a:avLst>
          </a:prstGeom>
          <a:solidFill xmlns:a="http://schemas.openxmlformats.org/drawingml/2006/main">
            <a:srgbClr val="F2F4F7"/>
          </a:solidFill>
          <a:ln xmlns:a="http://schemas.openxmlformats.org/drawingml/2006/main" w="9525">
            <a:solidFill>
              <a:srgbClr val="D0D5DD"/>
            </a:solidFill>
            <a:prstDash val="solid"/>
          </a:ln>
        </p:spPr>
      </p:sp>
      <p:sp>
        <p:nvSpPr>
          <p:cNvPr id="10" name="">
            <a:extLst xmlns:a="http://schemas.openxmlformats.org/drawingml/2006/main">
              <a:ext uri="{FF2B5EF4-FFF2-40B4-BE49-F238E27FC236}">
                <a16:creationId xmlns:a16="http://schemas.microsoft.com/office/drawing/2014/main" id="{3B17A513-9371-40C5-979E-A976BA6D2B28}"/>
              </a:ext>
            </a:extLst>
          </p:cNvPr>
          <p:cNvSpPr>
            <a:spLocks xmlns:a="http://schemas.openxmlformats.org/drawingml/2006/main" noGrp="1"/>
          </p:cNvSpPr>
          <p:nvPr/>
        </p:nvSpPr>
        <p:spPr>
          <a:xfrm xmlns:a="http://schemas.openxmlformats.org/drawingml/2006/main">
            <a:off x="4324350" y="26479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CRITICAL DEPENDENCIES</a:t>
            </a:r>
          </a:p>
        </p:txBody>
      </p:sp>
      <p:sp>
        <p:nvSpPr>
          <p:cNvPr id="11" name="">
            <a:extLst xmlns:a="http://schemas.openxmlformats.org/drawingml/2006/main">
              <a:ext uri="{FF2B5EF4-FFF2-40B4-BE49-F238E27FC236}">
                <a16:creationId xmlns:a16="http://schemas.microsoft.com/office/drawing/2014/main" id="{EAEF692C-81C5-4F80-BEF7-B65ABE382A68}"/>
              </a:ext>
            </a:extLst>
          </p:cNvPr>
          <p:cNvSpPr>
            <a:spLocks xmlns:a="http://schemas.openxmlformats.org/drawingml/2006/main" noGrp="1"/>
          </p:cNvSpPr>
          <p:nvPr/>
        </p:nvSpPr>
        <p:spPr>
          <a:xfrm xmlns:a="http://schemas.openxmlformats.org/drawingml/2006/main">
            <a:off x="4324350" y="30480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1">
                <a:solidFill>
                  <a:srgbClr val="101828"/>
                </a:solidFill>
                <a:latin typeface="Helvetica Neue"/>
                <a:ea typeface="Helvetica Neue"/>
                <a:cs typeface="Helvetica Neue"/>
              </a:defRPr>
            </a:pPr>
            <a:r>
              <a:rPr sz="1725" b="1">
                <a:solidFill>
                  <a:srgbClr val="101828"/>
                </a:solidFill>
                <a:latin typeface="Helvetica Neue"/>
                <a:ea typeface="Helvetica Neue"/>
                <a:cs typeface="Helvetica Neue"/>
              </a:rPr>
              <a:t>Access and ownership</a:t>
            </a:r>
          </a:p>
        </p:txBody>
      </p:sp>
      <p:sp>
        <p:nvSpPr>
          <p:cNvPr id="12" name="">
            <a:extLst xmlns:a="http://schemas.openxmlformats.org/drawingml/2006/main">
              <a:ext uri="{FF2B5EF4-FFF2-40B4-BE49-F238E27FC236}">
                <a16:creationId xmlns:a16="http://schemas.microsoft.com/office/drawing/2014/main" id="{16E21101-5479-4093-B7A3-67DC3D3F5AE8}"/>
              </a:ext>
            </a:extLst>
          </p:cNvPr>
          <p:cNvSpPr>
            <a:spLocks xmlns:a="http://schemas.openxmlformats.org/drawingml/2006/main" noGrp="1"/>
          </p:cNvSpPr>
          <p:nvPr/>
        </p:nvSpPr>
        <p:spPr>
          <a:xfrm xmlns:a="http://schemas.openxmlformats.org/drawingml/2006/main">
            <a:off x="4324350" y="3762375"/>
            <a:ext cx="28575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464"/>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Source owners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API access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Canonical company IDs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Access and retention rules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Model policy</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RC review</a:t>
            </a:r>
          </a:p>
        </p:txBody>
      </p:sp>
      <p:sp>
        <p:nvSpPr>
          <p:cNvPr id="13" name="">
            <a:extLst xmlns:a="http://schemas.openxmlformats.org/drawingml/2006/main">
              <a:ext uri="{FF2B5EF4-FFF2-40B4-BE49-F238E27FC236}">
                <a16:creationId xmlns:a16="http://schemas.microsoft.com/office/drawing/2014/main" id="{C58C9AB4-4295-4DBC-8C8F-775BFAD2D383}"/>
              </a:ext>
            </a:extLst>
          </p:cNvPr>
          <p:cNvSpPr>
            <a:spLocks xmlns:a="http://schemas.openxmlformats.org/drawingml/2006/main" noGrp="1"/>
          </p:cNvSpPr>
          <p:nvPr/>
        </p:nvSpPr>
        <p:spPr>
          <a:xfrm xmlns:a="http://schemas.openxmlformats.org/drawingml/2006/main">
            <a:off x="7734300" y="2400300"/>
            <a:ext cx="3333750" cy="2800350"/>
          </a:xfrm>
          <a:prstGeom xmlns:a="http://schemas.openxmlformats.org/drawingml/2006/main" prst="roundRect">
            <a:avLst>
              <a:gd name="adj" fmla="val 6122"/>
            </a:avLst>
          </a:prstGeom>
          <a:solidFill xmlns:a="http://schemas.openxmlformats.org/drawingml/2006/main">
            <a:srgbClr val="E8F0FB"/>
          </a:solidFill>
          <a:ln xmlns:a="http://schemas.openxmlformats.org/drawingml/2006/main" w="9525">
            <a:solidFill>
              <a:srgbClr val="9CB5D5"/>
            </a:solidFill>
            <a:prstDash val="solid"/>
          </a:ln>
        </p:spPr>
      </p:sp>
      <p:sp>
        <p:nvSpPr>
          <p:cNvPr id="14" name="">
            <a:extLst xmlns:a="http://schemas.openxmlformats.org/drawingml/2006/main">
              <a:ext uri="{FF2B5EF4-FFF2-40B4-BE49-F238E27FC236}">
                <a16:creationId xmlns:a16="http://schemas.microsoft.com/office/drawing/2014/main" id="{9AAB8465-872C-4C3C-AD42-A1827E2443DA}"/>
              </a:ext>
            </a:extLst>
          </p:cNvPr>
          <p:cNvSpPr>
            <a:spLocks xmlns:a="http://schemas.openxmlformats.org/drawingml/2006/main" noGrp="1"/>
          </p:cNvSpPr>
          <p:nvPr/>
        </p:nvSpPr>
        <p:spPr>
          <a:xfrm xmlns:a="http://schemas.openxmlformats.org/drawingml/2006/main">
            <a:off x="7962900" y="26479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WITH MORE TIME</a:t>
            </a:r>
          </a:p>
        </p:txBody>
      </p:sp>
      <p:sp>
        <p:nvSpPr>
          <p:cNvPr id="15" name="">
            <a:extLst xmlns:a="http://schemas.openxmlformats.org/drawingml/2006/main">
              <a:ext uri="{FF2B5EF4-FFF2-40B4-BE49-F238E27FC236}">
                <a16:creationId xmlns:a16="http://schemas.microsoft.com/office/drawing/2014/main" id="{F20FEF94-1E54-482B-BA81-CD1C7288DD19}"/>
              </a:ext>
            </a:extLst>
          </p:cNvPr>
          <p:cNvSpPr>
            <a:spLocks xmlns:a="http://schemas.openxmlformats.org/drawingml/2006/main" noGrp="1"/>
          </p:cNvSpPr>
          <p:nvPr/>
        </p:nvSpPr>
        <p:spPr>
          <a:xfrm xmlns:a="http://schemas.openxmlformats.org/drawingml/2006/main">
            <a:off x="7962900" y="30480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1">
                <a:solidFill>
                  <a:srgbClr val="101828"/>
                </a:solidFill>
                <a:latin typeface="Helvetica Neue"/>
                <a:ea typeface="Helvetica Neue"/>
                <a:cs typeface="Helvetica Neue"/>
              </a:defRPr>
            </a:pPr>
            <a:r>
              <a:rPr sz="1725" b="1">
                <a:solidFill>
                  <a:srgbClr val="101828"/>
                </a:solidFill>
                <a:latin typeface="Helvetica Neue"/>
                <a:ea typeface="Helvetica Neue"/>
                <a:cs typeface="Helvetica Neue"/>
              </a:rPr>
              <a:t>Generalize and operate</a:t>
            </a:r>
          </a:p>
        </p:txBody>
      </p:sp>
      <p:sp>
        <p:nvSpPr>
          <p:cNvPr id="16" name="">
            <a:extLst xmlns:a="http://schemas.openxmlformats.org/drawingml/2006/main">
              <a:ext uri="{FF2B5EF4-FFF2-40B4-BE49-F238E27FC236}">
                <a16:creationId xmlns:a16="http://schemas.microsoft.com/office/drawing/2014/main" id="{57A04CC8-E1F2-4C4B-A6C1-119A2988EF63}"/>
              </a:ext>
            </a:extLst>
          </p:cNvPr>
          <p:cNvSpPr>
            <a:spLocks xmlns:a="http://schemas.openxmlformats.org/drawingml/2006/main" noGrp="1"/>
          </p:cNvSpPr>
          <p:nvPr/>
        </p:nvSpPr>
        <p:spPr>
          <a:xfrm xmlns:a="http://schemas.openxmlformats.org/drawingml/2006/main">
            <a:off x="7962900" y="3762375"/>
            <a:ext cx="28575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Connectors and reconciliation</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Access-aware retrieval</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Embedding evaluation and grounded generation</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Reviewer workflow and monitoring</a:t>
            </a:r>
          </a:p>
        </p:txBody>
      </p:sp>
      <p:sp>
        <p:nvSpPr>
          <p:cNvPr id="17" name="">
            <a:extLst xmlns:a="http://schemas.openxmlformats.org/drawingml/2006/main">
              <a:ext uri="{FF2B5EF4-FFF2-40B4-BE49-F238E27FC236}">
                <a16:creationId xmlns:a16="http://schemas.microsoft.com/office/drawing/2014/main" id="{8BBED693-7757-48A5-974E-73B0F60C6B41}"/>
              </a:ext>
            </a:extLst>
          </p:cNvPr>
          <p:cNvSpPr>
            <a:spLocks xmlns:a="http://schemas.openxmlformats.org/drawingml/2006/main" noGrp="1"/>
          </p:cNvSpPr>
          <p:nvPr/>
        </p:nvSpPr>
        <p:spPr>
          <a:xfrm xmlns:a="http://schemas.openxmlformats.org/drawingml/2006/main">
            <a:off x="457200" y="5514975"/>
            <a:ext cx="10858500" cy="533400"/>
          </a:xfrm>
          <a:prstGeom xmlns:a="http://schemas.openxmlformats.org/drawingml/2006/main" prst="roundRect">
            <a:avLst>
              <a:gd name="adj" fmla="val 25000"/>
            </a:avLst>
          </a:prstGeom>
          <a:solidFill xmlns:a="http://schemas.openxmlformats.org/drawingml/2006/main">
            <a:srgbClr val="101828"/>
          </a:solidFill>
          <a:ln xmlns:a="http://schemas.openxmlformats.org/drawingml/2006/main" w="9525">
            <a:solidFill>
              <a:srgbClr val="101828"/>
            </a:solidFill>
            <a:prstDash val="solid"/>
          </a:ln>
        </p:spPr>
      </p:sp>
      <p:sp>
        <p:nvSpPr>
          <p:cNvPr id="18" name="">
            <a:extLst xmlns:a="http://schemas.openxmlformats.org/drawingml/2006/main">
              <a:ext uri="{FF2B5EF4-FFF2-40B4-BE49-F238E27FC236}">
                <a16:creationId xmlns:a16="http://schemas.microsoft.com/office/drawing/2014/main" id="{87390179-8675-41A8-B68B-4764A48D41FE}"/>
              </a:ext>
            </a:extLst>
          </p:cNvPr>
          <p:cNvSpPr>
            <a:spLocks xmlns:a="http://schemas.openxmlformats.org/drawingml/2006/main" noGrp="1"/>
          </p:cNvSpPr>
          <p:nvPr/>
        </p:nvSpPr>
        <p:spPr>
          <a:xfrm xmlns:a="http://schemas.openxmlformats.org/drawingml/2006/main">
            <a:off x="685800" y="5676900"/>
            <a:ext cx="1333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1905"/>
          </a:bodyPr>
          <a:lstStyle xmlns:a="http://schemas.openxmlformats.org/drawingml/2006/main"/>
          <a:p xmlns:a="http://schemas.openxmlformats.org/drawingml/2006/main">
            <a:pPr algn="l">
              <a:buNone/>
              <a:defRPr sz="1050" b="1">
                <a:solidFill>
                  <a:srgbClr val="9CB5D5"/>
                </a:solidFill>
                <a:latin typeface="Helvetica Neue"/>
                <a:ea typeface="Helvetica Neue"/>
                <a:cs typeface="Helvetica Neue"/>
              </a:defRPr>
            </a:pPr>
            <a:r>
              <a:rPr sz="1050" b="1">
                <a:solidFill>
                  <a:srgbClr val="9CB5D5"/>
                </a:solidFill>
                <a:latin typeface="Helvetica Neue"/>
                <a:ea typeface="Helvetica Neue"/>
                <a:cs typeface="Helvetica Neue"/>
              </a:rPr>
              <a:t>NEXT DECISION</a:t>
            </a:r>
          </a:p>
        </p:txBody>
      </p:sp>
      <p:sp>
        <p:nvSpPr>
          <p:cNvPr id="19" name="">
            <a:extLst xmlns:a="http://schemas.openxmlformats.org/drawingml/2006/main">
              <a:ext uri="{FF2B5EF4-FFF2-40B4-BE49-F238E27FC236}">
                <a16:creationId xmlns:a16="http://schemas.microsoft.com/office/drawing/2014/main" id="{37CB83B3-D284-4081-B799-9D7848AC112B}"/>
              </a:ext>
            </a:extLst>
          </p:cNvPr>
          <p:cNvSpPr>
            <a:spLocks xmlns:a="http://schemas.openxmlformats.org/drawingml/2006/main" noGrp="1"/>
          </p:cNvSpPr>
          <p:nvPr/>
        </p:nvSpPr>
        <p:spPr>
          <a:xfrm xmlns:a="http://schemas.openxmlformats.org/drawingml/2006/main">
            <a:off x="2190750" y="5638800"/>
            <a:ext cx="876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350" b="1">
                <a:solidFill>
                  <a:srgbClr val="FFFFFF"/>
                </a:solidFill>
                <a:latin typeface="Helvetica Neue"/>
                <a:ea typeface="Helvetica Neue"/>
                <a:cs typeface="Helvetica Neue"/>
              </a:defRPr>
            </a:pPr>
            <a:r>
              <a:rPr sz="1350" b="1">
                <a:solidFill>
                  <a:srgbClr val="FFFFFF"/>
                </a:solidFill>
                <a:latin typeface="Helvetica Neue"/>
                <a:ea typeface="Helvetica Neue"/>
                <a:cs typeface="Helvetica Neue"/>
              </a:rPr>
              <a:t>Approve one source-to-brief pilot after source owners, access owners, and RC confirm the test set.</a:t>
            </a:r>
          </a:p>
        </p:txBody>
      </p:sp>
    </p:spTree>
    <p:extLst>
      <p:ext uri="{BB962C8B-B14F-4D97-AF65-F5344CB8AC3E}">
        <p14:creationId xmlns:p14="http://schemas.microsoft.com/office/powerpoint/2010/main" val="151547627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2026-08-31T23:02:48.4930000Z</dcterms:created>
  <dcterms:modified xsi:type="dcterms:W3CDTF">2026-08-31T23:02:48.4930000Z</dcterms:modified>
</coreProperties>
</file>