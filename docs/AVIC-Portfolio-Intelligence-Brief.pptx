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197ae1b480243f4" /><Relationship Type="http://schemas.openxmlformats.org/officeDocument/2006/relationships/extended-properties" Target="/docProps/app.xml" Id="R4482cb32809f4783" /><Relationship Type="http://schemas.openxmlformats.org/officeDocument/2006/relationships/officeDocument" Target="/ppt/presentation.xml" Id="R2cce6b064c6b4fd0" /></Relationships>
</file>

<file path=ppt/presentation.xml><?xml version="1.0" encoding="utf-8"?>
<p:presentation xmlns:p="http://schemas.openxmlformats.org/presentationml/2006/main">
  <p:sldMasterIdLst>
    <p:sldMasterId xmlns:r="http://schemas.openxmlformats.org/officeDocument/2006/relationships" id="2147483648" r:id="Ra3dc57de14ab460c"/>
  </p:sldMasterIdLst>
  <p:notesMasterIdLst>
    <p:notesMasterId xmlns:r="http://schemas.openxmlformats.org/officeDocument/2006/relationships" r:id="Rfe09cfc7051d48fe"/>
  </p:notesMasterIdLst>
  <p:sldIdLst>
    <p:sldId xmlns:r="http://schemas.openxmlformats.org/officeDocument/2006/relationships" id="256" r:id="Rb8e4b3a2dcfa445e"/>
    <p:sldId xmlns:r="http://schemas.openxmlformats.org/officeDocument/2006/relationships" id="257" r:id="Rcea556088e6a4e16"/>
    <p:sldId xmlns:r="http://schemas.openxmlformats.org/officeDocument/2006/relationships" id="258" r:id="R0424b0a9f93a497c"/>
    <p:sldId xmlns:r="http://schemas.openxmlformats.org/officeDocument/2006/relationships" id="259" r:id="R30d49ffe346f498d"/>
    <p:sldId xmlns:r="http://schemas.openxmlformats.org/officeDocument/2006/relationships" id="260" r:id="Re1dc726e321043bd"/>
    <p:sldId xmlns:r="http://schemas.openxmlformats.org/officeDocument/2006/relationships" id="261" r:id="R16fb75ab6e32468c"/>
    <p:sldId xmlns:r="http://schemas.openxmlformats.org/officeDocument/2006/relationships" id="262" r:id="R027697699a2341f9"/>
    <p:sldId xmlns:r="http://schemas.openxmlformats.org/officeDocument/2006/relationships" id="263" r:id="Rd663bd3a56ad422e"/>
    <p:sldId xmlns:r="http://schemas.openxmlformats.org/officeDocument/2006/relationships" id="264" r:id="R03ba792122fb429b"/>
    <p:sldId xmlns:r="http://schemas.openxmlformats.org/officeDocument/2006/relationships" id="265" r:id="Rba22f64a00c5445b"/>
    <p:sldId xmlns:r="http://schemas.openxmlformats.org/officeDocument/2006/relationships" id="266" r:id="Rcd551fe9e9df4367"/>
    <p:sldId xmlns:r="http://schemas.openxmlformats.org/officeDocument/2006/relationships" id="267" r:id="R6ae39946dd664b1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4137390f96e443d" /><Relationship Type="http://schemas.openxmlformats.org/officeDocument/2006/relationships/slideMaster" Target="/ppt/slideMasters/slideMaster1.xml" Id="Ra3dc57de14ab460c" /><Relationship Type="http://schemas.openxmlformats.org/officeDocument/2006/relationships/notesMaster" Target="/ppt/notesMasters/notesMaster1.xml" Id="Rfe09cfc7051d48fe" /><Relationship Type="http://schemas.openxmlformats.org/officeDocument/2006/relationships/presProps" Target="/ppt/presProps.xml" Id="Rc6e7187b62d14d29" /><Relationship Type="http://schemas.openxmlformats.org/officeDocument/2006/relationships/tableStyles" Target="/ppt/tableStyles.xml" Id="R3716fb5f3cca4a45" /><Relationship Type="http://schemas.openxmlformats.org/officeDocument/2006/relationships/slide" Target="/ppt/slides/slide1.xml" Id="Rb8e4b3a2dcfa445e" /><Relationship Type="http://schemas.openxmlformats.org/officeDocument/2006/relationships/slide" Target="/ppt/slides/slide2.xml" Id="Rcea556088e6a4e16" /><Relationship Type="http://schemas.openxmlformats.org/officeDocument/2006/relationships/slide" Target="/ppt/slides/slide3.xml" Id="R0424b0a9f93a497c" /><Relationship Type="http://schemas.openxmlformats.org/officeDocument/2006/relationships/slide" Target="/ppt/slides/slide4.xml" Id="R30d49ffe346f498d" /><Relationship Type="http://schemas.openxmlformats.org/officeDocument/2006/relationships/slide" Target="/ppt/slides/slide5.xml" Id="Re1dc726e321043bd" /><Relationship Type="http://schemas.openxmlformats.org/officeDocument/2006/relationships/slide" Target="/ppt/slides/slide6.xml" Id="R16fb75ab6e32468c" /><Relationship Type="http://schemas.openxmlformats.org/officeDocument/2006/relationships/slide" Target="/ppt/slides/slide7.xml" Id="R027697699a2341f9" /><Relationship Type="http://schemas.openxmlformats.org/officeDocument/2006/relationships/slide" Target="/ppt/slides/slide8.xml" Id="Rd663bd3a56ad422e" /><Relationship Type="http://schemas.openxmlformats.org/officeDocument/2006/relationships/slide" Target="/ppt/slides/slide9.xml" Id="R03ba792122fb429b" /><Relationship Type="http://schemas.openxmlformats.org/officeDocument/2006/relationships/slide" Target="/ppt/slides/slide10.xml" Id="Rba22f64a00c5445b" /><Relationship Type="http://schemas.openxmlformats.org/officeDocument/2006/relationships/slide" Target="/ppt/slides/slide11.xml" Id="Rcd551fe9e9df4367" /><Relationship Type="http://schemas.openxmlformats.org/officeDocument/2006/relationships/slide" Target="/ppt/slides/slide12.xml" Id="R6ae39946dd664b1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cf16933ad594bf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cd9383f487d41f5" /><Relationship Type="http://schemas.openxmlformats.org/officeDocument/2006/relationships/notesMaster" Target="/ppt/notesMasters/notesMaster1.xml" Id="Rbd8870b0f06e423b" /></Relationships>
</file>

<file path=ppt/notesSlides/_rels/notesSlide2.xml.rels>&#65279;<?xml version="1.0" encoding="utf-8"?><Relationships xmlns="http://schemas.openxmlformats.org/package/2006/relationships"><Relationship Type="http://schemas.openxmlformats.org/officeDocument/2006/relationships/slide" Target="/ppt/slides/slide2.xml" Id="R12f16d9cea7f4222" /><Relationship Type="http://schemas.openxmlformats.org/officeDocument/2006/relationships/notesMaster" Target="/ppt/notesMasters/notesMaster1.xml" Id="Rfb6f45998fea4f3c" /></Relationships>
</file>

<file path=ppt/notesSlides/_rels/notesSlide3.xml.rels>&#65279;<?xml version="1.0" encoding="utf-8"?><Relationships xmlns="http://schemas.openxmlformats.org/package/2006/relationships"><Relationship Type="http://schemas.openxmlformats.org/officeDocument/2006/relationships/slide" Target="/ppt/slides/slide3.xml" Id="R6c9e58da9465472e" /><Relationship Type="http://schemas.openxmlformats.org/officeDocument/2006/relationships/notesMaster" Target="/ppt/notesMasters/notesMaster1.xml" Id="R19a0626951fc4931" /></Relationships>
</file>

<file path=ppt/notesSlides/_rels/notesSlide4.xml.rels>&#65279;<?xml version="1.0" encoding="utf-8"?><Relationships xmlns="http://schemas.openxmlformats.org/package/2006/relationships"><Relationship Type="http://schemas.openxmlformats.org/officeDocument/2006/relationships/slide" Target="/ppt/slides/slide4.xml" Id="R4dd0cf6db5374d7e" /><Relationship Type="http://schemas.openxmlformats.org/officeDocument/2006/relationships/notesMaster" Target="/ppt/notesMasters/notesMaster1.xml" Id="R1f81ebbaf07a483d" /></Relationships>
</file>

<file path=ppt/notesSlides/_rels/notesSlide5.xml.rels>&#65279;<?xml version="1.0" encoding="utf-8"?><Relationships xmlns="http://schemas.openxmlformats.org/package/2006/relationships"><Relationship Type="http://schemas.openxmlformats.org/officeDocument/2006/relationships/slide" Target="/ppt/slides/slide5.xml" Id="R742c023670884fe6" /><Relationship Type="http://schemas.openxmlformats.org/officeDocument/2006/relationships/notesMaster" Target="/ppt/notesMasters/notesMaster1.xml" Id="R91c008e191d5411a" /></Relationships>
</file>

<file path=ppt/notesSlides/_rels/notesSlide6.xml.rels>&#65279;<?xml version="1.0" encoding="utf-8"?><Relationships xmlns="http://schemas.openxmlformats.org/package/2006/relationships"><Relationship Type="http://schemas.openxmlformats.org/officeDocument/2006/relationships/slide" Target="/ppt/slides/slide6.xml" Id="R91d8a218681841ca" /><Relationship Type="http://schemas.openxmlformats.org/officeDocument/2006/relationships/notesMaster" Target="/ppt/notesMasters/notesMaster1.xml" Id="R5ff9a93a2f8f4a72" /></Relationships>
</file>

<file path=ppt/notesSlides/_rels/notesSlide7.xml.rels>&#65279;<?xml version="1.0" encoding="utf-8"?><Relationships xmlns="http://schemas.openxmlformats.org/package/2006/relationships"><Relationship Type="http://schemas.openxmlformats.org/officeDocument/2006/relationships/slide" Target="/ppt/slides/slide7.xml" Id="R597eddd5bda64748" /><Relationship Type="http://schemas.openxmlformats.org/officeDocument/2006/relationships/notesMaster" Target="/ppt/notesMasters/notesMaster1.xml" Id="R891d2544090248ac" /></Relationships>
</file>

<file path=ppt/notesSlides/_rels/notesSlide8.xml.rels>&#65279;<?xml version="1.0" encoding="utf-8"?><Relationships xmlns="http://schemas.openxmlformats.org/package/2006/relationships"><Relationship Type="http://schemas.openxmlformats.org/officeDocument/2006/relationships/slide" Target="/ppt/slides/slide8.xml" Id="R60326f09a1f84ba3" /><Relationship Type="http://schemas.openxmlformats.org/officeDocument/2006/relationships/notesMaster" Target="/ppt/notesMasters/notesMaster1.xml" Id="R2885a6312b314781" /></Relationships>
</file>

<file path=ppt/notesSlides/_rels/notesSlide9.xml.rels>&#65279;<?xml version="1.0" encoding="utf-8"?><Relationships xmlns="http://schemas.openxmlformats.org/package/2006/relationships"><Relationship Type="http://schemas.openxmlformats.org/officeDocument/2006/relationships/slide" Target="/ppt/slides/slide9.xml" Id="Rd42990f15ba64545" /><Relationship Type="http://schemas.openxmlformats.org/officeDocument/2006/relationships/notesMaster" Target="/ppt/notesMasters/notesMaster1.xml" Id="R49dad8fe58d349c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38a72b50c51481a" /><Relationship Type="http://schemas.openxmlformats.org/officeDocument/2006/relationships/notesMaster" Target="/ppt/notesMasters/notesMaster1.xml" Id="R6350b71adce3433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84b0ab37bf149fd" /><Relationship Type="http://schemas.openxmlformats.org/officeDocument/2006/relationships/notesMaster" Target="/ppt/notesMasters/notesMaster1.xml" Id="R0682437d5f20408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b84a0cb20a3408c" /><Relationship Type="http://schemas.openxmlformats.org/officeDocument/2006/relationships/notesMaster" Target="/ppt/notesMasters/notesMaster1.xml" Id="R8cea2999993d4e6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answer: Lens is a working local prototype that builds a company brief from imported evidence. Production freshness and access control are not part of this build.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brief defines the intended user and company universe. The 90-minute value is a scenario estimate. The 30-second value is the product target.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desktop flow. The AIVC principal selects a company, scans the brief, opens the evidence and original source, and sends feedback without changing context.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/Users/alexthorpe/Documents/GitHub/AVIC/app/page.tsx</a:t>
            </a:r>
          </a:p>
          <a:p xmlns:a="http://schemas.openxmlformats.org/drawingml/2006/main">
            <a:r>
              <a:t>- /private/tmp/avic-deck-wide-main.png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Lens is an internal company-intelligence interface. It uses 10 fictional companies and 59 fictional source records. Two companies represent the portfolio. Eight companies represent the pipeline. The app imports static CRM, meeting, Slack, and news files. It creates OpenAI embeddings, stores evidence in PostgreSQL, retrieves evidence for one company, and uses gpt-5.6-sol to create a source-supported brief. The principal can open the evidence and original record for each statement and can send feedback. The prototype has no live connectors and gives no investment recommendation.</a:t>
            </a:r>
          </a:p>
          <a:p xmlns:a="http://schemas.openxmlformats.org/drawingml/2006/main">
            <a:r>
              <a:t/>
            </a:r>
          </a:p>
          <a:p xmlns:a="http://schemas.openxmlformats.org/drawingml/2006/main">
            <a:r>
              <a:t>[Sources]</a:t>
            </a:r>
          </a:p>
          <a:p xmlns:a="http://schemas.openxmlformats.org/drawingml/2006/main">
            <a:r>
              <a:t>- /Users/alexthorpe/Documents/GitHub/AVIC/scripts/verify-embeddings.ts</a:t>
            </a:r>
          </a:p>
          <a:p xmlns:a="http://schemas.openxmlformats.org/drawingml/2006/main">
            <a:r>
              <a:t>- /Users/alexthorpe/Documents/GitHub/AVIC/scripts/verify-v1.ts</a:t>
            </a:r>
          </a:p>
          <a:p xmlns:a="http://schemas.openxmlformats.org/drawingml/2006/main">
            <a:r>
              <a:t>- /Users/alexthorpe/Documents/GitHub/AVIC/scripts/verify-generation.ts</a:t>
            </a:r>
          </a:p>
          <a:p xmlns:a="http://schemas.openxmlformats.org/drawingml/2006/main">
            <a:r>
              <a:t>- /Users/alexthorpe/Documents/GitHub/AVIC/tests</a:t>
            </a:r>
          </a:p>
          <a:p xmlns:a="http://schemas.openxmlformats.org/drawingml/2006/main">
            <a:r>
              <a:t>- /Users/alexthorpe/Documents/GitHub/AVIC/db/schema.sql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file import validates each company ID, keeps the source record, calculates checksums, creates chunks, and sends fictional normalized chunk text to the OpenAI Embeddings API. PostgreSQL stores the returned embeddings. A brief request creates one query embedding. SQL filters by company and ranks up to 30 source records. The server sends only the selected company metadata and retrieved evidence to gpt-5.6-sol through the Responses API. It requests a strict schema with low reasoning effort, no tools, and no response storage. A 27-second model timeout and a 29-second request budget have no automatic retry. The server checks source IDs, company isolation, exact source quotes, typed values, qualitative support, source status, and investment safety. It saves the brief, generation mode, model data, and source ranks. If generation fails a check or exceeds the budget, local rules create a source-supported fallback. The app does not call a source system during a brief request. V1 does not watch a folder or Slack. To add a demo record, add it in a supported format, run the import route or the data import command, and select Refresh Brief. The importer reuses unchanged embeddings and embeds only new or changed chunks. A Slack thread must be added to the Slack JSON file with a known company ID.</a:t>
            </a:r>
          </a:p>
          <a:p xmlns:a="http://schemas.openxmlformats.org/drawingml/2006/main">
            <a:r>
              <a:t/>
            </a:r>
          </a:p>
          <a:p xmlns:a="http://schemas.openxmlformats.org/drawingml/2006/main">
            <a:r>
              <a:t>[Sources]</a:t>
            </a:r>
          </a:p>
          <a:p xmlns:a="http://schemas.openxmlformats.org/drawingml/2006/main">
            <a:r>
              <a:t>- /Users/alexthorpe/Documents/GitHub/AVIC/lib/embeddings.ts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/Users/alexthorpe/Documents/GitHub/AVIC/app/api/briefs/route.ts</a:t>
            </a:r>
          </a:p>
          <a:p xmlns:a="http://schemas.openxmlformats.org/drawingml/2006/main">
            <a:r>
              <a:t>- /Users/alexthorpe/Documents/GitHub/AVIC/db/schema.sql</a:t>
            </a:r>
          </a:p>
          <a:p xmlns:a="http://schemas.openxmlformats.org/drawingml/2006/main">
            <a:r>
              <a:t>- https://developers.openai.com/api/docs/models/gpt-5.6-sol</a:t>
            </a:r>
          </a:p>
          <a:p xmlns:a="http://schemas.openxmlformats.org/drawingml/2006/main">
            <a:r>
              <a:t>- https://developers.openai.com/api/reference/cli/resources/responses/methods/create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request contains only a company ID. The server uses one fixed retrieval query. OpenAI creates the query embedding. SQL filters records and chunks by the selected company before scoring. The score is 38 percent full-text rank, 32 percent embedding similarity, 20 percent source quality, and 10 percent recency. The query returns up to 30 source records. The server sends selected evidence to gpt-5.6-sol through the Responses API. It checks the strict result before it saves the brief. Local rules create the fallback only when the generated result is late, invalid, or unavailable.</a:t>
            </a:r>
          </a:p>
          <a:p xmlns:a="http://schemas.openxmlformats.org/drawingml/2006/main">
            <a:r>
              <a:t/>
            </a:r>
          </a:p>
          <a:p xmlns:a="http://schemas.openxmlformats.org/drawingml/2006/main">
            <a:r>
              <a:t>[Sources]</a:t>
            </a:r>
          </a:p>
          <a:p xmlns:a="http://schemas.openxmlformats.org/drawingml/2006/main">
            <a:r>
              <a:t>- /Users/alexthorpe/Documents/GitHub/AVIC/lib/embeddings.ts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/Users/alexthorpe/Documents/GitHub/AVIC/app/api/briefs/route.ts</a:t>
            </a:r>
          </a:p>
          <a:p xmlns:a="http://schemas.openxmlformats.org/drawingml/2006/main">
            <a:r>
              <a:t>- https://developers.openai.com/api/docs/models/gpt-5.6-sol</a:t>
            </a:r>
          </a:p>
          <a:p xmlns:a="http://schemas.openxmlformats.org/drawingml/2006/main">
            <a:r>
              <a:t>- https://developers.openai.com/api/reference/cli/resources/responses/methods/create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active retrieval model is text-embedding-3-large with 1,536 dimensions. The active brief model is gpt-5.6-sol through the Responses API. The app uses low reasoning effort. In the measured demo checks, low effort produced two valid briefs in 15.4 and 20.9 seconds. Medium effort was slower and sometimes exceeded the test timeout. Keep low effort until a reviewed evaluation shows a useful quality gain.</a:t>
            </a:r>
          </a:p>
          <a:p xmlns:a="http://schemas.openxmlformats.org/drawingml/2006/main">
            <a:r>
              <a:t/>
            </a:r>
          </a:p>
          <a:p xmlns:a="http://schemas.openxmlformats.org/drawingml/2006/main">
            <a:r>
              <a:t>[Sources]</a:t>
            </a:r>
          </a:p>
          <a:p xmlns:a="http://schemas.openxmlformats.org/drawingml/2006/main">
            <a:r>
              <a:t>- /Users/alexthorpe/Documents/GitHub/AVIC/package.json</a:t>
            </a:r>
          </a:p>
          <a:p xmlns:a="http://schemas.openxmlformats.org/drawingml/2006/main">
            <a:r>
              <a:t>- /Users/alexthorpe/Documents/GitHub/AVIC/lib/embeddings.ts</a:t>
            </a:r>
          </a:p>
          <a:p xmlns:a="http://schemas.openxmlformats.org/drawingml/2006/main">
            <a:r>
              <a:t>- /Users/alexthorpe/Documents/GitHub/AVIC/lib/brief-generation.ts</a:t>
            </a:r>
          </a:p>
          <a:p xmlns:a="http://schemas.openxmlformats.org/drawingml/2006/main">
            <a:r>
              <a:t>- /Users/alexthorpe/Documents/GitHub/AVIC/scripts/verify-generation.ts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 https://developers.openai.com/api/docs/guides/latest-model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checkout has 69 passing app tests. The 22 live checks include 19 V1 database checks, one embedding check, and two source-supported generation checks. VectorForge took 15.4 seconds. Kestrel Health took 20.9 seconds. Both generated briefs kept citations and the required conflict or unverified state. The local check covers all 10 fictional companies. It does not use the generation model. Use two checks for each evaluation type. Retrieval checks that a must-find source is in the first 30 results and that no result belongs to another company. Grounding checks that each claim cites retrieved evidence and that each numeric value appears in a cited source. Product evaluation measures response time and usefulness for the AIVC principal. Operations evaluation checks that invalid generated output uses the fallback and that a changed source changes the next brief. Run the same set after each retrieval, prompt, model, schema, or source-rule change.</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/Users/alexthorpe/Documents/GitHub/AVIC/docs/prd-v1.md</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/Users/alexthorpe/Documents/GitHub/AVIC/lib/ingestion.ts</a:t>
            </a:r>
          </a:p>
          <a:p xmlns:a="http://schemas.openxmlformats.org/drawingml/2006/main">
            <a:r>
              <a:t>- /Users/alexthorpe/Documents/GitHub/AVIC/scripts/verify-v1.ts</a:t>
            </a:r>
          </a:p>
          <a:p xmlns:a="http://schemas.openxmlformats.org/drawingml/2006/main">
            <a:r>
              <a:t>- /Users/alexthorpe/Documents/GitHub/AVIC/scripts/verify-generation.ts</a:t>
            </a:r>
          </a:p>
          <a:p xmlns:a="http://schemas.openxmlformats.org/drawingml/2006/main">
            <a:r>
              <a:t>- /Users/alexthorpe/Documents/GitHub/AVIC/tests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V1 acceptance criteria, not current production service levels. The 4 out of 5 usefulness score is a pilot target and has not been measured.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/Users/alexthorpe/Documents/GitHub/AVIC/scripts/verify-v1.ts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defines the current Lens boundary. The app implements the interface, API routes, file import, PostgreSQL storage, OpenAI embeddings, company-scoped retrieval, source-supported generation with gpt-5.6-sol, strict checks, source drill-down, local fallback, saved generation audit data, and feedback capture. It uses 10 fictional companies, static source files, a local database, and a fixed reference date. The OpenAI request contains selected fictional text only. It excludes raw JSON, source locators, access metadata, and records for unrelated companies. Live connectors, public filings, sign-in, source access enforcement, schedules, webhooks, and a reviewer screen are not active.</a:t>
            </a:r>
          </a:p>
          <a:p xmlns:a="http://schemas.openxmlformats.org/drawingml/2006/main">
            <a:r>
              <a:t/>
            </a:r>
          </a:p>
          <a:p xmlns:a="http://schemas.openxmlformats.org/drawingml/2006/main">
            <a:r>
              <a:t>[Sources]</a:t>
            </a:r>
          </a:p>
          <a:p xmlns:a="http://schemas.openxmlformats.org/drawingml/2006/main">
            <a:r>
              <a:t>- /Users/alexthorpe/Documents/GitHub/AVIC/app/page.tsx</a:t>
            </a:r>
          </a:p>
          <a:p xmlns:a="http://schemas.openxmlformats.org/drawingml/2006/main">
            <a:r>
              <a:t>- /Users/alexthorpe/Documents/GitHub/AVIC/lib/embeddings.ts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 https://developers.openai.com/api/reference/cli/resources/responses/methods/create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plan for two people. The 250-company test appears in weeks 7 and 8 because it has not been run. Weeks 5 and 6 include retrieval evaluation and generation-and-fallback evaluation. The plan depends on source access, company IDs, access rules, and review time from the AIVC principal.</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risk is evidence retrieval, not model choice. The next slice should use one approved source and a small reference answer set. With more time, evaluate both retrieval and source-supported generation, then add the reviewer workflow and monitoring. The decision is whether to approve that source-to-brief pilot after the named owners confirm access and evaluation conditions.</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/Users/alexthorpe/Documents/GitHub/AVIC/scripts/verify-v1.ts</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8b8a97bf2e34fe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96f97237e7148ef" /><Relationship Type="http://schemas.openxmlformats.org/officeDocument/2006/relationships/slideLayout" Target="/ppt/slideLayouts/slideLayout1.xml" Id="R1848cd94894647c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848cd94894647c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2a358c9f1234010" /><Relationship Type="http://schemas.openxmlformats.org/officeDocument/2006/relationships/notesSlide" Target="/ppt/notesSlides/notesSlide1.xml" Id="Rd8fe1036533c4b3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21158ef9e0f41ac" /><Relationship Type="http://schemas.openxmlformats.org/officeDocument/2006/relationships/notesSlide" Target="/ppt/notesSlides/notesSlide2.xml" Id="Rff8441b4a98a4f2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36c25fa8ead4dc3" /><Relationship Type="http://schemas.openxmlformats.org/officeDocument/2006/relationships/image" Target="/ppt/media/image.jpeg" Id="Rb431c88c83ac4625" /><Relationship Type="http://schemas.openxmlformats.org/officeDocument/2006/relationships/notesSlide" Target="/ppt/notesSlides/notesSlide3.xml" Id="Re0b64b930fcd48a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9b85a3e8a104c43" /><Relationship Type="http://schemas.openxmlformats.org/officeDocument/2006/relationships/notesSlide" Target="/ppt/notesSlides/notesSlide4.xml" Id="R43d7a057b937413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c38296b760d44c9" /><Relationship Type="http://schemas.openxmlformats.org/officeDocument/2006/relationships/image" Target="/ppt/media/image.png" Id="R57394bb37e204f6f" /><Relationship Type="http://schemas.openxmlformats.org/officeDocument/2006/relationships/notesSlide" Target="/ppt/notesSlides/notesSlide5.xml" Id="R7332e61a42a34ac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48a3882b5fe4a9f" /><Relationship Type="http://schemas.openxmlformats.org/officeDocument/2006/relationships/notesSlide" Target="/ppt/notesSlides/notesSlide6.xml" Id="Rd6cb3e3ecea8402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f25c29060884236" /><Relationship Type="http://schemas.openxmlformats.org/officeDocument/2006/relationships/notesSlide" Target="/ppt/notesSlides/notesSlide7.xml" Id="R41611361b0ec4e2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110ed5146ae4a2a" /><Relationship Type="http://schemas.openxmlformats.org/officeDocument/2006/relationships/notesSlide" Target="/ppt/notesSlides/notesSlide8.xml" Id="R7cd38f337f43461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fcd7659e0214416" /><Relationship Type="http://schemas.openxmlformats.org/officeDocument/2006/relationships/notesSlide" Target="/ppt/notesSlides/notesSlide9.xml" Id="R62f94d41f2b84d1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ebf2b1d320547ce" /><Relationship Type="http://schemas.openxmlformats.org/officeDocument/2006/relationships/notesSlide" Target="/ppt/notesSlides/notesSlide10.xml" Id="R91a1ee3d7d3f4e8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dd64a9fadbe4f25" /><Relationship Type="http://schemas.openxmlformats.org/officeDocument/2006/relationships/notesSlide" Target="/ppt/notesSlides/notesSlide11.xml" Id="R06796c6e9954459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773653fe14a450c" /><Relationship Type="http://schemas.openxmlformats.org/officeDocument/2006/relationships/notesSlide" Target="/ppt/notesSlides/notesSlide12.xml" Id="R00c94486d1964c69" /></Relationships>
</file>

<file path=ppt/slides/slide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DD1145-7B96-46D8-A68A-0CBA18A7E141}"/>
              </a:ext>
            </a:extLst>
          </p:cNvPr>
          <p:cNvSpPr>
            <a:spLocks xmlns:a="http://schemas.openxmlformats.org/drawingml/2006/main" noGrp="1"/>
          </p:cNvSpPr>
          <p:nvPr/>
        </p:nvSpPr>
        <p:spPr>
          <a:xfrm xmlns:a="http://schemas.openxmlformats.org/drawingml/2006/main">
            <a:off x="457200" y="438150"/>
            <a:ext cx="2857500" cy="285750"/>
          </a:xfrm>
          <a:prstGeom xmlns:a="http://schemas.openxmlformats.org/drawingml/2006/main" prst="roundRect">
            <a:avLst>
              <a:gd name="adj" fmla="val 50000"/>
            </a:avLst>
          </a:prstGeom>
          <a:solidFill xmlns:a="http://schemas.openxmlformats.org/drawingml/2006/main">
            <a:srgbClr val="E8F0FB"/>
          </a:solidFill>
          <a:ln xmlns:a="http://schemas.openxmlformats.org/drawingml/2006/main" w="9525">
            <a:solidFill>
              <a:srgbClr val="9CB5D5"/>
            </a:solidFill>
            <a:prstDash val="solid"/>
          </a:ln>
        </p:spPr>
      </p:sp>
      <p:sp>
        <p:nvSpPr>
          <p:cNvPr id="2" name="">
            <a:extLst xmlns:a="http://schemas.openxmlformats.org/drawingml/2006/main">
              <a:ext uri="{FF2B5EF4-FFF2-40B4-BE49-F238E27FC236}">
                <a16:creationId xmlns:a16="http://schemas.microsoft.com/office/drawing/2014/main" id="{2FFE115D-EF2A-4F10-AB7C-5AE00E3147F6}"/>
              </a:ext>
            </a:extLst>
          </p:cNvPr>
          <p:cNvSpPr>
            <a:spLocks xmlns:a="http://schemas.openxmlformats.org/drawingml/2006/main" noGrp="1"/>
          </p:cNvSpPr>
          <p:nvPr/>
        </p:nvSpPr>
        <p:spPr>
          <a:xfrm xmlns:a="http://schemas.openxmlformats.org/drawingml/2006/main">
            <a:off x="571500" y="485775"/>
            <a:ext cx="2628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WORKING LOCAL PROTOTYPE</a:t>
            </a:r>
          </a:p>
        </p:txBody>
      </p:sp>
      <p:sp>
        <p:nvSpPr>
          <p:cNvPr id="3" name="">
            <a:extLst xmlns:a="http://schemas.openxmlformats.org/drawingml/2006/main">
              <a:ext uri="{FF2B5EF4-FFF2-40B4-BE49-F238E27FC236}">
                <a16:creationId xmlns:a16="http://schemas.microsoft.com/office/drawing/2014/main" id="{4B7B49EE-4D40-41E7-A8F1-C2E8C4E1DB9A}"/>
              </a:ext>
            </a:extLst>
          </p:cNvPr>
          <p:cNvSpPr>
            <a:spLocks xmlns:a="http://schemas.openxmlformats.org/drawingml/2006/main" noGrp="1"/>
          </p:cNvSpPr>
          <p:nvPr/>
        </p:nvSpPr>
        <p:spPr>
          <a:xfrm xmlns:a="http://schemas.openxmlformats.org/drawingml/2006/main">
            <a:off x="457200" y="1524000"/>
            <a:ext cx="82867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Lens</a:t>
            </a:r>
          </a:p>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Company intelligence for AIVC</a:t>
            </a:r>
          </a:p>
        </p:txBody>
      </p:sp>
      <p:sp>
        <p:nvSpPr>
          <p:cNvPr id="4" name="">
            <a:extLst xmlns:a="http://schemas.openxmlformats.org/drawingml/2006/main">
              <a:ext uri="{FF2B5EF4-FFF2-40B4-BE49-F238E27FC236}">
                <a16:creationId xmlns:a16="http://schemas.microsoft.com/office/drawing/2014/main" id="{A9B41661-5E1A-4F92-ADD3-F4CFD9277153}"/>
              </a:ext>
            </a:extLst>
          </p:cNvPr>
          <p:cNvSpPr>
            <a:spLocks xmlns:a="http://schemas.openxmlformats.org/drawingml/2006/main" noGrp="1"/>
          </p:cNvSpPr>
          <p:nvPr/>
        </p:nvSpPr>
        <p:spPr>
          <a:xfrm xmlns:a="http://schemas.openxmlformats.org/drawingml/2006/main">
            <a:off x="495300" y="3695700"/>
            <a:ext cx="723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83"/>
          </a:bodyPr>
          <a:lstStyle xmlns:a="http://schemas.openxmlformats.org/drawingml/2006/main"/>
          <a:p xmlns:a="http://schemas.openxmlformats.org/drawingml/2006/main">
            <a:pPr algn="l">
              <a:buNone/>
              <a:defRPr sz="2100" b="1">
                <a:solidFill>
                  <a:srgbClr val="315F9F"/>
                </a:solidFill>
                <a:latin typeface="Helvetica Neue"/>
                <a:ea typeface="Helvetica Neue"/>
                <a:cs typeface="Helvetica Neue"/>
              </a:defRPr>
            </a:pPr>
            <a:r>
              <a:rPr sz="2025" b="1">
                <a:solidFill>
                  <a:srgbClr val="315F9F"/>
                </a:solidFill>
                <a:latin typeface="Helvetica Neue"/>
                <a:ea typeface="Helvetica Neue"/>
                <a:cs typeface="Helvetica Neue"/>
              </a:rPr>
              <a:t>Company briefs from fictional evidence in 30 seconds or less</a:t>
            </a:r>
          </a:p>
        </p:txBody>
      </p:sp>
      <p:sp>
        <p:nvSpPr>
          <p:cNvPr id="5" name="">
            <a:extLst xmlns:a="http://schemas.openxmlformats.org/drawingml/2006/main">
              <a:ext uri="{FF2B5EF4-FFF2-40B4-BE49-F238E27FC236}">
                <a16:creationId xmlns:a16="http://schemas.microsoft.com/office/drawing/2014/main" id="{BE02645B-87CB-4B29-92D6-00F251442053}"/>
              </a:ext>
            </a:extLst>
          </p:cNvPr>
          <p:cNvSpPr>
            <a:spLocks xmlns:a="http://schemas.openxmlformats.org/drawingml/2006/main" noGrp="1"/>
          </p:cNvSpPr>
          <p:nvPr/>
        </p:nvSpPr>
        <p:spPr>
          <a:xfrm xmlns:a="http://schemas.openxmlformats.org/drawingml/2006/main">
            <a:off x="457200" y="485775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8EEB971D-6B6E-42B3-96FB-E8FE4C8AD317}"/>
              </a:ext>
            </a:extLst>
          </p:cNvPr>
          <p:cNvSpPr>
            <a:spLocks xmlns:a="http://schemas.openxmlformats.org/drawingml/2006/main" noGrp="1"/>
          </p:cNvSpPr>
          <p:nvPr/>
        </p:nvSpPr>
        <p:spPr>
          <a:xfrm xmlns:a="http://schemas.openxmlformats.org/drawingml/2006/main">
            <a:off x="457200" y="5162550"/>
            <a:ext cx="742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344054"/>
                </a:solidFill>
                <a:latin typeface="Helvetica Neue"/>
                <a:ea typeface="Helvetica Neue"/>
                <a:cs typeface="Helvetica Neue"/>
              </a:defRPr>
            </a:pPr>
            <a:r>
              <a:rPr sz="1425" b="0">
                <a:solidFill>
                  <a:srgbClr val="344054"/>
                </a:solidFill>
                <a:latin typeface="Helvetica Neue"/>
                <a:ea typeface="Helvetica Neue"/>
                <a:cs typeface="Helvetica Neue"/>
              </a:rPr>
              <a:t>Technical challenge · Product, architecture, and pilot plan</a:t>
            </a:r>
          </a:p>
        </p:txBody>
      </p:sp>
      <p:sp>
        <p:nvSpPr>
          <p:cNvPr id="7" name="">
            <a:extLst xmlns:a="http://schemas.openxmlformats.org/drawingml/2006/main">
              <a:ext uri="{FF2B5EF4-FFF2-40B4-BE49-F238E27FC236}">
                <a16:creationId xmlns:a16="http://schemas.microsoft.com/office/drawing/2014/main" id="{F6A76C5E-3CD4-4748-AEF7-31A1D2F83BAC}"/>
              </a:ext>
            </a:extLst>
          </p:cNvPr>
          <p:cNvSpPr>
            <a:spLocks xmlns:a="http://schemas.openxmlformats.org/drawingml/2006/main" noGrp="1"/>
          </p:cNvSpPr>
          <p:nvPr/>
        </p:nvSpPr>
        <p:spPr>
          <a:xfrm xmlns:a="http://schemas.openxmlformats.org/drawingml/2006/main">
            <a:off x="9525000" y="5162550"/>
            <a:ext cx="1790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31 AUG 2026</a:t>
            </a:r>
          </a:p>
        </p:txBody>
      </p:sp>
      <p:sp>
        <p:nvSpPr>
          <p:cNvPr id="8" name="">
            <a:extLst xmlns:a="http://schemas.openxmlformats.org/drawingml/2006/main">
              <a:ext uri="{FF2B5EF4-FFF2-40B4-BE49-F238E27FC236}">
                <a16:creationId xmlns:a16="http://schemas.microsoft.com/office/drawing/2014/main" id="{E291299B-C5FE-4207-A40C-B9127CBC5E53}"/>
              </a:ext>
            </a:extLst>
          </p:cNvPr>
          <p:cNvSpPr>
            <a:spLocks xmlns:a="http://schemas.openxmlformats.org/drawingml/2006/main" noGrp="1"/>
          </p:cNvSpPr>
          <p:nvPr/>
        </p:nvSpPr>
        <p:spPr>
          <a:xfrm xmlns:a="http://schemas.openxmlformats.org/drawingml/2006/main">
            <a:off x="457200" y="61722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Lens</a:t>
            </a:r>
          </a:p>
        </p:txBody>
      </p:sp>
    </p:spTree>
    <p:extLst>
      <p:ext uri="{BB962C8B-B14F-4D97-AF65-F5344CB8AC3E}">
        <p14:creationId xmlns:p14="http://schemas.microsoft.com/office/powerpoint/2010/main" val="614579951"/>
      </p:ext>
    </p:extLst>
  </p:cSld>
</p:sld>
</file>

<file path=ppt/slides/slide2.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6C65EB2-113E-4627-87F2-A71ECC3D3678}"/>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job does Lens replace?</a:t>
            </a:r>
          </a:p>
        </p:txBody>
      </p:sp>
      <p:sp>
        <p:nvSpPr>
          <p:cNvPr id="2" name="">
            <a:extLst xmlns:a="http://schemas.openxmlformats.org/drawingml/2006/main">
              <a:ext uri="{FF2B5EF4-FFF2-40B4-BE49-F238E27FC236}">
                <a16:creationId xmlns:a16="http://schemas.microsoft.com/office/drawing/2014/main" id="{38E579A2-9FB9-4372-9154-19087DC3942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F77AA71-D3C2-4C98-AFAC-E5412A1AB5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02</a:t>
            </a:r>
          </a:p>
        </p:txBody>
      </p:sp>
      <p:sp>
        <p:nvSpPr>
          <p:cNvPr id="4" name="">
            <a:extLst xmlns:a="http://schemas.openxmlformats.org/drawingml/2006/main">
              <a:ext uri="{FF2B5EF4-FFF2-40B4-BE49-F238E27FC236}">
                <a16:creationId xmlns:a16="http://schemas.microsoft.com/office/drawing/2014/main" id="{8DCF48F3-450F-4130-95CF-94099BB78493}"/>
              </a:ext>
            </a:extLst>
          </p:cNvPr>
          <p:cNvSpPr>
            <a:spLocks xmlns:a="http://schemas.openxmlformats.org/drawingml/2006/main" noGrp="1"/>
          </p:cNvSpPr>
          <p:nvPr/>
        </p:nvSpPr>
        <p:spPr>
          <a:xfrm xmlns:a="http://schemas.openxmlformats.org/drawingml/2006/main">
            <a:off x="457200" y="160020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933"/>
          </a:bodyPr>
          <a:lstStyle xmlns:a="http://schemas.openxmlformats.org/drawingml/2006/main"/>
          <a:p xmlns:a="http://schemas.openxmlformats.org/drawingml/2006/main">
            <a:pPr algn="l">
              <a:buNone/>
              <a:defRPr sz="2250"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An AIVC principal prepares for discussions across about 50 portfolio companies and 200 pipeline companies.</a:t>
            </a:r>
          </a:p>
        </p:txBody>
      </p:sp>
      <p:sp>
        <p:nvSpPr>
          <p:cNvPr id="5" name="">
            <a:extLst xmlns:a="http://schemas.openxmlformats.org/drawingml/2006/main">
              <a:ext uri="{FF2B5EF4-FFF2-40B4-BE49-F238E27FC236}">
                <a16:creationId xmlns:a16="http://schemas.microsoft.com/office/drawing/2014/main" id="{248F95D8-6C94-47AD-A1EB-CF294B2AA4EB}"/>
              </a:ext>
            </a:extLst>
          </p:cNvPr>
          <p:cNvSpPr>
            <a:spLocks xmlns:a="http://schemas.openxmlformats.org/drawingml/2006/main" noGrp="1"/>
          </p:cNvSpPr>
          <p:nvPr/>
        </p:nvSpPr>
        <p:spPr>
          <a:xfrm xmlns:a="http://schemas.openxmlformats.org/drawingml/2006/main">
            <a:off x="457200" y="2238375"/>
            <a:ext cx="1028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350" b="0">
                <a:solidFill>
                  <a:srgbClr val="667085"/>
                </a:solidFill>
                <a:latin typeface="Helvetica Neue"/>
                <a:ea typeface="Helvetica Neue"/>
                <a:cs typeface="Helvetica Neue"/>
              </a:rPr>
              <a:t>The facts are spread across CRM records, meeting notes, Slack, filings, and news. The AIVC principal must find the latest value, check the source, and see what is missing.</a:t>
            </a:r>
          </a:p>
        </p:txBody>
      </p:sp>
      <p:sp>
        <p:nvSpPr>
          <p:cNvPr id="6" name="">
            <a:extLst xmlns:a="http://schemas.openxmlformats.org/drawingml/2006/main">
              <a:ext uri="{FF2B5EF4-FFF2-40B4-BE49-F238E27FC236}">
                <a16:creationId xmlns:a16="http://schemas.microsoft.com/office/drawing/2014/main" id="{D90417FF-1C78-4630-A7F8-6EC28C547754}"/>
              </a:ext>
            </a:extLst>
          </p:cNvPr>
          <p:cNvSpPr>
            <a:spLocks xmlns:a="http://schemas.openxmlformats.org/drawingml/2006/main" noGrp="1"/>
          </p:cNvSpPr>
          <p:nvPr/>
        </p:nvSpPr>
        <p:spPr>
          <a:xfrm xmlns:a="http://schemas.openxmlformats.org/drawingml/2006/main">
            <a:off x="45720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F0950B1F-A28C-4568-A076-E5A6E0933D1B}"/>
              </a:ext>
            </a:extLst>
          </p:cNvPr>
          <p:cNvSpPr>
            <a:spLocks xmlns:a="http://schemas.openxmlformats.org/drawingml/2006/main" noGrp="1"/>
          </p:cNvSpPr>
          <p:nvPr/>
        </p:nvSpPr>
        <p:spPr>
          <a:xfrm xmlns:a="http://schemas.openxmlformats.org/drawingml/2006/main">
            <a:off x="457200" y="3219450"/>
            <a:ext cx="76200" cy="2247900"/>
          </a:xfrm>
          <a:prstGeom xmlns:a="http://schemas.openxmlformats.org/drawingml/2006/main" prst="rect">
            <a:avLst/>
          </a:prstGeom>
          <a:solidFill xmlns:a="http://schemas.openxmlformats.org/drawingml/2006/main">
            <a:srgbClr val="315F9F"/>
          </a:solidFill>
          <a:ln xmlns:a="http://schemas.openxmlformats.org/drawingml/2006/main" w="9525">
            <a:solidFill>
              <a:srgbClr val="315F9F"/>
            </a:solidFill>
            <a:prstDash val="solid"/>
          </a:ln>
        </p:spPr>
      </p:sp>
      <p:sp>
        <p:nvSpPr>
          <p:cNvPr id="8" name="">
            <a:extLst xmlns:a="http://schemas.openxmlformats.org/drawingml/2006/main">
              <a:ext uri="{FF2B5EF4-FFF2-40B4-BE49-F238E27FC236}">
                <a16:creationId xmlns:a16="http://schemas.microsoft.com/office/drawing/2014/main" id="{6E8B5CB9-5258-49AF-98CB-CA7024CCD3D5}"/>
              </a:ext>
            </a:extLst>
          </p:cNvPr>
          <p:cNvSpPr>
            <a:spLocks xmlns:a="http://schemas.openxmlformats.org/drawingml/2006/main" noGrp="1"/>
          </p:cNvSpPr>
          <p:nvPr/>
        </p:nvSpPr>
        <p:spPr>
          <a:xfrm xmlns:a="http://schemas.openxmlformats.org/drawingml/2006/main">
            <a:off x="74295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≈250</a:t>
            </a:r>
          </a:p>
        </p:txBody>
      </p:sp>
      <p:sp>
        <p:nvSpPr>
          <p:cNvPr id="9" name="">
            <a:extLst xmlns:a="http://schemas.openxmlformats.org/drawingml/2006/main">
              <a:ext uri="{FF2B5EF4-FFF2-40B4-BE49-F238E27FC236}">
                <a16:creationId xmlns:a16="http://schemas.microsoft.com/office/drawing/2014/main" id="{35DB3E8C-2A1E-4CB1-A446-D1C965CC3246}"/>
              </a:ext>
            </a:extLst>
          </p:cNvPr>
          <p:cNvSpPr>
            <a:spLocks xmlns:a="http://schemas.openxmlformats.org/drawingml/2006/main" noGrp="1"/>
          </p:cNvSpPr>
          <p:nvPr/>
        </p:nvSpPr>
        <p:spPr>
          <a:xfrm xmlns:a="http://schemas.openxmlformats.org/drawingml/2006/main">
            <a:off x="74295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companies in scope</a:t>
            </a:r>
          </a:p>
        </p:txBody>
      </p:sp>
      <p:sp>
        <p:nvSpPr>
          <p:cNvPr id="10" name="">
            <a:extLst xmlns:a="http://schemas.openxmlformats.org/drawingml/2006/main">
              <a:ext uri="{FF2B5EF4-FFF2-40B4-BE49-F238E27FC236}">
                <a16:creationId xmlns:a16="http://schemas.microsoft.com/office/drawing/2014/main" id="{D5053B9A-8BFE-4CFB-BD23-363424E0793F}"/>
              </a:ext>
            </a:extLst>
          </p:cNvPr>
          <p:cNvSpPr>
            <a:spLocks xmlns:a="http://schemas.openxmlformats.org/drawingml/2006/main" noGrp="1"/>
          </p:cNvSpPr>
          <p:nvPr/>
        </p:nvSpPr>
        <p:spPr>
          <a:xfrm xmlns:a="http://schemas.openxmlformats.org/drawingml/2006/main">
            <a:off x="74295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About 50 portfolio + 200 pipeline</a:t>
            </a:r>
          </a:p>
        </p:txBody>
      </p:sp>
      <p:sp>
        <p:nvSpPr>
          <p:cNvPr id="11" name="">
            <a:extLst xmlns:a="http://schemas.openxmlformats.org/drawingml/2006/main">
              <a:ext uri="{FF2B5EF4-FFF2-40B4-BE49-F238E27FC236}">
                <a16:creationId xmlns:a16="http://schemas.microsoft.com/office/drawing/2014/main" id="{56AC5EA8-248C-47B4-958B-AE6E911531FB}"/>
              </a:ext>
            </a:extLst>
          </p:cNvPr>
          <p:cNvSpPr>
            <a:spLocks xmlns:a="http://schemas.openxmlformats.org/drawingml/2006/main" noGrp="1"/>
          </p:cNvSpPr>
          <p:nvPr/>
        </p:nvSpPr>
        <p:spPr>
          <a:xfrm xmlns:a="http://schemas.openxmlformats.org/drawingml/2006/main">
            <a:off x="3933825"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0DD683D5-383D-4FAC-92FD-68867DEDD7D7}"/>
              </a:ext>
            </a:extLst>
          </p:cNvPr>
          <p:cNvSpPr>
            <a:spLocks xmlns:a="http://schemas.openxmlformats.org/drawingml/2006/main" noGrp="1"/>
          </p:cNvSpPr>
          <p:nvPr/>
        </p:nvSpPr>
        <p:spPr>
          <a:xfrm xmlns:a="http://schemas.openxmlformats.org/drawingml/2006/main">
            <a:off x="3933825" y="3219450"/>
            <a:ext cx="76200" cy="2247900"/>
          </a:xfrm>
          <a:prstGeom xmlns:a="http://schemas.openxmlformats.org/drawingml/2006/main" prst="rect">
            <a:avLst/>
          </a:prstGeom>
          <a:solidFill xmlns:a="http://schemas.openxmlformats.org/drawingml/2006/main">
            <a:srgbClr val="5D7FB4"/>
          </a:solidFill>
          <a:ln xmlns:a="http://schemas.openxmlformats.org/drawingml/2006/main" w="9525">
            <a:solidFill>
              <a:srgbClr val="5D7FB4"/>
            </a:solidFill>
            <a:prstDash val="solid"/>
          </a:ln>
        </p:spPr>
      </p:sp>
      <p:sp>
        <p:nvSpPr>
          <p:cNvPr id="13" name="">
            <a:extLst xmlns:a="http://schemas.openxmlformats.org/drawingml/2006/main">
              <a:ext uri="{FF2B5EF4-FFF2-40B4-BE49-F238E27FC236}">
                <a16:creationId xmlns:a16="http://schemas.microsoft.com/office/drawing/2014/main" id="{2F025FB5-141F-4754-8532-8F42CEAA8B70}"/>
              </a:ext>
            </a:extLst>
          </p:cNvPr>
          <p:cNvSpPr>
            <a:spLocks xmlns:a="http://schemas.openxmlformats.org/drawingml/2006/main" noGrp="1"/>
          </p:cNvSpPr>
          <p:nvPr/>
        </p:nvSpPr>
        <p:spPr>
          <a:xfrm xmlns:a="http://schemas.openxmlformats.org/drawingml/2006/main">
            <a:off x="4219575"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90 min</a:t>
            </a:r>
          </a:p>
        </p:txBody>
      </p:sp>
      <p:sp>
        <p:nvSpPr>
          <p:cNvPr id="14" name="">
            <a:extLst xmlns:a="http://schemas.openxmlformats.org/drawingml/2006/main">
              <a:ext uri="{FF2B5EF4-FFF2-40B4-BE49-F238E27FC236}">
                <a16:creationId xmlns:a16="http://schemas.microsoft.com/office/drawing/2014/main" id="{7DD042B3-963F-43BD-8B6B-A49D74611D41}"/>
              </a:ext>
            </a:extLst>
          </p:cNvPr>
          <p:cNvSpPr>
            <a:spLocks xmlns:a="http://schemas.openxmlformats.org/drawingml/2006/main" noGrp="1"/>
          </p:cNvSpPr>
          <p:nvPr/>
        </p:nvSpPr>
        <p:spPr>
          <a:xfrm xmlns:a="http://schemas.openxmlformats.org/drawingml/2006/main">
            <a:off x="4219575"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manual preparation</a:t>
            </a:r>
          </a:p>
        </p:txBody>
      </p:sp>
      <p:sp>
        <p:nvSpPr>
          <p:cNvPr id="15" name="">
            <a:extLst xmlns:a="http://schemas.openxmlformats.org/drawingml/2006/main">
              <a:ext uri="{FF2B5EF4-FFF2-40B4-BE49-F238E27FC236}">
                <a16:creationId xmlns:a16="http://schemas.microsoft.com/office/drawing/2014/main" id="{1353F715-1736-4DA9-A1CF-98E50CB58DCE}"/>
              </a:ext>
            </a:extLst>
          </p:cNvPr>
          <p:cNvSpPr>
            <a:spLocks xmlns:a="http://schemas.openxmlformats.org/drawingml/2006/main" noGrp="1"/>
          </p:cNvSpPr>
          <p:nvPr/>
        </p:nvSpPr>
        <p:spPr>
          <a:xfrm xmlns:a="http://schemas.openxmlformats.org/drawingml/2006/main">
            <a:off x="4219575"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22"/>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Scenario estimate; not a measured baseline</a:t>
            </a:r>
          </a:p>
        </p:txBody>
      </p:sp>
      <p:sp>
        <p:nvSpPr>
          <p:cNvPr id="16" name="">
            <a:extLst xmlns:a="http://schemas.openxmlformats.org/drawingml/2006/main">
              <a:ext uri="{FF2B5EF4-FFF2-40B4-BE49-F238E27FC236}">
                <a16:creationId xmlns:a16="http://schemas.microsoft.com/office/drawing/2014/main" id="{577AC155-9844-4BC8-896D-32BD07441E24}"/>
              </a:ext>
            </a:extLst>
          </p:cNvPr>
          <p:cNvSpPr>
            <a:spLocks xmlns:a="http://schemas.openxmlformats.org/drawingml/2006/main" noGrp="1"/>
          </p:cNvSpPr>
          <p:nvPr/>
        </p:nvSpPr>
        <p:spPr>
          <a:xfrm xmlns:a="http://schemas.openxmlformats.org/drawingml/2006/main">
            <a:off x="741045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372D61F2-45C3-47D8-AC88-3F1E32DCFA11}"/>
              </a:ext>
            </a:extLst>
          </p:cNvPr>
          <p:cNvSpPr>
            <a:spLocks xmlns:a="http://schemas.openxmlformats.org/drawingml/2006/main" noGrp="1"/>
          </p:cNvSpPr>
          <p:nvPr/>
        </p:nvSpPr>
        <p:spPr>
          <a:xfrm xmlns:a="http://schemas.openxmlformats.org/drawingml/2006/main">
            <a:off x="7410450" y="3219450"/>
            <a:ext cx="76200" cy="2247900"/>
          </a:xfrm>
          <a:prstGeom xmlns:a="http://schemas.openxmlformats.org/drawingml/2006/main" prst="rect">
            <a:avLst/>
          </a:prstGeom>
          <a:solidFill xmlns:a="http://schemas.openxmlformats.org/drawingml/2006/main">
            <a:srgbClr val="9CB5D5"/>
          </a:solidFill>
          <a:ln xmlns:a="http://schemas.openxmlformats.org/drawingml/2006/main" w="9525">
            <a:solidFill>
              <a:srgbClr val="9CB5D5"/>
            </a:solidFill>
            <a:prstDash val="solid"/>
          </a:ln>
        </p:spPr>
      </p:sp>
      <p:sp>
        <p:nvSpPr>
          <p:cNvPr id="18" name="">
            <a:extLst xmlns:a="http://schemas.openxmlformats.org/drawingml/2006/main">
              <a:ext uri="{FF2B5EF4-FFF2-40B4-BE49-F238E27FC236}">
                <a16:creationId xmlns:a16="http://schemas.microsoft.com/office/drawing/2014/main" id="{C926A76D-4C90-42DF-A6F2-17737BFECFDE}"/>
              </a:ext>
            </a:extLst>
          </p:cNvPr>
          <p:cNvSpPr>
            <a:spLocks xmlns:a="http://schemas.openxmlformats.org/drawingml/2006/main" noGrp="1"/>
          </p:cNvSpPr>
          <p:nvPr/>
        </p:nvSpPr>
        <p:spPr>
          <a:xfrm xmlns:a="http://schemas.openxmlformats.org/drawingml/2006/main">
            <a:off x="769620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≤30 sec</a:t>
            </a:r>
          </a:p>
        </p:txBody>
      </p:sp>
      <p:sp>
        <p:nvSpPr>
          <p:cNvPr id="19" name="">
            <a:extLst xmlns:a="http://schemas.openxmlformats.org/drawingml/2006/main">
              <a:ext uri="{FF2B5EF4-FFF2-40B4-BE49-F238E27FC236}">
                <a16:creationId xmlns:a16="http://schemas.microsoft.com/office/drawing/2014/main" id="{093E1318-319E-46BC-A315-D16FC24215E3}"/>
              </a:ext>
            </a:extLst>
          </p:cNvPr>
          <p:cNvSpPr>
            <a:spLocks xmlns:a="http://schemas.openxmlformats.org/drawingml/2006/main" noGrp="1"/>
          </p:cNvSpPr>
          <p:nvPr/>
        </p:nvSpPr>
        <p:spPr>
          <a:xfrm xmlns:a="http://schemas.openxmlformats.org/drawingml/2006/main">
            <a:off x="769620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brief target</a:t>
            </a:r>
          </a:p>
        </p:txBody>
      </p:sp>
      <p:sp>
        <p:nvSpPr>
          <p:cNvPr id="20" name="">
            <a:extLst xmlns:a="http://schemas.openxmlformats.org/drawingml/2006/main">
              <a:ext uri="{FF2B5EF4-FFF2-40B4-BE49-F238E27FC236}">
                <a16:creationId xmlns:a16="http://schemas.microsoft.com/office/drawing/2014/main" id="{4F8691C0-D6AA-43D5-ADB0-F23290AE504D}"/>
              </a:ext>
            </a:extLst>
          </p:cNvPr>
          <p:cNvSpPr>
            <a:spLocks xmlns:a="http://schemas.openxmlformats.org/drawingml/2006/main" noGrp="1"/>
          </p:cNvSpPr>
          <p:nvPr/>
        </p:nvSpPr>
        <p:spPr>
          <a:xfrm xmlns:a="http://schemas.openxmlformats.org/drawingml/2006/main">
            <a:off x="769620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16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Lens organizes evidence. The AIVC principal keeps the investment judgment.</a:t>
            </a:r>
          </a:p>
        </p:txBody>
      </p:sp>
    </p:spTree>
    <p:extLst>
      <p:ext uri="{BB962C8B-B14F-4D97-AF65-F5344CB8AC3E}">
        <p14:creationId xmlns:p14="http://schemas.microsoft.com/office/powerpoint/2010/main" val="1491271363"/>
      </p:ext>
    </p:extLst>
  </p:cSld>
</p:sld>
</file>

<file path=ppt/slides/slide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A341753-F432-4FAC-905F-6BC9A3308FE6}"/>
              </a:ext>
            </a:extLst>
          </p:cNvPr>
          <p:cNvSpPr>
            <a:spLocks xmlns:a="http://schemas.openxmlformats.org/drawingml/2006/main" noGrp="1"/>
          </p:cNvSpPr>
          <p:nvPr/>
        </p:nvSpPr>
        <p:spPr>
          <a:xfrm xmlns:a="http://schemas.openxmlformats.org/drawingml/2006/main">
            <a:off x="685800" y="361950"/>
            <a:ext cx="108204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does Lens let an AIVC principal do?</a:t>
            </a:r>
          </a:p>
        </p:txBody>
      </p:sp>
      <p:sp>
        <p:nvSpPr>
          <p:cNvPr id="2" name="">
            <a:extLst xmlns:a="http://schemas.openxmlformats.org/drawingml/2006/main">
              <a:ext uri="{FF2B5EF4-FFF2-40B4-BE49-F238E27FC236}">
                <a16:creationId xmlns:a16="http://schemas.microsoft.com/office/drawing/2014/main" id="{15AE18DA-23DC-4F91-B843-5482207C12E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0FA8E7A-FCA5-488D-941A-99A2108683DD}"/>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03</a:t>
            </a:r>
          </a:p>
        </p:txBody>
      </p:sp>
      <p:sp>
        <p:nvSpPr>
          <p:cNvPr id="4" name="">
            <a:extLst xmlns:a="http://schemas.openxmlformats.org/drawingml/2006/main">
              <a:ext uri="{FF2B5EF4-FFF2-40B4-BE49-F238E27FC236}">
                <a16:creationId xmlns:a16="http://schemas.microsoft.com/office/drawing/2014/main" id="{EAAABDBA-8C6F-43CE-B795-FCAE72075F1A}"/>
              </a:ext>
            </a:extLst>
          </p:cNvPr>
          <p:cNvSpPr>
            <a:spLocks xmlns:a="http://schemas.openxmlformats.org/drawingml/2006/main" noGrp="1"/>
          </p:cNvSpPr>
          <p:nvPr/>
        </p:nvSpPr>
        <p:spPr>
          <a:xfrm xmlns:a="http://schemas.openxmlformats.org/drawingml/2006/main">
            <a:off x="457200" y="133350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The brief, evidence, original source, and feedback stay in one flow.</a:t>
            </a:r>
          </a:p>
        </p:txBody>
      </p:sp>
      <p:sp>
        <p:nvSpPr>
          <p:cNvPr id="5" name="">
            <a:extLst xmlns:a="http://schemas.openxmlformats.org/drawingml/2006/main">
              <a:ext uri="{FF2B5EF4-FFF2-40B4-BE49-F238E27FC236}">
                <a16:creationId xmlns:a16="http://schemas.microsoft.com/office/drawing/2014/main" id="{2171D578-EC77-455D-8411-25930D85BE63}"/>
              </a:ext>
            </a:extLst>
          </p:cNvPr>
          <p:cNvSpPr>
            <a:spLocks xmlns:a="http://schemas.openxmlformats.org/drawingml/2006/main" noGrp="1"/>
          </p:cNvSpPr>
          <p:nvPr/>
        </p:nvSpPr>
        <p:spPr>
          <a:xfrm xmlns:a="http://schemas.openxmlformats.org/drawingml/2006/main">
            <a:off x="8343900" y="19526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78A12385-E2AC-4E4A-8AE9-C0083C26DB36}"/>
              </a:ext>
            </a:extLst>
          </p:cNvPr>
          <p:cNvSpPr>
            <a:spLocks xmlns:a="http://schemas.openxmlformats.org/drawingml/2006/main" noGrp="1"/>
          </p:cNvSpPr>
          <p:nvPr/>
        </p:nvSpPr>
        <p:spPr>
          <a:xfrm xmlns:a="http://schemas.openxmlformats.org/drawingml/2006/main">
            <a:off x="8439150" y="20002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1</a:t>
            </a:r>
          </a:p>
        </p:txBody>
      </p:sp>
      <p:sp>
        <p:nvSpPr>
          <p:cNvPr id="7" name="">
            <a:extLst xmlns:a="http://schemas.openxmlformats.org/drawingml/2006/main">
              <a:ext uri="{FF2B5EF4-FFF2-40B4-BE49-F238E27FC236}">
                <a16:creationId xmlns:a16="http://schemas.microsoft.com/office/drawing/2014/main" id="{3CB9EA74-BB95-4276-B9A6-114E2E4AD345}"/>
              </a:ext>
            </a:extLst>
          </p:cNvPr>
          <p:cNvSpPr>
            <a:spLocks xmlns:a="http://schemas.openxmlformats.org/drawingml/2006/main" noGrp="1"/>
          </p:cNvSpPr>
          <p:nvPr/>
        </p:nvSpPr>
        <p:spPr>
          <a:xfrm xmlns:a="http://schemas.openxmlformats.org/drawingml/2006/main">
            <a:off x="8801100" y="19431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Select company</a:t>
            </a:r>
          </a:p>
        </p:txBody>
      </p:sp>
      <p:sp>
        <p:nvSpPr>
          <p:cNvPr id="8" name="">
            <a:extLst xmlns:a="http://schemas.openxmlformats.org/drawingml/2006/main">
              <a:ext uri="{FF2B5EF4-FFF2-40B4-BE49-F238E27FC236}">
                <a16:creationId xmlns:a16="http://schemas.microsoft.com/office/drawing/2014/main" id="{0FA5DDC6-3FD4-4355-B84F-85B98D1D52D3}"/>
              </a:ext>
            </a:extLst>
          </p:cNvPr>
          <p:cNvSpPr>
            <a:spLocks xmlns:a="http://schemas.openxmlformats.org/drawingml/2006/main" noGrp="1"/>
          </p:cNvSpPr>
          <p:nvPr/>
        </p:nvSpPr>
        <p:spPr>
          <a:xfrm xmlns:a="http://schemas.openxmlformats.org/drawingml/2006/main">
            <a:off x="8801100" y="22479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Choose a portfolio or pipeline company.</a:t>
            </a:r>
          </a:p>
        </p:txBody>
      </p:sp>
      <p:sp>
        <p:nvSpPr>
          <p:cNvPr id="9" name="">
            <a:extLst xmlns:a="http://schemas.openxmlformats.org/drawingml/2006/main">
              <a:ext uri="{FF2B5EF4-FFF2-40B4-BE49-F238E27FC236}">
                <a16:creationId xmlns:a16="http://schemas.microsoft.com/office/drawing/2014/main" id="{838E1A84-9DC8-4EC3-BD84-249D08DD620D}"/>
              </a:ext>
            </a:extLst>
          </p:cNvPr>
          <p:cNvSpPr>
            <a:spLocks xmlns:a="http://schemas.openxmlformats.org/drawingml/2006/main" noGrp="1"/>
          </p:cNvSpPr>
          <p:nvPr/>
        </p:nvSpPr>
        <p:spPr>
          <a:xfrm xmlns:a="http://schemas.openxmlformats.org/drawingml/2006/main">
            <a:off x="8343900" y="29432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0" name="">
            <a:extLst xmlns:a="http://schemas.openxmlformats.org/drawingml/2006/main">
              <a:ext uri="{FF2B5EF4-FFF2-40B4-BE49-F238E27FC236}">
                <a16:creationId xmlns:a16="http://schemas.microsoft.com/office/drawing/2014/main" id="{327440BB-A5A8-41C6-9175-6A1410B7F248}"/>
              </a:ext>
            </a:extLst>
          </p:cNvPr>
          <p:cNvSpPr>
            <a:spLocks xmlns:a="http://schemas.openxmlformats.org/drawingml/2006/main" noGrp="1"/>
          </p:cNvSpPr>
          <p:nvPr/>
        </p:nvSpPr>
        <p:spPr>
          <a:xfrm xmlns:a="http://schemas.openxmlformats.org/drawingml/2006/main">
            <a:off x="8439150" y="29908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2</a:t>
            </a:r>
          </a:p>
        </p:txBody>
      </p:sp>
      <p:sp>
        <p:nvSpPr>
          <p:cNvPr id="11" name="">
            <a:extLst xmlns:a="http://schemas.openxmlformats.org/drawingml/2006/main">
              <a:ext uri="{FF2B5EF4-FFF2-40B4-BE49-F238E27FC236}">
                <a16:creationId xmlns:a16="http://schemas.microsoft.com/office/drawing/2014/main" id="{216C0B0E-D29C-45B9-BEB5-0D7F57B23369}"/>
              </a:ext>
            </a:extLst>
          </p:cNvPr>
          <p:cNvSpPr>
            <a:spLocks xmlns:a="http://schemas.openxmlformats.org/drawingml/2006/main" noGrp="1"/>
          </p:cNvSpPr>
          <p:nvPr/>
        </p:nvSpPr>
        <p:spPr>
          <a:xfrm xmlns:a="http://schemas.openxmlformats.org/drawingml/2006/main">
            <a:off x="8801100" y="29337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Scan the brief</a:t>
            </a:r>
          </a:p>
        </p:txBody>
      </p:sp>
      <p:sp>
        <p:nvSpPr>
          <p:cNvPr id="12" name="">
            <a:extLst xmlns:a="http://schemas.openxmlformats.org/drawingml/2006/main">
              <a:ext uri="{FF2B5EF4-FFF2-40B4-BE49-F238E27FC236}">
                <a16:creationId xmlns:a16="http://schemas.microsoft.com/office/drawing/2014/main" id="{643780DA-7896-4A5A-88B2-8B9F8E3A55B5}"/>
              </a:ext>
            </a:extLst>
          </p:cNvPr>
          <p:cNvSpPr>
            <a:spLocks xmlns:a="http://schemas.openxmlformats.org/drawingml/2006/main" noGrp="1"/>
          </p:cNvSpPr>
          <p:nvPr/>
        </p:nvSpPr>
        <p:spPr>
          <a:xfrm xmlns:a="http://schemas.openxmlformats.org/drawingml/2006/main">
            <a:off x="8801100" y="32385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Read Key facts, Risks, and Questions.</a:t>
            </a:r>
          </a:p>
        </p:txBody>
      </p:sp>
      <p:sp>
        <p:nvSpPr>
          <p:cNvPr id="13" name="">
            <a:extLst xmlns:a="http://schemas.openxmlformats.org/drawingml/2006/main">
              <a:ext uri="{FF2B5EF4-FFF2-40B4-BE49-F238E27FC236}">
                <a16:creationId xmlns:a16="http://schemas.microsoft.com/office/drawing/2014/main" id="{2C00D830-C080-4CD6-BFA1-2EE115C727AF}"/>
              </a:ext>
            </a:extLst>
          </p:cNvPr>
          <p:cNvSpPr>
            <a:spLocks xmlns:a="http://schemas.openxmlformats.org/drawingml/2006/main" noGrp="1"/>
          </p:cNvSpPr>
          <p:nvPr/>
        </p:nvSpPr>
        <p:spPr>
          <a:xfrm xmlns:a="http://schemas.openxmlformats.org/drawingml/2006/main">
            <a:off x="8343900" y="39338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4" name="">
            <a:extLst xmlns:a="http://schemas.openxmlformats.org/drawingml/2006/main">
              <a:ext uri="{FF2B5EF4-FFF2-40B4-BE49-F238E27FC236}">
                <a16:creationId xmlns:a16="http://schemas.microsoft.com/office/drawing/2014/main" id="{C3C4062D-56DE-44CE-8D5D-310725AFF33F}"/>
              </a:ext>
            </a:extLst>
          </p:cNvPr>
          <p:cNvSpPr>
            <a:spLocks xmlns:a="http://schemas.openxmlformats.org/drawingml/2006/main" noGrp="1"/>
          </p:cNvSpPr>
          <p:nvPr/>
        </p:nvSpPr>
        <p:spPr>
          <a:xfrm xmlns:a="http://schemas.openxmlformats.org/drawingml/2006/main">
            <a:off x="8439150" y="39814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3</a:t>
            </a:r>
          </a:p>
        </p:txBody>
      </p:sp>
      <p:sp>
        <p:nvSpPr>
          <p:cNvPr id="15" name="">
            <a:extLst xmlns:a="http://schemas.openxmlformats.org/drawingml/2006/main">
              <a:ext uri="{FF2B5EF4-FFF2-40B4-BE49-F238E27FC236}">
                <a16:creationId xmlns:a16="http://schemas.microsoft.com/office/drawing/2014/main" id="{6AF726DA-1060-40F1-96BE-56094C583E78}"/>
              </a:ext>
            </a:extLst>
          </p:cNvPr>
          <p:cNvSpPr>
            <a:spLocks xmlns:a="http://schemas.openxmlformats.org/drawingml/2006/main" noGrp="1"/>
          </p:cNvSpPr>
          <p:nvPr/>
        </p:nvSpPr>
        <p:spPr>
          <a:xfrm xmlns:a="http://schemas.openxmlformats.org/drawingml/2006/main">
            <a:off x="8801100" y="39243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Open the source</a:t>
            </a:r>
          </a:p>
        </p:txBody>
      </p:sp>
      <p:sp>
        <p:nvSpPr>
          <p:cNvPr id="16" name="">
            <a:extLst xmlns:a="http://schemas.openxmlformats.org/drawingml/2006/main">
              <a:ext uri="{FF2B5EF4-FFF2-40B4-BE49-F238E27FC236}">
                <a16:creationId xmlns:a16="http://schemas.microsoft.com/office/drawing/2014/main" id="{BEDA7F37-E813-48A3-97AB-7EDCB2354C48}"/>
              </a:ext>
            </a:extLst>
          </p:cNvPr>
          <p:cNvSpPr>
            <a:spLocks xmlns:a="http://schemas.openxmlformats.org/drawingml/2006/main" noGrp="1"/>
          </p:cNvSpPr>
          <p:nvPr/>
        </p:nvSpPr>
        <p:spPr>
          <a:xfrm xmlns:a="http://schemas.openxmlformats.org/drawingml/2006/main">
            <a:off x="8801100" y="4229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See values, dates, evidence, and the original record.</a:t>
            </a:r>
          </a:p>
        </p:txBody>
      </p:sp>
      <p:sp>
        <p:nvSpPr>
          <p:cNvPr id="17" name="">
            <a:extLst xmlns:a="http://schemas.openxmlformats.org/drawingml/2006/main">
              <a:ext uri="{FF2B5EF4-FFF2-40B4-BE49-F238E27FC236}">
                <a16:creationId xmlns:a16="http://schemas.microsoft.com/office/drawing/2014/main" id="{622ECADF-5901-445D-82B7-8174C71493DA}"/>
              </a:ext>
            </a:extLst>
          </p:cNvPr>
          <p:cNvSpPr>
            <a:spLocks xmlns:a="http://schemas.openxmlformats.org/drawingml/2006/main" noGrp="1"/>
          </p:cNvSpPr>
          <p:nvPr/>
        </p:nvSpPr>
        <p:spPr>
          <a:xfrm xmlns:a="http://schemas.openxmlformats.org/drawingml/2006/main">
            <a:off x="8343900" y="49244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8" name="">
            <a:extLst xmlns:a="http://schemas.openxmlformats.org/drawingml/2006/main">
              <a:ext uri="{FF2B5EF4-FFF2-40B4-BE49-F238E27FC236}">
                <a16:creationId xmlns:a16="http://schemas.microsoft.com/office/drawing/2014/main" id="{EDC54E17-A905-4324-9C22-3D025DBF0A4C}"/>
              </a:ext>
            </a:extLst>
          </p:cNvPr>
          <p:cNvSpPr>
            <a:spLocks xmlns:a="http://schemas.openxmlformats.org/drawingml/2006/main" noGrp="1"/>
          </p:cNvSpPr>
          <p:nvPr/>
        </p:nvSpPr>
        <p:spPr>
          <a:xfrm xmlns:a="http://schemas.openxmlformats.org/drawingml/2006/main">
            <a:off x="8439150" y="4972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4</a:t>
            </a:r>
          </a:p>
        </p:txBody>
      </p:sp>
      <p:sp>
        <p:nvSpPr>
          <p:cNvPr id="19" name="">
            <a:extLst xmlns:a="http://schemas.openxmlformats.org/drawingml/2006/main">
              <a:ext uri="{FF2B5EF4-FFF2-40B4-BE49-F238E27FC236}">
                <a16:creationId xmlns:a16="http://schemas.microsoft.com/office/drawing/2014/main" id="{F2AEF4C6-311E-45C9-8B5A-A1303E1BDF24}"/>
              </a:ext>
            </a:extLst>
          </p:cNvPr>
          <p:cNvSpPr>
            <a:spLocks xmlns:a="http://schemas.openxmlformats.org/drawingml/2006/main" noGrp="1"/>
          </p:cNvSpPr>
          <p:nvPr/>
        </p:nvSpPr>
        <p:spPr>
          <a:xfrm xmlns:a="http://schemas.openxmlformats.org/drawingml/2006/main">
            <a:off x="8801100" y="4914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Send feedback</a:t>
            </a:r>
          </a:p>
        </p:txBody>
      </p:sp>
      <p:sp>
        <p:nvSpPr>
          <p:cNvPr id="20" name="">
            <a:extLst xmlns:a="http://schemas.openxmlformats.org/drawingml/2006/main">
              <a:ext uri="{FF2B5EF4-FFF2-40B4-BE49-F238E27FC236}">
                <a16:creationId xmlns:a16="http://schemas.microsoft.com/office/drawing/2014/main" id="{BB988DCF-B844-4248-82AC-B84604456540}"/>
              </a:ext>
            </a:extLst>
          </p:cNvPr>
          <p:cNvSpPr>
            <a:spLocks xmlns:a="http://schemas.openxmlformats.org/drawingml/2006/main" noGrp="1"/>
          </p:cNvSpPr>
          <p:nvPr/>
        </p:nvSpPr>
        <p:spPr>
          <a:xfrm xmlns:a="http://schemas.openxmlformats.org/drawingml/2006/main">
            <a:off x="8801100" y="52197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Mark content Good, Bad, or Wrong.</a:t>
            </a:r>
          </a:p>
        </p:txBody>
      </p:sp>
      <p:sp>
        <p:nvSpPr>
          <p:cNvPr id="21" name="">
            <a:extLst xmlns:a="http://schemas.openxmlformats.org/drawingml/2006/main">
              <a:ext uri="{FF2B5EF4-FFF2-40B4-BE49-F238E27FC236}">
                <a16:creationId xmlns:a16="http://schemas.microsoft.com/office/drawing/2014/main" id="{CEFBF0D0-9C7B-40B0-B1DE-EEED270A69AF}"/>
              </a:ext>
            </a:extLst>
          </p:cNvPr>
          <p:cNvSpPr>
            <a:spLocks xmlns:a="http://schemas.openxmlformats.org/drawingml/2006/main" noGrp="1"/>
          </p:cNvSpPr>
          <p:nvPr/>
        </p:nvSpPr>
        <p:spPr>
          <a:xfrm xmlns:a="http://schemas.openxmlformats.org/drawingml/2006/main">
            <a:off x="457200" y="1809750"/>
            <a:ext cx="7620000" cy="4286250"/>
          </a:xfrm>
          <a:prstGeom xmlns:a="http://schemas.openxmlformats.org/drawingml/2006/main" prst="roundRect">
            <a:avLst>
              <a:gd name="adj" fmla="val 4167"/>
            </a:avLst>
          </a:prstGeom>
          <a:solidFill xmlns:a="http://schemas.openxmlformats.org/drawingml/2006/main">
            <a:srgbClr val="000000">
              <a:alpha val="0"/>
            </a:srgbClr>
          </a:solidFill>
          <a:ln xmlns:a="http://schemas.openxmlformats.org/drawingml/2006/main" w="9525">
            <a:solidFill>
              <a:srgbClr val="D0D5DD"/>
            </a:solidFill>
            <a:prstDash val="solid"/>
          </a:ln>
        </p:spPr>
      </p:sp>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b431c88c83ac4625"/>
          <a:stretch xmlns:a="http://schemas.openxmlformats.org/drawingml/2006/main"/>
        </p:blipFill>
        <p:spPr>
          <a:xfrm xmlns:a="http://schemas.openxmlformats.org/drawingml/2006/main">
            <a:off x="595993" y="1924050"/>
            <a:ext cx="7342414" cy="4057650"/>
          </a:xfrm>
          <a:prstGeom xmlns:a="http://schemas.openxmlformats.org/drawingml/2006/main" prst="roundRect">
            <a:avLst>
              <a:gd name="adj" fmla="val 2817"/>
            </a:avLst>
          </a:prstGeom>
        </p:spPr>
      </p:pic>
    </p:spTree>
    <p:extLst>
      <p:ext uri="{BB962C8B-B14F-4D97-AF65-F5344CB8AC3E}">
        <p14:creationId xmlns:p14="http://schemas.microsoft.com/office/powerpoint/2010/main" val="1674415678"/>
      </p:ext>
    </p:extLst>
  </p:cSld>
</p:sld>
</file>

<file path=ppt/slides/slide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34E38232-A601-4B33-99ED-19B54747F4BA}"/>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700" b="1">
                <a:solidFill>
                  <a:srgbClr val="101828"/>
                </a:solidFill>
                <a:latin typeface="Helvetica Neue"/>
                <a:ea typeface="Helvetica Neue"/>
                <a:cs typeface="Helvetica Neue"/>
              </a:rPr>
              <a:t>What is Lens?</a:t>
            </a:r>
          </a:p>
        </p:txBody>
      </p:sp>
      <p:sp>
        <p:nvSpPr>
          <p:cNvPr id="2" name="">
            <a:extLst xmlns:a="http://schemas.openxmlformats.org/drawingml/2006/main">
              <a:ext uri="{FF2B5EF4-FFF2-40B4-BE49-F238E27FC236}">
                <a16:creationId xmlns:a16="http://schemas.microsoft.com/office/drawing/2014/main" id="{9CF82D18-9423-4C8C-AF4D-EA6D1329C100}"/>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5357D0EB-B896-497B-BED0-F0C1C550C97F}"/>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04</a:t>
            </a:r>
          </a:p>
        </p:txBody>
      </p:sp>
      <p:sp>
        <p:nvSpPr>
          <p:cNvPr id="4" name="">
            <a:extLst xmlns:a="http://schemas.openxmlformats.org/drawingml/2006/main">
              <a:ext uri="{FF2B5EF4-FFF2-40B4-BE49-F238E27FC236}">
                <a16:creationId xmlns:a16="http://schemas.microsoft.com/office/drawing/2014/main" id="{87DAD644-55F4-4DAD-96B3-DC6C170A1372}"/>
              </a:ext>
            </a:extLst>
          </p:cNvPr>
          <p:cNvSpPr>
            <a:spLocks xmlns:a="http://schemas.openxmlformats.org/drawingml/2006/main" noGrp="1"/>
          </p:cNvSpPr>
          <p:nvPr/>
        </p:nvSpPr>
        <p:spPr>
          <a:xfrm xmlns:a="http://schemas.openxmlformats.org/drawingml/2006/main">
            <a:off x="457200" y="1600200"/>
            <a:ext cx="2571750" cy="171450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0D5DD"/>
            </a:solidFill>
            <a:prstDash val="solid"/>
          </a:ln>
        </p:spPr>
      </p:sp>
      <p:sp>
        <p:nvSpPr>
          <p:cNvPr id="5" name="">
            <a:extLst xmlns:a="http://schemas.openxmlformats.org/drawingml/2006/main">
              <a:ext uri="{FF2B5EF4-FFF2-40B4-BE49-F238E27FC236}">
                <a16:creationId xmlns:a16="http://schemas.microsoft.com/office/drawing/2014/main" id="{314023AE-B558-4188-A8C4-2414A5FEB0DC}"/>
              </a:ext>
            </a:extLst>
          </p:cNvPr>
          <p:cNvSpPr>
            <a:spLocks xmlns:a="http://schemas.openxmlformats.org/drawingml/2006/main" noGrp="1"/>
          </p:cNvSpPr>
          <p:nvPr/>
        </p:nvSpPr>
        <p:spPr>
          <a:xfrm xmlns:a="http://schemas.openxmlformats.org/drawingml/2006/main">
            <a:off x="685800" y="1828800"/>
            <a:ext cx="211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500"/>
          </a:bodyPr>
          <a:lstStyle xmlns:a="http://schemas.openxmlformats.org/drawingml/2006/main"/>
          <a:p xmlns:a="http://schemas.openxmlformats.org/drawingml/2006/main">
            <a:pPr algn="l">
              <a:buNone/>
              <a:defRPr sz="3600" b="1">
                <a:solidFill>
                  <a:srgbClr val="101828"/>
                </a:solidFill>
                <a:latin typeface="Helvetica Neue"/>
                <a:ea typeface="Helvetica Neue"/>
                <a:cs typeface="Helvetica Neue"/>
              </a:defRPr>
            </a:pPr>
            <a:r>
              <a:rPr sz="3600" b="1">
                <a:solidFill>
                  <a:srgbClr val="101828"/>
                </a:solidFill>
                <a:latin typeface="Helvetica Neue"/>
                <a:ea typeface="Helvetica Neue"/>
                <a:cs typeface="Helvetica Neue"/>
              </a:rPr>
              <a:t>10</a:t>
            </a:r>
          </a:p>
        </p:txBody>
      </p:sp>
      <p:sp>
        <p:nvSpPr>
          <p:cNvPr id="6" name="">
            <a:extLst xmlns:a="http://schemas.openxmlformats.org/drawingml/2006/main">
              <a:ext uri="{FF2B5EF4-FFF2-40B4-BE49-F238E27FC236}">
                <a16:creationId xmlns:a16="http://schemas.microsoft.com/office/drawing/2014/main" id="{FE1771CD-5CDF-4F6B-8D87-192966526F68}"/>
              </a:ext>
            </a:extLst>
          </p:cNvPr>
          <p:cNvSpPr>
            <a:spLocks xmlns:a="http://schemas.openxmlformats.org/drawingml/2006/main" noGrp="1"/>
          </p:cNvSpPr>
          <p:nvPr/>
        </p:nvSpPr>
        <p:spPr>
          <a:xfrm xmlns:a="http://schemas.openxmlformats.org/drawingml/2006/main">
            <a:off x="685800" y="24955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344054"/>
                </a:solidFill>
                <a:latin typeface="Helvetica Neue"/>
                <a:ea typeface="Helvetica Neue"/>
                <a:cs typeface="Helvetica Neue"/>
              </a:defRPr>
            </a:pPr>
            <a:r>
              <a:rPr sz="1425" b="1">
                <a:solidFill>
                  <a:srgbClr val="344054"/>
                </a:solidFill>
                <a:latin typeface="Helvetica Neue"/>
                <a:ea typeface="Helvetica Neue"/>
                <a:cs typeface="Helvetica Neue"/>
              </a:rPr>
              <a:t>fictional companies</a:t>
            </a:r>
          </a:p>
        </p:txBody>
      </p:sp>
      <p:sp>
        <p:nvSpPr>
          <p:cNvPr id="7" name="">
            <a:extLst xmlns:a="http://schemas.openxmlformats.org/drawingml/2006/main">
              <a:ext uri="{FF2B5EF4-FFF2-40B4-BE49-F238E27FC236}">
                <a16:creationId xmlns:a16="http://schemas.microsoft.com/office/drawing/2014/main" id="{37B25352-7D58-4731-93B8-9020F1ABEFF7}"/>
              </a:ext>
            </a:extLst>
          </p:cNvPr>
          <p:cNvSpPr>
            <a:spLocks xmlns:a="http://schemas.openxmlformats.org/drawingml/2006/main" noGrp="1"/>
          </p:cNvSpPr>
          <p:nvPr/>
        </p:nvSpPr>
        <p:spPr>
          <a:xfrm xmlns:a="http://schemas.openxmlformats.org/drawingml/2006/main">
            <a:off x="685800" y="2876550"/>
            <a:ext cx="2114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2 portfolio and 8 pipeline</a:t>
            </a:r>
          </a:p>
        </p:txBody>
      </p:sp>
      <p:sp>
        <p:nvSpPr>
          <p:cNvPr id="8" name="">
            <a:extLst xmlns:a="http://schemas.openxmlformats.org/drawingml/2006/main">
              <a:ext uri="{FF2B5EF4-FFF2-40B4-BE49-F238E27FC236}">
                <a16:creationId xmlns:a16="http://schemas.microsoft.com/office/drawing/2014/main" id="{82E99601-794F-4030-A1A7-8FC7D141F1C2}"/>
              </a:ext>
            </a:extLst>
          </p:cNvPr>
          <p:cNvSpPr>
            <a:spLocks xmlns:a="http://schemas.openxmlformats.org/drawingml/2006/main" noGrp="1"/>
          </p:cNvSpPr>
          <p:nvPr/>
        </p:nvSpPr>
        <p:spPr>
          <a:xfrm xmlns:a="http://schemas.openxmlformats.org/drawingml/2006/main">
            <a:off x="3219450" y="1600200"/>
            <a:ext cx="2571750" cy="171450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0D5DD"/>
            </a:solidFill>
            <a:prstDash val="solid"/>
          </a:ln>
        </p:spPr>
      </p:sp>
      <p:sp>
        <p:nvSpPr>
          <p:cNvPr id="9" name="">
            <a:extLst xmlns:a="http://schemas.openxmlformats.org/drawingml/2006/main">
              <a:ext uri="{FF2B5EF4-FFF2-40B4-BE49-F238E27FC236}">
                <a16:creationId xmlns:a16="http://schemas.microsoft.com/office/drawing/2014/main" id="{BD8EEEBF-ED4F-4DB0-B74E-485AC67C2648}"/>
              </a:ext>
            </a:extLst>
          </p:cNvPr>
          <p:cNvSpPr>
            <a:spLocks xmlns:a="http://schemas.openxmlformats.org/drawingml/2006/main" noGrp="1"/>
          </p:cNvSpPr>
          <p:nvPr/>
        </p:nvSpPr>
        <p:spPr>
          <a:xfrm xmlns:a="http://schemas.openxmlformats.org/drawingml/2006/main">
            <a:off x="3448050" y="1828800"/>
            <a:ext cx="211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500"/>
          </a:bodyPr>
          <a:lstStyle xmlns:a="http://schemas.openxmlformats.org/drawingml/2006/main"/>
          <a:p xmlns:a="http://schemas.openxmlformats.org/drawingml/2006/main">
            <a:pPr algn="l">
              <a:buNone/>
              <a:defRPr sz="3600" b="1">
                <a:solidFill>
                  <a:srgbClr val="101828"/>
                </a:solidFill>
                <a:latin typeface="Helvetica Neue"/>
                <a:ea typeface="Helvetica Neue"/>
                <a:cs typeface="Helvetica Neue"/>
              </a:defRPr>
            </a:pPr>
            <a:r>
              <a:rPr sz="3600" b="1">
                <a:solidFill>
                  <a:srgbClr val="101828"/>
                </a:solidFill>
                <a:latin typeface="Helvetica Neue"/>
                <a:ea typeface="Helvetica Neue"/>
                <a:cs typeface="Helvetica Neue"/>
              </a:rPr>
              <a:t>59</a:t>
            </a:r>
          </a:p>
        </p:txBody>
      </p:sp>
      <p:sp>
        <p:nvSpPr>
          <p:cNvPr id="10" name="">
            <a:extLst xmlns:a="http://schemas.openxmlformats.org/drawingml/2006/main">
              <a:ext uri="{FF2B5EF4-FFF2-40B4-BE49-F238E27FC236}">
                <a16:creationId xmlns:a16="http://schemas.microsoft.com/office/drawing/2014/main" id="{5F07C502-96F0-4528-9AA9-9508C99E1D73}"/>
              </a:ext>
            </a:extLst>
          </p:cNvPr>
          <p:cNvSpPr>
            <a:spLocks xmlns:a="http://schemas.openxmlformats.org/drawingml/2006/main" noGrp="1"/>
          </p:cNvSpPr>
          <p:nvPr/>
        </p:nvSpPr>
        <p:spPr>
          <a:xfrm xmlns:a="http://schemas.openxmlformats.org/drawingml/2006/main">
            <a:off x="3448050" y="24955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344054"/>
                </a:solidFill>
                <a:latin typeface="Helvetica Neue"/>
                <a:ea typeface="Helvetica Neue"/>
                <a:cs typeface="Helvetica Neue"/>
              </a:defRPr>
            </a:pPr>
            <a:r>
              <a:rPr sz="1425" b="1">
                <a:solidFill>
                  <a:srgbClr val="344054"/>
                </a:solidFill>
                <a:latin typeface="Helvetica Neue"/>
                <a:ea typeface="Helvetica Neue"/>
                <a:cs typeface="Helvetica Neue"/>
              </a:rPr>
              <a:t>source records</a:t>
            </a:r>
          </a:p>
        </p:txBody>
      </p:sp>
      <p:sp>
        <p:nvSpPr>
          <p:cNvPr id="11" name="">
            <a:extLst xmlns:a="http://schemas.openxmlformats.org/drawingml/2006/main">
              <a:ext uri="{FF2B5EF4-FFF2-40B4-BE49-F238E27FC236}">
                <a16:creationId xmlns:a16="http://schemas.microsoft.com/office/drawing/2014/main" id="{D1DC854F-FB4F-485B-A83F-10B17B86FA5B}"/>
              </a:ext>
            </a:extLst>
          </p:cNvPr>
          <p:cNvSpPr>
            <a:spLocks xmlns:a="http://schemas.openxmlformats.org/drawingml/2006/main" noGrp="1"/>
          </p:cNvSpPr>
          <p:nvPr/>
        </p:nvSpPr>
        <p:spPr>
          <a:xfrm xmlns:a="http://schemas.openxmlformats.org/drawingml/2006/main">
            <a:off x="3448050" y="2876550"/>
            <a:ext cx="2114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7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CRM, meeting, Slack, and news</a:t>
            </a:r>
          </a:p>
        </p:txBody>
      </p:sp>
      <p:sp>
        <p:nvSpPr>
          <p:cNvPr id="12" name="">
            <a:extLst xmlns:a="http://schemas.openxmlformats.org/drawingml/2006/main">
              <a:ext uri="{FF2B5EF4-FFF2-40B4-BE49-F238E27FC236}">
                <a16:creationId xmlns:a16="http://schemas.microsoft.com/office/drawing/2014/main" id="{ABBA07DD-7C4B-4BA8-9FD7-C902B861D6E7}"/>
              </a:ext>
            </a:extLst>
          </p:cNvPr>
          <p:cNvSpPr>
            <a:spLocks xmlns:a="http://schemas.openxmlformats.org/drawingml/2006/main" noGrp="1"/>
          </p:cNvSpPr>
          <p:nvPr/>
        </p:nvSpPr>
        <p:spPr>
          <a:xfrm xmlns:a="http://schemas.openxmlformats.org/drawingml/2006/main">
            <a:off x="5981700" y="1600200"/>
            <a:ext cx="2571750" cy="171450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0D5DD"/>
            </a:solidFill>
            <a:prstDash val="solid"/>
          </a:ln>
        </p:spPr>
      </p:sp>
      <p:sp>
        <p:nvSpPr>
          <p:cNvPr id="13" name="">
            <a:extLst xmlns:a="http://schemas.openxmlformats.org/drawingml/2006/main">
              <a:ext uri="{FF2B5EF4-FFF2-40B4-BE49-F238E27FC236}">
                <a16:creationId xmlns:a16="http://schemas.microsoft.com/office/drawing/2014/main" id="{56F624D3-AE3A-442B-8B1A-64819C6AAAAD}"/>
              </a:ext>
            </a:extLst>
          </p:cNvPr>
          <p:cNvSpPr>
            <a:spLocks xmlns:a="http://schemas.openxmlformats.org/drawingml/2006/main" noGrp="1"/>
          </p:cNvSpPr>
          <p:nvPr/>
        </p:nvSpPr>
        <p:spPr>
          <a:xfrm xmlns:a="http://schemas.openxmlformats.org/drawingml/2006/main">
            <a:off x="6210300" y="1828800"/>
            <a:ext cx="211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500"/>
          </a:bodyPr>
          <a:lstStyle xmlns:a="http://schemas.openxmlformats.org/drawingml/2006/main"/>
          <a:p xmlns:a="http://schemas.openxmlformats.org/drawingml/2006/main">
            <a:pPr algn="l">
              <a:buNone/>
              <a:defRPr sz="3600" b="1">
                <a:solidFill>
                  <a:srgbClr val="101828"/>
                </a:solidFill>
                <a:latin typeface="Helvetica Neue"/>
                <a:ea typeface="Helvetica Neue"/>
                <a:cs typeface="Helvetica Neue"/>
              </a:defRPr>
            </a:pPr>
            <a:r>
              <a:rPr sz="3600" b="1">
                <a:solidFill>
                  <a:srgbClr val="101828"/>
                </a:solidFill>
                <a:latin typeface="Helvetica Neue"/>
                <a:ea typeface="Helvetica Neue"/>
                <a:cs typeface="Helvetica Neue"/>
              </a:rPr>
              <a:t>59/59</a:t>
            </a:r>
          </a:p>
        </p:txBody>
      </p:sp>
      <p:sp>
        <p:nvSpPr>
          <p:cNvPr id="14" name="">
            <a:extLst xmlns:a="http://schemas.openxmlformats.org/drawingml/2006/main">
              <a:ext uri="{FF2B5EF4-FFF2-40B4-BE49-F238E27FC236}">
                <a16:creationId xmlns:a16="http://schemas.microsoft.com/office/drawing/2014/main" id="{1420C9FC-2AC7-416A-A2AE-55B2A3843175}"/>
              </a:ext>
            </a:extLst>
          </p:cNvPr>
          <p:cNvSpPr>
            <a:spLocks xmlns:a="http://schemas.openxmlformats.org/drawingml/2006/main" noGrp="1"/>
          </p:cNvSpPr>
          <p:nvPr/>
        </p:nvSpPr>
        <p:spPr>
          <a:xfrm xmlns:a="http://schemas.openxmlformats.org/drawingml/2006/main">
            <a:off x="6210300" y="24955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71"/>
          </a:bodyPr>
          <a:lstStyle xmlns:a="http://schemas.openxmlformats.org/drawingml/2006/main"/>
          <a:p xmlns:a="http://schemas.openxmlformats.org/drawingml/2006/main">
            <a:pPr algn="l">
              <a:buNone/>
              <a:defRPr sz="1425" b="1">
                <a:solidFill>
                  <a:srgbClr val="344054"/>
                </a:solidFill>
                <a:latin typeface="Helvetica Neue"/>
                <a:ea typeface="Helvetica Neue"/>
                <a:cs typeface="Helvetica Neue"/>
              </a:defRPr>
            </a:pPr>
            <a:r>
              <a:rPr sz="1425" b="1">
                <a:solidFill>
                  <a:srgbClr val="344054"/>
                </a:solidFill>
                <a:latin typeface="Helvetica Neue"/>
                <a:ea typeface="Helvetica Neue"/>
                <a:cs typeface="Helvetica Neue"/>
              </a:rPr>
              <a:t>chunks with OpenAI embeddings</a:t>
            </a:r>
          </a:p>
        </p:txBody>
      </p:sp>
      <p:sp>
        <p:nvSpPr>
          <p:cNvPr id="15" name="">
            <a:extLst xmlns:a="http://schemas.openxmlformats.org/drawingml/2006/main">
              <a:ext uri="{FF2B5EF4-FFF2-40B4-BE49-F238E27FC236}">
                <a16:creationId xmlns:a16="http://schemas.microsoft.com/office/drawing/2014/main" id="{F8ADA876-54C8-4B79-98D6-E924FCC1BCCE}"/>
              </a:ext>
            </a:extLst>
          </p:cNvPr>
          <p:cNvSpPr>
            <a:spLocks xmlns:a="http://schemas.openxmlformats.org/drawingml/2006/main" noGrp="1"/>
          </p:cNvSpPr>
          <p:nvPr/>
        </p:nvSpPr>
        <p:spPr>
          <a:xfrm xmlns:a="http://schemas.openxmlformats.org/drawingml/2006/main">
            <a:off x="6210300" y="2876550"/>
            <a:ext cx="2114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983"/>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One current embedding per chunk</a:t>
            </a:r>
          </a:p>
        </p:txBody>
      </p:sp>
      <p:sp>
        <p:nvSpPr>
          <p:cNvPr id="16" name="">
            <a:extLst xmlns:a="http://schemas.openxmlformats.org/drawingml/2006/main">
              <a:ext uri="{FF2B5EF4-FFF2-40B4-BE49-F238E27FC236}">
                <a16:creationId xmlns:a16="http://schemas.microsoft.com/office/drawing/2014/main" id="{867410BE-6050-42D8-9D7C-717BCC6356C1}"/>
              </a:ext>
            </a:extLst>
          </p:cNvPr>
          <p:cNvSpPr>
            <a:spLocks xmlns:a="http://schemas.openxmlformats.org/drawingml/2006/main" noGrp="1"/>
          </p:cNvSpPr>
          <p:nvPr/>
        </p:nvSpPr>
        <p:spPr>
          <a:xfrm xmlns:a="http://schemas.openxmlformats.org/drawingml/2006/main">
            <a:off x="8743950" y="1600200"/>
            <a:ext cx="2571750" cy="171450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8218C5DF-6CF6-48B8-B277-34D4DC67FE8B}"/>
              </a:ext>
            </a:extLst>
          </p:cNvPr>
          <p:cNvSpPr>
            <a:spLocks xmlns:a="http://schemas.openxmlformats.org/drawingml/2006/main" noGrp="1"/>
          </p:cNvSpPr>
          <p:nvPr/>
        </p:nvSpPr>
        <p:spPr>
          <a:xfrm xmlns:a="http://schemas.openxmlformats.org/drawingml/2006/main">
            <a:off x="8972550" y="1828800"/>
            <a:ext cx="211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500"/>
          </a:bodyPr>
          <a:lstStyle xmlns:a="http://schemas.openxmlformats.org/drawingml/2006/main"/>
          <a:p xmlns:a="http://schemas.openxmlformats.org/drawingml/2006/main">
            <a:pPr algn="l">
              <a:buNone/>
              <a:defRPr sz="3600" b="1">
                <a:solidFill>
                  <a:srgbClr val="101828"/>
                </a:solidFill>
                <a:latin typeface="Helvetica Neue"/>
                <a:ea typeface="Helvetica Neue"/>
                <a:cs typeface="Helvetica Neue"/>
              </a:defRPr>
            </a:pPr>
            <a:r>
              <a:rPr sz="3600" b="1">
                <a:solidFill>
                  <a:srgbClr val="101828"/>
                </a:solidFill>
                <a:latin typeface="Helvetica Neue"/>
                <a:ea typeface="Helvetica Neue"/>
                <a:cs typeface="Helvetica Neue"/>
              </a:rPr>
              <a:t>V1</a:t>
            </a:r>
          </a:p>
        </p:txBody>
      </p:sp>
      <p:sp>
        <p:nvSpPr>
          <p:cNvPr id="18" name="">
            <a:extLst xmlns:a="http://schemas.openxmlformats.org/drawingml/2006/main">
              <a:ext uri="{FF2B5EF4-FFF2-40B4-BE49-F238E27FC236}">
                <a16:creationId xmlns:a16="http://schemas.microsoft.com/office/drawing/2014/main" id="{C036AE3F-D1C4-4D0D-A35F-DFF5F7BF2432}"/>
              </a:ext>
            </a:extLst>
          </p:cNvPr>
          <p:cNvSpPr>
            <a:spLocks xmlns:a="http://schemas.openxmlformats.org/drawingml/2006/main" noGrp="1"/>
          </p:cNvSpPr>
          <p:nvPr/>
        </p:nvSpPr>
        <p:spPr>
          <a:xfrm xmlns:a="http://schemas.openxmlformats.org/drawingml/2006/main">
            <a:off x="8972550" y="24955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344054"/>
                </a:solidFill>
                <a:latin typeface="Helvetica Neue"/>
                <a:ea typeface="Helvetica Neue"/>
                <a:cs typeface="Helvetica Neue"/>
              </a:defRPr>
            </a:pPr>
            <a:r>
              <a:rPr sz="1425" b="1">
                <a:solidFill>
                  <a:srgbClr val="344054"/>
                </a:solidFill>
                <a:latin typeface="Helvetica Neue"/>
                <a:ea typeface="Helvetica Neue"/>
                <a:cs typeface="Helvetica Neue"/>
              </a:rPr>
              <a:t>working prototype</a:t>
            </a:r>
          </a:p>
        </p:txBody>
      </p:sp>
      <p:sp>
        <p:nvSpPr>
          <p:cNvPr id="19" name="">
            <a:extLst xmlns:a="http://schemas.openxmlformats.org/drawingml/2006/main">
              <a:ext uri="{FF2B5EF4-FFF2-40B4-BE49-F238E27FC236}">
                <a16:creationId xmlns:a16="http://schemas.microsoft.com/office/drawing/2014/main" id="{3CA3273F-9072-42DE-948B-4BE817865220}"/>
              </a:ext>
            </a:extLst>
          </p:cNvPr>
          <p:cNvSpPr>
            <a:spLocks xmlns:a="http://schemas.openxmlformats.org/drawingml/2006/main" noGrp="1"/>
          </p:cNvSpPr>
          <p:nvPr/>
        </p:nvSpPr>
        <p:spPr>
          <a:xfrm xmlns:a="http://schemas.openxmlformats.org/drawingml/2006/main">
            <a:off x="8972550" y="2876550"/>
            <a:ext cx="2114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Source-supported briefs</a:t>
            </a:r>
          </a:p>
        </p:txBody>
      </p:sp>
      <p:sp>
        <p:nvSpPr>
          <p:cNvPr id="20" name="">
            <a:extLst xmlns:a="http://schemas.openxmlformats.org/drawingml/2006/main">
              <a:ext uri="{FF2B5EF4-FFF2-40B4-BE49-F238E27FC236}">
                <a16:creationId xmlns:a16="http://schemas.microsoft.com/office/drawing/2014/main" id="{BC696C22-8CC4-42C1-AE87-E04618B67F45}"/>
              </a:ext>
            </a:extLst>
          </p:cNvPr>
          <p:cNvSpPr>
            <a:spLocks xmlns:a="http://schemas.openxmlformats.org/drawingml/2006/main" noGrp="1"/>
          </p:cNvSpPr>
          <p:nvPr/>
        </p:nvSpPr>
        <p:spPr>
          <a:xfrm xmlns:a="http://schemas.openxmlformats.org/drawingml/2006/main">
            <a:off x="457200" y="3619500"/>
            <a:ext cx="10858500" cy="2038350"/>
          </a:xfrm>
          <a:prstGeom xmlns:a="http://schemas.openxmlformats.org/drawingml/2006/main" prst="roundRect">
            <a:avLst>
              <a:gd name="adj" fmla="val 8411"/>
            </a:avLst>
          </a:prstGeom>
          <a:solidFill xmlns:a="http://schemas.openxmlformats.org/drawingml/2006/main">
            <a:srgbClr val="E8F0FB"/>
          </a:solidFill>
          <a:ln xmlns:a="http://schemas.openxmlformats.org/drawingml/2006/main" w="9525">
            <a:solidFill>
              <a:srgbClr val="9CB5D5"/>
            </a:solidFill>
            <a:prstDash val="solid"/>
          </a:ln>
        </p:spPr>
      </p:sp>
      <p:sp>
        <p:nvSpPr>
          <p:cNvPr id="21" name="">
            <a:extLst xmlns:a="http://schemas.openxmlformats.org/drawingml/2006/main">
              <a:ext uri="{FF2B5EF4-FFF2-40B4-BE49-F238E27FC236}">
                <a16:creationId xmlns:a16="http://schemas.microsoft.com/office/drawing/2014/main" id="{01642584-EDEF-43BF-99E6-5BF978F0C444}"/>
              </a:ext>
            </a:extLst>
          </p:cNvPr>
          <p:cNvSpPr>
            <a:spLocks xmlns:a="http://schemas.openxmlformats.org/drawingml/2006/main" noGrp="1"/>
          </p:cNvSpPr>
          <p:nvPr/>
        </p:nvSpPr>
        <p:spPr>
          <a:xfrm xmlns:a="http://schemas.openxmlformats.org/drawingml/2006/main">
            <a:off x="742950" y="3876675"/>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424"/>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What the prototype does</a:t>
            </a:r>
          </a:p>
        </p:txBody>
      </p:sp>
      <p:sp>
        <p:nvSpPr>
          <p:cNvPr id="22" name="">
            <a:extLst xmlns:a="http://schemas.openxmlformats.org/drawingml/2006/main">
              <a:ext uri="{FF2B5EF4-FFF2-40B4-BE49-F238E27FC236}">
                <a16:creationId xmlns:a16="http://schemas.microsoft.com/office/drawing/2014/main" id="{18919A00-4C98-4488-A084-4206A387CCFB}"/>
              </a:ext>
            </a:extLst>
          </p:cNvPr>
          <p:cNvSpPr>
            <a:spLocks xmlns:a="http://schemas.openxmlformats.org/drawingml/2006/main" noGrp="1"/>
          </p:cNvSpPr>
          <p:nvPr/>
        </p:nvSpPr>
        <p:spPr>
          <a:xfrm xmlns:a="http://schemas.openxmlformats.org/drawingml/2006/main">
            <a:off x="742950" y="43624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3" name="">
            <a:extLst xmlns:a="http://schemas.openxmlformats.org/drawingml/2006/main">
              <a:ext uri="{FF2B5EF4-FFF2-40B4-BE49-F238E27FC236}">
                <a16:creationId xmlns:a16="http://schemas.microsoft.com/office/drawing/2014/main" id="{27A3D507-5D5C-4554-892E-A568CD05BFA9}"/>
              </a:ext>
            </a:extLst>
          </p:cNvPr>
          <p:cNvSpPr>
            <a:spLocks xmlns:a="http://schemas.openxmlformats.org/drawingml/2006/main" noGrp="1"/>
          </p:cNvSpPr>
          <p:nvPr/>
        </p:nvSpPr>
        <p:spPr>
          <a:xfrm xmlns:a="http://schemas.openxmlformats.org/drawingml/2006/main">
            <a:off x="800100" y="43910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4" name="">
            <a:extLst xmlns:a="http://schemas.openxmlformats.org/drawingml/2006/main">
              <a:ext uri="{FF2B5EF4-FFF2-40B4-BE49-F238E27FC236}">
                <a16:creationId xmlns:a16="http://schemas.microsoft.com/office/drawing/2014/main" id="{77C3477F-C2B0-47D9-9B9A-0E325FC48695}"/>
              </a:ext>
            </a:extLst>
          </p:cNvPr>
          <p:cNvSpPr>
            <a:spLocks xmlns:a="http://schemas.openxmlformats.org/drawingml/2006/main" noGrp="1"/>
          </p:cNvSpPr>
          <p:nvPr/>
        </p:nvSpPr>
        <p:spPr>
          <a:xfrm xmlns:a="http://schemas.openxmlformats.org/drawingml/2006/main">
            <a:off x="1162050" y="4343400"/>
            <a:ext cx="4343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Builds one current brief from selected evidence</a:t>
            </a:r>
          </a:p>
        </p:txBody>
      </p:sp>
      <p:sp>
        <p:nvSpPr>
          <p:cNvPr id="25" name="">
            <a:extLst xmlns:a="http://schemas.openxmlformats.org/drawingml/2006/main">
              <a:ext uri="{FF2B5EF4-FFF2-40B4-BE49-F238E27FC236}">
                <a16:creationId xmlns:a16="http://schemas.microsoft.com/office/drawing/2014/main" id="{02C2EE5B-BD3B-4F9C-8687-99BBB16AD392}"/>
              </a:ext>
            </a:extLst>
          </p:cNvPr>
          <p:cNvSpPr>
            <a:spLocks xmlns:a="http://schemas.openxmlformats.org/drawingml/2006/main" noGrp="1"/>
          </p:cNvSpPr>
          <p:nvPr/>
        </p:nvSpPr>
        <p:spPr>
          <a:xfrm xmlns:a="http://schemas.openxmlformats.org/drawingml/2006/main">
            <a:off x="1162050" y="4629150"/>
            <a:ext cx="4343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59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The principal can open each statement, source excerpt, and original record.</a:t>
            </a:r>
          </a:p>
        </p:txBody>
      </p:sp>
      <p:sp>
        <p:nvSpPr>
          <p:cNvPr id="26" name="">
            <a:extLst xmlns:a="http://schemas.openxmlformats.org/drawingml/2006/main">
              <a:ext uri="{FF2B5EF4-FFF2-40B4-BE49-F238E27FC236}">
                <a16:creationId xmlns:a16="http://schemas.microsoft.com/office/drawing/2014/main" id="{5031F99B-19F7-481F-8767-3BE4ABAF7DDA}"/>
              </a:ext>
            </a:extLst>
          </p:cNvPr>
          <p:cNvSpPr>
            <a:spLocks xmlns:a="http://schemas.openxmlformats.org/drawingml/2006/main" noGrp="1"/>
          </p:cNvSpPr>
          <p:nvPr/>
        </p:nvSpPr>
        <p:spPr>
          <a:xfrm xmlns:a="http://schemas.openxmlformats.org/drawingml/2006/main">
            <a:off x="5905500" y="43624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7" name="">
            <a:extLst xmlns:a="http://schemas.openxmlformats.org/drawingml/2006/main">
              <a:ext uri="{FF2B5EF4-FFF2-40B4-BE49-F238E27FC236}">
                <a16:creationId xmlns:a16="http://schemas.microsoft.com/office/drawing/2014/main" id="{612BAD4C-E725-46B0-A148-5CC6F7910A93}"/>
              </a:ext>
            </a:extLst>
          </p:cNvPr>
          <p:cNvSpPr>
            <a:spLocks xmlns:a="http://schemas.openxmlformats.org/drawingml/2006/main" noGrp="1"/>
          </p:cNvSpPr>
          <p:nvPr/>
        </p:nvSpPr>
        <p:spPr>
          <a:xfrm xmlns:a="http://schemas.openxmlformats.org/drawingml/2006/main">
            <a:off x="5962650" y="43910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8" name="">
            <a:extLst xmlns:a="http://schemas.openxmlformats.org/drawingml/2006/main">
              <a:ext uri="{FF2B5EF4-FFF2-40B4-BE49-F238E27FC236}">
                <a16:creationId xmlns:a16="http://schemas.microsoft.com/office/drawing/2014/main" id="{0E74E3D3-7DB7-4D0F-B262-FDAFC9F547F6}"/>
              </a:ext>
            </a:extLst>
          </p:cNvPr>
          <p:cNvSpPr>
            <a:spLocks xmlns:a="http://schemas.openxmlformats.org/drawingml/2006/main" noGrp="1"/>
          </p:cNvSpPr>
          <p:nvPr/>
        </p:nvSpPr>
        <p:spPr>
          <a:xfrm xmlns:a="http://schemas.openxmlformats.org/drawingml/2006/main">
            <a:off x="6324600" y="4343400"/>
            <a:ext cx="4533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Keeps judgment with the AIVC principal</a:t>
            </a:r>
          </a:p>
        </p:txBody>
      </p:sp>
      <p:sp>
        <p:nvSpPr>
          <p:cNvPr id="29" name="">
            <a:extLst xmlns:a="http://schemas.openxmlformats.org/drawingml/2006/main">
              <a:ext uri="{FF2B5EF4-FFF2-40B4-BE49-F238E27FC236}">
                <a16:creationId xmlns:a16="http://schemas.microsoft.com/office/drawing/2014/main" id="{B6EF0259-EF9B-41A4-8B53-D27D1B390215}"/>
              </a:ext>
            </a:extLst>
          </p:cNvPr>
          <p:cNvSpPr>
            <a:spLocks xmlns:a="http://schemas.openxmlformats.org/drawingml/2006/main" noGrp="1"/>
          </p:cNvSpPr>
          <p:nvPr/>
        </p:nvSpPr>
        <p:spPr>
          <a:xfrm xmlns:a="http://schemas.openxmlformats.org/drawingml/2006/main">
            <a:off x="6324600" y="4629150"/>
            <a:ext cx="4533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203"/>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The app shows conflicts and missing data. It does not give investment advice.</a:t>
            </a:r>
          </a:p>
        </p:txBody>
      </p:sp>
      <p:sp>
        <p:nvSpPr>
          <p:cNvPr id="30" name="">
            <a:extLst xmlns:a="http://schemas.openxmlformats.org/drawingml/2006/main">
              <a:ext uri="{FF2B5EF4-FFF2-40B4-BE49-F238E27FC236}">
                <a16:creationId xmlns:a16="http://schemas.microsoft.com/office/drawing/2014/main" id="{4AE642AA-8B13-4653-9E09-F49AFB9EDFD2}"/>
              </a:ext>
            </a:extLst>
          </p:cNvPr>
          <p:cNvSpPr>
            <a:spLocks xmlns:a="http://schemas.openxmlformats.org/drawingml/2006/main" noGrp="1"/>
          </p:cNvSpPr>
          <p:nvPr/>
        </p:nvSpPr>
        <p:spPr>
          <a:xfrm xmlns:a="http://schemas.openxmlformats.org/drawingml/2006/main">
            <a:off x="742950" y="5219700"/>
            <a:ext cx="1000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315F9F"/>
                </a:solidFill>
                <a:latin typeface="Helvetica Neue"/>
                <a:ea typeface="Helvetica Neue"/>
                <a:cs typeface="Helvetica Neue"/>
              </a:defRPr>
            </a:pPr>
            <a:r>
              <a:rPr sz="1200" b="1">
                <a:solidFill>
                  <a:srgbClr val="315F9F"/>
                </a:solidFill>
                <a:latin typeface="Helvetica Neue"/>
                <a:ea typeface="Helvetica Neue"/>
                <a:cs typeface="Helvetica Neue"/>
              </a:rPr>
              <a:t>FICTIONAL DEMO DATA ONLY · NO LIVE CONNECTORS · NO INVESTMENT RECOMMENDATIONS</a:t>
            </a:r>
          </a:p>
        </p:txBody>
      </p:sp>
    </p:spTree>
    <p:extLst>
      <p:ext uri="{BB962C8B-B14F-4D97-AF65-F5344CB8AC3E}">
        <p14:creationId xmlns:p14="http://schemas.microsoft.com/office/powerpoint/2010/main" val="217603439"/>
      </p:ext>
    </p:extLst>
  </p:cSld>
</p:sld>
</file>

<file path=ppt/slides/slide5.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5262F984-D246-4734-ACC5-293D445790EE}"/>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does Lens work end to end?</a:t>
            </a:r>
          </a:p>
        </p:txBody>
      </p:sp>
      <p:sp>
        <p:nvSpPr>
          <p:cNvPr id="2" name="">
            <a:extLst xmlns:a="http://schemas.openxmlformats.org/drawingml/2006/main">
              <a:ext uri="{FF2B5EF4-FFF2-40B4-BE49-F238E27FC236}">
                <a16:creationId xmlns:a16="http://schemas.microsoft.com/office/drawing/2014/main" id="{0F172B95-C544-452F-900E-C90D7963FD3F}"/>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961F526-7CB2-473C-9BE1-2AE0B22D99BE}"/>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05</a:t>
            </a:r>
          </a:p>
        </p:txBody>
      </p:sp>
      <p:sp>
        <p:nvSpPr>
          <p:cNvPr id="4" name="">
            <a:extLst xmlns:a="http://schemas.openxmlformats.org/drawingml/2006/main">
              <a:ext uri="{FF2B5EF4-FFF2-40B4-BE49-F238E27FC236}">
                <a16:creationId xmlns:a16="http://schemas.microsoft.com/office/drawing/2014/main" id="{B4F82B3C-046E-4EBA-9746-C6BF4E4A3609}"/>
              </a:ext>
            </a:extLst>
          </p:cNvPr>
          <p:cNvSpPr>
            <a:spLocks xmlns:a="http://schemas.openxmlformats.org/drawingml/2006/main" noGrp="1"/>
          </p:cNvSpPr>
          <p:nvPr/>
        </p:nvSpPr>
        <p:spPr>
          <a:xfrm xmlns:a="http://schemas.openxmlformats.org/drawingml/2006/main">
            <a:off x="457200" y="1200150"/>
            <a:ext cx="952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275" b="0">
                <a:solidFill>
                  <a:srgbClr val="667085"/>
                </a:solidFill>
                <a:latin typeface="Helvetica Neue"/>
                <a:ea typeface="Helvetica Neue"/>
                <a:cs typeface="Helvetica Neue"/>
              </a:rPr>
              <a:t>Import reads new or changed demo records. Refresh Brief retrieves them and writes a new brief. There is no live source watcher.</a:t>
            </a:r>
          </a:p>
        </p:txBody>
      </p:sp>
      <p:sp>
        <p:nvSpPr>
          <p:cNvPr id="5" name="">
            <a:extLst xmlns:a="http://schemas.openxmlformats.org/drawingml/2006/main">
              <a:ext uri="{FF2B5EF4-FFF2-40B4-BE49-F238E27FC236}">
                <a16:creationId xmlns:a16="http://schemas.microsoft.com/office/drawing/2014/main" id="{7FCBC366-29EC-4070-AC66-0FCDB728EE03}"/>
              </a:ext>
            </a:extLst>
          </p:cNvPr>
          <p:cNvSpPr>
            <a:spLocks xmlns:a="http://schemas.openxmlformats.org/drawingml/2006/main" noGrp="1"/>
          </p:cNvSpPr>
          <p:nvPr/>
        </p:nvSpPr>
        <p:spPr>
          <a:xfrm xmlns:a="http://schemas.openxmlformats.org/drawingml/2006/main">
            <a:off x="45720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FF696949-8B92-4E3C-91C5-474DF9927513}"/>
              </a:ext>
            </a:extLst>
          </p:cNvPr>
          <p:cNvSpPr>
            <a:spLocks xmlns:a="http://schemas.openxmlformats.org/drawingml/2006/main" noGrp="1"/>
          </p:cNvSpPr>
          <p:nvPr/>
        </p:nvSpPr>
        <p:spPr>
          <a:xfrm xmlns:a="http://schemas.openxmlformats.org/drawingml/2006/main">
            <a:off x="60960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Sources</a:t>
            </a:r>
          </a:p>
        </p:txBody>
      </p:sp>
      <p:sp>
        <p:nvSpPr>
          <p:cNvPr id="7" name="">
            <a:extLst xmlns:a="http://schemas.openxmlformats.org/drawingml/2006/main">
              <a:ext uri="{FF2B5EF4-FFF2-40B4-BE49-F238E27FC236}">
                <a16:creationId xmlns:a16="http://schemas.microsoft.com/office/drawing/2014/main" id="{90F4C1A9-C4CA-4106-BB48-C633031F3719}"/>
              </a:ext>
            </a:extLst>
          </p:cNvPr>
          <p:cNvSpPr>
            <a:spLocks xmlns:a="http://schemas.openxmlformats.org/drawingml/2006/main" noGrp="1"/>
          </p:cNvSpPr>
          <p:nvPr/>
        </p:nvSpPr>
        <p:spPr>
          <a:xfrm xmlns:a="http://schemas.openxmlformats.org/drawingml/2006/main">
            <a:off x="60960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Static CRM</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Meeting notes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Slack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News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No filings adapter</a:t>
            </a:r>
          </a:p>
        </p:txBody>
      </p:sp>
      <p:sp>
        <p:nvSpPr>
          <p:cNvPr id="8" name="">
            <a:extLst xmlns:a="http://schemas.openxmlformats.org/drawingml/2006/main">
              <a:ext uri="{FF2B5EF4-FFF2-40B4-BE49-F238E27FC236}">
                <a16:creationId xmlns:a16="http://schemas.microsoft.com/office/drawing/2014/main" id="{AAE64AD3-688E-46AF-8FEB-BB702085EAFC}"/>
              </a:ext>
            </a:extLst>
          </p:cNvPr>
          <p:cNvSpPr>
            <a:spLocks xmlns:a="http://schemas.openxmlformats.org/drawingml/2006/main" noGrp="1"/>
          </p:cNvSpPr>
          <p:nvPr/>
        </p:nvSpPr>
        <p:spPr>
          <a:xfrm xmlns:a="http://schemas.openxmlformats.org/drawingml/2006/main">
            <a:off x="23145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9" name="">
            <a:extLst xmlns:a="http://schemas.openxmlformats.org/drawingml/2006/main">
              <a:ext uri="{FF2B5EF4-FFF2-40B4-BE49-F238E27FC236}">
                <a16:creationId xmlns:a16="http://schemas.microsoft.com/office/drawing/2014/main" id="{91BF445C-96EF-491A-BCF7-2AC277A0A731}"/>
              </a:ext>
            </a:extLst>
          </p:cNvPr>
          <p:cNvSpPr>
            <a:spLocks xmlns:a="http://schemas.openxmlformats.org/drawingml/2006/main" noGrp="1"/>
          </p:cNvSpPr>
          <p:nvPr/>
        </p:nvSpPr>
        <p:spPr>
          <a:xfrm xmlns:a="http://schemas.openxmlformats.org/drawingml/2006/main">
            <a:off x="24669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Import</a:t>
            </a:r>
          </a:p>
        </p:txBody>
      </p:sp>
      <p:sp>
        <p:nvSpPr>
          <p:cNvPr id="10" name="">
            <a:extLst xmlns:a="http://schemas.openxmlformats.org/drawingml/2006/main">
              <a:ext uri="{FF2B5EF4-FFF2-40B4-BE49-F238E27FC236}">
                <a16:creationId xmlns:a16="http://schemas.microsoft.com/office/drawing/2014/main" id="{AD31BAB3-F830-46F0-A2E9-DA18B80B58A2}"/>
              </a:ext>
            </a:extLst>
          </p:cNvPr>
          <p:cNvSpPr>
            <a:spLocks xmlns:a="http://schemas.openxmlformats.org/drawingml/2006/main" noGrp="1"/>
          </p:cNvSpPr>
          <p:nvPr/>
        </p:nvSpPr>
        <p:spPr>
          <a:xfrm xmlns:a="http://schemas.openxmlformats.org/drawingml/2006/main">
            <a:off x="24669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Read each file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Validate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 company ID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Keep source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Checksum and chunk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Request embeddings</a:t>
            </a:r>
          </a:p>
        </p:txBody>
      </p:sp>
      <p:sp>
        <p:nvSpPr>
          <p:cNvPr id="11" name="">
            <a:extLst xmlns:a="http://schemas.openxmlformats.org/drawingml/2006/main">
              <a:ext uri="{FF2B5EF4-FFF2-40B4-BE49-F238E27FC236}">
                <a16:creationId xmlns:a16="http://schemas.microsoft.com/office/drawing/2014/main" id="{8D32C6CD-12D3-4383-95F2-A8382D438179}"/>
              </a:ext>
            </a:extLst>
          </p:cNvPr>
          <p:cNvSpPr>
            <a:spLocks xmlns:a="http://schemas.openxmlformats.org/drawingml/2006/main" noGrp="1"/>
          </p:cNvSpPr>
          <p:nvPr/>
        </p:nvSpPr>
        <p:spPr>
          <a:xfrm xmlns:a="http://schemas.openxmlformats.org/drawingml/2006/main">
            <a:off x="417195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19050">
            <a:solidFill>
              <a:srgbClr val="5D7FB4"/>
            </a:solidFill>
            <a:prstDash val="solid"/>
          </a:ln>
        </p:spPr>
      </p:sp>
      <p:sp>
        <p:nvSpPr>
          <p:cNvPr id="12" name="">
            <a:extLst xmlns:a="http://schemas.openxmlformats.org/drawingml/2006/main">
              <a:ext uri="{FF2B5EF4-FFF2-40B4-BE49-F238E27FC236}">
                <a16:creationId xmlns:a16="http://schemas.microsoft.com/office/drawing/2014/main" id="{26C71975-15C3-4667-BC34-D9B4464F6811}"/>
              </a:ext>
            </a:extLst>
          </p:cNvPr>
          <p:cNvSpPr>
            <a:spLocks xmlns:a="http://schemas.openxmlformats.org/drawingml/2006/main" noGrp="1"/>
          </p:cNvSpPr>
          <p:nvPr/>
        </p:nvSpPr>
        <p:spPr>
          <a:xfrm xmlns:a="http://schemas.openxmlformats.org/drawingml/2006/main">
            <a:off x="432435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Evidence store</a:t>
            </a:r>
          </a:p>
        </p:txBody>
      </p:sp>
      <p:sp>
        <p:nvSpPr>
          <p:cNvPr id="13" name="">
            <a:extLst xmlns:a="http://schemas.openxmlformats.org/drawingml/2006/main">
              <a:ext uri="{FF2B5EF4-FFF2-40B4-BE49-F238E27FC236}">
                <a16:creationId xmlns:a16="http://schemas.microsoft.com/office/drawing/2014/main" id="{AA5FC93D-2600-460B-AAC8-580EFD4F68BC}"/>
              </a:ext>
            </a:extLst>
          </p:cNvPr>
          <p:cNvSpPr>
            <a:spLocks xmlns:a="http://schemas.openxmlformats.org/drawingml/2006/main" noGrp="1"/>
          </p:cNvSpPr>
          <p:nvPr/>
        </p:nvSpPr>
        <p:spPr>
          <a:xfrm xmlns:a="http://schemas.openxmlformats.org/drawingml/2006/main">
            <a:off x="432435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8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PostgreSQL and pgvector</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Companies and source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Facts and dates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Chunks and embeddings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runs and evidence</a:t>
            </a:r>
          </a:p>
        </p:txBody>
      </p:sp>
      <p:sp>
        <p:nvSpPr>
          <p:cNvPr id="14" name="">
            <a:extLst xmlns:a="http://schemas.openxmlformats.org/drawingml/2006/main">
              <a:ext uri="{FF2B5EF4-FFF2-40B4-BE49-F238E27FC236}">
                <a16:creationId xmlns:a16="http://schemas.microsoft.com/office/drawing/2014/main" id="{D8B8EC61-0E23-44B6-8EAF-0255EFCE9F54}"/>
              </a:ext>
            </a:extLst>
          </p:cNvPr>
          <p:cNvSpPr>
            <a:spLocks xmlns:a="http://schemas.openxmlformats.org/drawingml/2006/main" noGrp="1"/>
          </p:cNvSpPr>
          <p:nvPr/>
        </p:nvSpPr>
        <p:spPr>
          <a:xfrm xmlns:a="http://schemas.openxmlformats.org/drawingml/2006/main">
            <a:off x="602932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15" name="">
            <a:extLst xmlns:a="http://schemas.openxmlformats.org/drawingml/2006/main">
              <a:ext uri="{FF2B5EF4-FFF2-40B4-BE49-F238E27FC236}">
                <a16:creationId xmlns:a16="http://schemas.microsoft.com/office/drawing/2014/main" id="{97E7E6E0-B411-44BD-92AA-7F5DF6550E73}"/>
              </a:ext>
            </a:extLst>
          </p:cNvPr>
          <p:cNvSpPr>
            <a:spLocks xmlns:a="http://schemas.openxmlformats.org/drawingml/2006/main" noGrp="1"/>
          </p:cNvSpPr>
          <p:nvPr/>
        </p:nvSpPr>
        <p:spPr>
          <a:xfrm xmlns:a="http://schemas.openxmlformats.org/drawingml/2006/main">
            <a:off x="618172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Retrieve</a:t>
            </a:r>
          </a:p>
        </p:txBody>
      </p:sp>
      <p:sp>
        <p:nvSpPr>
          <p:cNvPr id="16" name="">
            <a:extLst xmlns:a="http://schemas.openxmlformats.org/drawingml/2006/main">
              <a:ext uri="{FF2B5EF4-FFF2-40B4-BE49-F238E27FC236}">
                <a16:creationId xmlns:a16="http://schemas.microsoft.com/office/drawing/2014/main" id="{707B4D61-4907-4A5F-BE30-2C31008C985F}"/>
              </a:ext>
            </a:extLst>
          </p:cNvPr>
          <p:cNvSpPr>
            <a:spLocks xmlns:a="http://schemas.openxmlformats.org/drawingml/2006/main" noGrp="1"/>
          </p:cNvSpPr>
          <p:nvPr/>
        </p:nvSpPr>
        <p:spPr>
          <a:xfrm xmlns:a="http://schemas.openxmlformats.org/drawingml/2006/main">
            <a:off x="618172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68"/>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Create query embedding</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Company ID filter in SQL</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Full-text and embedding search</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Rank up to 30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Use quality and recency</a:t>
            </a:r>
          </a:p>
        </p:txBody>
      </p:sp>
      <p:sp>
        <p:nvSpPr>
          <p:cNvPr id="17" name="">
            <a:extLst xmlns:a="http://schemas.openxmlformats.org/drawingml/2006/main">
              <a:ext uri="{FF2B5EF4-FFF2-40B4-BE49-F238E27FC236}">
                <a16:creationId xmlns:a16="http://schemas.microsoft.com/office/drawing/2014/main" id="{10E9349B-FC80-44F0-8C6F-18040F8C0556}"/>
              </a:ext>
            </a:extLst>
          </p:cNvPr>
          <p:cNvSpPr>
            <a:spLocks xmlns:a="http://schemas.openxmlformats.org/drawingml/2006/main" noGrp="1"/>
          </p:cNvSpPr>
          <p:nvPr/>
        </p:nvSpPr>
        <p:spPr>
          <a:xfrm xmlns:a="http://schemas.openxmlformats.org/drawingml/2006/main">
            <a:off x="97440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8C14EADC-1D14-41C1-86E1-E97BD739DCBD}"/>
              </a:ext>
            </a:extLst>
          </p:cNvPr>
          <p:cNvSpPr>
            <a:spLocks xmlns:a="http://schemas.openxmlformats.org/drawingml/2006/main" noGrp="1"/>
          </p:cNvSpPr>
          <p:nvPr/>
        </p:nvSpPr>
        <p:spPr>
          <a:xfrm xmlns:a="http://schemas.openxmlformats.org/drawingml/2006/main">
            <a:off x="98964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Investor UI</a:t>
            </a:r>
          </a:p>
        </p:txBody>
      </p:sp>
      <p:sp>
        <p:nvSpPr>
          <p:cNvPr id="19" name="">
            <a:extLst xmlns:a="http://schemas.openxmlformats.org/drawingml/2006/main">
              <a:ext uri="{FF2B5EF4-FFF2-40B4-BE49-F238E27FC236}">
                <a16:creationId xmlns:a16="http://schemas.microsoft.com/office/drawing/2014/main" id="{088C108C-FA6E-42B8-8F1A-D28D9488EFEC}"/>
              </a:ext>
            </a:extLst>
          </p:cNvPr>
          <p:cNvSpPr>
            <a:spLocks xmlns:a="http://schemas.openxmlformats.org/drawingml/2006/main" noGrp="1"/>
          </p:cNvSpPr>
          <p:nvPr/>
        </p:nvSpPr>
        <p:spPr>
          <a:xfrm xmlns:a="http://schemas.openxmlformats.org/drawingml/2006/main">
            <a:off x="98964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Portfolio or pipeline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in 30 seconds or less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Open evidence and full source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Send feedback</a:t>
            </a:r>
          </a:p>
        </p:txBody>
      </p:sp>
      <p:cxnSp>
        <p:nvCxnSpPr>
          <p:cNvPr id="503" name=""/>
          <p:cNvCxnSpPr>
            <a:stCxn xmlns:a="http://schemas.openxmlformats.org/drawingml/2006/main" id="5" idx="3"/>
            <a:endCxn xmlns:a="http://schemas.openxmlformats.org/drawingml/2006/main" id="8" idx="1"/>
          </p:cNvCxnSpPr>
          <p:nvPr/>
        </p:nvCxnSpPr>
        <p:spPr>
          <a:xfrm xmlns:a="http://schemas.openxmlformats.org/drawingml/2006/main">
            <a:off x="212407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504" name=""/>
          <p:cNvCxnSpPr>
            <a:stCxn xmlns:a="http://schemas.openxmlformats.org/drawingml/2006/main" id="8" idx="3"/>
            <a:endCxn xmlns:a="http://schemas.openxmlformats.org/drawingml/2006/main" id="11" idx="1"/>
          </p:cNvCxnSpPr>
          <p:nvPr/>
        </p:nvCxnSpPr>
        <p:spPr>
          <a:xfrm xmlns:a="http://schemas.openxmlformats.org/drawingml/2006/main">
            <a:off x="3981450"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505" name=""/>
          <p:cNvCxnSpPr>
            <a:stCxn xmlns:a="http://schemas.openxmlformats.org/drawingml/2006/main" id="11" idx="3"/>
            <a:endCxn xmlns:a="http://schemas.openxmlformats.org/drawingml/2006/main" id="14" idx="1"/>
          </p:cNvCxnSpPr>
          <p:nvPr/>
        </p:nvCxnSpPr>
        <p:spPr>
          <a:xfrm xmlns:a="http://schemas.openxmlformats.org/drawingml/2006/main">
            <a:off x="583882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506" name=""/>
          <p:cNvCxnSpPr>
            <a:stCxn xmlns:a="http://schemas.openxmlformats.org/drawingml/2006/main" id="14" idx="3"/>
            <a:endCxn xmlns:a="http://schemas.openxmlformats.org/drawingml/2006/main" id="17" idx="1"/>
          </p:cNvCxnSpPr>
          <p:nvPr/>
        </p:nvCxnSpPr>
        <p:spPr>
          <a:xfrm xmlns:a="http://schemas.openxmlformats.org/drawingml/2006/main">
            <a:off x="7696200" y="3048000"/>
            <a:ext cx="2047875"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sp>
        <p:nvSpPr>
          <p:cNvPr id="24" name="">
            <a:extLst xmlns:a="http://schemas.openxmlformats.org/drawingml/2006/main">
              <a:ext uri="{FF2B5EF4-FFF2-40B4-BE49-F238E27FC236}">
                <a16:creationId xmlns:a16="http://schemas.microsoft.com/office/drawing/2014/main" id="{B61FFB58-BB8E-471E-98CB-49CBA54C515D}"/>
              </a:ext>
            </a:extLst>
          </p:cNvPr>
          <p:cNvSpPr>
            <a:spLocks xmlns:a="http://schemas.openxmlformats.org/drawingml/2006/main" noGrp="1"/>
          </p:cNvSpPr>
          <p:nvPr/>
        </p:nvSpPr>
        <p:spPr>
          <a:xfrm xmlns:a="http://schemas.openxmlformats.org/drawingml/2006/main">
            <a:off x="457200" y="4438650"/>
            <a:ext cx="10858500" cy="1619250"/>
          </a:xfrm>
          <a:prstGeom xmlns:a="http://schemas.openxmlformats.org/drawingml/2006/main" prst="roundRect">
            <a:avLst>
              <a:gd name="adj" fmla="val 11940"/>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07F00A8E-F14E-4A01-8264-2EC18B7520DF}"/>
              </a:ext>
            </a:extLst>
          </p:cNvPr>
          <p:cNvSpPr>
            <a:spLocks xmlns:a="http://schemas.openxmlformats.org/drawingml/2006/main" noGrp="1"/>
          </p:cNvSpPr>
          <p:nvPr/>
        </p:nvSpPr>
        <p:spPr>
          <a:xfrm xmlns:a="http://schemas.openxmlformats.org/drawingml/2006/main">
            <a:off x="685800" y="46291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500" b="1">
                <a:solidFill>
                  <a:srgbClr val="101828"/>
                </a:solidFill>
                <a:latin typeface="Helvetica Neue"/>
                <a:ea typeface="Helvetica Neue"/>
                <a:cs typeface="Helvetica Neue"/>
              </a:defRPr>
            </a:pPr>
            <a:r>
              <a:rPr sz="1050" b="1">
                <a:solidFill>
                  <a:srgbClr val="315F9F"/>
                </a:solidFill>
                <a:latin typeface="Helvetica Neue"/>
                <a:ea typeface="Helvetica Neue"/>
                <a:cs typeface="Helvetica Neue"/>
              </a:rPr>
              <a:t>CONTROLS THAT STAY</a:t>
            </a:r>
          </a:p>
        </p:txBody>
      </p:sp>
      <p:sp>
        <p:nvSpPr>
          <p:cNvPr id="26" name="">
            <a:extLst xmlns:a="http://schemas.openxmlformats.org/drawingml/2006/main">
              <a:ext uri="{FF2B5EF4-FFF2-40B4-BE49-F238E27FC236}">
                <a16:creationId xmlns:a16="http://schemas.microsoft.com/office/drawing/2014/main" id="{EA4171B3-C020-4C48-902A-199C6AB20D1D}"/>
              </a:ext>
            </a:extLst>
          </p:cNvPr>
          <p:cNvSpPr>
            <a:spLocks xmlns:a="http://schemas.openxmlformats.org/drawingml/2006/main" noGrp="1"/>
          </p:cNvSpPr>
          <p:nvPr/>
        </p:nvSpPr>
        <p:spPr>
          <a:xfrm xmlns:a="http://schemas.openxmlformats.org/drawingml/2006/main">
            <a:off x="2647950" y="4610100"/>
            <a:ext cx="828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125" b="0">
                <a:solidFill>
                  <a:srgbClr val="344054"/>
                </a:solidFill>
                <a:latin typeface="Helvetica Neue"/>
                <a:ea typeface="Helvetica Neue"/>
                <a:cs typeface="Helvetica Neue"/>
              </a:rPr>
              <a:t>Checksums · company filter · selected source IDs · value support · source-status guard · timeout · fallback · feedback</a:t>
            </a:r>
          </a:p>
        </p:txBody>
      </p:sp>
      <p:sp>
        <p:nvSpPr>
          <p:cNvPr id="27" name="">
            <a:extLst xmlns:a="http://schemas.openxmlformats.org/drawingml/2006/main">
              <a:ext uri="{FF2B5EF4-FFF2-40B4-BE49-F238E27FC236}">
                <a16:creationId xmlns:a16="http://schemas.microsoft.com/office/drawing/2014/main" id="{95D9C767-43D9-4311-B764-33EAAB1F58EC}"/>
              </a:ext>
            </a:extLst>
          </p:cNvPr>
          <p:cNvSpPr>
            <a:spLocks xmlns:a="http://schemas.openxmlformats.org/drawingml/2006/main" noGrp="1"/>
          </p:cNvSpPr>
          <p:nvPr/>
        </p:nvSpPr>
        <p:spPr>
          <a:xfrm xmlns:a="http://schemas.openxmlformats.org/drawingml/2006/main">
            <a:off x="685800" y="5267325"/>
            <a:ext cx="10248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975" b="1">
                <a:solidFill>
                  <a:srgbClr val="315F9F"/>
                </a:solidFill>
                <a:latin typeface="Helvetica Neue"/>
                <a:ea typeface="Helvetica Neue"/>
                <a:cs typeface="Helvetica Neue"/>
              </a:rPr>
              <a:t>PRODUCTION HARDENING    Managed connectors · access rules · reviewed prompts · model policy · monitoring</a:t>
            </a:r>
          </a:p>
        </p:txBody>
      </p:sp>
      <p:sp>
        <p:nvSpPr>
          <p:cNvPr id="74" name="">
            <a:extLst xmlns:a="http://schemas.openxmlformats.org/drawingml/2006/main">
              <a:ext uri="{FF2B5EF4-FFF2-40B4-BE49-F238E27FC236}">
                <a16:creationId xmlns:a16="http://schemas.microsoft.com/office/drawing/2014/main" id="{876761DC-591F-4BA5-87BF-202A2CAA662F}"/>
              </a:ext>
            </a:extLst>
          </p:cNvPr>
          <p:cNvSpPr>
            <a:spLocks xmlns:a="http://schemas.openxmlformats.org/drawingml/2006/main" noGrp="1"/>
          </p:cNvSpPr>
          <p:nvPr/>
        </p:nvSpPr>
        <p:spPr>
          <a:xfrm xmlns:a="http://schemas.openxmlformats.org/drawingml/2006/main">
            <a:off x="457200"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1  CURRENT IMPORT · BEFORE REQUEST</a:t>
            </a:r>
          </a:p>
        </p:txBody>
      </p:sp>
      <p:sp>
        <p:nvSpPr>
          <p:cNvPr id="75" name="">
            <a:extLst xmlns:a="http://schemas.openxmlformats.org/drawingml/2006/main">
              <a:ext uri="{FF2B5EF4-FFF2-40B4-BE49-F238E27FC236}">
                <a16:creationId xmlns:a16="http://schemas.microsoft.com/office/drawing/2014/main" id="{DE5B8472-F0A9-4DC3-B8D5-E6104426EC1F}"/>
              </a:ext>
            </a:extLst>
          </p:cNvPr>
          <p:cNvSpPr>
            <a:spLocks xmlns:a="http://schemas.openxmlformats.org/drawingml/2006/main" noGrp="1"/>
          </p:cNvSpPr>
          <p:nvPr/>
        </p:nvSpPr>
        <p:spPr>
          <a:xfrm xmlns:a="http://schemas.openxmlformats.org/drawingml/2006/main">
            <a:off x="6029325"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2  CURRENT BRIEF · ON REQUEST</a:t>
            </a:r>
          </a:p>
        </p:txBody>
      </p:sp>
      <p:sp>
        <p:nvSpPr>
          <p:cNvPr id="76" name="">
            <a:extLst xmlns:a="http://schemas.openxmlformats.org/drawingml/2006/main">
              <a:ext uri="{FF2B5EF4-FFF2-40B4-BE49-F238E27FC236}">
                <a16:creationId xmlns:a16="http://schemas.microsoft.com/office/drawing/2014/main" id="{44449F1B-2B10-45DE-9D09-31B025BCA0F1}"/>
              </a:ext>
            </a:extLst>
          </p:cNvPr>
          <p:cNvSpPr>
            <a:spLocks xmlns:a="http://schemas.openxmlformats.org/drawingml/2006/main" noGrp="1"/>
          </p:cNvSpPr>
          <p:nvPr/>
        </p:nvSpPr>
        <p:spPr>
          <a:xfrm xmlns:a="http://schemas.openxmlformats.org/drawingml/2006/main">
            <a:off x="457200"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7" name="">
            <a:extLst xmlns:a="http://schemas.openxmlformats.org/drawingml/2006/main">
              <a:ext uri="{FF2B5EF4-FFF2-40B4-BE49-F238E27FC236}">
                <a16:creationId xmlns:a16="http://schemas.microsoft.com/office/drawing/2014/main" id="{EA399CA2-473B-4773-B305-27FBBE0FE99A}"/>
              </a:ext>
            </a:extLst>
          </p:cNvPr>
          <p:cNvSpPr>
            <a:spLocks xmlns:a="http://schemas.openxmlformats.org/drawingml/2006/main" noGrp="1"/>
          </p:cNvSpPr>
          <p:nvPr/>
        </p:nvSpPr>
        <p:spPr>
          <a:xfrm xmlns:a="http://schemas.openxmlformats.org/drawingml/2006/main">
            <a:off x="6029325"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8" name="">
            <a:extLst xmlns:a="http://schemas.openxmlformats.org/drawingml/2006/main">
              <a:ext uri="{FF2B5EF4-FFF2-40B4-BE49-F238E27FC236}">
                <a16:creationId xmlns:a16="http://schemas.microsoft.com/office/drawing/2014/main" id="{19D8B9AA-FBB8-4320-B731-75F48F456FAB}"/>
              </a:ext>
            </a:extLst>
          </p:cNvPr>
          <p:cNvSpPr>
            <a:spLocks xmlns:a="http://schemas.openxmlformats.org/drawingml/2006/main" noGrp="1"/>
          </p:cNvSpPr>
          <p:nvPr/>
        </p:nvSpPr>
        <p:spPr>
          <a:xfrm xmlns:a="http://schemas.openxmlformats.org/drawingml/2006/main">
            <a:off x="7886700" y="1952625"/>
            <a:ext cx="1666875" cy="2190750"/>
          </a:xfrm>
          <a:prstGeom xmlns:a="http://schemas.openxmlformats.org/drawingml/2006/main" prst="roundRect">
            <a:avLst>
              <a:gd name="adj" fmla="val 8000"/>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79" name="">
            <a:extLst xmlns:a="http://schemas.openxmlformats.org/drawingml/2006/main">
              <a:ext uri="{FF2B5EF4-FFF2-40B4-BE49-F238E27FC236}">
                <a16:creationId xmlns:a16="http://schemas.microsoft.com/office/drawing/2014/main" id="{51BDDF48-D89D-41EC-93BE-8EAFD88E737A}"/>
              </a:ext>
            </a:extLst>
          </p:cNvPr>
          <p:cNvSpPr>
            <a:spLocks xmlns:a="http://schemas.openxmlformats.org/drawingml/2006/main" noGrp="1"/>
          </p:cNvSpPr>
          <p:nvPr/>
        </p:nvSpPr>
        <p:spPr>
          <a:xfrm xmlns:a="http://schemas.openxmlformats.org/drawingml/2006/main">
            <a:off x="8039100" y="2133600"/>
            <a:ext cx="136207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Build brief</a:t>
            </a:r>
          </a:p>
        </p:txBody>
      </p:sp>
      <p:sp>
        <p:nvSpPr>
          <p:cNvPr id="80" name="">
            <a:extLst xmlns:a="http://schemas.openxmlformats.org/drawingml/2006/main">
              <a:ext uri="{FF2B5EF4-FFF2-40B4-BE49-F238E27FC236}">
                <a16:creationId xmlns:a16="http://schemas.microsoft.com/office/drawing/2014/main" id="{F845698F-CB86-4AEE-AD81-65F6E539E320}"/>
              </a:ext>
            </a:extLst>
          </p:cNvPr>
          <p:cNvSpPr>
            <a:spLocks xmlns:a="http://schemas.openxmlformats.org/drawingml/2006/main" noGrp="1"/>
          </p:cNvSpPr>
          <p:nvPr/>
        </p:nvSpPr>
        <p:spPr>
          <a:xfrm xmlns:a="http://schemas.openxmlformats.org/drawingml/2006/main">
            <a:off x="8039100" y="2514600"/>
            <a:ext cx="1362075" cy="1447800"/>
          </a:xfrm>
          <a:prstGeom xmlns:a="http://schemas.openxmlformats.org/drawingml/2006/main" prst="rect">
            <a:avLst/>
          </a:prstGeom>
        </p:spPr>
        <p:txBody>
          <a:bodyPr xmlns:a="http://schemas.openxmlformats.org/drawingml/2006/main" lIns="38100" tIns="19050" rIns="38100" bIns="19050" anchor="t">
            <a:normAutofit fontScale="100000"/>
          </a:bodyPr>
          <a:lstStyle xmlns:a="http://schemas.openxmlformats.org/drawingml/2006/main"/>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gpt-5.6-sol</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Responses API</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Selected sources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Strict checks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Save or fallback</a:t>
            </a:r>
          </a:p>
        </p:txBody>
      </p:sp>
      <p:cxnSp>
        <p:nvCxnSpPr>
          <p:cNvPr id="518" name=""/>
          <p:cNvCxnSpPr>
            <a:stCxn xmlns:a="http://schemas.openxmlformats.org/drawingml/2006/main" id="14" idx="3"/>
            <a:endCxn xmlns:a="http://schemas.openxmlformats.org/drawingml/2006/main" id="78" idx="1"/>
          </p:cNvCxnSpPr>
          <p:nvPr/>
        </p:nvCxnSpPr>
        <p:spPr>
          <a:xfrm xmlns:a="http://schemas.openxmlformats.org/drawingml/2006/main">
            <a:off x="7696200"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cxnSp>
        <p:nvCxnSpPr>
          <p:cNvPr id="519" name=""/>
          <p:cNvCxnSpPr>
            <a:stCxn xmlns:a="http://schemas.openxmlformats.org/drawingml/2006/main" id="78" idx="3"/>
            <a:endCxn xmlns:a="http://schemas.openxmlformats.org/drawingml/2006/main" id="17" idx="1"/>
          </p:cNvCxnSpPr>
          <p:nvPr/>
        </p:nvCxnSpPr>
        <p:spPr>
          <a:xfrm xmlns:a="http://schemas.openxmlformats.org/drawingml/2006/main">
            <a:off x="9553575"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sp>
        <p:nvSpPr>
          <p:cNvPr id="83" name="">
            <a:extLst xmlns:a="http://schemas.openxmlformats.org/drawingml/2006/main">
              <a:ext uri="{FF2B5EF4-FFF2-40B4-BE49-F238E27FC236}">
                <a16:creationId xmlns:a16="http://schemas.microsoft.com/office/drawing/2014/main" id="{992E4A4C-71BB-4B03-9841-87FC93E819CD}"/>
              </a:ext>
            </a:extLst>
          </p:cNvPr>
          <p:cNvSpPr>
            <a:spLocks xmlns:a="http://schemas.openxmlformats.org/drawingml/2006/main" noGrp="1"/>
          </p:cNvSpPr>
          <p:nvPr/>
        </p:nvSpPr>
        <p:spPr>
          <a:xfrm xmlns:a="http://schemas.openxmlformats.org/drawingml/2006/main">
            <a:off x="590550" y="5105400"/>
            <a:ext cx="10534650" cy="609600"/>
          </a:xfrm>
          <a:prstGeom xmlns:a="http://schemas.openxmlformats.org/drawingml/2006/main" prst="roundRect">
            <a:avLst>
              <a:gd name="adj" fmla="val 15625"/>
            </a:avLst>
          </a:prstGeom>
          <a:solidFill xmlns:a="http://schemas.openxmlformats.org/drawingml/2006/main">
            <a:srgbClr val="000000">
              <a:alpha val="0"/>
            </a:srgbClr>
          </a:solidFill>
          <a:ln xmlns:a="http://schemas.openxmlformats.org/drawingml/2006/main" w="9525">
            <a:solidFill>
              <a:srgbClr val="5D7FB4"/>
            </a:solidFill>
            <a:prstDash val="dash"/>
          </a:ln>
        </p:spPr>
      </p:sp>
      <p:pic>
        <p:nvPicPr>
          <p:cNvPr id="521" name=""/>
          <p:cNvPicPr>
            <a:picLocks xmlns:a="http://schemas.openxmlformats.org/drawingml/2006/main" noChangeAspect="1"/>
          </p:cNvPicPr>
          <p:nvPr/>
        </p:nvPicPr>
        <p:blipFill>
          <a:blip xmlns:r="http://schemas.openxmlformats.org/officeDocument/2006/relationships" xmlns:a="http://schemas.openxmlformats.org/drawingml/2006/main" r:embed="R57394bb37e204f6f"/>
          <a:stretch xmlns:a="http://schemas.openxmlformats.org/drawingml/2006/main"/>
        </p:blipFill>
        <p:spPr>
          <a:xfrm xmlns:a="http://schemas.openxmlformats.org/drawingml/2006/main">
            <a:off x="439341" y="1476375"/>
            <a:ext cx="11084719" cy="4667250"/>
          </a:xfrm>
          <a:prstGeom xmlns:a="http://schemas.openxmlformats.org/drawingml/2006/main" prst="rect">
            <a:avLst/>
          </a:prstGeom>
        </p:spPr>
      </p:pic>
    </p:spTree>
    <p:extLst>
      <p:ext uri="{BB962C8B-B14F-4D97-AF65-F5344CB8AC3E}">
        <p14:creationId xmlns:p14="http://schemas.microsoft.com/office/powerpoint/2010/main" val="1629625627"/>
      </p:ext>
    </p:extLst>
  </p:cSld>
</p:sld>
</file>

<file path=ppt/slides/slide6.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08B507DB-8CD7-43CA-AF84-401CDAD0E8E0}"/>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700" b="1">
                <a:solidFill>
                  <a:srgbClr val="101828"/>
                </a:solidFill>
                <a:latin typeface="Helvetica Neue"/>
                <a:ea typeface="Helvetica Neue"/>
                <a:cs typeface="Helvetica Neue"/>
              </a:rPr>
              <a:t>How does Lens make a brief?</a:t>
            </a:r>
          </a:p>
        </p:txBody>
      </p:sp>
      <p:sp>
        <p:nvSpPr>
          <p:cNvPr id="2" name="">
            <a:extLst xmlns:a="http://schemas.openxmlformats.org/drawingml/2006/main">
              <a:ext uri="{FF2B5EF4-FFF2-40B4-BE49-F238E27FC236}">
                <a16:creationId xmlns:a16="http://schemas.microsoft.com/office/drawing/2014/main" id="{B1CA7E82-BED4-4D5B-A311-0E86E2F4B287}"/>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97846247-13EC-46D6-81CE-457BD834D1F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06</a:t>
            </a:r>
          </a:p>
        </p:txBody>
      </p:sp>
      <p:sp>
        <p:nvSpPr>
          <p:cNvPr id="4" name="">
            <a:extLst xmlns:a="http://schemas.openxmlformats.org/drawingml/2006/main">
              <a:ext uri="{FF2B5EF4-FFF2-40B4-BE49-F238E27FC236}">
                <a16:creationId xmlns:a16="http://schemas.microsoft.com/office/drawing/2014/main" id="{DDECACC8-F2C1-411F-97A9-DA439288F3AA}"/>
              </a:ext>
            </a:extLst>
          </p:cNvPr>
          <p:cNvSpPr>
            <a:spLocks xmlns:a="http://schemas.openxmlformats.org/drawingml/2006/main" noGrp="1"/>
          </p:cNvSpPr>
          <p:nvPr/>
        </p:nvSpPr>
        <p:spPr>
          <a:xfrm xmlns:a="http://schemas.openxmlformats.org/drawingml/2006/main">
            <a:off x="457200" y="1428750"/>
            <a:ext cx="9334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333"/>
          </a:bodyPr>
          <a:lstStyle xmlns:a="http://schemas.openxmlformats.org/drawingml/2006/main"/>
          <a:p xmlns:a="http://schemas.openxmlformats.org/drawingml/2006/main">
            <a:pPr algn="l">
              <a:buNone/>
              <a:defRPr sz="1500" b="1">
                <a:solidFill>
                  <a:srgbClr val="344054"/>
                </a:solidFill>
                <a:latin typeface="Helvetica Neue"/>
                <a:ea typeface="Helvetica Neue"/>
                <a:cs typeface="Helvetica Neue"/>
              </a:defRPr>
            </a:pPr>
            <a:r>
              <a:rPr sz="1500" b="1">
                <a:solidFill>
                  <a:srgbClr val="344054"/>
                </a:solidFill>
                <a:latin typeface="Helvetica Neue"/>
                <a:ea typeface="Helvetica Neue"/>
                <a:cs typeface="Helvetica Neue"/>
              </a:rPr>
              <a:t>Lens follows five simple steps. It uses only records for the company you select.</a:t>
            </a:r>
          </a:p>
        </p:txBody>
      </p:sp>
      <p:sp>
        <p:nvSpPr>
          <p:cNvPr id="5" name="">
            <a:extLst xmlns:a="http://schemas.openxmlformats.org/drawingml/2006/main">
              <a:ext uri="{FF2B5EF4-FFF2-40B4-BE49-F238E27FC236}">
                <a16:creationId xmlns:a16="http://schemas.microsoft.com/office/drawing/2014/main" id="{D534A572-86CD-4E7B-91AF-F52BC05AAD8C}"/>
              </a:ext>
            </a:extLst>
          </p:cNvPr>
          <p:cNvSpPr>
            <a:spLocks xmlns:a="http://schemas.openxmlformats.org/drawingml/2006/main" noGrp="1"/>
          </p:cNvSpPr>
          <p:nvPr/>
        </p:nvSpPr>
        <p:spPr>
          <a:xfrm xmlns:a="http://schemas.openxmlformats.org/drawingml/2006/main">
            <a:off x="457200" y="1924050"/>
            <a:ext cx="2095500" cy="285750"/>
          </a:xfrm>
          <a:prstGeom xmlns:a="http://schemas.openxmlformats.org/drawingml/2006/main" prst="roundRect">
            <a:avLst>
              <a:gd name="adj" fmla="val 50000"/>
            </a:avLst>
          </a:prstGeom>
          <a:solidFill xmlns:a="http://schemas.openxmlformats.org/drawingml/2006/main">
            <a:srgbClr val="FEF3F2"/>
          </a:solidFill>
          <a:ln xmlns:a="http://schemas.openxmlformats.org/drawingml/2006/main" w="9525">
            <a:solidFill>
              <a:srgbClr val="F3B3AE"/>
            </a:solidFill>
            <a:prstDash val="solid"/>
          </a:ln>
        </p:spPr>
      </p:sp>
      <p:sp>
        <p:nvSpPr>
          <p:cNvPr id="6" name="">
            <a:extLst xmlns:a="http://schemas.openxmlformats.org/drawingml/2006/main">
              <a:ext uri="{FF2B5EF4-FFF2-40B4-BE49-F238E27FC236}">
                <a16:creationId xmlns:a16="http://schemas.microsoft.com/office/drawing/2014/main" id="{DAA6E833-E2EA-4DC2-9D44-6C233F923C93}"/>
              </a:ext>
            </a:extLst>
          </p:cNvPr>
          <p:cNvSpPr>
            <a:spLocks xmlns:a="http://schemas.openxmlformats.org/drawingml/2006/main" noGrp="1"/>
          </p:cNvSpPr>
          <p:nvPr/>
        </p:nvSpPr>
        <p:spPr>
          <a:xfrm xmlns:a="http://schemas.openxmlformats.org/drawingml/2006/main">
            <a:off x="571500" y="1971675"/>
            <a:ext cx="1866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B42318"/>
                </a:solidFill>
                <a:latin typeface="Helvetica Neue"/>
                <a:ea typeface="Helvetica Neue"/>
                <a:cs typeface="Helvetica Neue"/>
              </a:defRPr>
            </a:pPr>
            <a:r>
              <a:rPr sz="1050" b="1">
                <a:solidFill>
                  <a:srgbClr val="B42318"/>
                </a:solidFill>
                <a:latin typeface="Helvetica Neue"/>
                <a:ea typeface="Helvetica Neue"/>
                <a:cs typeface="Helvetica Neue"/>
              </a:rPr>
              <a:t>1  PICK A COMPANY</a:t>
            </a:r>
          </a:p>
        </p:txBody>
      </p:sp>
      <p:sp>
        <p:nvSpPr>
          <p:cNvPr id="7" name="">
            <a:extLst xmlns:a="http://schemas.openxmlformats.org/drawingml/2006/main">
              <a:ext uri="{FF2B5EF4-FFF2-40B4-BE49-F238E27FC236}">
                <a16:creationId xmlns:a16="http://schemas.microsoft.com/office/drawing/2014/main" id="{5873C146-5687-495D-B6D4-270B5F4B2F34}"/>
              </a:ext>
            </a:extLst>
          </p:cNvPr>
          <p:cNvSpPr>
            <a:spLocks xmlns:a="http://schemas.openxmlformats.org/drawingml/2006/main" noGrp="1"/>
          </p:cNvSpPr>
          <p:nvPr/>
        </p:nvSpPr>
        <p:spPr>
          <a:xfrm xmlns:a="http://schemas.openxmlformats.org/drawingml/2006/main">
            <a:off x="2495550" y="197167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2  Pick up to 30 useful records</a:t>
            </a:r>
          </a:p>
        </p:txBody>
      </p:sp>
      <p:sp>
        <p:nvSpPr>
          <p:cNvPr id="8" name="">
            <a:extLst xmlns:a="http://schemas.openxmlformats.org/drawingml/2006/main">
              <a:ext uri="{FF2B5EF4-FFF2-40B4-BE49-F238E27FC236}">
                <a16:creationId xmlns:a16="http://schemas.microsoft.com/office/drawing/2014/main" id="{98BD67A4-A694-49BA-BDC9-40B6EEEFEB17}"/>
              </a:ext>
            </a:extLst>
          </p:cNvPr>
          <p:cNvSpPr>
            <a:spLocks xmlns:a="http://schemas.openxmlformats.org/drawingml/2006/main" noGrp="1"/>
          </p:cNvSpPr>
          <p:nvPr/>
        </p:nvSpPr>
        <p:spPr>
          <a:xfrm xmlns:a="http://schemas.openxmlformats.org/drawingml/2006/main">
            <a:off x="457200" y="2571750"/>
            <a:ext cx="4126230" cy="609600"/>
          </a:xfrm>
          <a:prstGeom xmlns:a="http://schemas.openxmlformats.org/drawingml/2006/main" prst="roundRect">
            <a:avLst>
              <a:gd name="adj" fmla="val 18750"/>
            </a:avLst>
          </a:prstGeom>
          <a:solidFill xmlns:a="http://schemas.openxmlformats.org/drawingml/2006/main">
            <a:srgbClr val="315F9F"/>
          </a:solidFill>
          <a:ln xmlns:a="http://schemas.openxmlformats.org/drawingml/2006/main" w="9525">
            <a:solidFill>
              <a:srgbClr val="315F9F"/>
            </a:solidFill>
            <a:prstDash val="solid"/>
          </a:ln>
        </p:spPr>
      </p:sp>
      <p:sp>
        <p:nvSpPr>
          <p:cNvPr id="9" name="">
            <a:extLst xmlns:a="http://schemas.openxmlformats.org/drawingml/2006/main">
              <a:ext uri="{FF2B5EF4-FFF2-40B4-BE49-F238E27FC236}">
                <a16:creationId xmlns:a16="http://schemas.microsoft.com/office/drawing/2014/main" id="{2C3E8CC8-CCA6-49D6-97DA-BBF21F281A47}"/>
              </a:ext>
            </a:extLst>
          </p:cNvPr>
          <p:cNvSpPr>
            <a:spLocks xmlns:a="http://schemas.openxmlformats.org/drawingml/2006/main" noGrp="1"/>
          </p:cNvSpPr>
          <p:nvPr/>
        </p:nvSpPr>
        <p:spPr>
          <a:xfrm xmlns:a="http://schemas.openxmlformats.org/drawingml/2006/main">
            <a:off x="590550" y="2752725"/>
            <a:ext cx="385953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38% exact words</a:t>
            </a:r>
          </a:p>
        </p:txBody>
      </p:sp>
      <p:sp>
        <p:nvSpPr>
          <p:cNvPr id="10" name="">
            <a:extLst xmlns:a="http://schemas.openxmlformats.org/drawingml/2006/main">
              <a:ext uri="{FF2B5EF4-FFF2-40B4-BE49-F238E27FC236}">
                <a16:creationId xmlns:a16="http://schemas.microsoft.com/office/drawing/2014/main" id="{22F32024-CCDE-4A69-A872-D68433E8802F}"/>
              </a:ext>
            </a:extLst>
          </p:cNvPr>
          <p:cNvSpPr>
            <a:spLocks xmlns:a="http://schemas.openxmlformats.org/drawingml/2006/main" noGrp="1"/>
          </p:cNvSpPr>
          <p:nvPr/>
        </p:nvSpPr>
        <p:spPr>
          <a:xfrm xmlns:a="http://schemas.openxmlformats.org/drawingml/2006/main">
            <a:off x="4583430" y="2571750"/>
            <a:ext cx="3474720" cy="609600"/>
          </a:xfrm>
          <a:prstGeom xmlns:a="http://schemas.openxmlformats.org/drawingml/2006/main" prst="rect">
            <a:avLst/>
          </a:prstGeom>
          <a:solidFill xmlns:a="http://schemas.openxmlformats.org/drawingml/2006/main">
            <a:srgbClr val="5D7FB4"/>
          </a:solidFill>
          <a:ln xmlns:a="http://schemas.openxmlformats.org/drawingml/2006/main" w="9525">
            <a:solidFill>
              <a:srgbClr val="5D7FB4"/>
            </a:solidFill>
            <a:prstDash val="solid"/>
          </a:ln>
        </p:spPr>
      </p:sp>
      <p:sp>
        <p:nvSpPr>
          <p:cNvPr id="11" name="">
            <a:extLst xmlns:a="http://schemas.openxmlformats.org/drawingml/2006/main">
              <a:ext uri="{FF2B5EF4-FFF2-40B4-BE49-F238E27FC236}">
                <a16:creationId xmlns:a16="http://schemas.microsoft.com/office/drawing/2014/main" id="{9F5438B9-9529-4C62-90D6-A01B05E1FDB3}"/>
              </a:ext>
            </a:extLst>
          </p:cNvPr>
          <p:cNvSpPr>
            <a:spLocks xmlns:a="http://schemas.openxmlformats.org/drawingml/2006/main" noGrp="1"/>
          </p:cNvSpPr>
          <p:nvPr/>
        </p:nvSpPr>
        <p:spPr>
          <a:xfrm xmlns:a="http://schemas.openxmlformats.org/drawingml/2006/main">
            <a:off x="4716780" y="2752725"/>
            <a:ext cx="320802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32% similar ideas</a:t>
            </a:r>
          </a:p>
        </p:txBody>
      </p:sp>
      <p:sp>
        <p:nvSpPr>
          <p:cNvPr id="12" name="">
            <a:extLst xmlns:a="http://schemas.openxmlformats.org/drawingml/2006/main">
              <a:ext uri="{FF2B5EF4-FFF2-40B4-BE49-F238E27FC236}">
                <a16:creationId xmlns:a16="http://schemas.microsoft.com/office/drawing/2014/main" id="{3FAAD332-FB8A-45D8-AF79-C4D38169E663}"/>
              </a:ext>
            </a:extLst>
          </p:cNvPr>
          <p:cNvSpPr>
            <a:spLocks xmlns:a="http://schemas.openxmlformats.org/drawingml/2006/main" noGrp="1"/>
          </p:cNvSpPr>
          <p:nvPr/>
        </p:nvSpPr>
        <p:spPr>
          <a:xfrm xmlns:a="http://schemas.openxmlformats.org/drawingml/2006/main">
            <a:off x="8058150" y="2571750"/>
            <a:ext cx="2171700" cy="609600"/>
          </a:xfrm>
          <a:prstGeom xmlns:a="http://schemas.openxmlformats.org/drawingml/2006/main" prst="rect">
            <a:avLst/>
          </a:prstGeom>
          <a:solidFill xmlns:a="http://schemas.openxmlformats.org/drawingml/2006/main">
            <a:srgbClr val="9CB5D5"/>
          </a:solidFill>
          <a:ln xmlns:a="http://schemas.openxmlformats.org/drawingml/2006/main" w="9525">
            <a:solidFill>
              <a:srgbClr val="9CB5D5"/>
            </a:solidFill>
            <a:prstDash val="solid"/>
          </a:ln>
        </p:spPr>
      </p:sp>
      <p:sp>
        <p:nvSpPr>
          <p:cNvPr id="13" name="">
            <a:extLst xmlns:a="http://schemas.openxmlformats.org/drawingml/2006/main">
              <a:ext uri="{FF2B5EF4-FFF2-40B4-BE49-F238E27FC236}">
                <a16:creationId xmlns:a16="http://schemas.microsoft.com/office/drawing/2014/main" id="{B6263050-9BD4-42ED-8548-7DCC515DCB38}"/>
              </a:ext>
            </a:extLst>
          </p:cNvPr>
          <p:cNvSpPr>
            <a:spLocks xmlns:a="http://schemas.openxmlformats.org/drawingml/2006/main" noGrp="1"/>
          </p:cNvSpPr>
          <p:nvPr/>
        </p:nvSpPr>
        <p:spPr>
          <a:xfrm xmlns:a="http://schemas.openxmlformats.org/drawingml/2006/main">
            <a:off x="8191500" y="275272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20% trusted source</a:t>
            </a:r>
          </a:p>
        </p:txBody>
      </p:sp>
      <p:sp>
        <p:nvSpPr>
          <p:cNvPr id="14" name="">
            <a:extLst xmlns:a="http://schemas.openxmlformats.org/drawingml/2006/main">
              <a:ext uri="{FF2B5EF4-FFF2-40B4-BE49-F238E27FC236}">
                <a16:creationId xmlns:a16="http://schemas.microsoft.com/office/drawing/2014/main" id="{AFB91DBA-8369-4772-B211-7CBCCCC616CF}"/>
              </a:ext>
            </a:extLst>
          </p:cNvPr>
          <p:cNvSpPr>
            <a:spLocks xmlns:a="http://schemas.openxmlformats.org/drawingml/2006/main" noGrp="1"/>
          </p:cNvSpPr>
          <p:nvPr/>
        </p:nvSpPr>
        <p:spPr>
          <a:xfrm xmlns:a="http://schemas.openxmlformats.org/drawingml/2006/main">
            <a:off x="10229850" y="2571750"/>
            <a:ext cx="1085850" cy="609600"/>
          </a:xfrm>
          <a:prstGeom xmlns:a="http://schemas.openxmlformats.org/drawingml/2006/main" prst="roundRect">
            <a:avLst>
              <a:gd name="adj" fmla="val 18750"/>
            </a:avLst>
          </a:prstGeom>
          <a:solidFill xmlns:a="http://schemas.openxmlformats.org/drawingml/2006/main">
            <a:srgbClr val="D6DCE5"/>
          </a:solidFill>
          <a:ln xmlns:a="http://schemas.openxmlformats.org/drawingml/2006/main" w="9525">
            <a:solidFill>
              <a:srgbClr val="D6DCE5"/>
            </a:solidFill>
            <a:prstDash val="solid"/>
          </a:ln>
        </p:spPr>
      </p:sp>
      <p:sp>
        <p:nvSpPr>
          <p:cNvPr id="15" name="">
            <a:extLst xmlns:a="http://schemas.openxmlformats.org/drawingml/2006/main">
              <a:ext uri="{FF2B5EF4-FFF2-40B4-BE49-F238E27FC236}">
                <a16:creationId xmlns:a16="http://schemas.microsoft.com/office/drawing/2014/main" id="{7B2ABA78-9495-4518-B9AE-D0BB774A2CCE}"/>
              </a:ext>
            </a:extLst>
          </p:cNvPr>
          <p:cNvSpPr>
            <a:spLocks xmlns:a="http://schemas.openxmlformats.org/drawingml/2006/main" noGrp="1"/>
          </p:cNvSpPr>
          <p:nvPr/>
        </p:nvSpPr>
        <p:spPr>
          <a:xfrm xmlns:a="http://schemas.openxmlformats.org/drawingml/2006/main">
            <a:off x="10363200" y="2752725"/>
            <a:ext cx="819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111"/>
          </a:bodyPr>
          <a:lstStyle xmlns:a="http://schemas.openxmlformats.org/drawingml/2006/main"/>
          <a:p xmlns:a="http://schemas.openxmlformats.org/drawingml/2006/main">
            <a:pPr algn="l">
              <a:buNone/>
              <a:defRPr sz="1125" b="1">
                <a:solidFill>
                  <a:srgbClr val="344054"/>
                </a:solidFill>
                <a:latin typeface="Helvetica Neue"/>
                <a:ea typeface="Helvetica Neue"/>
                <a:cs typeface="Helvetica Neue"/>
              </a:defRPr>
            </a:pPr>
            <a:r>
              <a:rPr sz="1125" b="1">
                <a:solidFill>
                  <a:srgbClr val="344054"/>
                </a:solidFill>
                <a:latin typeface="Helvetica Neue"/>
                <a:ea typeface="Helvetica Neue"/>
                <a:cs typeface="Helvetica Neue"/>
              </a:rPr>
              <a:t>10% new</a:t>
            </a:r>
          </a:p>
        </p:txBody>
      </p:sp>
      <p:sp>
        <p:nvSpPr>
          <p:cNvPr id="16" name="">
            <a:extLst xmlns:a="http://schemas.openxmlformats.org/drawingml/2006/main">
              <a:ext uri="{FF2B5EF4-FFF2-40B4-BE49-F238E27FC236}">
                <a16:creationId xmlns:a16="http://schemas.microsoft.com/office/drawing/2014/main" id="{6E12BEB2-81A1-4327-BE0F-2D74CA69A28A}"/>
              </a:ext>
            </a:extLst>
          </p:cNvPr>
          <p:cNvSpPr>
            <a:spLocks xmlns:a="http://schemas.openxmlformats.org/drawingml/2006/main" noGrp="1"/>
          </p:cNvSpPr>
          <p:nvPr/>
        </p:nvSpPr>
        <p:spPr>
          <a:xfrm xmlns:a="http://schemas.openxmlformats.org/drawingml/2006/main">
            <a:off x="457200" y="3752850"/>
            <a:ext cx="3238500" cy="1428750"/>
          </a:xfrm>
          <a:prstGeom xmlns:a="http://schemas.openxmlformats.org/drawingml/2006/main" prst="roundRect">
            <a:avLst>
              <a:gd name="adj" fmla="val 10667"/>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6F28094B-8C55-4063-8D3E-235A3971E70B}"/>
              </a:ext>
            </a:extLst>
          </p:cNvPr>
          <p:cNvSpPr>
            <a:spLocks xmlns:a="http://schemas.openxmlformats.org/drawingml/2006/main" noGrp="1"/>
          </p:cNvSpPr>
          <p:nvPr/>
        </p:nvSpPr>
        <p:spPr>
          <a:xfrm xmlns:a="http://schemas.openxmlformats.org/drawingml/2006/main">
            <a:off x="628650" y="3914775"/>
            <a:ext cx="2895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3 · Find evidence</a:t>
            </a:r>
          </a:p>
        </p:txBody>
      </p:sp>
      <p:sp>
        <p:nvSpPr>
          <p:cNvPr id="18" name="">
            <a:extLst xmlns:a="http://schemas.openxmlformats.org/drawingml/2006/main">
              <a:ext uri="{FF2B5EF4-FFF2-40B4-BE49-F238E27FC236}">
                <a16:creationId xmlns:a16="http://schemas.microsoft.com/office/drawing/2014/main" id="{B301117F-06AB-4930-9793-34F42BB7C983}"/>
              </a:ext>
            </a:extLst>
          </p:cNvPr>
          <p:cNvSpPr>
            <a:spLocks xmlns:a="http://schemas.openxmlformats.org/drawingml/2006/main" noGrp="1"/>
          </p:cNvSpPr>
          <p:nvPr/>
        </p:nvSpPr>
        <p:spPr>
          <a:xfrm xmlns:a="http://schemas.openxmlformats.org/drawingml/2006/main">
            <a:off x="628650" y="4276725"/>
            <a:ext cx="28956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Search the saved records.</a:t>
            </a:r>
          </a:p>
        </p:txBody>
      </p:sp>
      <p:sp>
        <p:nvSpPr>
          <p:cNvPr id="19" name="">
            <a:extLst xmlns:a="http://schemas.openxmlformats.org/drawingml/2006/main">
              <a:ext uri="{FF2B5EF4-FFF2-40B4-BE49-F238E27FC236}">
                <a16:creationId xmlns:a16="http://schemas.microsoft.com/office/drawing/2014/main" id="{4707DBAE-E5B4-49D8-99C6-9C5094A32B9A}"/>
              </a:ext>
            </a:extLst>
          </p:cNvPr>
          <p:cNvSpPr>
            <a:spLocks xmlns:a="http://schemas.openxmlformats.org/drawingml/2006/main" noGrp="1"/>
          </p:cNvSpPr>
          <p:nvPr/>
        </p:nvSpPr>
        <p:spPr>
          <a:xfrm xmlns:a="http://schemas.openxmlformats.org/drawingml/2006/main">
            <a:off x="4476750" y="3752850"/>
            <a:ext cx="3238500" cy="1428750"/>
          </a:xfrm>
          <a:prstGeom xmlns:a="http://schemas.openxmlformats.org/drawingml/2006/main" prst="roundRect">
            <a:avLst>
              <a:gd name="adj" fmla="val 10667"/>
            </a:avLst>
          </a:prstGeom>
          <a:solidFill xmlns:a="http://schemas.openxmlformats.org/drawingml/2006/main">
            <a:srgbClr val="E8F0FB"/>
          </a:solidFill>
          <a:ln xmlns:a="http://schemas.openxmlformats.org/drawingml/2006/main" w="9525">
            <a:solidFill>
              <a:srgbClr val="9CB5D5"/>
            </a:solidFill>
            <a:prstDash val="solid"/>
          </a:ln>
        </p:spPr>
      </p:sp>
      <p:sp>
        <p:nvSpPr>
          <p:cNvPr id="20" name="">
            <a:extLst xmlns:a="http://schemas.openxmlformats.org/drawingml/2006/main">
              <a:ext uri="{FF2B5EF4-FFF2-40B4-BE49-F238E27FC236}">
                <a16:creationId xmlns:a16="http://schemas.microsoft.com/office/drawing/2014/main" id="{38341F07-5F50-4A06-BE49-9E1DEA5D7C1D}"/>
              </a:ext>
            </a:extLst>
          </p:cNvPr>
          <p:cNvSpPr>
            <a:spLocks xmlns:a="http://schemas.openxmlformats.org/drawingml/2006/main" noGrp="1"/>
          </p:cNvSpPr>
          <p:nvPr/>
        </p:nvSpPr>
        <p:spPr>
          <a:xfrm xmlns:a="http://schemas.openxmlformats.org/drawingml/2006/main">
            <a:off x="4648200" y="3914775"/>
            <a:ext cx="2895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4 · Write the brief</a:t>
            </a:r>
          </a:p>
        </p:txBody>
      </p:sp>
      <p:sp>
        <p:nvSpPr>
          <p:cNvPr id="21" name="">
            <a:extLst xmlns:a="http://schemas.openxmlformats.org/drawingml/2006/main">
              <a:ext uri="{FF2B5EF4-FFF2-40B4-BE49-F238E27FC236}">
                <a16:creationId xmlns:a16="http://schemas.microsoft.com/office/drawing/2014/main" id="{9A6B76A0-10C0-4C72-B936-2FEC9E21B3C2}"/>
              </a:ext>
            </a:extLst>
          </p:cNvPr>
          <p:cNvSpPr>
            <a:spLocks xmlns:a="http://schemas.openxmlformats.org/drawingml/2006/main" noGrp="1"/>
          </p:cNvSpPr>
          <p:nvPr/>
        </p:nvSpPr>
        <p:spPr>
          <a:xfrm xmlns:a="http://schemas.openxmlformats.org/drawingml/2006/main">
            <a:off x="4648200" y="4276725"/>
            <a:ext cx="28956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GPT-5.6 Sol uses only the evidence that Lens picked.</a:t>
            </a:r>
          </a:p>
        </p:txBody>
      </p:sp>
      <p:sp>
        <p:nvSpPr>
          <p:cNvPr id="22" name="">
            <a:extLst xmlns:a="http://schemas.openxmlformats.org/drawingml/2006/main">
              <a:ext uri="{FF2B5EF4-FFF2-40B4-BE49-F238E27FC236}">
                <a16:creationId xmlns:a16="http://schemas.microsoft.com/office/drawing/2014/main" id="{13F9AE88-C67A-42F1-9052-14B09CE3F03B}"/>
              </a:ext>
            </a:extLst>
          </p:cNvPr>
          <p:cNvSpPr>
            <a:spLocks xmlns:a="http://schemas.openxmlformats.org/drawingml/2006/main" noGrp="1"/>
          </p:cNvSpPr>
          <p:nvPr/>
        </p:nvSpPr>
        <p:spPr>
          <a:xfrm xmlns:a="http://schemas.openxmlformats.org/drawingml/2006/main">
            <a:off x="8496300" y="3752850"/>
            <a:ext cx="2819400" cy="1428750"/>
          </a:xfrm>
          <a:prstGeom xmlns:a="http://schemas.openxmlformats.org/drawingml/2006/main" prst="roundRect">
            <a:avLst>
              <a:gd name="adj" fmla="val 10667"/>
            </a:avLst>
          </a:prstGeom>
          <a:solidFill xmlns:a="http://schemas.openxmlformats.org/drawingml/2006/main">
            <a:srgbClr val="FFFFFF"/>
          </a:solidFill>
          <a:ln xmlns:a="http://schemas.openxmlformats.org/drawingml/2006/main" w="9525">
            <a:solidFill>
              <a:srgbClr val="D0D5DD"/>
            </a:solidFill>
            <a:prstDash val="solid"/>
          </a:ln>
        </p:spPr>
      </p:sp>
      <p:sp>
        <p:nvSpPr>
          <p:cNvPr id="23" name="">
            <a:extLst xmlns:a="http://schemas.openxmlformats.org/drawingml/2006/main">
              <a:ext uri="{FF2B5EF4-FFF2-40B4-BE49-F238E27FC236}">
                <a16:creationId xmlns:a16="http://schemas.microsoft.com/office/drawing/2014/main" id="{C8D596B8-64D7-45EE-AD73-5E2E2B7F9756}"/>
              </a:ext>
            </a:extLst>
          </p:cNvPr>
          <p:cNvSpPr>
            <a:spLocks xmlns:a="http://schemas.openxmlformats.org/drawingml/2006/main" noGrp="1"/>
          </p:cNvSpPr>
          <p:nvPr/>
        </p:nvSpPr>
        <p:spPr>
          <a:xfrm xmlns:a="http://schemas.openxmlformats.org/drawingml/2006/main">
            <a:off x="8667750" y="3914775"/>
            <a:ext cx="247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5 · Check the brief</a:t>
            </a:r>
          </a:p>
        </p:txBody>
      </p:sp>
      <p:sp>
        <p:nvSpPr>
          <p:cNvPr id="24" name="">
            <a:extLst xmlns:a="http://schemas.openxmlformats.org/drawingml/2006/main">
              <a:ext uri="{FF2B5EF4-FFF2-40B4-BE49-F238E27FC236}">
                <a16:creationId xmlns:a16="http://schemas.microsoft.com/office/drawing/2014/main" id="{B1B08F32-E59B-419A-9536-8E9418BA35D1}"/>
              </a:ext>
            </a:extLst>
          </p:cNvPr>
          <p:cNvSpPr>
            <a:spLocks xmlns:a="http://schemas.openxmlformats.org/drawingml/2006/main" noGrp="1"/>
          </p:cNvSpPr>
          <p:nvPr/>
        </p:nvSpPr>
        <p:spPr>
          <a:xfrm xmlns:a="http://schemas.openxmlformats.org/drawingml/2006/main">
            <a:off x="8667750" y="4276725"/>
            <a:ext cx="2476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Check the sources.</a:t>
            </a:r>
          </a:p>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Check the numbers.</a:t>
            </a:r>
          </a:p>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Save the brief.</a:t>
            </a:r>
          </a:p>
        </p:txBody>
      </p:sp>
      <p:cxnSp>
        <p:nvCxnSpPr>
          <p:cNvPr id="391" name=""/>
          <p:cNvCxnSpPr>
            <a:stCxn xmlns:a="http://schemas.openxmlformats.org/drawingml/2006/main" id="16" idx="3"/>
            <a:endCxn xmlns:a="http://schemas.openxmlformats.org/drawingml/2006/main" id="19" idx="1"/>
          </p:cNvCxnSpPr>
          <p:nvPr/>
        </p:nvCxnSpPr>
        <p:spPr>
          <a:xfrm xmlns:a="http://schemas.openxmlformats.org/drawingml/2006/main">
            <a:off x="3695700" y="4467225"/>
            <a:ext cx="78105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392" name=""/>
          <p:cNvCxnSpPr>
            <a:stCxn xmlns:a="http://schemas.openxmlformats.org/drawingml/2006/main" id="19" idx="3"/>
            <a:endCxn xmlns:a="http://schemas.openxmlformats.org/drawingml/2006/main" id="22" idx="1"/>
          </p:cNvCxnSpPr>
          <p:nvPr/>
        </p:nvCxnSpPr>
        <p:spPr>
          <a:xfrm xmlns:a="http://schemas.openxmlformats.org/drawingml/2006/main">
            <a:off x="7715250" y="4467225"/>
            <a:ext cx="78105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sp>
        <p:nvSpPr>
          <p:cNvPr id="27" name="">
            <a:extLst xmlns:a="http://schemas.openxmlformats.org/drawingml/2006/main">
              <a:ext uri="{FF2B5EF4-FFF2-40B4-BE49-F238E27FC236}">
                <a16:creationId xmlns:a16="http://schemas.microsoft.com/office/drawing/2014/main" id="{32C6DBDE-9250-4AA7-B2D3-2956A6438C49}"/>
              </a:ext>
            </a:extLst>
          </p:cNvPr>
          <p:cNvSpPr>
            <a:spLocks xmlns:a="http://schemas.openxmlformats.org/drawingml/2006/main" noGrp="1"/>
          </p:cNvSpPr>
          <p:nvPr/>
        </p:nvSpPr>
        <p:spPr>
          <a:xfrm xmlns:a="http://schemas.openxmlformats.org/drawingml/2006/main">
            <a:off x="457200" y="5524500"/>
            <a:ext cx="762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344054"/>
                </a:solidFill>
                <a:latin typeface="Helvetica Neue"/>
                <a:ea typeface="Helvetica Neue"/>
                <a:cs typeface="Helvetica Neue"/>
              </a:defRPr>
            </a:pPr>
            <a:r>
              <a:rPr sz="1275" b="1">
                <a:solidFill>
                  <a:srgbClr val="344054"/>
                </a:solidFill>
                <a:latin typeface="Helvetica Neue"/>
                <a:ea typeface="Helvetica Neue"/>
                <a:cs typeface="Helvetica Neue"/>
              </a:rPr>
              <a:t>LENS V1: Uses words, meaning, source trust, and new information to pick evidence.</a:t>
            </a:r>
          </a:p>
        </p:txBody>
      </p:sp>
      <p:sp>
        <p:nvSpPr>
          <p:cNvPr id="28" name="">
            <a:extLst xmlns:a="http://schemas.openxmlformats.org/drawingml/2006/main">
              <a:ext uri="{FF2B5EF4-FFF2-40B4-BE49-F238E27FC236}">
                <a16:creationId xmlns:a16="http://schemas.microsoft.com/office/drawing/2014/main" id="{935DB09F-6ADD-408F-B1D4-C5857C900A7A}"/>
              </a:ext>
            </a:extLst>
          </p:cNvPr>
          <p:cNvSpPr>
            <a:spLocks xmlns:a="http://schemas.openxmlformats.org/drawingml/2006/main" noGrp="1"/>
          </p:cNvSpPr>
          <p:nvPr/>
        </p:nvSpPr>
        <p:spPr>
          <a:xfrm xmlns:a="http://schemas.openxmlformats.org/drawingml/2006/main">
            <a:off x="457200" y="5810250"/>
            <a:ext cx="762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41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BACKUP: If the AI draft fails a check, simple local rules create the brief.</a:t>
            </a:r>
          </a:p>
        </p:txBody>
      </p:sp>
    </p:spTree>
    <p:extLst>
      <p:ext uri="{BB962C8B-B14F-4D97-AF65-F5344CB8AC3E}">
        <p14:creationId xmlns:p14="http://schemas.microsoft.com/office/powerpoint/2010/main" val="1114133193"/>
      </p:ext>
    </p:extLst>
  </p:cSld>
</p:sld>
</file>

<file path=ppt/slides/slide7.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1B61CF6-96B9-4010-86E0-F685F3D94FCB}"/>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550" b="1">
                <a:solidFill>
                  <a:srgbClr val="101828"/>
                </a:solidFill>
                <a:latin typeface="Helvetica Neue"/>
                <a:ea typeface="Helvetica Neue"/>
                <a:cs typeface="Helvetica Neue"/>
              </a:rPr>
              <a:t>Which stack runs Lens today?</a:t>
            </a:r>
          </a:p>
        </p:txBody>
      </p:sp>
      <p:sp>
        <p:nvSpPr>
          <p:cNvPr id="2" name="">
            <a:extLst xmlns:a="http://schemas.openxmlformats.org/drawingml/2006/main">
              <a:ext uri="{FF2B5EF4-FFF2-40B4-BE49-F238E27FC236}">
                <a16:creationId xmlns:a16="http://schemas.microsoft.com/office/drawing/2014/main" id="{7D9C5C2F-6C9D-4161-8CD3-13E090AC468D}"/>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9600F930-A327-4D42-B3AC-B4690BAC588C}"/>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07</a:t>
            </a:r>
          </a:p>
        </p:txBody>
      </p:sp>
      <p:sp>
        <p:nvSpPr>
          <p:cNvPr id="4" name="">
            <a:extLst xmlns:a="http://schemas.openxmlformats.org/drawingml/2006/main">
              <a:ext uri="{FF2B5EF4-FFF2-40B4-BE49-F238E27FC236}">
                <a16:creationId xmlns:a16="http://schemas.microsoft.com/office/drawing/2014/main" id="{8FE6BFC8-F410-4A84-9798-3C4E13160A16}"/>
              </a:ext>
            </a:extLst>
          </p:cNvPr>
          <p:cNvSpPr>
            <a:spLocks xmlns:a="http://schemas.openxmlformats.org/drawingml/2006/main" noGrp="1"/>
          </p:cNvSpPr>
          <p:nvPr/>
        </p:nvSpPr>
        <p:spPr>
          <a:xfrm xmlns:a="http://schemas.openxmlformats.org/drawingml/2006/main">
            <a:off x="457200" y="14668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RUNS NOW</a:t>
            </a:r>
          </a:p>
        </p:txBody>
      </p:sp>
      <p:sp>
        <p:nvSpPr>
          <p:cNvPr id="5" name="">
            <a:extLst xmlns:a="http://schemas.openxmlformats.org/drawingml/2006/main">
              <a:ext uri="{FF2B5EF4-FFF2-40B4-BE49-F238E27FC236}">
                <a16:creationId xmlns:a16="http://schemas.microsoft.com/office/drawing/2014/main" id="{7F4CD62E-8C04-4F26-9606-CF238E6B5EFC}"/>
              </a:ext>
            </a:extLst>
          </p:cNvPr>
          <p:cNvSpPr>
            <a:spLocks xmlns:a="http://schemas.openxmlformats.org/drawingml/2006/main" noGrp="1"/>
          </p:cNvSpPr>
          <p:nvPr/>
        </p:nvSpPr>
        <p:spPr>
          <a:xfrm xmlns:a="http://schemas.openxmlformats.org/drawingml/2006/main">
            <a:off x="3333750" y="146685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ROLE IN THE BRIEF</a:t>
            </a:r>
          </a:p>
        </p:txBody>
      </p:sp>
      <p:sp>
        <p:nvSpPr>
          <p:cNvPr id="6" name="">
            <a:extLst xmlns:a="http://schemas.openxmlformats.org/drawingml/2006/main">
              <a:ext uri="{FF2B5EF4-FFF2-40B4-BE49-F238E27FC236}">
                <a16:creationId xmlns:a16="http://schemas.microsoft.com/office/drawing/2014/main" id="{B98364E2-4CA2-464C-B7ED-DF6E422AB2EF}"/>
              </a:ext>
            </a:extLst>
          </p:cNvPr>
          <p:cNvSpPr>
            <a:spLocks xmlns:a="http://schemas.openxmlformats.org/drawingml/2006/main" noGrp="1"/>
          </p:cNvSpPr>
          <p:nvPr/>
        </p:nvSpPr>
        <p:spPr>
          <a:xfrm xmlns:a="http://schemas.openxmlformats.org/drawingml/2006/main">
            <a:off x="7067550" y="1466850"/>
            <a:ext cx="424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PRODUCTION HARDENING</a:t>
            </a:r>
          </a:p>
        </p:txBody>
      </p:sp>
      <p:sp>
        <p:nvSpPr>
          <p:cNvPr id="7" name="">
            <a:extLst xmlns:a="http://schemas.openxmlformats.org/drawingml/2006/main">
              <a:ext uri="{FF2B5EF4-FFF2-40B4-BE49-F238E27FC236}">
                <a16:creationId xmlns:a16="http://schemas.microsoft.com/office/drawing/2014/main" id="{7B495C59-B79D-4705-8DC0-ABF561EA71FE}"/>
              </a:ext>
            </a:extLst>
          </p:cNvPr>
          <p:cNvSpPr>
            <a:spLocks xmlns:a="http://schemas.openxmlformats.org/drawingml/2006/main" noGrp="1"/>
          </p:cNvSpPr>
          <p:nvPr/>
        </p:nvSpPr>
        <p:spPr>
          <a:xfrm xmlns:a="http://schemas.openxmlformats.org/drawingml/2006/main">
            <a:off x="457200" y="18097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EC69FB3E-B8A8-4D49-ACC4-AD76F61A27CC}"/>
              </a:ext>
            </a:extLst>
          </p:cNvPr>
          <p:cNvSpPr>
            <a:spLocks xmlns:a="http://schemas.openxmlformats.org/drawingml/2006/main" noGrp="1"/>
          </p:cNvSpPr>
          <p:nvPr/>
        </p:nvSpPr>
        <p:spPr>
          <a:xfrm xmlns:a="http://schemas.openxmlformats.org/drawingml/2006/main">
            <a:off x="628650" y="19716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Next.js, React, TypeScript, and Shadcn</a:t>
            </a:r>
          </a:p>
        </p:txBody>
      </p:sp>
      <p:sp>
        <p:nvSpPr>
          <p:cNvPr id="9" name="">
            <a:extLst xmlns:a="http://schemas.openxmlformats.org/drawingml/2006/main">
              <a:ext uri="{FF2B5EF4-FFF2-40B4-BE49-F238E27FC236}">
                <a16:creationId xmlns:a16="http://schemas.microsoft.com/office/drawing/2014/main" id="{E307D8A2-A73D-48D0-83AA-5127647BCBD8}"/>
              </a:ext>
            </a:extLst>
          </p:cNvPr>
          <p:cNvSpPr>
            <a:spLocks xmlns:a="http://schemas.openxmlformats.org/drawingml/2006/main" noGrp="1"/>
          </p:cNvSpPr>
          <p:nvPr/>
        </p:nvSpPr>
        <p:spPr>
          <a:xfrm xmlns:a="http://schemas.openxmlformats.org/drawingml/2006/main">
            <a:off x="3333750" y="1971675"/>
            <a:ext cx="333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The app serves the interface, brief routes, evidence, and feedback.</a:t>
            </a:r>
          </a:p>
        </p:txBody>
      </p:sp>
      <p:sp>
        <p:nvSpPr>
          <p:cNvPr id="10" name="">
            <a:extLst xmlns:a="http://schemas.openxmlformats.org/drawingml/2006/main">
              <a:ext uri="{FF2B5EF4-FFF2-40B4-BE49-F238E27FC236}">
                <a16:creationId xmlns:a16="http://schemas.microsoft.com/office/drawing/2014/main" id="{A6F435AE-0B0F-4977-9819-786E47BD64E5}"/>
              </a:ext>
            </a:extLst>
          </p:cNvPr>
          <p:cNvSpPr>
            <a:spLocks xmlns:a="http://schemas.openxmlformats.org/drawingml/2006/main" noGrp="1"/>
          </p:cNvSpPr>
          <p:nvPr/>
        </p:nvSpPr>
        <p:spPr>
          <a:xfrm xmlns:a="http://schemas.openxmlformats.org/drawingml/2006/main">
            <a:off x="7067550" y="1971675"/>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Keep one service until scale or ownership requires a split.</a:t>
            </a:r>
          </a:p>
        </p:txBody>
      </p:sp>
      <p:sp>
        <p:nvSpPr>
          <p:cNvPr id="11" name="">
            <a:extLst xmlns:a="http://schemas.openxmlformats.org/drawingml/2006/main">
              <a:ext uri="{FF2B5EF4-FFF2-40B4-BE49-F238E27FC236}">
                <a16:creationId xmlns:a16="http://schemas.microsoft.com/office/drawing/2014/main" id="{38DE38FC-42AC-41E0-A6D8-61A4AA3E9D2B}"/>
              </a:ext>
            </a:extLst>
          </p:cNvPr>
          <p:cNvSpPr>
            <a:spLocks xmlns:a="http://schemas.openxmlformats.org/drawingml/2006/main" noGrp="1"/>
          </p:cNvSpPr>
          <p:nvPr/>
        </p:nvSpPr>
        <p:spPr>
          <a:xfrm xmlns:a="http://schemas.openxmlformats.org/drawingml/2006/main">
            <a:off x="457200" y="28384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142B5CD3-C553-481E-9C26-C13B5B4631BC}"/>
              </a:ext>
            </a:extLst>
          </p:cNvPr>
          <p:cNvSpPr>
            <a:spLocks xmlns:a="http://schemas.openxmlformats.org/drawingml/2006/main" noGrp="1"/>
          </p:cNvSpPr>
          <p:nvPr/>
        </p:nvSpPr>
        <p:spPr>
          <a:xfrm xmlns:a="http://schemas.openxmlformats.org/drawingml/2006/main">
            <a:off x="628650" y="30003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PostgreSQL 17 and pgvector</a:t>
            </a:r>
          </a:p>
        </p:txBody>
      </p:sp>
      <p:sp>
        <p:nvSpPr>
          <p:cNvPr id="13" name="">
            <a:extLst xmlns:a="http://schemas.openxmlformats.org/drawingml/2006/main">
              <a:ext uri="{FF2B5EF4-FFF2-40B4-BE49-F238E27FC236}">
                <a16:creationId xmlns:a16="http://schemas.microsoft.com/office/drawing/2014/main" id="{396A0E06-95B2-41D7-B971-71C0C0FF5E81}"/>
              </a:ext>
            </a:extLst>
          </p:cNvPr>
          <p:cNvSpPr>
            <a:spLocks xmlns:a="http://schemas.openxmlformats.org/drawingml/2006/main" noGrp="1"/>
          </p:cNvSpPr>
          <p:nvPr/>
        </p:nvSpPr>
        <p:spPr>
          <a:xfrm xmlns:a="http://schemas.openxmlformats.org/drawingml/2006/main">
            <a:off x="3333750" y="3000375"/>
            <a:ext cx="333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The store holds evidence, embeddings, brief audit data, and feedback.</a:t>
            </a:r>
          </a:p>
        </p:txBody>
      </p:sp>
      <p:sp>
        <p:nvSpPr>
          <p:cNvPr id="14" name="">
            <a:extLst xmlns:a="http://schemas.openxmlformats.org/drawingml/2006/main">
              <a:ext uri="{FF2B5EF4-FFF2-40B4-BE49-F238E27FC236}">
                <a16:creationId xmlns:a16="http://schemas.microsoft.com/office/drawing/2014/main" id="{7AF879C1-6960-4435-8103-05F80DC16085}"/>
              </a:ext>
            </a:extLst>
          </p:cNvPr>
          <p:cNvSpPr>
            <a:spLocks xmlns:a="http://schemas.openxmlformats.org/drawingml/2006/main" noGrp="1"/>
          </p:cNvSpPr>
          <p:nvPr/>
        </p:nvSpPr>
        <p:spPr>
          <a:xfrm xmlns:a="http://schemas.openxmlformats.org/drawingml/2006/main">
            <a:off x="7067550" y="3000375"/>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Test retrieval and response time on the 250-company scope.</a:t>
            </a:r>
          </a:p>
        </p:txBody>
      </p:sp>
      <p:sp>
        <p:nvSpPr>
          <p:cNvPr id="15" name="">
            <a:extLst xmlns:a="http://schemas.openxmlformats.org/drawingml/2006/main">
              <a:ext uri="{FF2B5EF4-FFF2-40B4-BE49-F238E27FC236}">
                <a16:creationId xmlns:a16="http://schemas.microsoft.com/office/drawing/2014/main" id="{AEEC5BFB-FF21-41F2-9BF1-F8473C9BF235}"/>
              </a:ext>
            </a:extLst>
          </p:cNvPr>
          <p:cNvSpPr>
            <a:spLocks xmlns:a="http://schemas.openxmlformats.org/drawingml/2006/main" noGrp="1"/>
          </p:cNvSpPr>
          <p:nvPr/>
        </p:nvSpPr>
        <p:spPr>
          <a:xfrm xmlns:a="http://schemas.openxmlformats.org/drawingml/2006/main">
            <a:off x="457200" y="38671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ACE4786C-2CF3-4F87-A674-4A90F5B229EC}"/>
              </a:ext>
            </a:extLst>
          </p:cNvPr>
          <p:cNvSpPr>
            <a:spLocks xmlns:a="http://schemas.openxmlformats.org/drawingml/2006/main" noGrp="1"/>
          </p:cNvSpPr>
          <p:nvPr/>
        </p:nvSpPr>
        <p:spPr>
          <a:xfrm xmlns:a="http://schemas.openxmlformats.org/drawingml/2006/main">
            <a:off x="628650" y="40290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File adapters and local Docker</a:t>
            </a:r>
          </a:p>
        </p:txBody>
      </p:sp>
      <p:sp>
        <p:nvSpPr>
          <p:cNvPr id="17" name="">
            <a:extLst xmlns:a="http://schemas.openxmlformats.org/drawingml/2006/main">
              <a:ext uri="{FF2B5EF4-FFF2-40B4-BE49-F238E27FC236}">
                <a16:creationId xmlns:a16="http://schemas.microsoft.com/office/drawing/2014/main" id="{8743BD4F-5E47-4AC2-BD68-A72C07569491}"/>
              </a:ext>
            </a:extLst>
          </p:cNvPr>
          <p:cNvSpPr>
            <a:spLocks xmlns:a="http://schemas.openxmlformats.org/drawingml/2006/main" noGrp="1"/>
          </p:cNvSpPr>
          <p:nvPr/>
        </p:nvSpPr>
        <p:spPr>
          <a:xfrm xmlns:a="http://schemas.openxmlformats.org/drawingml/2006/main">
            <a:off x="3333750" y="4029075"/>
            <a:ext cx="333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Static fictional files make the demo repeatable without source credentials.</a:t>
            </a:r>
          </a:p>
        </p:txBody>
      </p:sp>
      <p:sp>
        <p:nvSpPr>
          <p:cNvPr id="18" name="">
            <a:extLst xmlns:a="http://schemas.openxmlformats.org/drawingml/2006/main">
              <a:ext uri="{FF2B5EF4-FFF2-40B4-BE49-F238E27FC236}">
                <a16:creationId xmlns:a16="http://schemas.microsoft.com/office/drawing/2014/main" id="{053B12CA-0085-4447-849D-DEE811EB562C}"/>
              </a:ext>
            </a:extLst>
          </p:cNvPr>
          <p:cNvSpPr>
            <a:spLocks xmlns:a="http://schemas.openxmlformats.org/drawingml/2006/main" noGrp="1"/>
          </p:cNvSpPr>
          <p:nvPr/>
        </p:nvSpPr>
        <p:spPr>
          <a:xfrm xmlns:a="http://schemas.openxmlformats.org/drawingml/2006/main">
            <a:off x="7067550" y="4029075"/>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Add managed connectors, access rules, schedules, and reconciliation.</a:t>
            </a:r>
          </a:p>
        </p:txBody>
      </p:sp>
      <p:sp>
        <p:nvSpPr>
          <p:cNvPr id="19" name="">
            <a:extLst xmlns:a="http://schemas.openxmlformats.org/drawingml/2006/main">
              <a:ext uri="{FF2B5EF4-FFF2-40B4-BE49-F238E27FC236}">
                <a16:creationId xmlns:a16="http://schemas.microsoft.com/office/drawing/2014/main" id="{C245F6B4-29EE-4FAF-8CED-C8CB5D03FD20}"/>
              </a:ext>
            </a:extLst>
          </p:cNvPr>
          <p:cNvSpPr>
            <a:spLocks xmlns:a="http://schemas.openxmlformats.org/drawingml/2006/main" noGrp="1"/>
          </p:cNvSpPr>
          <p:nvPr/>
        </p:nvSpPr>
        <p:spPr>
          <a:xfrm xmlns:a="http://schemas.openxmlformats.org/drawingml/2006/main">
            <a:off x="457200" y="48958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0D3A7A48-84E5-4A16-8618-B5949755C8FD}"/>
              </a:ext>
            </a:extLst>
          </p:cNvPr>
          <p:cNvSpPr>
            <a:spLocks xmlns:a="http://schemas.openxmlformats.org/drawingml/2006/main" noGrp="1"/>
          </p:cNvSpPr>
          <p:nvPr/>
        </p:nvSpPr>
        <p:spPr>
          <a:xfrm xmlns:a="http://schemas.openxmlformats.org/drawingml/2006/main">
            <a:off x="628650" y="50577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text-embedding-3-large and gpt-5.6-sol</a:t>
            </a:r>
          </a:p>
        </p:txBody>
      </p:sp>
      <p:sp>
        <p:nvSpPr>
          <p:cNvPr id="21" name="">
            <a:extLst xmlns:a="http://schemas.openxmlformats.org/drawingml/2006/main">
              <a:ext uri="{FF2B5EF4-FFF2-40B4-BE49-F238E27FC236}">
                <a16:creationId xmlns:a16="http://schemas.microsoft.com/office/drawing/2014/main" id="{73604F0C-EF44-422B-9768-10F27E619077}"/>
              </a:ext>
            </a:extLst>
          </p:cNvPr>
          <p:cNvSpPr>
            <a:spLocks xmlns:a="http://schemas.openxmlformats.org/drawingml/2006/main" noGrp="1"/>
          </p:cNvSpPr>
          <p:nvPr/>
        </p:nvSpPr>
        <p:spPr>
          <a:xfrm xmlns:a="http://schemas.openxmlformats.org/drawingml/2006/main">
            <a:off x="3333750" y="5057775"/>
            <a:ext cx="333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Embeddings retrieve evidence. GPT-5.6 Sol writes the source-supported brief now.</a:t>
            </a:r>
          </a:p>
        </p:txBody>
      </p:sp>
      <p:sp>
        <p:nvSpPr>
          <p:cNvPr id="22" name="">
            <a:extLst xmlns:a="http://schemas.openxmlformats.org/drawingml/2006/main">
              <a:ext uri="{FF2B5EF4-FFF2-40B4-BE49-F238E27FC236}">
                <a16:creationId xmlns:a16="http://schemas.microsoft.com/office/drawing/2014/main" id="{612DA721-F40D-4B55-AC96-2E48A46CC6D5}"/>
              </a:ext>
            </a:extLst>
          </p:cNvPr>
          <p:cNvSpPr>
            <a:spLocks xmlns:a="http://schemas.openxmlformats.org/drawingml/2006/main" noGrp="1"/>
          </p:cNvSpPr>
          <p:nvPr/>
        </p:nvSpPr>
        <p:spPr>
          <a:xfrm xmlns:a="http://schemas.openxmlformats.org/drawingml/2006/main">
            <a:off x="7067550" y="5057775"/>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Evaluate retrieval, prompts, and model settings. Keep low effort unless a test shows a quality gain.</a:t>
            </a:r>
          </a:p>
        </p:txBody>
      </p:sp>
    </p:spTree>
    <p:extLst>
      <p:ext uri="{BB962C8B-B14F-4D97-AF65-F5344CB8AC3E}">
        <p14:creationId xmlns:p14="http://schemas.microsoft.com/office/powerpoint/2010/main" val="436145467"/>
      </p:ext>
    </p:extLst>
  </p:cSld>
</p:sld>
</file>

<file path=ppt/slides/slide8.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CB3F631-F107-449F-8532-F0F6CF09ED9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did I test Lens?</a:t>
            </a:r>
          </a:p>
        </p:txBody>
      </p:sp>
      <p:sp>
        <p:nvSpPr>
          <p:cNvPr id="2" name="">
            <a:extLst xmlns:a="http://schemas.openxmlformats.org/drawingml/2006/main">
              <a:ext uri="{FF2B5EF4-FFF2-40B4-BE49-F238E27FC236}">
                <a16:creationId xmlns:a16="http://schemas.microsoft.com/office/drawing/2014/main" id="{FA2C5372-4CF1-4AE4-A3CD-4E138F754CA8}"/>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4839D6B0-80AA-4FCC-9C2D-6D215827FBA5}"/>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08</a:t>
            </a:r>
          </a:p>
        </p:txBody>
      </p:sp>
      <p:sp>
        <p:nvSpPr>
          <p:cNvPr id="4" name="">
            <a:extLst xmlns:a="http://schemas.openxmlformats.org/drawingml/2006/main">
              <a:ext uri="{FF2B5EF4-FFF2-40B4-BE49-F238E27FC236}">
                <a16:creationId xmlns:a16="http://schemas.microsoft.com/office/drawing/2014/main" id="{82E64302-6EE1-4371-AB23-0D77F5FE7F75}"/>
              </a:ext>
            </a:extLst>
          </p:cNvPr>
          <p:cNvSpPr>
            <a:spLocks xmlns:a="http://schemas.openxmlformats.org/drawingml/2006/main" noGrp="1"/>
          </p:cNvSpPr>
          <p:nvPr/>
        </p:nvSpPr>
        <p:spPr>
          <a:xfrm xmlns:a="http://schemas.openxmlformats.org/drawingml/2006/main">
            <a:off x="457200" y="1466850"/>
            <a:ext cx="10858500" cy="952500"/>
          </a:xfrm>
          <a:prstGeom xmlns:a="http://schemas.openxmlformats.org/drawingml/2006/main" prst="roundRect">
            <a:avLst>
              <a:gd name="adj" fmla="val 16000"/>
            </a:avLst>
          </a:prstGeom>
          <a:solidFill xmlns:a="http://schemas.openxmlformats.org/drawingml/2006/main">
            <a:srgbClr val="E8F0FB"/>
          </a:solidFill>
          <a:ln xmlns:a="http://schemas.openxmlformats.org/drawingml/2006/main" w="9525">
            <a:solidFill>
              <a:srgbClr val="9CB5D5"/>
            </a:solidFill>
            <a:prstDash val="solid"/>
          </a:ln>
        </p:spPr>
      </p:sp>
      <p:sp>
        <p:nvSpPr>
          <p:cNvPr id="5" name="">
            <a:extLst xmlns:a="http://schemas.openxmlformats.org/drawingml/2006/main">
              <a:ext uri="{FF2B5EF4-FFF2-40B4-BE49-F238E27FC236}">
                <a16:creationId xmlns:a16="http://schemas.microsoft.com/office/drawing/2014/main" id="{4A1BEC42-0504-4404-8738-11D6F8F404B8}"/>
              </a:ext>
            </a:extLst>
          </p:cNvPr>
          <p:cNvSpPr>
            <a:spLocks xmlns:a="http://schemas.openxmlformats.org/drawingml/2006/main" noGrp="1"/>
          </p:cNvSpPr>
          <p:nvPr/>
        </p:nvSpPr>
        <p:spPr>
          <a:xfrm xmlns:a="http://schemas.openxmlformats.org/drawingml/2006/main">
            <a:off x="685800" y="16573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CURRENT RESULT</a:t>
            </a:r>
          </a:p>
        </p:txBody>
      </p:sp>
      <p:sp>
        <p:nvSpPr>
          <p:cNvPr id="6" name="">
            <a:extLst xmlns:a="http://schemas.openxmlformats.org/drawingml/2006/main">
              <a:ext uri="{FF2B5EF4-FFF2-40B4-BE49-F238E27FC236}">
                <a16:creationId xmlns:a16="http://schemas.microsoft.com/office/drawing/2014/main" id="{58AABA6B-7522-4752-984B-13A58F66327C}"/>
              </a:ext>
            </a:extLst>
          </p:cNvPr>
          <p:cNvSpPr>
            <a:spLocks xmlns:a="http://schemas.openxmlformats.org/drawingml/2006/main" noGrp="1"/>
          </p:cNvSpPr>
          <p:nvPr/>
        </p:nvSpPr>
        <p:spPr>
          <a:xfrm xmlns:a="http://schemas.openxmlformats.org/drawingml/2006/main">
            <a:off x="685800" y="19526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91 checks pass: 69 app tests and 22 live checks. Two live GPT briefs finish in 30 seconds or less.</a:t>
            </a:r>
          </a:p>
        </p:txBody>
      </p:sp>
      <p:sp>
        <p:nvSpPr>
          <p:cNvPr id="7" name="">
            <a:extLst xmlns:a="http://schemas.openxmlformats.org/drawingml/2006/main">
              <a:ext uri="{FF2B5EF4-FFF2-40B4-BE49-F238E27FC236}">
                <a16:creationId xmlns:a16="http://schemas.microsoft.com/office/drawing/2014/main" id="{B2253D5B-CB83-4217-B157-E169C1C86900}"/>
              </a:ext>
            </a:extLst>
          </p:cNvPr>
          <p:cNvSpPr>
            <a:spLocks xmlns:a="http://schemas.openxmlformats.org/drawingml/2006/main" noGrp="1"/>
          </p:cNvSpPr>
          <p:nvPr/>
        </p:nvSpPr>
        <p:spPr>
          <a:xfrm xmlns:a="http://schemas.openxmlformats.org/drawingml/2006/main">
            <a:off x="4572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9B98B8DF-CD87-4BEC-BD37-808E72CD6957}"/>
              </a:ext>
            </a:extLst>
          </p:cNvPr>
          <p:cNvSpPr>
            <a:spLocks xmlns:a="http://schemas.openxmlformats.org/drawingml/2006/main" noGrp="1"/>
          </p:cNvSpPr>
          <p:nvPr/>
        </p:nvSpPr>
        <p:spPr>
          <a:xfrm xmlns:a="http://schemas.openxmlformats.org/drawingml/2006/main">
            <a:off x="6667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RETRIEVAL</a:t>
            </a:r>
          </a:p>
        </p:txBody>
      </p:sp>
      <p:sp>
        <p:nvSpPr>
          <p:cNvPr id="9" name="">
            <a:extLst xmlns:a="http://schemas.openxmlformats.org/drawingml/2006/main">
              <a:ext uri="{FF2B5EF4-FFF2-40B4-BE49-F238E27FC236}">
                <a16:creationId xmlns:a16="http://schemas.microsoft.com/office/drawing/2014/main" id="{CCEE06AE-D800-407A-A0B0-2475AB3FC0AF}"/>
              </a:ext>
            </a:extLst>
          </p:cNvPr>
          <p:cNvSpPr>
            <a:spLocks xmlns:a="http://schemas.openxmlformats.org/drawingml/2006/main" noGrp="1"/>
          </p:cNvSpPr>
          <p:nvPr/>
        </p:nvSpPr>
        <p:spPr>
          <a:xfrm xmlns:a="http://schemas.openxmlformats.org/drawingml/2006/main">
            <a:off x="6667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Recall</a:t>
            </a:r>
          </a:p>
        </p:txBody>
      </p:sp>
      <p:sp>
        <p:nvSpPr>
          <p:cNvPr id="10" name="">
            <a:extLst xmlns:a="http://schemas.openxmlformats.org/drawingml/2006/main">
              <a:ext uri="{FF2B5EF4-FFF2-40B4-BE49-F238E27FC236}">
                <a16:creationId xmlns:a16="http://schemas.microsoft.com/office/drawing/2014/main" id="{032B57AF-1BAF-46D8-8B4E-B24061CB2A26}"/>
              </a:ext>
            </a:extLst>
          </p:cNvPr>
          <p:cNvSpPr>
            <a:spLocks xmlns:a="http://schemas.openxmlformats.org/drawingml/2006/main" noGrp="1"/>
          </p:cNvSpPr>
          <p:nvPr/>
        </p:nvSpPr>
        <p:spPr>
          <a:xfrm xmlns:a="http://schemas.openxmlformats.org/drawingml/2006/main">
            <a:off x="6667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Must-find source in top 30</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No cross-company result</a:t>
            </a:r>
          </a:p>
        </p:txBody>
      </p:sp>
      <p:sp>
        <p:nvSpPr>
          <p:cNvPr id="11" name="">
            <a:extLst xmlns:a="http://schemas.openxmlformats.org/drawingml/2006/main">
              <a:ext uri="{FF2B5EF4-FFF2-40B4-BE49-F238E27FC236}">
                <a16:creationId xmlns:a16="http://schemas.microsoft.com/office/drawing/2014/main" id="{C54EE160-B2FE-4724-B4DB-29B4F6C94ED8}"/>
              </a:ext>
            </a:extLst>
          </p:cNvPr>
          <p:cNvSpPr>
            <a:spLocks xmlns:a="http://schemas.openxmlformats.org/drawingml/2006/main" noGrp="1"/>
          </p:cNvSpPr>
          <p:nvPr/>
        </p:nvSpPr>
        <p:spPr>
          <a:xfrm xmlns:a="http://schemas.openxmlformats.org/drawingml/2006/main">
            <a:off x="32194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E103A2B5-5C9B-4684-88A5-D7E54E104F02}"/>
              </a:ext>
            </a:extLst>
          </p:cNvPr>
          <p:cNvSpPr>
            <a:spLocks xmlns:a="http://schemas.openxmlformats.org/drawingml/2006/main" noGrp="1"/>
          </p:cNvSpPr>
          <p:nvPr/>
        </p:nvSpPr>
        <p:spPr>
          <a:xfrm xmlns:a="http://schemas.openxmlformats.org/drawingml/2006/main">
            <a:off x="34290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GROUNDING</a:t>
            </a:r>
          </a:p>
        </p:txBody>
      </p:sp>
      <p:sp>
        <p:nvSpPr>
          <p:cNvPr id="13" name="">
            <a:extLst xmlns:a="http://schemas.openxmlformats.org/drawingml/2006/main">
              <a:ext uri="{FF2B5EF4-FFF2-40B4-BE49-F238E27FC236}">
                <a16:creationId xmlns:a16="http://schemas.microsoft.com/office/drawing/2014/main" id="{9FCDF1D5-5421-492D-BFC5-2AC7138E96FF}"/>
              </a:ext>
            </a:extLst>
          </p:cNvPr>
          <p:cNvSpPr>
            <a:spLocks xmlns:a="http://schemas.openxmlformats.org/drawingml/2006/main" noGrp="1"/>
          </p:cNvSpPr>
          <p:nvPr/>
        </p:nvSpPr>
        <p:spPr>
          <a:xfrm xmlns:a="http://schemas.openxmlformats.org/drawingml/2006/main">
            <a:off x="34290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2850" b="1">
                <a:solidFill>
                  <a:srgbClr val="101828"/>
                </a:solidFill>
                <a:latin typeface="Helvetica Neue"/>
                <a:ea typeface="Helvetica Neue"/>
                <a:cs typeface="Helvetica Neue"/>
              </a:rPr>
              <a:t>Support</a:t>
            </a:r>
          </a:p>
        </p:txBody>
      </p:sp>
      <p:sp>
        <p:nvSpPr>
          <p:cNvPr id="14" name="">
            <a:extLst xmlns:a="http://schemas.openxmlformats.org/drawingml/2006/main">
              <a:ext uri="{FF2B5EF4-FFF2-40B4-BE49-F238E27FC236}">
                <a16:creationId xmlns:a16="http://schemas.microsoft.com/office/drawing/2014/main" id="{96F3C4E3-ACED-4D21-A3E1-834E7E3DD175}"/>
              </a:ext>
            </a:extLst>
          </p:cNvPr>
          <p:cNvSpPr>
            <a:spLocks xmlns:a="http://schemas.openxmlformats.org/drawingml/2006/main" noGrp="1"/>
          </p:cNvSpPr>
          <p:nvPr/>
        </p:nvSpPr>
        <p:spPr>
          <a:xfrm xmlns:a="http://schemas.openxmlformats.org/drawingml/2006/main">
            <a:off x="34290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28"/>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Claim cites retrieved evidence</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Number matches a cited source</a:t>
            </a:r>
          </a:p>
        </p:txBody>
      </p:sp>
      <p:sp>
        <p:nvSpPr>
          <p:cNvPr id="15" name="">
            <a:extLst xmlns:a="http://schemas.openxmlformats.org/drawingml/2006/main">
              <a:ext uri="{FF2B5EF4-FFF2-40B4-BE49-F238E27FC236}">
                <a16:creationId xmlns:a16="http://schemas.microsoft.com/office/drawing/2014/main" id="{A7E65777-4F36-4020-AF7C-22F413271467}"/>
              </a:ext>
            </a:extLst>
          </p:cNvPr>
          <p:cNvSpPr>
            <a:spLocks xmlns:a="http://schemas.openxmlformats.org/drawingml/2006/main" noGrp="1"/>
          </p:cNvSpPr>
          <p:nvPr/>
        </p:nvSpPr>
        <p:spPr>
          <a:xfrm xmlns:a="http://schemas.openxmlformats.org/drawingml/2006/main">
            <a:off x="59817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468EA405-4A26-4F28-9A03-279E84257E69}"/>
              </a:ext>
            </a:extLst>
          </p:cNvPr>
          <p:cNvSpPr>
            <a:spLocks xmlns:a="http://schemas.openxmlformats.org/drawingml/2006/main" noGrp="1"/>
          </p:cNvSpPr>
          <p:nvPr/>
        </p:nvSpPr>
        <p:spPr>
          <a:xfrm xmlns:a="http://schemas.openxmlformats.org/drawingml/2006/main">
            <a:off x="61912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PRODUCT</a:t>
            </a:r>
          </a:p>
        </p:txBody>
      </p:sp>
      <p:sp>
        <p:nvSpPr>
          <p:cNvPr id="17" name="">
            <a:extLst xmlns:a="http://schemas.openxmlformats.org/drawingml/2006/main">
              <a:ext uri="{FF2B5EF4-FFF2-40B4-BE49-F238E27FC236}">
                <a16:creationId xmlns:a16="http://schemas.microsoft.com/office/drawing/2014/main" id="{D8BE85FE-503D-42CD-9E11-C9853F789DE1}"/>
              </a:ext>
            </a:extLst>
          </p:cNvPr>
          <p:cNvSpPr>
            <a:spLocks xmlns:a="http://schemas.openxmlformats.org/drawingml/2006/main" noGrp="1"/>
          </p:cNvSpPr>
          <p:nvPr/>
        </p:nvSpPr>
        <p:spPr>
          <a:xfrm xmlns:a="http://schemas.openxmlformats.org/drawingml/2006/main">
            <a:off x="61912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Use</a:t>
            </a:r>
          </a:p>
        </p:txBody>
      </p:sp>
      <p:sp>
        <p:nvSpPr>
          <p:cNvPr id="18" name="">
            <a:extLst xmlns:a="http://schemas.openxmlformats.org/drawingml/2006/main">
              <a:ext uri="{FF2B5EF4-FFF2-40B4-BE49-F238E27FC236}">
                <a16:creationId xmlns:a16="http://schemas.microsoft.com/office/drawing/2014/main" id="{8B3D565A-3552-4FDC-9339-4D2454B4C0FA}"/>
              </a:ext>
            </a:extLst>
          </p:cNvPr>
          <p:cNvSpPr>
            <a:spLocks xmlns:a="http://schemas.openxmlformats.org/drawingml/2006/main" noGrp="1"/>
          </p:cNvSpPr>
          <p:nvPr/>
        </p:nvSpPr>
        <p:spPr>
          <a:xfrm xmlns:a="http://schemas.openxmlformats.org/drawingml/2006/main">
            <a:off x="61912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884"/>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Brief in 30 seconds or less</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Principal score is 4 of 5 or more</a:t>
            </a:r>
          </a:p>
        </p:txBody>
      </p:sp>
      <p:sp>
        <p:nvSpPr>
          <p:cNvPr id="19" name="">
            <a:extLst xmlns:a="http://schemas.openxmlformats.org/drawingml/2006/main">
              <a:ext uri="{FF2B5EF4-FFF2-40B4-BE49-F238E27FC236}">
                <a16:creationId xmlns:a16="http://schemas.microsoft.com/office/drawing/2014/main" id="{21909835-C000-476D-BE4E-86B6A009FC7F}"/>
              </a:ext>
            </a:extLst>
          </p:cNvPr>
          <p:cNvSpPr>
            <a:spLocks xmlns:a="http://schemas.openxmlformats.org/drawingml/2006/main" noGrp="1"/>
          </p:cNvSpPr>
          <p:nvPr/>
        </p:nvSpPr>
        <p:spPr>
          <a:xfrm xmlns:a="http://schemas.openxmlformats.org/drawingml/2006/main">
            <a:off x="87439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4D12D1C-71C7-4D5E-841E-35CE6D175B78}"/>
              </a:ext>
            </a:extLst>
          </p:cNvPr>
          <p:cNvSpPr>
            <a:spLocks xmlns:a="http://schemas.openxmlformats.org/drawingml/2006/main" noGrp="1"/>
          </p:cNvSpPr>
          <p:nvPr/>
        </p:nvSpPr>
        <p:spPr>
          <a:xfrm xmlns:a="http://schemas.openxmlformats.org/drawingml/2006/main">
            <a:off x="89535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OPERATIONS</a:t>
            </a:r>
          </a:p>
        </p:txBody>
      </p:sp>
      <p:sp>
        <p:nvSpPr>
          <p:cNvPr id="21" name="">
            <a:extLst xmlns:a="http://schemas.openxmlformats.org/drawingml/2006/main">
              <a:ext uri="{FF2B5EF4-FFF2-40B4-BE49-F238E27FC236}">
                <a16:creationId xmlns:a16="http://schemas.microsoft.com/office/drawing/2014/main" id="{F686A3A3-BAF9-4CEC-BA6B-8E7459E7CB1A}"/>
              </a:ext>
            </a:extLst>
          </p:cNvPr>
          <p:cNvSpPr>
            <a:spLocks xmlns:a="http://schemas.openxmlformats.org/drawingml/2006/main" noGrp="1"/>
          </p:cNvSpPr>
          <p:nvPr/>
        </p:nvSpPr>
        <p:spPr>
          <a:xfrm xmlns:a="http://schemas.openxmlformats.org/drawingml/2006/main">
            <a:off x="89535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Change</a:t>
            </a:r>
          </a:p>
        </p:txBody>
      </p:sp>
      <p:sp>
        <p:nvSpPr>
          <p:cNvPr id="22" name="">
            <a:extLst xmlns:a="http://schemas.openxmlformats.org/drawingml/2006/main">
              <a:ext uri="{FF2B5EF4-FFF2-40B4-BE49-F238E27FC236}">
                <a16:creationId xmlns:a16="http://schemas.microsoft.com/office/drawing/2014/main" id="{98A790D2-D307-426F-AFF6-4F296FCAF988}"/>
              </a:ext>
            </a:extLst>
          </p:cNvPr>
          <p:cNvSpPr>
            <a:spLocks xmlns:a="http://schemas.openxmlformats.org/drawingml/2006/main" noGrp="1"/>
          </p:cNvSpPr>
          <p:nvPr/>
        </p:nvSpPr>
        <p:spPr>
          <a:xfrm xmlns:a="http://schemas.openxmlformats.org/drawingml/2006/main">
            <a:off x="89535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59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Invalid output uses fallback</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Changed source changes next brief</a:t>
            </a:r>
          </a:p>
        </p:txBody>
      </p:sp>
      <p:sp>
        <p:nvSpPr>
          <p:cNvPr id="23" name="">
            <a:extLst xmlns:a="http://schemas.openxmlformats.org/drawingml/2006/main">
              <a:ext uri="{FF2B5EF4-FFF2-40B4-BE49-F238E27FC236}">
                <a16:creationId xmlns:a16="http://schemas.microsoft.com/office/drawing/2014/main" id="{25EC7D7C-6E01-4D17-AA83-D2DB3D6F5810}"/>
              </a:ext>
            </a:extLst>
          </p:cNvPr>
          <p:cNvSpPr>
            <a:spLocks xmlns:a="http://schemas.openxmlformats.org/drawingml/2006/main" noGrp="1"/>
          </p:cNvSpPr>
          <p:nvPr/>
        </p:nvSpPr>
        <p:spPr>
          <a:xfrm xmlns:a="http://schemas.openxmlformats.org/drawingml/2006/main">
            <a:off x="457200" y="52197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Code checks: Retrieval, Grounding, and Operations · Reviewer checks: Product</a:t>
            </a:r>
          </a:p>
        </p:txBody>
      </p:sp>
      <p:sp>
        <p:nvSpPr>
          <p:cNvPr id="24" name="">
            <a:extLst xmlns:a="http://schemas.openxmlformats.org/drawingml/2006/main">
              <a:ext uri="{FF2B5EF4-FFF2-40B4-BE49-F238E27FC236}">
                <a16:creationId xmlns:a16="http://schemas.microsoft.com/office/drawing/2014/main" id="{4C39101A-94C4-48DC-82B6-88D1BEEA99D4}"/>
              </a:ext>
            </a:extLst>
          </p:cNvPr>
          <p:cNvSpPr>
            <a:spLocks xmlns:a="http://schemas.openxmlformats.org/drawingml/2006/main" noGrp="1"/>
          </p:cNvSpPr>
          <p:nvPr/>
        </p:nvSpPr>
        <p:spPr>
          <a:xfrm xmlns:a="http://schemas.openxmlformats.org/drawingml/2006/main">
            <a:off x="457200" y="56388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Run the same set after a retrieval, prompt, model, schema, or source-rule change.</a:t>
            </a:r>
          </a:p>
        </p:txBody>
      </p:sp>
    </p:spTree>
    <p:extLst>
      <p:ext uri="{BB962C8B-B14F-4D97-AF65-F5344CB8AC3E}">
        <p14:creationId xmlns:p14="http://schemas.microsoft.com/office/powerpoint/2010/main" val="1483308295"/>
      </p:ext>
    </p:extLst>
  </p:cSld>
</p:sld>
</file>

<file path=ppt/slides/slide9.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CB3F631-F107-449F-8532-F0F6CF09ED9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must V1 do, and what is good enough to ship?</a:t>
            </a:r>
          </a:p>
        </p:txBody>
      </p:sp>
      <p:sp>
        <p:nvSpPr>
          <p:cNvPr id="2" name="">
            <a:extLst xmlns:a="http://schemas.openxmlformats.org/drawingml/2006/main">
              <a:ext uri="{FF2B5EF4-FFF2-40B4-BE49-F238E27FC236}">
                <a16:creationId xmlns:a16="http://schemas.microsoft.com/office/drawing/2014/main" id="{FA2C5372-4CF1-4AE4-A3CD-4E138F754CA8}"/>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4839D6B0-80AA-4FCC-9C2D-6D215827FBA5}"/>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09</a:t>
            </a:r>
          </a:p>
        </p:txBody>
      </p:sp>
      <p:sp>
        <p:nvSpPr>
          <p:cNvPr id="4" name="">
            <a:extLst xmlns:a="http://schemas.openxmlformats.org/drawingml/2006/main">
              <a:ext uri="{FF2B5EF4-FFF2-40B4-BE49-F238E27FC236}">
                <a16:creationId xmlns:a16="http://schemas.microsoft.com/office/drawing/2014/main" id="{82E64302-6EE1-4371-AB23-0D77F5FE7F75}"/>
              </a:ext>
            </a:extLst>
          </p:cNvPr>
          <p:cNvSpPr>
            <a:spLocks xmlns:a="http://schemas.openxmlformats.org/drawingml/2006/main" noGrp="1"/>
          </p:cNvSpPr>
          <p:nvPr/>
        </p:nvSpPr>
        <p:spPr>
          <a:xfrm xmlns:a="http://schemas.openxmlformats.org/drawingml/2006/main">
            <a:off x="457200" y="1466850"/>
            <a:ext cx="10858500" cy="952500"/>
          </a:xfrm>
          <a:prstGeom xmlns:a="http://schemas.openxmlformats.org/drawingml/2006/main" prst="roundRect">
            <a:avLst>
              <a:gd name="adj" fmla="val 16000"/>
            </a:avLst>
          </a:prstGeom>
          <a:solidFill xmlns:a="http://schemas.openxmlformats.org/drawingml/2006/main">
            <a:srgbClr val="E8F0FB"/>
          </a:solidFill>
          <a:ln xmlns:a="http://schemas.openxmlformats.org/drawingml/2006/main" w="9525">
            <a:solidFill>
              <a:srgbClr val="9CB5D5"/>
            </a:solidFill>
            <a:prstDash val="solid"/>
          </a:ln>
        </p:spPr>
      </p:sp>
      <p:sp>
        <p:nvSpPr>
          <p:cNvPr id="5" name="">
            <a:extLst xmlns:a="http://schemas.openxmlformats.org/drawingml/2006/main">
              <a:ext uri="{FF2B5EF4-FFF2-40B4-BE49-F238E27FC236}">
                <a16:creationId xmlns:a16="http://schemas.microsoft.com/office/drawing/2014/main" id="{4A1BEC42-0504-4404-8738-11D6F8F404B8}"/>
              </a:ext>
            </a:extLst>
          </p:cNvPr>
          <p:cNvSpPr>
            <a:spLocks xmlns:a="http://schemas.openxmlformats.org/drawingml/2006/main" noGrp="1"/>
          </p:cNvSpPr>
          <p:nvPr/>
        </p:nvSpPr>
        <p:spPr>
          <a:xfrm xmlns:a="http://schemas.openxmlformats.org/drawingml/2006/main">
            <a:off x="685800" y="16573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An AIVC principal prepares for a company discussion</a:t>
            </a:r>
          </a:p>
        </p:txBody>
      </p:sp>
      <p:sp>
        <p:nvSpPr>
          <p:cNvPr id="6" name="">
            <a:extLst xmlns:a="http://schemas.openxmlformats.org/drawingml/2006/main">
              <a:ext uri="{FF2B5EF4-FFF2-40B4-BE49-F238E27FC236}">
                <a16:creationId xmlns:a16="http://schemas.microsoft.com/office/drawing/2014/main" id="{58AABA6B-7522-4752-984B-13A58F66327C}"/>
              </a:ext>
            </a:extLst>
          </p:cNvPr>
          <p:cNvSpPr>
            <a:spLocks xmlns:a="http://schemas.openxmlformats.org/drawingml/2006/main" noGrp="1"/>
          </p:cNvSpPr>
          <p:nvPr/>
        </p:nvSpPr>
        <p:spPr>
          <a:xfrm xmlns:a="http://schemas.openxmlformats.org/drawingml/2006/main">
            <a:off x="685800" y="19526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His information is spread across several systems. He needs current evidence before he uses his judgment.</a:t>
            </a:r>
          </a:p>
        </p:txBody>
      </p:sp>
      <p:sp>
        <p:nvSpPr>
          <p:cNvPr id="7" name="">
            <a:extLst xmlns:a="http://schemas.openxmlformats.org/drawingml/2006/main">
              <a:ext uri="{FF2B5EF4-FFF2-40B4-BE49-F238E27FC236}">
                <a16:creationId xmlns:a16="http://schemas.microsoft.com/office/drawing/2014/main" id="{B2253D5B-CB83-4217-B157-E169C1C86900}"/>
              </a:ext>
            </a:extLst>
          </p:cNvPr>
          <p:cNvSpPr>
            <a:spLocks xmlns:a="http://schemas.openxmlformats.org/drawingml/2006/main" noGrp="1"/>
          </p:cNvSpPr>
          <p:nvPr/>
        </p:nvSpPr>
        <p:spPr>
          <a:xfrm xmlns:a="http://schemas.openxmlformats.org/drawingml/2006/main">
            <a:off x="4572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9B98B8DF-CD87-4BEC-BD37-808E72CD6957}"/>
              </a:ext>
            </a:extLst>
          </p:cNvPr>
          <p:cNvSpPr>
            <a:spLocks xmlns:a="http://schemas.openxmlformats.org/drawingml/2006/main" noGrp="1"/>
          </p:cNvSpPr>
          <p:nvPr/>
        </p:nvSpPr>
        <p:spPr>
          <a:xfrm xmlns:a="http://schemas.openxmlformats.org/drawingml/2006/main">
            <a:off x="6667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SPEED</a:t>
            </a:r>
          </a:p>
        </p:txBody>
      </p:sp>
      <p:sp>
        <p:nvSpPr>
          <p:cNvPr id="9" name="">
            <a:extLst xmlns:a="http://schemas.openxmlformats.org/drawingml/2006/main">
              <a:ext uri="{FF2B5EF4-FFF2-40B4-BE49-F238E27FC236}">
                <a16:creationId xmlns:a16="http://schemas.microsoft.com/office/drawing/2014/main" id="{CCEE06AE-D800-407A-A0B0-2475AB3FC0AF}"/>
              </a:ext>
            </a:extLst>
          </p:cNvPr>
          <p:cNvSpPr>
            <a:spLocks xmlns:a="http://schemas.openxmlformats.org/drawingml/2006/main" noGrp="1"/>
          </p:cNvSpPr>
          <p:nvPr/>
        </p:nvSpPr>
        <p:spPr>
          <a:xfrm xmlns:a="http://schemas.openxmlformats.org/drawingml/2006/main">
            <a:off x="6667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≤30 sec</a:t>
            </a:r>
          </a:p>
        </p:txBody>
      </p:sp>
      <p:sp>
        <p:nvSpPr>
          <p:cNvPr id="10" name="">
            <a:extLst xmlns:a="http://schemas.openxmlformats.org/drawingml/2006/main">
              <a:ext uri="{FF2B5EF4-FFF2-40B4-BE49-F238E27FC236}">
                <a16:creationId xmlns:a16="http://schemas.microsoft.com/office/drawing/2014/main" id="{032B57AF-1BAF-46D8-8B4E-B24061CB2A26}"/>
              </a:ext>
            </a:extLst>
          </p:cNvPr>
          <p:cNvSpPr>
            <a:spLocks xmlns:a="http://schemas.openxmlformats.org/drawingml/2006/main" noGrp="1"/>
          </p:cNvSpPr>
          <p:nvPr/>
        </p:nvSpPr>
        <p:spPr>
          <a:xfrm xmlns:a="http://schemas.openxmlformats.org/drawingml/2006/main">
            <a:off x="6667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Brief target for each company</a:t>
            </a:r>
          </a:p>
        </p:txBody>
      </p:sp>
      <p:sp>
        <p:nvSpPr>
          <p:cNvPr id="11" name="">
            <a:extLst xmlns:a="http://schemas.openxmlformats.org/drawingml/2006/main">
              <a:ext uri="{FF2B5EF4-FFF2-40B4-BE49-F238E27FC236}">
                <a16:creationId xmlns:a16="http://schemas.microsoft.com/office/drawing/2014/main" id="{C54EE160-B2FE-4724-B4DB-29B4F6C94ED8}"/>
              </a:ext>
            </a:extLst>
          </p:cNvPr>
          <p:cNvSpPr>
            <a:spLocks xmlns:a="http://schemas.openxmlformats.org/drawingml/2006/main" noGrp="1"/>
          </p:cNvSpPr>
          <p:nvPr/>
        </p:nvSpPr>
        <p:spPr>
          <a:xfrm xmlns:a="http://schemas.openxmlformats.org/drawingml/2006/main">
            <a:off x="32194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E103A2B5-5C9B-4684-88A5-D7E54E104F02}"/>
              </a:ext>
            </a:extLst>
          </p:cNvPr>
          <p:cNvSpPr>
            <a:spLocks xmlns:a="http://schemas.openxmlformats.org/drawingml/2006/main" noGrp="1"/>
          </p:cNvSpPr>
          <p:nvPr/>
        </p:nvSpPr>
        <p:spPr>
          <a:xfrm xmlns:a="http://schemas.openxmlformats.org/drawingml/2006/main">
            <a:off x="34290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SOURCE CHECK</a:t>
            </a:r>
          </a:p>
        </p:txBody>
      </p:sp>
      <p:sp>
        <p:nvSpPr>
          <p:cNvPr id="13" name="">
            <a:extLst xmlns:a="http://schemas.openxmlformats.org/drawingml/2006/main">
              <a:ext uri="{FF2B5EF4-FFF2-40B4-BE49-F238E27FC236}">
                <a16:creationId xmlns:a16="http://schemas.microsoft.com/office/drawing/2014/main" id="{9FCDF1D5-5421-492D-BFC5-2AC7138E96FF}"/>
              </a:ext>
            </a:extLst>
          </p:cNvPr>
          <p:cNvSpPr>
            <a:spLocks xmlns:a="http://schemas.openxmlformats.org/drawingml/2006/main" noGrp="1"/>
          </p:cNvSpPr>
          <p:nvPr/>
        </p:nvSpPr>
        <p:spPr>
          <a:xfrm xmlns:a="http://schemas.openxmlformats.org/drawingml/2006/main">
            <a:off x="34290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2850" b="1">
                <a:solidFill>
                  <a:srgbClr val="101828"/>
                </a:solidFill>
                <a:latin typeface="Helvetica Neue"/>
                <a:ea typeface="Helvetica Neue"/>
                <a:cs typeface="Helvetica Neue"/>
              </a:rPr>
              <a:t>Required</a:t>
            </a:r>
          </a:p>
        </p:txBody>
      </p:sp>
      <p:sp>
        <p:nvSpPr>
          <p:cNvPr id="14" name="">
            <a:extLst xmlns:a="http://schemas.openxmlformats.org/drawingml/2006/main">
              <a:ext uri="{FF2B5EF4-FFF2-40B4-BE49-F238E27FC236}">
                <a16:creationId xmlns:a16="http://schemas.microsoft.com/office/drawing/2014/main" id="{96F3C4E3-ACED-4D21-A3E1-834E7E3DD175}"/>
              </a:ext>
            </a:extLst>
          </p:cNvPr>
          <p:cNvSpPr>
            <a:spLocks xmlns:a="http://schemas.openxmlformats.org/drawingml/2006/main" noGrp="1"/>
          </p:cNvSpPr>
          <p:nvPr/>
        </p:nvSpPr>
        <p:spPr>
          <a:xfrm xmlns:a="http://schemas.openxmlformats.org/drawingml/2006/main">
            <a:off x="34290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Source, date, excerpt, and original record</a:t>
            </a:r>
          </a:p>
        </p:txBody>
      </p:sp>
      <p:sp>
        <p:nvSpPr>
          <p:cNvPr id="15" name="">
            <a:extLst xmlns:a="http://schemas.openxmlformats.org/drawingml/2006/main">
              <a:ext uri="{FF2B5EF4-FFF2-40B4-BE49-F238E27FC236}">
                <a16:creationId xmlns:a16="http://schemas.microsoft.com/office/drawing/2014/main" id="{A7E65777-4F36-4020-AF7C-22F413271467}"/>
              </a:ext>
            </a:extLst>
          </p:cNvPr>
          <p:cNvSpPr>
            <a:spLocks xmlns:a="http://schemas.openxmlformats.org/drawingml/2006/main" noGrp="1"/>
          </p:cNvSpPr>
          <p:nvPr/>
        </p:nvSpPr>
        <p:spPr>
          <a:xfrm xmlns:a="http://schemas.openxmlformats.org/drawingml/2006/main">
            <a:off x="59817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468EA405-4A26-4F28-9A03-279E84257E69}"/>
              </a:ext>
            </a:extLst>
          </p:cNvPr>
          <p:cNvSpPr>
            <a:spLocks xmlns:a="http://schemas.openxmlformats.org/drawingml/2006/main" noGrp="1"/>
          </p:cNvSpPr>
          <p:nvPr/>
        </p:nvSpPr>
        <p:spPr>
          <a:xfrm xmlns:a="http://schemas.openxmlformats.org/drawingml/2006/main">
            <a:off x="61912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ISOLATION</a:t>
            </a:r>
          </a:p>
        </p:txBody>
      </p:sp>
      <p:sp>
        <p:nvSpPr>
          <p:cNvPr id="17" name="">
            <a:extLst xmlns:a="http://schemas.openxmlformats.org/drawingml/2006/main">
              <a:ext uri="{FF2B5EF4-FFF2-40B4-BE49-F238E27FC236}">
                <a16:creationId xmlns:a16="http://schemas.microsoft.com/office/drawing/2014/main" id="{D8BE85FE-503D-42CD-9E11-C9853F789DE1}"/>
              </a:ext>
            </a:extLst>
          </p:cNvPr>
          <p:cNvSpPr>
            <a:spLocks xmlns:a="http://schemas.openxmlformats.org/drawingml/2006/main" noGrp="1"/>
          </p:cNvSpPr>
          <p:nvPr/>
        </p:nvSpPr>
        <p:spPr>
          <a:xfrm xmlns:a="http://schemas.openxmlformats.org/drawingml/2006/main">
            <a:off x="61912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0</a:t>
            </a:r>
          </a:p>
        </p:txBody>
      </p:sp>
      <p:sp>
        <p:nvSpPr>
          <p:cNvPr id="18" name="">
            <a:extLst xmlns:a="http://schemas.openxmlformats.org/drawingml/2006/main">
              <a:ext uri="{FF2B5EF4-FFF2-40B4-BE49-F238E27FC236}">
                <a16:creationId xmlns:a16="http://schemas.microsoft.com/office/drawing/2014/main" id="{8B3D565A-3552-4FDC-9339-4D2454B4C0FA}"/>
              </a:ext>
            </a:extLst>
          </p:cNvPr>
          <p:cNvSpPr>
            <a:spLocks xmlns:a="http://schemas.openxmlformats.org/drawingml/2006/main" noGrp="1"/>
          </p:cNvSpPr>
          <p:nvPr/>
        </p:nvSpPr>
        <p:spPr>
          <a:xfrm xmlns:a="http://schemas.openxmlformats.org/drawingml/2006/main">
            <a:off x="61912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Records from another company</a:t>
            </a:r>
          </a:p>
        </p:txBody>
      </p:sp>
      <p:sp>
        <p:nvSpPr>
          <p:cNvPr id="19" name="">
            <a:extLst xmlns:a="http://schemas.openxmlformats.org/drawingml/2006/main">
              <a:ext uri="{FF2B5EF4-FFF2-40B4-BE49-F238E27FC236}">
                <a16:creationId xmlns:a16="http://schemas.microsoft.com/office/drawing/2014/main" id="{21909835-C000-476D-BE4E-86B6A009FC7F}"/>
              </a:ext>
            </a:extLst>
          </p:cNvPr>
          <p:cNvSpPr>
            <a:spLocks xmlns:a="http://schemas.openxmlformats.org/drawingml/2006/main" noGrp="1"/>
          </p:cNvSpPr>
          <p:nvPr/>
        </p:nvSpPr>
        <p:spPr>
          <a:xfrm xmlns:a="http://schemas.openxmlformats.org/drawingml/2006/main">
            <a:off x="87439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4D12D1C-71C7-4D5E-841E-35CE6D175B78}"/>
              </a:ext>
            </a:extLst>
          </p:cNvPr>
          <p:cNvSpPr>
            <a:spLocks xmlns:a="http://schemas.openxmlformats.org/drawingml/2006/main" noGrp="1"/>
          </p:cNvSpPr>
          <p:nvPr/>
        </p:nvSpPr>
        <p:spPr>
          <a:xfrm xmlns:a="http://schemas.openxmlformats.org/drawingml/2006/main">
            <a:off x="89535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USEFULNESS</a:t>
            </a:r>
          </a:p>
        </p:txBody>
      </p:sp>
      <p:sp>
        <p:nvSpPr>
          <p:cNvPr id="21" name="">
            <a:extLst xmlns:a="http://schemas.openxmlformats.org/drawingml/2006/main">
              <a:ext uri="{FF2B5EF4-FFF2-40B4-BE49-F238E27FC236}">
                <a16:creationId xmlns:a16="http://schemas.microsoft.com/office/drawing/2014/main" id="{F686A3A3-BAF9-4CEC-BA6B-8E7459E7CB1A}"/>
              </a:ext>
            </a:extLst>
          </p:cNvPr>
          <p:cNvSpPr>
            <a:spLocks xmlns:a="http://schemas.openxmlformats.org/drawingml/2006/main" noGrp="1"/>
          </p:cNvSpPr>
          <p:nvPr/>
        </p:nvSpPr>
        <p:spPr>
          <a:xfrm xmlns:a="http://schemas.openxmlformats.org/drawingml/2006/main">
            <a:off x="89535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≥4/5</a:t>
            </a:r>
          </a:p>
        </p:txBody>
      </p:sp>
      <p:sp>
        <p:nvSpPr>
          <p:cNvPr id="22" name="">
            <a:extLst xmlns:a="http://schemas.openxmlformats.org/drawingml/2006/main">
              <a:ext uri="{FF2B5EF4-FFF2-40B4-BE49-F238E27FC236}">
                <a16:creationId xmlns:a16="http://schemas.microsoft.com/office/drawing/2014/main" id="{98A790D2-D307-426F-AFF6-4F296FCAF988}"/>
              </a:ext>
            </a:extLst>
          </p:cNvPr>
          <p:cNvSpPr>
            <a:spLocks xmlns:a="http://schemas.openxmlformats.org/drawingml/2006/main" noGrp="1"/>
          </p:cNvSpPr>
          <p:nvPr/>
        </p:nvSpPr>
        <p:spPr>
          <a:xfrm xmlns:a="http://schemas.openxmlformats.org/drawingml/2006/main">
            <a:off x="89535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Pilot target; not measured</a:t>
            </a:r>
          </a:p>
        </p:txBody>
      </p:sp>
      <p:sp>
        <p:nvSpPr>
          <p:cNvPr id="23" name="">
            <a:extLst xmlns:a="http://schemas.openxmlformats.org/drawingml/2006/main">
              <a:ext uri="{FF2B5EF4-FFF2-40B4-BE49-F238E27FC236}">
                <a16:creationId xmlns:a16="http://schemas.microsoft.com/office/drawing/2014/main" id="{25EC7D7C-6E01-4D17-AA83-D2DB3D6F5810}"/>
              </a:ext>
            </a:extLst>
          </p:cNvPr>
          <p:cNvSpPr>
            <a:spLocks xmlns:a="http://schemas.openxmlformats.org/drawingml/2006/main" noGrp="1"/>
          </p:cNvSpPr>
          <p:nvPr/>
        </p:nvSpPr>
        <p:spPr>
          <a:xfrm xmlns:a="http://schemas.openxmlformats.org/drawingml/2006/main">
            <a:off x="457200" y="52197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Core stories: get a brief · understand the company · check a statement · report a problem</a:t>
            </a:r>
          </a:p>
        </p:txBody>
      </p:sp>
      <p:sp>
        <p:nvSpPr>
          <p:cNvPr id="24" name="">
            <a:extLst xmlns:a="http://schemas.openxmlformats.org/drawingml/2006/main">
              <a:ext uri="{FF2B5EF4-FFF2-40B4-BE49-F238E27FC236}">
                <a16:creationId xmlns:a16="http://schemas.microsoft.com/office/drawing/2014/main" id="{4C39101A-94C4-48DC-82B6-88D1BEEA99D4}"/>
              </a:ext>
            </a:extLst>
          </p:cNvPr>
          <p:cNvSpPr>
            <a:spLocks xmlns:a="http://schemas.openxmlformats.org/drawingml/2006/main" noGrp="1"/>
          </p:cNvSpPr>
          <p:nvPr/>
        </p:nvSpPr>
        <p:spPr>
          <a:xfrm xmlns:a="http://schemas.openxmlformats.org/drawingml/2006/main">
            <a:off x="457200" y="56388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Good enough means a small internal pilot with approved sources, a reference set, validated source access, and a feedback owner.</a:t>
            </a:r>
          </a:p>
        </p:txBody>
      </p:sp>
    </p:spTree>
    <p:extLst>
      <p:ext uri="{BB962C8B-B14F-4D97-AF65-F5344CB8AC3E}">
        <p14:creationId xmlns:p14="http://schemas.microsoft.com/office/powerpoint/2010/main" val="1483308295"/>
      </p:ext>
    </p:extLst>
  </p:cSld>
</p:sld>
</file>

<file path=ppt/slides/slide10.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53" name="">
            <a:extLst xmlns:a="http://schemas.openxmlformats.org/drawingml/2006/main">
              <a:ext uri="{FF2B5EF4-FFF2-40B4-BE49-F238E27FC236}">
                <a16:creationId xmlns:a16="http://schemas.microsoft.com/office/drawing/2014/main" id="{D90E6CAA-500E-48FE-9B53-5F49A30A4FA3}"/>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700" b="1">
                <a:solidFill>
                  <a:srgbClr val="101828"/>
                </a:solidFill>
                <a:latin typeface="Helvetica Neue"/>
                <a:ea typeface="Helvetica Neue"/>
                <a:cs typeface="Helvetica Neue"/>
              </a:rPr>
              <a:t>What runs in Lens today, and what is planned?</a:t>
            </a:r>
          </a:p>
        </p:txBody>
      </p:sp>
      <p:sp>
        <p:nvSpPr>
          <p:cNvPr id="2" name="">
            <a:extLst xmlns:a="http://schemas.openxmlformats.org/drawingml/2006/main">
              <a:ext uri="{FF2B5EF4-FFF2-40B4-BE49-F238E27FC236}">
                <a16:creationId xmlns:a16="http://schemas.microsoft.com/office/drawing/2014/main" id="{EF65C2A4-B64B-4D22-95C8-408BF13E2BC9}"/>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80FF9FAF-5706-4922-868C-E24C4C57357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10</a:t>
            </a:r>
          </a:p>
        </p:txBody>
      </p:sp>
      <p:sp>
        <p:nvSpPr>
          <p:cNvPr id="4" name="">
            <a:extLst xmlns:a="http://schemas.openxmlformats.org/drawingml/2006/main">
              <a:ext uri="{FF2B5EF4-FFF2-40B4-BE49-F238E27FC236}">
                <a16:creationId xmlns:a16="http://schemas.microsoft.com/office/drawing/2014/main" id="{685A96E9-6F50-4414-A07D-C76C7C79E4EB}"/>
              </a:ext>
            </a:extLst>
          </p:cNvPr>
          <p:cNvSpPr>
            <a:spLocks xmlns:a="http://schemas.openxmlformats.org/drawingml/2006/main" noGrp="1"/>
          </p:cNvSpPr>
          <p:nvPr/>
        </p:nvSpPr>
        <p:spPr>
          <a:xfrm xmlns:a="http://schemas.openxmlformats.org/drawingml/2006/main">
            <a:off x="457200" y="1485900"/>
            <a:ext cx="5219700" cy="4343400"/>
          </a:xfrm>
          <a:prstGeom xmlns:a="http://schemas.openxmlformats.org/drawingml/2006/main" prst="roundRect">
            <a:avLst>
              <a:gd name="adj" fmla="val 3947"/>
            </a:avLst>
          </a:prstGeom>
          <a:solidFill xmlns:a="http://schemas.openxmlformats.org/drawingml/2006/main">
            <a:srgbClr val="FFFFFF"/>
          </a:solidFill>
          <a:ln xmlns:a="http://schemas.openxmlformats.org/drawingml/2006/main" w="9525">
            <a:solidFill>
              <a:srgbClr val="D0D5DD"/>
            </a:solidFill>
            <a:prstDash val="solid"/>
          </a:ln>
        </p:spPr>
      </p:sp>
      <p:sp>
        <p:nvSpPr>
          <p:cNvPr id="5" name="">
            <a:extLst xmlns:a="http://schemas.openxmlformats.org/drawingml/2006/main">
              <a:ext uri="{FF2B5EF4-FFF2-40B4-BE49-F238E27FC236}">
                <a16:creationId xmlns:a16="http://schemas.microsoft.com/office/drawing/2014/main" id="{CC29C1BE-B33B-46AA-942D-A837CDBDCB70}"/>
              </a:ext>
            </a:extLst>
          </p:cNvPr>
          <p:cNvSpPr>
            <a:spLocks xmlns:a="http://schemas.openxmlformats.org/drawingml/2006/main" noGrp="1"/>
          </p:cNvSpPr>
          <p:nvPr/>
        </p:nvSpPr>
        <p:spPr>
          <a:xfrm xmlns:a="http://schemas.openxmlformats.org/drawingml/2006/main">
            <a:off x="685800" y="1714500"/>
            <a:ext cx="1428750" cy="28575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6" name="">
            <a:extLst xmlns:a="http://schemas.openxmlformats.org/drawingml/2006/main">
              <a:ext uri="{FF2B5EF4-FFF2-40B4-BE49-F238E27FC236}">
                <a16:creationId xmlns:a16="http://schemas.microsoft.com/office/drawing/2014/main" id="{6C4A0D09-9F63-4B9A-84FC-C3CD0BD85944}"/>
              </a:ext>
            </a:extLst>
          </p:cNvPr>
          <p:cNvSpPr>
            <a:spLocks xmlns:a="http://schemas.openxmlformats.org/drawingml/2006/main" noGrp="1"/>
          </p:cNvSpPr>
          <p:nvPr/>
        </p:nvSpPr>
        <p:spPr>
          <a:xfrm xmlns:a="http://schemas.openxmlformats.org/drawingml/2006/main">
            <a:off x="800100" y="1762125"/>
            <a:ext cx="12001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247A59"/>
                </a:solidFill>
                <a:latin typeface="Helvetica Neue"/>
                <a:ea typeface="Helvetica Neue"/>
                <a:cs typeface="Helvetica Neue"/>
              </a:defRPr>
            </a:pPr>
            <a:r>
              <a:rPr sz="1050" b="1">
                <a:solidFill>
                  <a:srgbClr val="247A59"/>
                </a:solidFill>
                <a:latin typeface="Helvetica Neue"/>
                <a:ea typeface="Helvetica Neue"/>
                <a:cs typeface="Helvetica Neue"/>
              </a:rPr>
              <a:t>RUNS TODAY</a:t>
            </a:r>
          </a:p>
        </p:txBody>
      </p:sp>
      <p:sp>
        <p:nvSpPr>
          <p:cNvPr id="7" name="">
            <a:extLst xmlns:a="http://schemas.openxmlformats.org/drawingml/2006/main">
              <a:ext uri="{FF2B5EF4-FFF2-40B4-BE49-F238E27FC236}">
                <a16:creationId xmlns:a16="http://schemas.microsoft.com/office/drawing/2014/main" id="{DE53C278-8683-4E98-84E7-96A510C3F44E}"/>
              </a:ext>
            </a:extLst>
          </p:cNvPr>
          <p:cNvSpPr>
            <a:spLocks xmlns:a="http://schemas.openxmlformats.org/drawingml/2006/main" noGrp="1"/>
          </p:cNvSpPr>
          <p:nvPr/>
        </p:nvSpPr>
        <p:spPr>
          <a:xfrm xmlns:a="http://schemas.openxmlformats.org/drawingml/2006/main">
            <a:off x="685800" y="22669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8" name="">
            <a:extLst xmlns:a="http://schemas.openxmlformats.org/drawingml/2006/main">
              <a:ext uri="{FF2B5EF4-FFF2-40B4-BE49-F238E27FC236}">
                <a16:creationId xmlns:a16="http://schemas.microsoft.com/office/drawing/2014/main" id="{C03B9381-0A59-414C-BEEB-8E714A7336CF}"/>
              </a:ext>
            </a:extLst>
          </p:cNvPr>
          <p:cNvSpPr>
            <a:spLocks xmlns:a="http://schemas.openxmlformats.org/drawingml/2006/main" noGrp="1"/>
          </p:cNvSpPr>
          <p:nvPr/>
        </p:nvSpPr>
        <p:spPr>
          <a:xfrm xmlns:a="http://schemas.openxmlformats.org/drawingml/2006/main">
            <a:off x="742950" y="22955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9" name="">
            <a:extLst xmlns:a="http://schemas.openxmlformats.org/drawingml/2006/main">
              <a:ext uri="{FF2B5EF4-FFF2-40B4-BE49-F238E27FC236}">
                <a16:creationId xmlns:a16="http://schemas.microsoft.com/office/drawing/2014/main" id="{1B2FE6B0-320C-417E-8A1A-879419763A56}"/>
              </a:ext>
            </a:extLst>
          </p:cNvPr>
          <p:cNvSpPr>
            <a:spLocks xmlns:a="http://schemas.openxmlformats.org/drawingml/2006/main" noGrp="1"/>
          </p:cNvSpPr>
          <p:nvPr/>
        </p:nvSpPr>
        <p:spPr>
          <a:xfrm xmlns:a="http://schemas.openxmlformats.org/drawingml/2006/main">
            <a:off x="1104900" y="22479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Interface and API routes</a:t>
            </a:r>
          </a:p>
        </p:txBody>
      </p:sp>
      <p:sp>
        <p:nvSpPr>
          <p:cNvPr id="10" name="">
            <a:extLst xmlns:a="http://schemas.openxmlformats.org/drawingml/2006/main">
              <a:ext uri="{FF2B5EF4-FFF2-40B4-BE49-F238E27FC236}">
                <a16:creationId xmlns:a16="http://schemas.microsoft.com/office/drawing/2014/main" id="{97B51185-F006-48A4-A1C8-28FF6BD765B9}"/>
              </a:ext>
            </a:extLst>
          </p:cNvPr>
          <p:cNvSpPr>
            <a:spLocks xmlns:a="http://schemas.openxmlformats.org/drawingml/2006/main" noGrp="1"/>
          </p:cNvSpPr>
          <p:nvPr/>
        </p:nvSpPr>
        <p:spPr>
          <a:xfrm xmlns:a="http://schemas.openxmlformats.org/drawingml/2006/main">
            <a:off x="1104900" y="25336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1" name="">
            <a:extLst xmlns:a="http://schemas.openxmlformats.org/drawingml/2006/main">
              <a:ext uri="{FF2B5EF4-FFF2-40B4-BE49-F238E27FC236}">
                <a16:creationId xmlns:a16="http://schemas.microsoft.com/office/drawing/2014/main" id="{E612B173-A7EC-4AE9-BA73-C0E5AFE0B9BA}"/>
              </a:ext>
            </a:extLst>
          </p:cNvPr>
          <p:cNvSpPr>
            <a:spLocks xmlns:a="http://schemas.openxmlformats.org/drawingml/2006/main" noGrp="1"/>
          </p:cNvSpPr>
          <p:nvPr/>
        </p:nvSpPr>
        <p:spPr>
          <a:xfrm xmlns:a="http://schemas.openxmlformats.org/drawingml/2006/main">
            <a:off x="685800" y="27241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12" name="">
            <a:extLst xmlns:a="http://schemas.openxmlformats.org/drawingml/2006/main">
              <a:ext uri="{FF2B5EF4-FFF2-40B4-BE49-F238E27FC236}">
                <a16:creationId xmlns:a16="http://schemas.microsoft.com/office/drawing/2014/main" id="{4BEEC2F2-A405-4817-AF78-149C32ABC816}"/>
              </a:ext>
            </a:extLst>
          </p:cNvPr>
          <p:cNvSpPr>
            <a:spLocks xmlns:a="http://schemas.openxmlformats.org/drawingml/2006/main" noGrp="1"/>
          </p:cNvSpPr>
          <p:nvPr/>
        </p:nvSpPr>
        <p:spPr>
          <a:xfrm xmlns:a="http://schemas.openxmlformats.org/drawingml/2006/main">
            <a:off x="742950" y="27527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13" name="">
            <a:extLst xmlns:a="http://schemas.openxmlformats.org/drawingml/2006/main">
              <a:ext uri="{FF2B5EF4-FFF2-40B4-BE49-F238E27FC236}">
                <a16:creationId xmlns:a16="http://schemas.microsoft.com/office/drawing/2014/main" id="{049E349C-8886-4F72-895A-080D41700841}"/>
              </a:ext>
            </a:extLst>
          </p:cNvPr>
          <p:cNvSpPr>
            <a:spLocks xmlns:a="http://schemas.openxmlformats.org/drawingml/2006/main" noGrp="1"/>
          </p:cNvSpPr>
          <p:nvPr/>
        </p:nvSpPr>
        <p:spPr>
          <a:xfrm xmlns:a="http://schemas.openxmlformats.org/drawingml/2006/main">
            <a:off x="1104900" y="27051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PostgreSQL schema and manual file import</a:t>
            </a:r>
          </a:p>
        </p:txBody>
      </p:sp>
      <p:sp>
        <p:nvSpPr>
          <p:cNvPr id="14" name="">
            <a:extLst xmlns:a="http://schemas.openxmlformats.org/drawingml/2006/main">
              <a:ext uri="{FF2B5EF4-FFF2-40B4-BE49-F238E27FC236}">
                <a16:creationId xmlns:a16="http://schemas.microsoft.com/office/drawing/2014/main" id="{FC908AEA-2316-4C8A-A666-4AA153866861}"/>
              </a:ext>
            </a:extLst>
          </p:cNvPr>
          <p:cNvSpPr>
            <a:spLocks xmlns:a="http://schemas.openxmlformats.org/drawingml/2006/main" noGrp="1"/>
          </p:cNvSpPr>
          <p:nvPr/>
        </p:nvSpPr>
        <p:spPr>
          <a:xfrm xmlns:a="http://schemas.openxmlformats.org/drawingml/2006/main">
            <a:off x="1104900" y="29908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5" name="">
            <a:extLst xmlns:a="http://schemas.openxmlformats.org/drawingml/2006/main">
              <a:ext uri="{FF2B5EF4-FFF2-40B4-BE49-F238E27FC236}">
                <a16:creationId xmlns:a16="http://schemas.microsoft.com/office/drawing/2014/main" id="{68621680-B99C-4BF6-845E-85CB22E48266}"/>
              </a:ext>
            </a:extLst>
          </p:cNvPr>
          <p:cNvSpPr>
            <a:spLocks xmlns:a="http://schemas.openxmlformats.org/drawingml/2006/main" noGrp="1"/>
          </p:cNvSpPr>
          <p:nvPr/>
        </p:nvSpPr>
        <p:spPr>
          <a:xfrm xmlns:a="http://schemas.openxmlformats.org/drawingml/2006/main">
            <a:off x="685800" y="31813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16" name="">
            <a:extLst xmlns:a="http://schemas.openxmlformats.org/drawingml/2006/main">
              <a:ext uri="{FF2B5EF4-FFF2-40B4-BE49-F238E27FC236}">
                <a16:creationId xmlns:a16="http://schemas.microsoft.com/office/drawing/2014/main" id="{5975CE81-A386-4156-8944-6514F223EB08}"/>
              </a:ext>
            </a:extLst>
          </p:cNvPr>
          <p:cNvSpPr>
            <a:spLocks xmlns:a="http://schemas.openxmlformats.org/drawingml/2006/main" noGrp="1"/>
          </p:cNvSpPr>
          <p:nvPr/>
        </p:nvSpPr>
        <p:spPr>
          <a:xfrm xmlns:a="http://schemas.openxmlformats.org/drawingml/2006/main">
            <a:off x="742950" y="32099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17" name="">
            <a:extLst xmlns:a="http://schemas.openxmlformats.org/drawingml/2006/main">
              <a:ext uri="{FF2B5EF4-FFF2-40B4-BE49-F238E27FC236}">
                <a16:creationId xmlns:a16="http://schemas.microsoft.com/office/drawing/2014/main" id="{59DB7FFD-012D-4084-9042-F42B6A456FC9}"/>
              </a:ext>
            </a:extLst>
          </p:cNvPr>
          <p:cNvSpPr>
            <a:spLocks xmlns:a="http://schemas.openxmlformats.org/drawingml/2006/main" noGrp="1"/>
          </p:cNvSpPr>
          <p:nvPr/>
        </p:nvSpPr>
        <p:spPr>
          <a:xfrm xmlns:a="http://schemas.openxmlformats.org/drawingml/2006/main">
            <a:off x="1104900" y="31623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OpenAI embeddings and repeat-import control</a:t>
            </a:r>
          </a:p>
        </p:txBody>
      </p:sp>
      <p:sp>
        <p:nvSpPr>
          <p:cNvPr id="18" name="">
            <a:extLst xmlns:a="http://schemas.openxmlformats.org/drawingml/2006/main">
              <a:ext uri="{FF2B5EF4-FFF2-40B4-BE49-F238E27FC236}">
                <a16:creationId xmlns:a16="http://schemas.microsoft.com/office/drawing/2014/main" id="{9EE911C2-60EA-4D64-ADFB-9C0D32EA7A8F}"/>
              </a:ext>
            </a:extLst>
          </p:cNvPr>
          <p:cNvSpPr>
            <a:spLocks xmlns:a="http://schemas.openxmlformats.org/drawingml/2006/main" noGrp="1"/>
          </p:cNvSpPr>
          <p:nvPr/>
        </p:nvSpPr>
        <p:spPr>
          <a:xfrm xmlns:a="http://schemas.openxmlformats.org/drawingml/2006/main">
            <a:off x="1104900" y="34480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9" name="">
            <a:extLst xmlns:a="http://schemas.openxmlformats.org/drawingml/2006/main">
              <a:ext uri="{FF2B5EF4-FFF2-40B4-BE49-F238E27FC236}">
                <a16:creationId xmlns:a16="http://schemas.microsoft.com/office/drawing/2014/main" id="{13A374E0-12CE-473D-B264-DF803B1B3121}"/>
              </a:ext>
            </a:extLst>
          </p:cNvPr>
          <p:cNvSpPr>
            <a:spLocks xmlns:a="http://schemas.openxmlformats.org/drawingml/2006/main" noGrp="1"/>
          </p:cNvSpPr>
          <p:nvPr/>
        </p:nvSpPr>
        <p:spPr>
          <a:xfrm xmlns:a="http://schemas.openxmlformats.org/drawingml/2006/main">
            <a:off x="685800" y="36385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0" name="">
            <a:extLst xmlns:a="http://schemas.openxmlformats.org/drawingml/2006/main">
              <a:ext uri="{FF2B5EF4-FFF2-40B4-BE49-F238E27FC236}">
                <a16:creationId xmlns:a16="http://schemas.microsoft.com/office/drawing/2014/main" id="{82E8644C-357A-42C4-A9E2-8D942C679D9E}"/>
              </a:ext>
            </a:extLst>
          </p:cNvPr>
          <p:cNvSpPr>
            <a:spLocks xmlns:a="http://schemas.openxmlformats.org/drawingml/2006/main" noGrp="1"/>
          </p:cNvSpPr>
          <p:nvPr/>
        </p:nvSpPr>
        <p:spPr>
          <a:xfrm xmlns:a="http://schemas.openxmlformats.org/drawingml/2006/main">
            <a:off x="742950" y="36671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1" name="">
            <a:extLst xmlns:a="http://schemas.openxmlformats.org/drawingml/2006/main">
              <a:ext uri="{FF2B5EF4-FFF2-40B4-BE49-F238E27FC236}">
                <a16:creationId xmlns:a16="http://schemas.microsoft.com/office/drawing/2014/main" id="{5C472E48-41BE-48B1-9388-CD31E3C9EE4A}"/>
              </a:ext>
            </a:extLst>
          </p:cNvPr>
          <p:cNvSpPr>
            <a:spLocks xmlns:a="http://schemas.openxmlformats.org/drawingml/2006/main" noGrp="1"/>
          </p:cNvSpPr>
          <p:nvPr/>
        </p:nvSpPr>
        <p:spPr>
          <a:xfrm xmlns:a="http://schemas.openxmlformats.org/drawingml/2006/main">
            <a:off x="1104900" y="36195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Company-scoped retrieval and gpt-5.6-sol</a:t>
            </a:r>
          </a:p>
        </p:txBody>
      </p:sp>
      <p:sp>
        <p:nvSpPr>
          <p:cNvPr id="22" name="">
            <a:extLst xmlns:a="http://schemas.openxmlformats.org/drawingml/2006/main">
              <a:ext uri="{FF2B5EF4-FFF2-40B4-BE49-F238E27FC236}">
                <a16:creationId xmlns:a16="http://schemas.microsoft.com/office/drawing/2014/main" id="{EF1B4B12-A52A-4E4C-BAA9-3BAC2F5D9972}"/>
              </a:ext>
            </a:extLst>
          </p:cNvPr>
          <p:cNvSpPr>
            <a:spLocks xmlns:a="http://schemas.openxmlformats.org/drawingml/2006/main" noGrp="1"/>
          </p:cNvSpPr>
          <p:nvPr/>
        </p:nvSpPr>
        <p:spPr>
          <a:xfrm xmlns:a="http://schemas.openxmlformats.org/drawingml/2006/main">
            <a:off x="1104900" y="39052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3" name="">
            <a:extLst xmlns:a="http://schemas.openxmlformats.org/drawingml/2006/main">
              <a:ext uri="{FF2B5EF4-FFF2-40B4-BE49-F238E27FC236}">
                <a16:creationId xmlns:a16="http://schemas.microsoft.com/office/drawing/2014/main" id="{33741759-6443-44CC-A10F-B90743822CFE}"/>
              </a:ext>
            </a:extLst>
          </p:cNvPr>
          <p:cNvSpPr>
            <a:spLocks xmlns:a="http://schemas.openxmlformats.org/drawingml/2006/main" noGrp="1"/>
          </p:cNvSpPr>
          <p:nvPr/>
        </p:nvSpPr>
        <p:spPr>
          <a:xfrm xmlns:a="http://schemas.openxmlformats.org/drawingml/2006/main">
            <a:off x="685800" y="40957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4" name="">
            <a:extLst xmlns:a="http://schemas.openxmlformats.org/drawingml/2006/main">
              <a:ext uri="{FF2B5EF4-FFF2-40B4-BE49-F238E27FC236}">
                <a16:creationId xmlns:a16="http://schemas.microsoft.com/office/drawing/2014/main" id="{AB907E69-39BA-4CC1-8FD2-4E5B52C5A90C}"/>
              </a:ext>
            </a:extLst>
          </p:cNvPr>
          <p:cNvSpPr>
            <a:spLocks xmlns:a="http://schemas.openxmlformats.org/drawingml/2006/main" noGrp="1"/>
          </p:cNvSpPr>
          <p:nvPr/>
        </p:nvSpPr>
        <p:spPr>
          <a:xfrm xmlns:a="http://schemas.openxmlformats.org/drawingml/2006/main">
            <a:off x="742950" y="41243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5" name="">
            <a:extLst xmlns:a="http://schemas.openxmlformats.org/drawingml/2006/main">
              <a:ext uri="{FF2B5EF4-FFF2-40B4-BE49-F238E27FC236}">
                <a16:creationId xmlns:a16="http://schemas.microsoft.com/office/drawing/2014/main" id="{E6B2F385-472E-4D2F-AC6E-4CBF8A780C78}"/>
              </a:ext>
            </a:extLst>
          </p:cNvPr>
          <p:cNvSpPr>
            <a:spLocks xmlns:a="http://schemas.openxmlformats.org/drawingml/2006/main" noGrp="1"/>
          </p:cNvSpPr>
          <p:nvPr/>
        </p:nvSpPr>
        <p:spPr>
          <a:xfrm xmlns:a="http://schemas.openxmlformats.org/drawingml/2006/main">
            <a:off x="1104900" y="40767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Strict schema, citations, and source drill-down</a:t>
            </a:r>
          </a:p>
        </p:txBody>
      </p:sp>
      <p:sp>
        <p:nvSpPr>
          <p:cNvPr id="26" name="">
            <a:extLst xmlns:a="http://schemas.openxmlformats.org/drawingml/2006/main">
              <a:ext uri="{FF2B5EF4-FFF2-40B4-BE49-F238E27FC236}">
                <a16:creationId xmlns:a16="http://schemas.microsoft.com/office/drawing/2014/main" id="{A4A0DB9C-186C-4B5C-A333-E8E632450401}"/>
              </a:ext>
            </a:extLst>
          </p:cNvPr>
          <p:cNvSpPr>
            <a:spLocks xmlns:a="http://schemas.openxmlformats.org/drawingml/2006/main" noGrp="1"/>
          </p:cNvSpPr>
          <p:nvPr/>
        </p:nvSpPr>
        <p:spPr>
          <a:xfrm xmlns:a="http://schemas.openxmlformats.org/drawingml/2006/main">
            <a:off x="1104900" y="43624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7" name="">
            <a:extLst xmlns:a="http://schemas.openxmlformats.org/drawingml/2006/main">
              <a:ext uri="{FF2B5EF4-FFF2-40B4-BE49-F238E27FC236}">
                <a16:creationId xmlns:a16="http://schemas.microsoft.com/office/drawing/2014/main" id="{CD8FE40C-07C3-4860-AFAD-62721E67A5A9}"/>
              </a:ext>
            </a:extLst>
          </p:cNvPr>
          <p:cNvSpPr>
            <a:spLocks xmlns:a="http://schemas.openxmlformats.org/drawingml/2006/main" noGrp="1"/>
          </p:cNvSpPr>
          <p:nvPr/>
        </p:nvSpPr>
        <p:spPr>
          <a:xfrm xmlns:a="http://schemas.openxmlformats.org/drawingml/2006/main">
            <a:off x="685800" y="45529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8" name="">
            <a:extLst xmlns:a="http://schemas.openxmlformats.org/drawingml/2006/main">
              <a:ext uri="{FF2B5EF4-FFF2-40B4-BE49-F238E27FC236}">
                <a16:creationId xmlns:a16="http://schemas.microsoft.com/office/drawing/2014/main" id="{240D9B71-DFC8-477C-9D82-9CA578FF2CA8}"/>
              </a:ext>
            </a:extLst>
          </p:cNvPr>
          <p:cNvSpPr>
            <a:spLocks xmlns:a="http://schemas.openxmlformats.org/drawingml/2006/main" noGrp="1"/>
          </p:cNvSpPr>
          <p:nvPr/>
        </p:nvSpPr>
        <p:spPr>
          <a:xfrm xmlns:a="http://schemas.openxmlformats.org/drawingml/2006/main">
            <a:off x="742950" y="45815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9" name="">
            <a:extLst xmlns:a="http://schemas.openxmlformats.org/drawingml/2006/main">
              <a:ext uri="{FF2B5EF4-FFF2-40B4-BE49-F238E27FC236}">
                <a16:creationId xmlns:a16="http://schemas.microsoft.com/office/drawing/2014/main" id="{FF6354B8-5995-4C82-B3CC-540234CDFD0D}"/>
              </a:ext>
            </a:extLst>
          </p:cNvPr>
          <p:cNvSpPr>
            <a:spLocks xmlns:a="http://schemas.openxmlformats.org/drawingml/2006/main" noGrp="1"/>
          </p:cNvSpPr>
          <p:nvPr/>
        </p:nvSpPr>
        <p:spPr>
          <a:xfrm xmlns:a="http://schemas.openxmlformats.org/drawingml/2006/main">
            <a:off x="1104900" y="45339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Local fallback and saved brief audit</a:t>
            </a:r>
          </a:p>
        </p:txBody>
      </p:sp>
      <p:sp>
        <p:nvSpPr>
          <p:cNvPr id="30" name="">
            <a:extLst xmlns:a="http://schemas.openxmlformats.org/drawingml/2006/main">
              <a:ext uri="{FF2B5EF4-FFF2-40B4-BE49-F238E27FC236}">
                <a16:creationId xmlns:a16="http://schemas.microsoft.com/office/drawing/2014/main" id="{329B6427-62E0-482F-97D3-63254171C4AD}"/>
              </a:ext>
            </a:extLst>
          </p:cNvPr>
          <p:cNvSpPr>
            <a:spLocks xmlns:a="http://schemas.openxmlformats.org/drawingml/2006/main" noGrp="1"/>
          </p:cNvSpPr>
          <p:nvPr/>
        </p:nvSpPr>
        <p:spPr>
          <a:xfrm xmlns:a="http://schemas.openxmlformats.org/drawingml/2006/main">
            <a:off x="1104900" y="48196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31" name="">
            <a:extLst xmlns:a="http://schemas.openxmlformats.org/drawingml/2006/main">
              <a:ext uri="{FF2B5EF4-FFF2-40B4-BE49-F238E27FC236}">
                <a16:creationId xmlns:a16="http://schemas.microsoft.com/office/drawing/2014/main" id="{A1275246-0B5E-4F0B-B242-D7609D78ED76}"/>
              </a:ext>
            </a:extLst>
          </p:cNvPr>
          <p:cNvSpPr>
            <a:spLocks xmlns:a="http://schemas.openxmlformats.org/drawingml/2006/main" noGrp="1"/>
          </p:cNvSpPr>
          <p:nvPr/>
        </p:nvSpPr>
        <p:spPr>
          <a:xfrm xmlns:a="http://schemas.openxmlformats.org/drawingml/2006/main">
            <a:off x="685800" y="50101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32" name="">
            <a:extLst xmlns:a="http://schemas.openxmlformats.org/drawingml/2006/main">
              <a:ext uri="{FF2B5EF4-FFF2-40B4-BE49-F238E27FC236}">
                <a16:creationId xmlns:a16="http://schemas.microsoft.com/office/drawing/2014/main" id="{6C41D126-2EA4-4C3D-9014-D4D23225A808}"/>
              </a:ext>
            </a:extLst>
          </p:cNvPr>
          <p:cNvSpPr>
            <a:spLocks xmlns:a="http://schemas.openxmlformats.org/drawingml/2006/main" noGrp="1"/>
          </p:cNvSpPr>
          <p:nvPr/>
        </p:nvSpPr>
        <p:spPr>
          <a:xfrm xmlns:a="http://schemas.openxmlformats.org/drawingml/2006/main">
            <a:off x="742950" y="50387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33" name="">
            <a:extLst xmlns:a="http://schemas.openxmlformats.org/drawingml/2006/main">
              <a:ext uri="{FF2B5EF4-FFF2-40B4-BE49-F238E27FC236}">
                <a16:creationId xmlns:a16="http://schemas.microsoft.com/office/drawing/2014/main" id="{169CFD4E-A3DD-411F-AA46-D2AC09D3F113}"/>
              </a:ext>
            </a:extLst>
          </p:cNvPr>
          <p:cNvSpPr>
            <a:spLocks xmlns:a="http://schemas.openxmlformats.org/drawingml/2006/main" noGrp="1"/>
          </p:cNvSpPr>
          <p:nvPr/>
        </p:nvSpPr>
        <p:spPr>
          <a:xfrm xmlns:a="http://schemas.openxmlformats.org/drawingml/2006/main">
            <a:off x="1104900" y="49911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Good, Bad, and Wrong feedback capture</a:t>
            </a:r>
          </a:p>
        </p:txBody>
      </p:sp>
      <p:sp>
        <p:nvSpPr>
          <p:cNvPr id="34" name="">
            <a:extLst xmlns:a="http://schemas.openxmlformats.org/drawingml/2006/main">
              <a:ext uri="{FF2B5EF4-FFF2-40B4-BE49-F238E27FC236}">
                <a16:creationId xmlns:a16="http://schemas.microsoft.com/office/drawing/2014/main" id="{56CE7EB0-3F29-4D3F-B156-2B90B615CA29}"/>
              </a:ext>
            </a:extLst>
          </p:cNvPr>
          <p:cNvSpPr>
            <a:spLocks xmlns:a="http://schemas.openxmlformats.org/drawingml/2006/main" noGrp="1"/>
          </p:cNvSpPr>
          <p:nvPr/>
        </p:nvSpPr>
        <p:spPr>
          <a:xfrm xmlns:a="http://schemas.openxmlformats.org/drawingml/2006/main">
            <a:off x="1104900" y="52768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35" name="">
            <a:extLst xmlns:a="http://schemas.openxmlformats.org/drawingml/2006/main">
              <a:ext uri="{FF2B5EF4-FFF2-40B4-BE49-F238E27FC236}">
                <a16:creationId xmlns:a16="http://schemas.microsoft.com/office/drawing/2014/main" id="{0156AC8E-7EBB-4E1C-AAA4-F25E6FA6D44C}"/>
              </a:ext>
            </a:extLst>
          </p:cNvPr>
          <p:cNvSpPr>
            <a:spLocks xmlns:a="http://schemas.openxmlformats.org/drawingml/2006/main" noGrp="1"/>
          </p:cNvSpPr>
          <p:nvPr/>
        </p:nvSpPr>
        <p:spPr>
          <a:xfrm xmlns:a="http://schemas.openxmlformats.org/drawingml/2006/main">
            <a:off x="5905500" y="1485900"/>
            <a:ext cx="5410200" cy="4343400"/>
          </a:xfrm>
          <a:prstGeom xmlns:a="http://schemas.openxmlformats.org/drawingml/2006/main" prst="roundRect">
            <a:avLst>
              <a:gd name="adj" fmla="val 3947"/>
            </a:avLst>
          </a:prstGeom>
          <a:solidFill xmlns:a="http://schemas.openxmlformats.org/drawingml/2006/main">
            <a:srgbClr val="F2F4F7"/>
          </a:solidFill>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E8036B47-CE47-4FF4-A4D9-7A84C31F61DD}"/>
              </a:ext>
            </a:extLst>
          </p:cNvPr>
          <p:cNvSpPr>
            <a:spLocks xmlns:a="http://schemas.openxmlformats.org/drawingml/2006/main" noGrp="1"/>
          </p:cNvSpPr>
          <p:nvPr/>
        </p:nvSpPr>
        <p:spPr>
          <a:xfrm xmlns:a="http://schemas.openxmlformats.org/drawingml/2006/main">
            <a:off x="6134100" y="1714500"/>
            <a:ext cx="1809750" cy="285750"/>
          </a:xfrm>
          <a:prstGeom xmlns:a="http://schemas.openxmlformats.org/drawingml/2006/main" prst="roundRect">
            <a:avLst>
              <a:gd name="adj" fmla="val 50000"/>
            </a:avLst>
          </a:prstGeom>
          <a:solidFill xmlns:a="http://schemas.openxmlformats.org/drawingml/2006/main">
            <a:srgbClr val="FFF4E5"/>
          </a:solidFill>
          <a:ln xmlns:a="http://schemas.openxmlformats.org/drawingml/2006/main" w="9525">
            <a:solidFill>
              <a:srgbClr val="F4C78E"/>
            </a:solidFill>
            <a:prstDash val="solid"/>
          </a:ln>
        </p:spPr>
      </p:sp>
      <p:sp>
        <p:nvSpPr>
          <p:cNvPr id="37" name="">
            <a:extLst xmlns:a="http://schemas.openxmlformats.org/drawingml/2006/main">
              <a:ext uri="{FF2B5EF4-FFF2-40B4-BE49-F238E27FC236}">
                <a16:creationId xmlns:a16="http://schemas.microsoft.com/office/drawing/2014/main" id="{1B2960AD-1486-4714-AECB-C71207E1F6A4}"/>
              </a:ext>
            </a:extLst>
          </p:cNvPr>
          <p:cNvSpPr>
            <a:spLocks xmlns:a="http://schemas.openxmlformats.org/drawingml/2006/main" noGrp="1"/>
          </p:cNvSpPr>
          <p:nvPr/>
        </p:nvSpPr>
        <p:spPr>
          <a:xfrm xmlns:a="http://schemas.openxmlformats.org/drawingml/2006/main">
            <a:off x="6248400" y="1762125"/>
            <a:ext cx="15811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B54708"/>
                </a:solidFill>
                <a:latin typeface="Helvetica Neue"/>
                <a:ea typeface="Helvetica Neue"/>
                <a:cs typeface="Helvetica Neue"/>
              </a:defRPr>
            </a:pPr>
            <a:r>
              <a:rPr sz="1050" b="1">
                <a:solidFill>
                  <a:srgbClr val="B54708"/>
                </a:solidFill>
                <a:latin typeface="Helvetica Neue"/>
                <a:ea typeface="Helvetica Neue"/>
                <a:cs typeface="Helvetica Neue"/>
              </a:rPr>
              <a:t>DEMO BOUNDARY</a:t>
            </a:r>
          </a:p>
        </p:txBody>
      </p:sp>
      <p:sp>
        <p:nvSpPr>
          <p:cNvPr id="38" name="">
            <a:extLst xmlns:a="http://schemas.openxmlformats.org/drawingml/2006/main">
              <a:ext uri="{FF2B5EF4-FFF2-40B4-BE49-F238E27FC236}">
                <a16:creationId xmlns:a16="http://schemas.microsoft.com/office/drawing/2014/main" id="{618CDEE8-CD3F-4DBF-BC1C-80E64C71901F}"/>
              </a:ext>
            </a:extLst>
          </p:cNvPr>
          <p:cNvSpPr>
            <a:spLocks xmlns:a="http://schemas.openxmlformats.org/drawingml/2006/main" noGrp="1"/>
          </p:cNvSpPr>
          <p:nvPr/>
        </p:nvSpPr>
        <p:spPr>
          <a:xfrm xmlns:a="http://schemas.openxmlformats.org/drawingml/2006/main">
            <a:off x="6153150" y="23622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39" name="">
            <a:extLst xmlns:a="http://schemas.openxmlformats.org/drawingml/2006/main">
              <a:ext uri="{FF2B5EF4-FFF2-40B4-BE49-F238E27FC236}">
                <a16:creationId xmlns:a16="http://schemas.microsoft.com/office/drawing/2014/main" id="{098399F3-F9ED-4555-80C8-6CDC3A2ABF5E}"/>
              </a:ext>
            </a:extLst>
          </p:cNvPr>
          <p:cNvSpPr>
            <a:spLocks xmlns:a="http://schemas.openxmlformats.org/drawingml/2006/main" noGrp="1"/>
          </p:cNvSpPr>
          <p:nvPr/>
        </p:nvSpPr>
        <p:spPr>
          <a:xfrm xmlns:a="http://schemas.openxmlformats.org/drawingml/2006/main">
            <a:off x="6362700" y="22955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10 fictional companies</a:t>
            </a:r>
          </a:p>
        </p:txBody>
      </p:sp>
      <p:sp>
        <p:nvSpPr>
          <p:cNvPr id="40" name="">
            <a:extLst xmlns:a="http://schemas.openxmlformats.org/drawingml/2006/main">
              <a:ext uri="{FF2B5EF4-FFF2-40B4-BE49-F238E27FC236}">
                <a16:creationId xmlns:a16="http://schemas.microsoft.com/office/drawing/2014/main" id="{08A9FCAC-8F3D-418D-B6A1-F89B906AF108}"/>
              </a:ext>
            </a:extLst>
          </p:cNvPr>
          <p:cNvSpPr>
            <a:spLocks xmlns:a="http://schemas.openxmlformats.org/drawingml/2006/main" noGrp="1"/>
          </p:cNvSpPr>
          <p:nvPr/>
        </p:nvSpPr>
        <p:spPr>
          <a:xfrm xmlns:a="http://schemas.openxmlformats.org/drawingml/2006/main">
            <a:off x="6153150" y="28194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1" name="">
            <a:extLst xmlns:a="http://schemas.openxmlformats.org/drawingml/2006/main">
              <a:ext uri="{FF2B5EF4-FFF2-40B4-BE49-F238E27FC236}">
                <a16:creationId xmlns:a16="http://schemas.microsoft.com/office/drawing/2014/main" id="{B89A3839-1695-415E-ADAD-3FC055C1718F}"/>
              </a:ext>
            </a:extLst>
          </p:cNvPr>
          <p:cNvSpPr>
            <a:spLocks xmlns:a="http://schemas.openxmlformats.org/drawingml/2006/main" noGrp="1"/>
          </p:cNvSpPr>
          <p:nvPr/>
        </p:nvSpPr>
        <p:spPr>
          <a:xfrm xmlns:a="http://schemas.openxmlformats.org/drawingml/2006/main">
            <a:off x="6362700" y="27527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Source-supported local rules remain as the failure fallback</a:t>
            </a:r>
          </a:p>
        </p:txBody>
      </p:sp>
      <p:sp>
        <p:nvSpPr>
          <p:cNvPr id="42" name="">
            <a:extLst xmlns:a="http://schemas.openxmlformats.org/drawingml/2006/main">
              <a:ext uri="{FF2B5EF4-FFF2-40B4-BE49-F238E27FC236}">
                <a16:creationId xmlns:a16="http://schemas.microsoft.com/office/drawing/2014/main" id="{94BA962C-B23C-46F0-B890-7AF5E8CC6C28}"/>
              </a:ext>
            </a:extLst>
          </p:cNvPr>
          <p:cNvSpPr>
            <a:spLocks xmlns:a="http://schemas.openxmlformats.org/drawingml/2006/main" noGrp="1"/>
          </p:cNvSpPr>
          <p:nvPr/>
        </p:nvSpPr>
        <p:spPr>
          <a:xfrm xmlns:a="http://schemas.openxmlformats.org/drawingml/2006/main">
            <a:off x="6153150" y="32766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3" name="">
            <a:extLst xmlns:a="http://schemas.openxmlformats.org/drawingml/2006/main">
              <a:ext uri="{FF2B5EF4-FFF2-40B4-BE49-F238E27FC236}">
                <a16:creationId xmlns:a16="http://schemas.microsoft.com/office/drawing/2014/main" id="{9536D5C5-691D-46F0-83CE-BA6B9D8F4D6D}"/>
              </a:ext>
            </a:extLst>
          </p:cNvPr>
          <p:cNvSpPr>
            <a:spLocks xmlns:a="http://schemas.openxmlformats.org/drawingml/2006/main" noGrp="1"/>
          </p:cNvSpPr>
          <p:nvPr/>
        </p:nvSpPr>
        <p:spPr>
          <a:xfrm xmlns:a="http://schemas.openxmlformats.org/drawingml/2006/main">
            <a:off x="6362700" y="32099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Static files, local PostgreSQL, and a fixed date</a:t>
            </a:r>
          </a:p>
        </p:txBody>
      </p:sp>
      <p:sp>
        <p:nvSpPr>
          <p:cNvPr id="44" name="">
            <a:extLst xmlns:a="http://schemas.openxmlformats.org/drawingml/2006/main">
              <a:ext uri="{FF2B5EF4-FFF2-40B4-BE49-F238E27FC236}">
                <a16:creationId xmlns:a16="http://schemas.microsoft.com/office/drawing/2014/main" id="{7B9A0E37-CACC-4EFD-836F-5AF091EEEDCF}"/>
              </a:ext>
            </a:extLst>
          </p:cNvPr>
          <p:cNvSpPr>
            <a:spLocks xmlns:a="http://schemas.openxmlformats.org/drawingml/2006/main" noGrp="1"/>
          </p:cNvSpPr>
          <p:nvPr/>
        </p:nvSpPr>
        <p:spPr>
          <a:xfrm xmlns:a="http://schemas.openxmlformats.org/drawingml/2006/main">
            <a:off x="6153150" y="37338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5" name="">
            <a:extLst xmlns:a="http://schemas.openxmlformats.org/drawingml/2006/main">
              <a:ext uri="{FF2B5EF4-FFF2-40B4-BE49-F238E27FC236}">
                <a16:creationId xmlns:a16="http://schemas.microsoft.com/office/drawing/2014/main" id="{D0354110-2FB3-4544-9BF4-14A3A73CAB95}"/>
              </a:ext>
            </a:extLst>
          </p:cNvPr>
          <p:cNvSpPr>
            <a:spLocks xmlns:a="http://schemas.openxmlformats.org/drawingml/2006/main" noGrp="1"/>
          </p:cNvSpPr>
          <p:nvPr/>
        </p:nvSpPr>
        <p:spPr>
          <a:xfrm xmlns:a="http://schemas.openxmlformats.org/drawingml/2006/main">
            <a:off x="6362700" y="36671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OpenAI embeddings use fictional demo text</a:t>
            </a:r>
          </a:p>
        </p:txBody>
      </p:sp>
      <p:sp>
        <p:nvSpPr>
          <p:cNvPr id="46" name="">
            <a:extLst xmlns:a="http://schemas.openxmlformats.org/drawingml/2006/main">
              <a:ext uri="{FF2B5EF4-FFF2-40B4-BE49-F238E27FC236}">
                <a16:creationId xmlns:a16="http://schemas.microsoft.com/office/drawing/2014/main" id="{5B4CB06D-F6A2-46FA-B243-DA73C237D185}"/>
              </a:ext>
            </a:extLst>
          </p:cNvPr>
          <p:cNvSpPr>
            <a:spLocks xmlns:a="http://schemas.openxmlformats.org/drawingml/2006/main" noGrp="1"/>
          </p:cNvSpPr>
          <p:nvPr/>
        </p:nvSpPr>
        <p:spPr>
          <a:xfrm xmlns:a="http://schemas.openxmlformats.org/drawingml/2006/main">
            <a:off x="6153150" y="41910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7" name="">
            <a:extLst xmlns:a="http://schemas.openxmlformats.org/drawingml/2006/main">
              <a:ext uri="{FF2B5EF4-FFF2-40B4-BE49-F238E27FC236}">
                <a16:creationId xmlns:a16="http://schemas.microsoft.com/office/drawing/2014/main" id="{63C9D8ED-30F2-4E3E-AD9B-AB4BC1017ABE}"/>
              </a:ext>
            </a:extLst>
          </p:cNvPr>
          <p:cNvSpPr>
            <a:spLocks xmlns:a="http://schemas.openxmlformats.org/drawingml/2006/main" noGrp="1"/>
          </p:cNvSpPr>
          <p:nvPr/>
        </p:nvSpPr>
        <p:spPr>
          <a:xfrm xmlns:a="http://schemas.openxmlformats.org/drawingml/2006/main">
            <a:off x="6362700" y="41243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gpt-5.6-sol and Responses API are active for briefs</a:t>
            </a:r>
          </a:p>
        </p:txBody>
      </p:sp>
      <p:sp>
        <p:nvSpPr>
          <p:cNvPr id="48" name="">
            <a:extLst xmlns:a="http://schemas.openxmlformats.org/drawingml/2006/main">
              <a:ext uri="{FF2B5EF4-FFF2-40B4-BE49-F238E27FC236}">
                <a16:creationId xmlns:a16="http://schemas.microsoft.com/office/drawing/2014/main" id="{F8355BF9-C88B-4D73-8354-02EE9009C6D6}"/>
              </a:ext>
            </a:extLst>
          </p:cNvPr>
          <p:cNvSpPr>
            <a:spLocks xmlns:a="http://schemas.openxmlformats.org/drawingml/2006/main" noGrp="1"/>
          </p:cNvSpPr>
          <p:nvPr/>
        </p:nvSpPr>
        <p:spPr>
          <a:xfrm xmlns:a="http://schemas.openxmlformats.org/drawingml/2006/main">
            <a:off x="6153150" y="46482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9" name="">
            <a:extLst xmlns:a="http://schemas.openxmlformats.org/drawingml/2006/main">
              <a:ext uri="{FF2B5EF4-FFF2-40B4-BE49-F238E27FC236}">
                <a16:creationId xmlns:a16="http://schemas.microsoft.com/office/drawing/2014/main" id="{42E33EBE-F4FC-4200-BE63-29A8041FA684}"/>
              </a:ext>
            </a:extLst>
          </p:cNvPr>
          <p:cNvSpPr>
            <a:spLocks xmlns:a="http://schemas.openxmlformats.org/drawingml/2006/main" noGrp="1"/>
          </p:cNvSpPr>
          <p:nvPr/>
        </p:nvSpPr>
        <p:spPr>
          <a:xfrm xmlns:a="http://schemas.openxmlformats.org/drawingml/2006/main">
            <a:off x="6362700" y="45815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015"/>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No automatic source watcher, live connectors, or filings adapter</a:t>
            </a:r>
          </a:p>
        </p:txBody>
      </p:sp>
      <p:sp>
        <p:nvSpPr>
          <p:cNvPr id="50" name="">
            <a:extLst xmlns:a="http://schemas.openxmlformats.org/drawingml/2006/main">
              <a:ext uri="{FF2B5EF4-FFF2-40B4-BE49-F238E27FC236}">
                <a16:creationId xmlns:a16="http://schemas.microsoft.com/office/drawing/2014/main" id="{323388CF-7281-4DF1-A442-E2A94DB705AB}"/>
              </a:ext>
            </a:extLst>
          </p:cNvPr>
          <p:cNvSpPr>
            <a:spLocks xmlns:a="http://schemas.openxmlformats.org/drawingml/2006/main" noGrp="1"/>
          </p:cNvSpPr>
          <p:nvPr/>
        </p:nvSpPr>
        <p:spPr>
          <a:xfrm xmlns:a="http://schemas.openxmlformats.org/drawingml/2006/main">
            <a:off x="6153150" y="51054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51" name="">
            <a:extLst xmlns:a="http://schemas.openxmlformats.org/drawingml/2006/main">
              <a:ext uri="{FF2B5EF4-FFF2-40B4-BE49-F238E27FC236}">
                <a16:creationId xmlns:a16="http://schemas.microsoft.com/office/drawing/2014/main" id="{AEEC6469-660B-4EB7-877D-E5FB3002905F}"/>
              </a:ext>
            </a:extLst>
          </p:cNvPr>
          <p:cNvSpPr>
            <a:spLocks xmlns:a="http://schemas.openxmlformats.org/drawingml/2006/main" noGrp="1"/>
          </p:cNvSpPr>
          <p:nvPr/>
        </p:nvSpPr>
        <p:spPr>
          <a:xfrm xmlns:a="http://schemas.openxmlformats.org/drawingml/2006/main">
            <a:off x="6362700" y="50387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8"/>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No sign-in, access rules, schedule, webhook, or reviewer screen</a:t>
            </a:r>
          </a:p>
        </p:txBody>
      </p:sp>
      <p:sp>
        <p:nvSpPr>
          <p:cNvPr id="52" name="">
            <a:extLst xmlns:a="http://schemas.openxmlformats.org/drawingml/2006/main">
              <a:ext uri="{FF2B5EF4-FFF2-40B4-BE49-F238E27FC236}">
                <a16:creationId xmlns:a16="http://schemas.microsoft.com/office/drawing/2014/main" id="{AC2FCDB2-CCE1-4F3F-81ED-1CB32DC4F115}"/>
              </a:ext>
            </a:extLst>
          </p:cNvPr>
          <p:cNvSpPr>
            <a:spLocks xmlns:a="http://schemas.openxmlformats.org/drawingml/2006/main" noGrp="1"/>
          </p:cNvSpPr>
          <p:nvPr/>
        </p:nvSpPr>
        <p:spPr>
          <a:xfrm xmlns:a="http://schemas.openxmlformats.org/drawingml/2006/main">
            <a:off x="6134100" y="54102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1200" b="1">
                <a:solidFill>
                  <a:srgbClr val="B54708"/>
                </a:solidFill>
                <a:latin typeface="Helvetica Neue"/>
                <a:ea typeface="Helvetica Neue"/>
                <a:cs typeface="Helvetica Neue"/>
              </a:defRPr>
            </a:pPr>
            <a:r>
              <a:rPr sz="1200" b="1">
                <a:solidFill>
                  <a:srgbClr val="B54708"/>
                </a:solidFill>
                <a:latin typeface="Helvetica Neue"/>
                <a:ea typeface="Helvetica Neue"/>
                <a:cs typeface="Helvetica Neue"/>
              </a:rPr>
              <a:t>OpenAI receives fictional text only. It receives no raw JSON or unrelated company records.</a:t>
            </a:r>
          </a:p>
        </p:txBody>
      </p:sp>
    </p:spTree>
    <p:extLst>
      <p:ext uri="{BB962C8B-B14F-4D97-AF65-F5344CB8AC3E}">
        <p14:creationId xmlns:p14="http://schemas.microsoft.com/office/powerpoint/2010/main" val="26650751"/>
      </p:ext>
    </p:extLst>
  </p:cSld>
</p:sld>
</file>

<file path=ppt/slides/slide1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48A21C7-CE03-4BC4-898F-2976E47ACF7A}"/>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554"/>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would two people reach an internal pilot in eight weeks?</a:t>
            </a:r>
          </a:p>
        </p:txBody>
      </p:sp>
      <p:sp>
        <p:nvSpPr>
          <p:cNvPr id="2" name="">
            <a:extLst xmlns:a="http://schemas.openxmlformats.org/drawingml/2006/main">
              <a:ext uri="{FF2B5EF4-FFF2-40B4-BE49-F238E27FC236}">
                <a16:creationId xmlns:a16="http://schemas.microsoft.com/office/drawing/2014/main" id="{09B70858-4A35-41AC-BA4E-97385B0D613C}"/>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6932D16F-3E93-49C8-A083-E6763E45CD1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11</a:t>
            </a:r>
          </a:p>
        </p:txBody>
      </p:sp>
      <p:sp>
        <p:nvSpPr>
          <p:cNvPr id="4" name="">
            <a:extLst xmlns:a="http://schemas.openxmlformats.org/drawingml/2006/main">
              <a:ext uri="{FF2B5EF4-FFF2-40B4-BE49-F238E27FC236}">
                <a16:creationId xmlns:a16="http://schemas.microsoft.com/office/drawing/2014/main" id="{F6AA8900-8D83-489E-AEA5-4DF6BA250739}"/>
              </a:ext>
            </a:extLst>
          </p:cNvPr>
          <p:cNvSpPr>
            <a:spLocks xmlns:a="http://schemas.openxmlformats.org/drawingml/2006/main" noGrp="1"/>
          </p:cNvSpPr>
          <p:nvPr/>
        </p:nvSpPr>
        <p:spPr>
          <a:xfrm xmlns:a="http://schemas.openxmlformats.org/drawingml/2006/main">
            <a:off x="1057275" y="2324100"/>
            <a:ext cx="9001125" cy="0"/>
          </a:xfrm>
          <a:prstGeom xmlns:a="http://schemas.openxmlformats.org/drawingml/2006/main" prst="line">
            <a:avLst/>
          </a:prstGeom>
          <a:noFill xmlns:a="http://schemas.openxmlformats.org/drawingml/2006/main"/>
          <a:ln xmlns:a="http://schemas.openxmlformats.org/drawingml/2006/main" w="28575">
            <a:solidFill>
              <a:srgbClr val="9CB5D5"/>
            </a:solidFill>
            <a:prstDash val="solid"/>
          </a:ln>
        </p:spPr>
      </p:sp>
      <p:sp>
        <p:nvSpPr>
          <p:cNvPr id="5" name="">
            <a:extLst xmlns:a="http://schemas.openxmlformats.org/drawingml/2006/main">
              <a:ext uri="{FF2B5EF4-FFF2-40B4-BE49-F238E27FC236}">
                <a16:creationId xmlns:a16="http://schemas.microsoft.com/office/drawing/2014/main" id="{20A0FB16-277A-415B-B0A6-8E73C2815796}"/>
              </a:ext>
            </a:extLst>
          </p:cNvPr>
          <p:cNvSpPr>
            <a:spLocks xmlns:a="http://schemas.openxmlformats.org/drawingml/2006/main" noGrp="1"/>
          </p:cNvSpPr>
          <p:nvPr/>
        </p:nvSpPr>
        <p:spPr>
          <a:xfrm xmlns:a="http://schemas.openxmlformats.org/drawingml/2006/main">
            <a:off x="147637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03049BA2-9994-4F21-94A5-B41BE3149E4E}"/>
              </a:ext>
            </a:extLst>
          </p:cNvPr>
          <p:cNvSpPr>
            <a:spLocks xmlns:a="http://schemas.openxmlformats.org/drawingml/2006/main" noGrp="1"/>
          </p:cNvSpPr>
          <p:nvPr/>
        </p:nvSpPr>
        <p:spPr>
          <a:xfrm xmlns:a="http://schemas.openxmlformats.org/drawingml/2006/main">
            <a:off x="45720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1F65D154-8701-4349-9AFF-7DA254E7C5CA}"/>
              </a:ext>
            </a:extLst>
          </p:cNvPr>
          <p:cNvSpPr>
            <a:spLocks xmlns:a="http://schemas.openxmlformats.org/drawingml/2006/main" noGrp="1"/>
          </p:cNvSpPr>
          <p:nvPr/>
        </p:nvSpPr>
        <p:spPr>
          <a:xfrm xmlns:a="http://schemas.openxmlformats.org/drawingml/2006/main">
            <a:off x="66675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900" b="1">
                <a:solidFill>
                  <a:srgbClr val="315F9F"/>
                </a:solidFill>
                <a:latin typeface="Helvetica Neue"/>
                <a:ea typeface="Helvetica Neue"/>
                <a:cs typeface="Helvetica Neue"/>
              </a:rPr>
              <a:t>PROPOSED · WEEKS 1–2</a:t>
            </a:r>
          </a:p>
        </p:txBody>
      </p:sp>
      <p:sp>
        <p:nvSpPr>
          <p:cNvPr id="8" name="">
            <a:extLst xmlns:a="http://schemas.openxmlformats.org/drawingml/2006/main">
              <a:ext uri="{FF2B5EF4-FFF2-40B4-BE49-F238E27FC236}">
                <a16:creationId xmlns:a16="http://schemas.microsoft.com/office/drawing/2014/main" id="{C64C3219-E26B-4090-B4AC-9A1D699133EC}"/>
              </a:ext>
            </a:extLst>
          </p:cNvPr>
          <p:cNvSpPr>
            <a:spLocks xmlns:a="http://schemas.openxmlformats.org/drawingml/2006/main" noGrp="1"/>
          </p:cNvSpPr>
          <p:nvPr/>
        </p:nvSpPr>
        <p:spPr>
          <a:xfrm xmlns:a="http://schemas.openxmlformats.org/drawingml/2006/main">
            <a:off x="66675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Build one source-to-brief path</a:t>
            </a:r>
          </a:p>
        </p:txBody>
      </p:sp>
      <p:sp>
        <p:nvSpPr>
          <p:cNvPr id="9" name="">
            <a:extLst xmlns:a="http://schemas.openxmlformats.org/drawingml/2006/main">
              <a:ext uri="{FF2B5EF4-FFF2-40B4-BE49-F238E27FC236}">
                <a16:creationId xmlns:a16="http://schemas.microsoft.com/office/drawing/2014/main" id="{EF101CF2-9E15-45BA-BEE2-9A4742BA8580}"/>
              </a:ext>
            </a:extLst>
          </p:cNvPr>
          <p:cNvSpPr>
            <a:spLocks xmlns:a="http://schemas.openxmlformats.org/drawingml/2006/main" noGrp="1"/>
          </p:cNvSpPr>
          <p:nvPr/>
        </p:nvSpPr>
        <p:spPr>
          <a:xfrm xmlns:a="http://schemas.openxmlformats.org/drawingml/2006/main">
            <a:off x="66675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contract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One-company slice</a:t>
            </a:r>
          </a:p>
        </p:txBody>
      </p:sp>
      <p:sp>
        <p:nvSpPr>
          <p:cNvPr id="10" name="">
            <a:extLst xmlns:a="http://schemas.openxmlformats.org/drawingml/2006/main">
              <a:ext uri="{FF2B5EF4-FFF2-40B4-BE49-F238E27FC236}">
                <a16:creationId xmlns:a16="http://schemas.microsoft.com/office/drawing/2014/main" id="{7AB3725A-8499-4B9F-902D-1547D90E1C54}"/>
              </a:ext>
            </a:extLst>
          </p:cNvPr>
          <p:cNvSpPr>
            <a:spLocks xmlns:a="http://schemas.openxmlformats.org/drawingml/2006/main" noGrp="1"/>
          </p:cNvSpPr>
          <p:nvPr/>
        </p:nvSpPr>
        <p:spPr>
          <a:xfrm xmlns:a="http://schemas.openxmlformats.org/drawingml/2006/main">
            <a:off x="421005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1" name="">
            <a:extLst xmlns:a="http://schemas.openxmlformats.org/drawingml/2006/main">
              <a:ext uri="{FF2B5EF4-FFF2-40B4-BE49-F238E27FC236}">
                <a16:creationId xmlns:a16="http://schemas.microsoft.com/office/drawing/2014/main" id="{913AFA8F-4649-4DC7-8F2E-34007EF14B85}"/>
              </a:ext>
            </a:extLst>
          </p:cNvPr>
          <p:cNvSpPr>
            <a:spLocks xmlns:a="http://schemas.openxmlformats.org/drawingml/2006/main" noGrp="1"/>
          </p:cNvSpPr>
          <p:nvPr/>
        </p:nvSpPr>
        <p:spPr>
          <a:xfrm xmlns:a="http://schemas.openxmlformats.org/drawingml/2006/main">
            <a:off x="319087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12" name="">
            <a:extLst xmlns:a="http://schemas.openxmlformats.org/drawingml/2006/main">
              <a:ext uri="{FF2B5EF4-FFF2-40B4-BE49-F238E27FC236}">
                <a16:creationId xmlns:a16="http://schemas.microsoft.com/office/drawing/2014/main" id="{FA8820BD-E9D8-4EE0-91EF-A42C6781D2EC}"/>
              </a:ext>
            </a:extLst>
          </p:cNvPr>
          <p:cNvSpPr>
            <a:spLocks xmlns:a="http://schemas.openxmlformats.org/drawingml/2006/main" noGrp="1"/>
          </p:cNvSpPr>
          <p:nvPr/>
        </p:nvSpPr>
        <p:spPr>
          <a:xfrm xmlns:a="http://schemas.openxmlformats.org/drawingml/2006/main">
            <a:off x="340042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3–4</a:t>
            </a:r>
          </a:p>
        </p:txBody>
      </p:sp>
      <p:sp>
        <p:nvSpPr>
          <p:cNvPr id="13" name="">
            <a:extLst xmlns:a="http://schemas.openxmlformats.org/drawingml/2006/main">
              <a:ext uri="{FF2B5EF4-FFF2-40B4-BE49-F238E27FC236}">
                <a16:creationId xmlns:a16="http://schemas.microsoft.com/office/drawing/2014/main" id="{D25C1FD4-F4A1-44A7-A1AC-BFCA9E9B513A}"/>
              </a:ext>
            </a:extLst>
          </p:cNvPr>
          <p:cNvSpPr>
            <a:spLocks xmlns:a="http://schemas.openxmlformats.org/drawingml/2006/main" noGrp="1"/>
          </p:cNvSpPr>
          <p:nvPr/>
        </p:nvSpPr>
        <p:spPr>
          <a:xfrm xmlns:a="http://schemas.openxmlformats.org/drawingml/2006/main">
            <a:off x="340042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Connect one approved source</a:t>
            </a:r>
          </a:p>
        </p:txBody>
      </p:sp>
      <p:sp>
        <p:nvSpPr>
          <p:cNvPr id="14" name="">
            <a:extLst xmlns:a="http://schemas.openxmlformats.org/drawingml/2006/main">
              <a:ext uri="{FF2B5EF4-FFF2-40B4-BE49-F238E27FC236}">
                <a16:creationId xmlns:a16="http://schemas.microsoft.com/office/drawing/2014/main" id="{D6F8C5E2-CF81-455B-A842-DB2C25910D2D}"/>
              </a:ext>
            </a:extLst>
          </p:cNvPr>
          <p:cNvSpPr>
            <a:spLocks xmlns:a="http://schemas.openxmlformats.org/drawingml/2006/main" noGrp="1"/>
          </p:cNvSpPr>
          <p:nvPr/>
        </p:nvSpPr>
        <p:spPr>
          <a:xfrm xmlns:a="http://schemas.openxmlformats.org/drawingml/2006/main">
            <a:off x="340042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Read-only connector</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Incremental import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Company mapping check</a:t>
            </a:r>
          </a:p>
        </p:txBody>
      </p:sp>
      <p:sp>
        <p:nvSpPr>
          <p:cNvPr id="15" name="">
            <a:extLst xmlns:a="http://schemas.openxmlformats.org/drawingml/2006/main">
              <a:ext uri="{FF2B5EF4-FFF2-40B4-BE49-F238E27FC236}">
                <a16:creationId xmlns:a16="http://schemas.microsoft.com/office/drawing/2014/main" id="{008777A7-B3A0-4F97-B3F1-99FA5E7A7BC0}"/>
              </a:ext>
            </a:extLst>
          </p:cNvPr>
          <p:cNvSpPr>
            <a:spLocks xmlns:a="http://schemas.openxmlformats.org/drawingml/2006/main" noGrp="1"/>
          </p:cNvSpPr>
          <p:nvPr/>
        </p:nvSpPr>
        <p:spPr>
          <a:xfrm xmlns:a="http://schemas.openxmlformats.org/drawingml/2006/main">
            <a:off x="694372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6" name="">
            <a:extLst xmlns:a="http://schemas.openxmlformats.org/drawingml/2006/main">
              <a:ext uri="{FF2B5EF4-FFF2-40B4-BE49-F238E27FC236}">
                <a16:creationId xmlns:a16="http://schemas.microsoft.com/office/drawing/2014/main" id="{85A70862-469D-415E-AC13-2BF4C28F4C7B}"/>
              </a:ext>
            </a:extLst>
          </p:cNvPr>
          <p:cNvSpPr>
            <a:spLocks xmlns:a="http://schemas.openxmlformats.org/drawingml/2006/main" noGrp="1"/>
          </p:cNvSpPr>
          <p:nvPr/>
        </p:nvSpPr>
        <p:spPr>
          <a:xfrm xmlns:a="http://schemas.openxmlformats.org/drawingml/2006/main">
            <a:off x="592455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2F40EFA4-B3E1-48E9-B048-F8D6BD7FAC88}"/>
              </a:ext>
            </a:extLst>
          </p:cNvPr>
          <p:cNvSpPr>
            <a:spLocks xmlns:a="http://schemas.openxmlformats.org/drawingml/2006/main" noGrp="1"/>
          </p:cNvSpPr>
          <p:nvPr/>
        </p:nvSpPr>
        <p:spPr>
          <a:xfrm xmlns:a="http://schemas.openxmlformats.org/drawingml/2006/main">
            <a:off x="613410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5–6</a:t>
            </a:r>
          </a:p>
        </p:txBody>
      </p:sp>
      <p:sp>
        <p:nvSpPr>
          <p:cNvPr id="18" name="">
            <a:extLst xmlns:a="http://schemas.openxmlformats.org/drawingml/2006/main">
              <a:ext uri="{FF2B5EF4-FFF2-40B4-BE49-F238E27FC236}">
                <a16:creationId xmlns:a16="http://schemas.microsoft.com/office/drawing/2014/main" id="{F0D4F2DF-06EE-4F15-A3C6-C8D3A96833D5}"/>
              </a:ext>
            </a:extLst>
          </p:cNvPr>
          <p:cNvSpPr>
            <a:spLocks xmlns:a="http://schemas.openxmlformats.org/drawingml/2006/main" noGrp="1"/>
          </p:cNvSpPr>
          <p:nvPr/>
        </p:nvSpPr>
        <p:spPr>
          <a:xfrm xmlns:a="http://schemas.openxmlformats.org/drawingml/2006/main">
            <a:off x="613410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4820"/>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Test retrieval and access</a:t>
            </a:r>
          </a:p>
        </p:txBody>
      </p:sp>
      <p:sp>
        <p:nvSpPr>
          <p:cNvPr id="19" name="">
            <a:extLst xmlns:a="http://schemas.openxmlformats.org/drawingml/2006/main">
              <a:ext uri="{FF2B5EF4-FFF2-40B4-BE49-F238E27FC236}">
                <a16:creationId xmlns:a16="http://schemas.microsoft.com/office/drawing/2014/main" id="{C5BE0EB4-D171-46D5-AE72-9983A065A3F5}"/>
              </a:ext>
            </a:extLst>
          </p:cNvPr>
          <p:cNvSpPr>
            <a:spLocks xmlns:a="http://schemas.openxmlformats.org/drawingml/2006/main" noGrp="1"/>
          </p:cNvSpPr>
          <p:nvPr/>
        </p:nvSpPr>
        <p:spPr>
          <a:xfrm xmlns:a="http://schemas.openxmlformats.org/drawingml/2006/main">
            <a:off x="613410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checks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Evaluated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Generation and fallback evaluation</a:t>
            </a:r>
          </a:p>
        </p:txBody>
      </p:sp>
      <p:sp>
        <p:nvSpPr>
          <p:cNvPr id="20" name="">
            <a:extLst xmlns:a="http://schemas.openxmlformats.org/drawingml/2006/main">
              <a:ext uri="{FF2B5EF4-FFF2-40B4-BE49-F238E27FC236}">
                <a16:creationId xmlns:a16="http://schemas.microsoft.com/office/drawing/2014/main" id="{1A32A016-7301-49CD-B90A-7D57F4D0D685}"/>
              </a:ext>
            </a:extLst>
          </p:cNvPr>
          <p:cNvSpPr>
            <a:spLocks xmlns:a="http://schemas.openxmlformats.org/drawingml/2006/main" noGrp="1"/>
          </p:cNvSpPr>
          <p:nvPr/>
        </p:nvSpPr>
        <p:spPr>
          <a:xfrm xmlns:a="http://schemas.openxmlformats.org/drawingml/2006/main">
            <a:off x="967740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21" name="">
            <a:extLst xmlns:a="http://schemas.openxmlformats.org/drawingml/2006/main">
              <a:ext uri="{FF2B5EF4-FFF2-40B4-BE49-F238E27FC236}">
                <a16:creationId xmlns:a16="http://schemas.microsoft.com/office/drawing/2014/main" id="{99FCB468-F74B-4357-9A52-E37407197048}"/>
              </a:ext>
            </a:extLst>
          </p:cNvPr>
          <p:cNvSpPr>
            <a:spLocks xmlns:a="http://schemas.openxmlformats.org/drawingml/2006/main" noGrp="1"/>
          </p:cNvSpPr>
          <p:nvPr/>
        </p:nvSpPr>
        <p:spPr>
          <a:xfrm xmlns:a="http://schemas.openxmlformats.org/drawingml/2006/main">
            <a:off x="865822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22" name="">
            <a:extLst xmlns:a="http://schemas.openxmlformats.org/drawingml/2006/main">
              <a:ext uri="{FF2B5EF4-FFF2-40B4-BE49-F238E27FC236}">
                <a16:creationId xmlns:a16="http://schemas.microsoft.com/office/drawing/2014/main" id="{6E06FC1C-4C98-4854-B230-8BE2949563A6}"/>
              </a:ext>
            </a:extLst>
          </p:cNvPr>
          <p:cNvSpPr>
            <a:spLocks xmlns:a="http://schemas.openxmlformats.org/drawingml/2006/main" noGrp="1"/>
          </p:cNvSpPr>
          <p:nvPr/>
        </p:nvSpPr>
        <p:spPr>
          <a:xfrm xmlns:a="http://schemas.openxmlformats.org/drawingml/2006/main">
            <a:off x="886777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7–8</a:t>
            </a:r>
          </a:p>
        </p:txBody>
      </p:sp>
      <p:sp>
        <p:nvSpPr>
          <p:cNvPr id="23" name="">
            <a:extLst xmlns:a="http://schemas.openxmlformats.org/drawingml/2006/main">
              <a:ext uri="{FF2B5EF4-FFF2-40B4-BE49-F238E27FC236}">
                <a16:creationId xmlns:a16="http://schemas.microsoft.com/office/drawing/2014/main" id="{3F5B3583-FB90-4EDE-95F5-3AE6193A1599}"/>
              </a:ext>
            </a:extLst>
          </p:cNvPr>
          <p:cNvSpPr>
            <a:spLocks xmlns:a="http://schemas.openxmlformats.org/drawingml/2006/main" noGrp="1"/>
          </p:cNvSpPr>
          <p:nvPr/>
        </p:nvSpPr>
        <p:spPr>
          <a:xfrm xmlns:a="http://schemas.openxmlformats.org/drawingml/2006/main">
            <a:off x="886777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Run the pilot and scale test</a:t>
            </a:r>
          </a:p>
        </p:txBody>
      </p:sp>
      <p:sp>
        <p:nvSpPr>
          <p:cNvPr id="24" name="">
            <a:extLst xmlns:a="http://schemas.openxmlformats.org/drawingml/2006/main">
              <a:ext uri="{FF2B5EF4-FFF2-40B4-BE49-F238E27FC236}">
                <a16:creationId xmlns:a16="http://schemas.microsoft.com/office/drawing/2014/main" id="{2A76C785-0332-4439-89D8-4C92564AB60F}"/>
              </a:ext>
            </a:extLst>
          </p:cNvPr>
          <p:cNvSpPr>
            <a:spLocks xmlns:a="http://schemas.openxmlformats.org/drawingml/2006/main" noGrp="1"/>
          </p:cNvSpPr>
          <p:nvPr/>
        </p:nvSpPr>
        <p:spPr>
          <a:xfrm xmlns:a="http://schemas.openxmlformats.org/drawingml/2006/main">
            <a:off x="886777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Monitoring</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250-company test and principal pilot</a:t>
            </a:r>
          </a:p>
        </p:txBody>
      </p:sp>
      <p:sp>
        <p:nvSpPr>
          <p:cNvPr id="25" name="">
            <a:extLst xmlns:a="http://schemas.openxmlformats.org/drawingml/2006/main">
              <a:ext uri="{FF2B5EF4-FFF2-40B4-BE49-F238E27FC236}">
                <a16:creationId xmlns:a16="http://schemas.microsoft.com/office/drawing/2014/main" id="{8FD243BD-D1D8-4D5E-9080-89BCC3F63E9D}"/>
              </a:ext>
            </a:extLst>
          </p:cNvPr>
          <p:cNvSpPr>
            <a:spLocks xmlns:a="http://schemas.openxmlformats.org/drawingml/2006/main" noGrp="1"/>
          </p:cNvSpPr>
          <p:nvPr/>
        </p:nvSpPr>
        <p:spPr>
          <a:xfrm xmlns:a="http://schemas.openxmlformats.org/drawingml/2006/main">
            <a:off x="457200" y="5391150"/>
            <a:ext cx="10858500" cy="628650"/>
          </a:xfrm>
          <a:prstGeom xmlns:a="http://schemas.openxmlformats.org/drawingml/2006/main" prst="roundRect">
            <a:avLst>
              <a:gd name="adj" fmla="val 21212"/>
            </a:avLst>
          </a:prstGeom>
          <a:solidFill xmlns:a="http://schemas.openxmlformats.org/drawingml/2006/main">
            <a:srgbClr val="F2F4F7"/>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6DBF2437-14B5-4A46-9FC0-D460E78897FD}"/>
              </a:ext>
            </a:extLst>
          </p:cNvPr>
          <p:cNvSpPr>
            <a:spLocks xmlns:a="http://schemas.openxmlformats.org/drawingml/2006/main" noGrp="1"/>
          </p:cNvSpPr>
          <p:nvPr/>
        </p:nvSpPr>
        <p:spPr>
          <a:xfrm xmlns:a="http://schemas.openxmlformats.org/drawingml/2006/main">
            <a:off x="666750" y="5581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1 · Product and application</a:t>
            </a:r>
          </a:p>
        </p:txBody>
      </p:sp>
      <p:sp>
        <p:nvSpPr>
          <p:cNvPr id="27" name="">
            <a:extLst xmlns:a="http://schemas.openxmlformats.org/drawingml/2006/main">
              <a:ext uri="{FF2B5EF4-FFF2-40B4-BE49-F238E27FC236}">
                <a16:creationId xmlns:a16="http://schemas.microsoft.com/office/drawing/2014/main" id="{918CF25F-52C6-4E33-BCCB-F49769B2D014}"/>
              </a:ext>
            </a:extLst>
          </p:cNvPr>
          <p:cNvSpPr>
            <a:spLocks xmlns:a="http://schemas.openxmlformats.org/drawingml/2006/main" noGrp="1"/>
          </p:cNvSpPr>
          <p:nvPr/>
        </p:nvSpPr>
        <p:spPr>
          <a:xfrm xmlns:a="http://schemas.openxmlformats.org/drawingml/2006/main">
            <a:off x="4476750" y="5581650"/>
            <a:ext cx="323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2 · Data and platform</a:t>
            </a:r>
          </a:p>
        </p:txBody>
      </p:sp>
      <p:sp>
        <p:nvSpPr>
          <p:cNvPr id="28" name="">
            <a:extLst xmlns:a="http://schemas.openxmlformats.org/drawingml/2006/main">
              <a:ext uri="{FF2B5EF4-FFF2-40B4-BE49-F238E27FC236}">
                <a16:creationId xmlns:a16="http://schemas.microsoft.com/office/drawing/2014/main" id="{DB910F2C-EF3B-4B5A-AC88-78FDB08FE0C6}"/>
              </a:ext>
            </a:extLst>
          </p:cNvPr>
          <p:cNvSpPr>
            <a:spLocks xmlns:a="http://schemas.openxmlformats.org/drawingml/2006/main" noGrp="1"/>
          </p:cNvSpPr>
          <p:nvPr/>
        </p:nvSpPr>
        <p:spPr>
          <a:xfrm xmlns:a="http://schemas.openxmlformats.org/drawingml/2006/main">
            <a:off x="7953375" y="558165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315F9F"/>
                </a:solidFill>
                <a:latin typeface="Helvetica Neue"/>
                <a:ea typeface="Helvetica Neue"/>
                <a:cs typeface="Helvetica Neue"/>
              </a:defRPr>
            </a:pPr>
            <a:r>
              <a:rPr sz="1200" b="1">
                <a:solidFill>
                  <a:srgbClr val="315F9F"/>
                </a:solidFill>
                <a:latin typeface="Helvetica Neue"/>
                <a:ea typeface="Helvetica Neue"/>
                <a:cs typeface="Helvetica Neue"/>
              </a:rPr>
              <a:t>SHARED · Source contract and evaluation set</a:t>
            </a:r>
          </a:p>
        </p:txBody>
      </p:sp>
    </p:spTree>
    <p:extLst>
      <p:ext uri="{BB962C8B-B14F-4D97-AF65-F5344CB8AC3E}">
        <p14:creationId xmlns:p14="http://schemas.microsoft.com/office/powerpoint/2010/main" val="1276192043"/>
      </p:ext>
    </p:extLst>
  </p:cSld>
</p:sld>
</file>

<file path=ppt/slides/slide12.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7D7DB73-AD97-4C88-8C7A-A4A75DE3DDC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 I de-risk first, and what changes with more time?</a:t>
            </a:r>
          </a:p>
        </p:txBody>
      </p:sp>
      <p:sp>
        <p:nvSpPr>
          <p:cNvPr id="2" name="">
            <a:extLst xmlns:a="http://schemas.openxmlformats.org/drawingml/2006/main">
              <a:ext uri="{FF2B5EF4-FFF2-40B4-BE49-F238E27FC236}">
                <a16:creationId xmlns:a16="http://schemas.microsoft.com/office/drawing/2014/main" id="{1148B56E-B5D3-40D5-84C7-3298B3E762FB}"/>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B2D00DE-0653-4BEF-8506-56714A0FA0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12</a:t>
            </a:r>
          </a:p>
        </p:txBody>
      </p:sp>
      <p:sp>
        <p:nvSpPr>
          <p:cNvPr id="4" name="">
            <a:extLst xmlns:a="http://schemas.openxmlformats.org/drawingml/2006/main">
              <a:ext uri="{FF2B5EF4-FFF2-40B4-BE49-F238E27FC236}">
                <a16:creationId xmlns:a16="http://schemas.microsoft.com/office/drawing/2014/main" id="{84CA3562-EE1C-4D17-9AF1-23A0716F7861}"/>
              </a:ext>
            </a:extLst>
          </p:cNvPr>
          <p:cNvSpPr>
            <a:spLocks xmlns:a="http://schemas.openxmlformats.org/drawingml/2006/main" noGrp="1"/>
          </p:cNvSpPr>
          <p:nvPr/>
        </p:nvSpPr>
        <p:spPr>
          <a:xfrm xmlns:a="http://schemas.openxmlformats.org/drawingml/2006/main">
            <a:off x="457200" y="1504950"/>
            <a:ext cx="990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2184"/>
          </a:bodyPr>
          <a:lstStyle xmlns:a="http://schemas.openxmlformats.org/drawingml/2006/main"/>
          <a:p xmlns:a="http://schemas.openxmlformats.org/drawingml/2006/main">
            <a:pPr algn="l">
              <a:buNone/>
              <a:defRPr sz="2550" b="1">
                <a:solidFill>
                  <a:srgbClr val="315F9F"/>
                </a:solidFill>
                <a:latin typeface="Helvetica Neue"/>
                <a:ea typeface="Helvetica Neue"/>
                <a:cs typeface="Helvetica Neue"/>
              </a:defRPr>
            </a:pPr>
            <a:r>
              <a:rPr sz="2550" b="1">
                <a:solidFill>
                  <a:srgbClr val="315F9F"/>
                </a:solidFill>
                <a:latin typeface="Helvetica Neue"/>
                <a:ea typeface="Helvetica Neue"/>
                <a:cs typeface="Helvetica Neue"/>
              </a:rPr>
              <a:t>First risk: retrieve the right evidence and show when the answer is uncertain.</a:t>
            </a:r>
          </a:p>
        </p:txBody>
      </p:sp>
      <p:sp>
        <p:nvSpPr>
          <p:cNvPr id="5" name="">
            <a:extLst xmlns:a="http://schemas.openxmlformats.org/drawingml/2006/main">
              <a:ext uri="{FF2B5EF4-FFF2-40B4-BE49-F238E27FC236}">
                <a16:creationId xmlns:a16="http://schemas.microsoft.com/office/drawing/2014/main" id="{5562A5C6-60ED-4181-9E47-254F83779A64}"/>
              </a:ext>
            </a:extLst>
          </p:cNvPr>
          <p:cNvSpPr>
            <a:spLocks xmlns:a="http://schemas.openxmlformats.org/drawingml/2006/main" noGrp="1"/>
          </p:cNvSpPr>
          <p:nvPr/>
        </p:nvSpPr>
        <p:spPr>
          <a:xfrm xmlns:a="http://schemas.openxmlformats.org/drawingml/2006/main">
            <a:off x="457200" y="2400300"/>
            <a:ext cx="3333750" cy="2800350"/>
          </a:xfrm>
          <a:prstGeom xmlns:a="http://schemas.openxmlformats.org/drawingml/2006/main" prst="roundRect">
            <a:avLst>
              <a:gd name="adj" fmla="val 6122"/>
            </a:avLst>
          </a:prstGeom>
          <a:solidFill xmlns:a="http://schemas.openxmlformats.org/drawingml/2006/main">
            <a:srgbClr val="FFFFFF"/>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E612701B-CF09-4277-9DC9-F0E56890F11C}"/>
              </a:ext>
            </a:extLst>
          </p:cNvPr>
          <p:cNvSpPr>
            <a:spLocks xmlns:a="http://schemas.openxmlformats.org/drawingml/2006/main" noGrp="1"/>
          </p:cNvSpPr>
          <p:nvPr/>
        </p:nvSpPr>
        <p:spPr>
          <a:xfrm xmlns:a="http://schemas.openxmlformats.org/drawingml/2006/main">
            <a:off x="6858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FIRST PROTOTYPE</a:t>
            </a:r>
          </a:p>
        </p:txBody>
      </p:sp>
      <p:sp>
        <p:nvSpPr>
          <p:cNvPr id="7" name="">
            <a:extLst xmlns:a="http://schemas.openxmlformats.org/drawingml/2006/main">
              <a:ext uri="{FF2B5EF4-FFF2-40B4-BE49-F238E27FC236}">
                <a16:creationId xmlns:a16="http://schemas.microsoft.com/office/drawing/2014/main" id="{B233DDE3-C518-45BB-AFC1-EC711ACC02AE}"/>
              </a:ext>
            </a:extLst>
          </p:cNvPr>
          <p:cNvSpPr>
            <a:spLocks xmlns:a="http://schemas.openxmlformats.org/drawingml/2006/main" noGrp="1"/>
          </p:cNvSpPr>
          <p:nvPr/>
        </p:nvSpPr>
        <p:spPr>
          <a:xfrm xmlns:a="http://schemas.openxmlformats.org/drawingml/2006/main">
            <a:off x="6858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35"/>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One company and one real source</a:t>
            </a:r>
          </a:p>
        </p:txBody>
      </p:sp>
      <p:sp>
        <p:nvSpPr>
          <p:cNvPr id="8" name="">
            <a:extLst xmlns:a="http://schemas.openxmlformats.org/drawingml/2006/main">
              <a:ext uri="{FF2B5EF4-FFF2-40B4-BE49-F238E27FC236}">
                <a16:creationId xmlns:a16="http://schemas.microsoft.com/office/drawing/2014/main" id="{A9A47721-2CAB-45CC-A0B0-A2173E47E46B}"/>
              </a:ext>
            </a:extLst>
          </p:cNvPr>
          <p:cNvSpPr>
            <a:spLocks xmlns:a="http://schemas.openxmlformats.org/drawingml/2006/main" noGrp="1"/>
          </p:cNvSpPr>
          <p:nvPr/>
        </p:nvSpPr>
        <p:spPr>
          <a:xfrm xmlns:a="http://schemas.openxmlformats.org/drawingml/2006/main">
            <a:off x="6858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current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true conflict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missing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changed source record</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p:txBody>
      </p:sp>
      <p:sp>
        <p:nvSpPr>
          <p:cNvPr id="9" name="">
            <a:extLst xmlns:a="http://schemas.openxmlformats.org/drawingml/2006/main">
              <a:ext uri="{FF2B5EF4-FFF2-40B4-BE49-F238E27FC236}">
                <a16:creationId xmlns:a16="http://schemas.microsoft.com/office/drawing/2014/main" id="{9A2149D0-122E-4662-9C67-860C2D3353C0}"/>
              </a:ext>
            </a:extLst>
          </p:cNvPr>
          <p:cNvSpPr>
            <a:spLocks xmlns:a="http://schemas.openxmlformats.org/drawingml/2006/main" noGrp="1"/>
          </p:cNvSpPr>
          <p:nvPr/>
        </p:nvSpPr>
        <p:spPr>
          <a:xfrm xmlns:a="http://schemas.openxmlformats.org/drawingml/2006/main">
            <a:off x="4095750" y="2400300"/>
            <a:ext cx="3333750" cy="2800350"/>
          </a:xfrm>
          <a:prstGeom xmlns:a="http://schemas.openxmlformats.org/drawingml/2006/main" prst="roundRect">
            <a:avLst>
              <a:gd name="adj" fmla="val 6122"/>
            </a:avLst>
          </a:prstGeom>
          <a:solidFill xmlns:a="http://schemas.openxmlformats.org/drawingml/2006/main">
            <a:srgbClr val="F2F4F7"/>
          </a:solidFill>
          <a:ln xmlns:a="http://schemas.openxmlformats.org/drawingml/2006/main" w="9525">
            <a:solidFill>
              <a:srgbClr val="D0D5DD"/>
            </a:solidFill>
            <a:prstDash val="solid"/>
          </a:ln>
        </p:spPr>
      </p:sp>
      <p:sp>
        <p:nvSpPr>
          <p:cNvPr id="10" name="">
            <a:extLst xmlns:a="http://schemas.openxmlformats.org/drawingml/2006/main">
              <a:ext uri="{FF2B5EF4-FFF2-40B4-BE49-F238E27FC236}">
                <a16:creationId xmlns:a16="http://schemas.microsoft.com/office/drawing/2014/main" id="{3B17A513-9371-40C5-979E-A976BA6D2B28}"/>
              </a:ext>
            </a:extLst>
          </p:cNvPr>
          <p:cNvSpPr>
            <a:spLocks xmlns:a="http://schemas.openxmlformats.org/drawingml/2006/main" noGrp="1"/>
          </p:cNvSpPr>
          <p:nvPr/>
        </p:nvSpPr>
        <p:spPr>
          <a:xfrm xmlns:a="http://schemas.openxmlformats.org/drawingml/2006/main">
            <a:off x="432435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CRITICAL DEPENDENCIES</a:t>
            </a:r>
          </a:p>
        </p:txBody>
      </p:sp>
      <p:sp>
        <p:nvSpPr>
          <p:cNvPr id="11" name="">
            <a:extLst xmlns:a="http://schemas.openxmlformats.org/drawingml/2006/main">
              <a:ext uri="{FF2B5EF4-FFF2-40B4-BE49-F238E27FC236}">
                <a16:creationId xmlns:a16="http://schemas.microsoft.com/office/drawing/2014/main" id="{EAEF692C-81C5-4F80-BEF7-B65ABE382A68}"/>
              </a:ext>
            </a:extLst>
          </p:cNvPr>
          <p:cNvSpPr>
            <a:spLocks xmlns:a="http://schemas.openxmlformats.org/drawingml/2006/main" noGrp="1"/>
          </p:cNvSpPr>
          <p:nvPr/>
        </p:nvSpPr>
        <p:spPr>
          <a:xfrm xmlns:a="http://schemas.openxmlformats.org/drawingml/2006/main">
            <a:off x="432435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Access and ownership</a:t>
            </a:r>
          </a:p>
        </p:txBody>
      </p:sp>
      <p:sp>
        <p:nvSpPr>
          <p:cNvPr id="12" name="">
            <a:extLst xmlns:a="http://schemas.openxmlformats.org/drawingml/2006/main">
              <a:ext uri="{FF2B5EF4-FFF2-40B4-BE49-F238E27FC236}">
                <a16:creationId xmlns:a16="http://schemas.microsoft.com/office/drawing/2014/main" id="{16E21101-5479-4093-B7A3-67DC3D3F5AE8}"/>
              </a:ext>
            </a:extLst>
          </p:cNvPr>
          <p:cNvSpPr>
            <a:spLocks xmlns:a="http://schemas.openxmlformats.org/drawingml/2006/main" noGrp="1"/>
          </p:cNvSpPr>
          <p:nvPr/>
        </p:nvSpPr>
        <p:spPr>
          <a:xfrm xmlns:a="http://schemas.openxmlformats.org/drawingml/2006/main">
            <a:off x="432435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464"/>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owners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API access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Canonical company IDs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and retention rules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Model policy</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Principal review</a:t>
            </a:r>
          </a:p>
        </p:txBody>
      </p:sp>
      <p:sp>
        <p:nvSpPr>
          <p:cNvPr id="13" name="">
            <a:extLst xmlns:a="http://schemas.openxmlformats.org/drawingml/2006/main">
              <a:ext uri="{FF2B5EF4-FFF2-40B4-BE49-F238E27FC236}">
                <a16:creationId xmlns:a16="http://schemas.microsoft.com/office/drawing/2014/main" id="{C58C9AB4-4295-4DBC-8C8F-775BFAD2D383}"/>
              </a:ext>
            </a:extLst>
          </p:cNvPr>
          <p:cNvSpPr>
            <a:spLocks xmlns:a="http://schemas.openxmlformats.org/drawingml/2006/main" noGrp="1"/>
          </p:cNvSpPr>
          <p:nvPr/>
        </p:nvSpPr>
        <p:spPr>
          <a:xfrm xmlns:a="http://schemas.openxmlformats.org/drawingml/2006/main">
            <a:off x="7734300" y="2400300"/>
            <a:ext cx="3333750" cy="2800350"/>
          </a:xfrm>
          <a:prstGeom xmlns:a="http://schemas.openxmlformats.org/drawingml/2006/main" prst="roundRect">
            <a:avLst>
              <a:gd name="adj" fmla="val 6122"/>
            </a:avLst>
          </a:prstGeom>
          <a:solidFill xmlns:a="http://schemas.openxmlformats.org/drawingml/2006/main">
            <a:srgbClr val="E8F0FB"/>
          </a:solidFill>
          <a:ln xmlns:a="http://schemas.openxmlformats.org/drawingml/2006/main" w="9525">
            <a:solidFill>
              <a:srgbClr val="9CB5D5"/>
            </a:solidFill>
            <a:prstDash val="solid"/>
          </a:ln>
        </p:spPr>
      </p:sp>
      <p:sp>
        <p:nvSpPr>
          <p:cNvPr id="14" name="">
            <a:extLst xmlns:a="http://schemas.openxmlformats.org/drawingml/2006/main">
              <a:ext uri="{FF2B5EF4-FFF2-40B4-BE49-F238E27FC236}">
                <a16:creationId xmlns:a16="http://schemas.microsoft.com/office/drawing/2014/main" id="{9AAB8465-872C-4C3C-AD42-A1827E2443DA}"/>
              </a:ext>
            </a:extLst>
          </p:cNvPr>
          <p:cNvSpPr>
            <a:spLocks xmlns:a="http://schemas.openxmlformats.org/drawingml/2006/main" noGrp="1"/>
          </p:cNvSpPr>
          <p:nvPr/>
        </p:nvSpPr>
        <p:spPr>
          <a:xfrm xmlns:a="http://schemas.openxmlformats.org/drawingml/2006/main">
            <a:off x="79629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WITH MORE TIME</a:t>
            </a:r>
          </a:p>
        </p:txBody>
      </p:sp>
      <p:sp>
        <p:nvSpPr>
          <p:cNvPr id="15" name="">
            <a:extLst xmlns:a="http://schemas.openxmlformats.org/drawingml/2006/main">
              <a:ext uri="{FF2B5EF4-FFF2-40B4-BE49-F238E27FC236}">
                <a16:creationId xmlns:a16="http://schemas.microsoft.com/office/drawing/2014/main" id="{F20FEF94-1E54-482B-BA81-CD1C7288DD19}"/>
              </a:ext>
            </a:extLst>
          </p:cNvPr>
          <p:cNvSpPr>
            <a:spLocks xmlns:a="http://schemas.openxmlformats.org/drawingml/2006/main" noGrp="1"/>
          </p:cNvSpPr>
          <p:nvPr/>
        </p:nvSpPr>
        <p:spPr>
          <a:xfrm xmlns:a="http://schemas.openxmlformats.org/drawingml/2006/main">
            <a:off x="79629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Generalize and operate</a:t>
            </a:r>
          </a:p>
        </p:txBody>
      </p:sp>
      <p:sp>
        <p:nvSpPr>
          <p:cNvPr id="16" name="">
            <a:extLst xmlns:a="http://schemas.openxmlformats.org/drawingml/2006/main">
              <a:ext uri="{FF2B5EF4-FFF2-40B4-BE49-F238E27FC236}">
                <a16:creationId xmlns:a16="http://schemas.microsoft.com/office/drawing/2014/main" id="{57A04CC8-E1F2-4C4B-A6C1-119A2988EF63}"/>
              </a:ext>
            </a:extLst>
          </p:cNvPr>
          <p:cNvSpPr>
            <a:spLocks xmlns:a="http://schemas.openxmlformats.org/drawingml/2006/main" noGrp="1"/>
          </p:cNvSpPr>
          <p:nvPr/>
        </p:nvSpPr>
        <p:spPr>
          <a:xfrm xmlns:a="http://schemas.openxmlformats.org/drawingml/2006/main">
            <a:off x="79629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Connectors and 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Access-aware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Retrieval and generation evaluation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Reviewer workflow and monitoring</a:t>
            </a:r>
          </a:p>
        </p:txBody>
      </p:sp>
      <p:sp>
        <p:nvSpPr>
          <p:cNvPr id="17" name="">
            <a:extLst xmlns:a="http://schemas.openxmlformats.org/drawingml/2006/main">
              <a:ext uri="{FF2B5EF4-FFF2-40B4-BE49-F238E27FC236}">
                <a16:creationId xmlns:a16="http://schemas.microsoft.com/office/drawing/2014/main" id="{8BBED693-7757-48A5-974E-73B0F60C6B41}"/>
              </a:ext>
            </a:extLst>
          </p:cNvPr>
          <p:cNvSpPr>
            <a:spLocks xmlns:a="http://schemas.openxmlformats.org/drawingml/2006/main" noGrp="1"/>
          </p:cNvSpPr>
          <p:nvPr/>
        </p:nvSpPr>
        <p:spPr>
          <a:xfrm xmlns:a="http://schemas.openxmlformats.org/drawingml/2006/main">
            <a:off x="457200" y="5514975"/>
            <a:ext cx="10858500" cy="533400"/>
          </a:xfrm>
          <a:prstGeom xmlns:a="http://schemas.openxmlformats.org/drawingml/2006/main" prst="roundRect">
            <a:avLst>
              <a:gd name="adj" fmla="val 25000"/>
            </a:avLst>
          </a:prstGeom>
          <a:solidFill xmlns:a="http://schemas.openxmlformats.org/drawingml/2006/main">
            <a:srgbClr val="101828"/>
          </a:solidFill>
          <a:ln xmlns:a="http://schemas.openxmlformats.org/drawingml/2006/main" w="9525">
            <a:solidFill>
              <a:srgbClr val="101828"/>
            </a:solidFill>
            <a:prstDash val="solid"/>
          </a:ln>
        </p:spPr>
      </p:sp>
      <p:sp>
        <p:nvSpPr>
          <p:cNvPr id="18" name="">
            <a:extLst xmlns:a="http://schemas.openxmlformats.org/drawingml/2006/main">
              <a:ext uri="{FF2B5EF4-FFF2-40B4-BE49-F238E27FC236}">
                <a16:creationId xmlns:a16="http://schemas.microsoft.com/office/drawing/2014/main" id="{87390179-8675-41A8-B68B-4764A48D41FE}"/>
              </a:ext>
            </a:extLst>
          </p:cNvPr>
          <p:cNvSpPr>
            <a:spLocks xmlns:a="http://schemas.openxmlformats.org/drawingml/2006/main" noGrp="1"/>
          </p:cNvSpPr>
          <p:nvPr/>
        </p:nvSpPr>
        <p:spPr>
          <a:xfrm xmlns:a="http://schemas.openxmlformats.org/drawingml/2006/main">
            <a:off x="685800" y="5676900"/>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l">
              <a:buNone/>
              <a:defRPr sz="1050" b="1">
                <a:solidFill>
                  <a:srgbClr val="9CB5D5"/>
                </a:solidFill>
                <a:latin typeface="Helvetica Neue"/>
                <a:ea typeface="Helvetica Neue"/>
                <a:cs typeface="Helvetica Neue"/>
              </a:defRPr>
            </a:pPr>
            <a:r>
              <a:rPr sz="1050" b="1">
                <a:solidFill>
                  <a:srgbClr val="9CB5D5"/>
                </a:solidFill>
                <a:latin typeface="Helvetica Neue"/>
                <a:ea typeface="Helvetica Neue"/>
                <a:cs typeface="Helvetica Neue"/>
              </a:rPr>
              <a:t>NEXT DECISION</a:t>
            </a:r>
          </a:p>
        </p:txBody>
      </p:sp>
      <p:sp>
        <p:nvSpPr>
          <p:cNvPr id="19" name="">
            <a:extLst xmlns:a="http://schemas.openxmlformats.org/drawingml/2006/main">
              <a:ext uri="{FF2B5EF4-FFF2-40B4-BE49-F238E27FC236}">
                <a16:creationId xmlns:a16="http://schemas.microsoft.com/office/drawing/2014/main" id="{37CB83B3-D284-4081-B799-9D7848AC112B}"/>
              </a:ext>
            </a:extLst>
          </p:cNvPr>
          <p:cNvSpPr>
            <a:spLocks xmlns:a="http://schemas.openxmlformats.org/drawingml/2006/main" noGrp="1"/>
          </p:cNvSpPr>
          <p:nvPr/>
        </p:nvSpPr>
        <p:spPr>
          <a:xfrm xmlns:a="http://schemas.openxmlformats.org/drawingml/2006/main">
            <a:off x="2190750" y="5638800"/>
            <a:ext cx="876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FFFFFF"/>
                </a:solidFill>
                <a:latin typeface="Helvetica Neue"/>
                <a:ea typeface="Helvetica Neue"/>
                <a:cs typeface="Helvetica Neue"/>
              </a:defRPr>
            </a:pPr>
            <a:r>
              <a:rPr sz="1350" b="1">
                <a:solidFill>
                  <a:srgbClr val="FFFFFF"/>
                </a:solidFill>
                <a:latin typeface="Helvetica Neue"/>
                <a:ea typeface="Helvetica Neue"/>
                <a:cs typeface="Helvetica Neue"/>
              </a:rPr>
              <a:t>Approve one source-to-brief pilot after source owners, access owners, and the AIVC principal confirm the test set.</a:t>
            </a:r>
          </a:p>
        </p:txBody>
      </p:sp>
    </p:spTree>
    <p:extLst>
      <p:ext uri="{BB962C8B-B14F-4D97-AF65-F5344CB8AC3E}">
        <p14:creationId xmlns:p14="http://schemas.microsoft.com/office/powerpoint/2010/main" val="15154762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2026-09-01T00:39:31.5720000Z</dcterms:created>
  <dcterms:modified xsi:type="dcterms:W3CDTF">2026-09-01T00:39:31.5720000Z</dcterms:modified>
</coreProperties>
</file>